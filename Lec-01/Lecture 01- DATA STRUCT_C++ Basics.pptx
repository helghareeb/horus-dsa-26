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50"/>
  </p:notesMasterIdLst>
  <p:handoutMasterIdLst>
    <p:handoutMasterId r:id="rId51"/>
  </p:handoutMasterIdLst>
  <p:sldIdLst>
    <p:sldId id="256" r:id="rId5"/>
    <p:sldId id="839" r:id="rId6"/>
    <p:sldId id="834" r:id="rId7"/>
    <p:sldId id="838" r:id="rId8"/>
    <p:sldId id="840" r:id="rId9"/>
    <p:sldId id="835" r:id="rId10"/>
    <p:sldId id="731" r:id="rId11"/>
    <p:sldId id="836" r:id="rId12"/>
    <p:sldId id="735" r:id="rId13"/>
    <p:sldId id="736" r:id="rId14"/>
    <p:sldId id="837" r:id="rId15"/>
    <p:sldId id="737" r:id="rId16"/>
    <p:sldId id="738" r:id="rId17"/>
    <p:sldId id="739" r:id="rId18"/>
    <p:sldId id="740" r:id="rId19"/>
    <p:sldId id="741" r:id="rId20"/>
    <p:sldId id="742" r:id="rId21"/>
    <p:sldId id="743" r:id="rId22"/>
    <p:sldId id="744" r:id="rId23"/>
    <p:sldId id="751" r:id="rId24"/>
    <p:sldId id="757" r:id="rId25"/>
    <p:sldId id="763" r:id="rId26"/>
    <p:sldId id="764" r:id="rId27"/>
    <p:sldId id="768" r:id="rId28"/>
    <p:sldId id="769" r:id="rId29"/>
    <p:sldId id="771" r:id="rId30"/>
    <p:sldId id="776" r:id="rId31"/>
    <p:sldId id="777" r:id="rId32"/>
    <p:sldId id="778" r:id="rId33"/>
    <p:sldId id="781" r:id="rId34"/>
    <p:sldId id="789" r:id="rId35"/>
    <p:sldId id="792" r:id="rId36"/>
    <p:sldId id="841" r:id="rId37"/>
    <p:sldId id="782" r:id="rId38"/>
    <p:sldId id="784" r:id="rId39"/>
    <p:sldId id="786" r:id="rId40"/>
    <p:sldId id="787" r:id="rId41"/>
    <p:sldId id="790" r:id="rId42"/>
    <p:sldId id="795" r:id="rId43"/>
    <p:sldId id="796" r:id="rId44"/>
    <p:sldId id="797" r:id="rId45"/>
    <p:sldId id="798" r:id="rId46"/>
    <p:sldId id="799" r:id="rId47"/>
    <p:sldId id="800" r:id="rId48"/>
    <p:sldId id="260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D950-34DE-4DEA-8DA7-BD7E7C1DCC03}">
          <p14:sldIdLst>
            <p14:sldId id="256"/>
          </p14:sldIdLst>
        </p14:section>
        <p14:section name="Default Section" id="{EF2CF1F3-EF66-423A-B957-D3A605122F27}">
          <p14:sldIdLst>
            <p14:sldId id="839"/>
            <p14:sldId id="834"/>
            <p14:sldId id="838"/>
            <p14:sldId id="840"/>
            <p14:sldId id="835"/>
            <p14:sldId id="731"/>
            <p14:sldId id="836"/>
            <p14:sldId id="735"/>
            <p14:sldId id="736"/>
            <p14:sldId id="837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51"/>
            <p14:sldId id="757"/>
            <p14:sldId id="763"/>
            <p14:sldId id="764"/>
            <p14:sldId id="768"/>
            <p14:sldId id="769"/>
            <p14:sldId id="771"/>
            <p14:sldId id="776"/>
            <p14:sldId id="777"/>
            <p14:sldId id="778"/>
            <p14:sldId id="781"/>
            <p14:sldId id="789"/>
            <p14:sldId id="792"/>
            <p14:sldId id="841"/>
            <p14:sldId id="782"/>
            <p14:sldId id="784"/>
            <p14:sldId id="786"/>
            <p14:sldId id="787"/>
            <p14:sldId id="790"/>
            <p14:sldId id="795"/>
            <p14:sldId id="796"/>
            <p14:sldId id="797"/>
            <p14:sldId id="798"/>
            <p14:sldId id="799"/>
            <p14:sldId id="800"/>
            <p14:sldId id="260"/>
          </p14:sldIdLst>
        </p14:section>
        <p14:section name="Arrays" id="{51511BFB-9367-426E-AEE8-E44557851A9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700" y="56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81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40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628D-2237-D3B6-E939-D4BC22E6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476A574-E3F6-17D1-D59F-42063AC0C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43F5238-3F15-0260-6701-2F9AD3DF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0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E1714F-FCD6-4F4A-845C-A74CC7F856A9}" type="slidenum">
              <a:rPr lang="en-US" altLang="en-US" sz="1200">
                <a:latin typeface="Tahoma" panose="020B0604030504040204" pitchFamily="34" charset="0"/>
              </a:rPr>
              <a:pPr/>
              <a:t>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15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301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 dirty="0"/>
              <a:t>High-level languages </a:t>
            </a:r>
            <a:r>
              <a:rPr lang="en-US" dirty="0"/>
              <a:t>resemble</a:t>
            </a:r>
            <a:r>
              <a:rPr lang="en-US" baseline="0" dirty="0"/>
              <a:t> </a:t>
            </a:r>
            <a:r>
              <a:rPr lang="en-US" dirty="0"/>
              <a:t>human languages in many ways. They are designed to be easy for human</a:t>
            </a:r>
            <a:r>
              <a:rPr lang="en-US" baseline="0" dirty="0"/>
              <a:t> </a:t>
            </a:r>
            <a:r>
              <a:rPr lang="en-US" dirty="0"/>
              <a:t>beings to write programs in and to be easy for human beings to read</a:t>
            </a:r>
            <a:r>
              <a:rPr lang="en-US" sz="1050" dirty="0"/>
              <a:t> 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050" dirty="0"/>
              <a:t>It</a:t>
            </a:r>
            <a:r>
              <a:rPr lang="en-US" sz="1050" baseline="0" dirty="0"/>
              <a:t> might seem silly for simple program but it is crucial for complex ones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reason that C++ has namespaces at all is because there</a:t>
            </a:r>
            <a:r>
              <a:rPr lang="en-US" dirty="0"/>
              <a:t>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are so many things to name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C++ divides names into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namespaces.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namespace is a collection of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names, such as the names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A statement that specifies a namespace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the way illustrated by the following is called a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directive:</a:t>
            </a:r>
            <a:b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using namespace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487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8995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Number systems, binary rep in memory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Sign bit, ranges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Talk about </a:t>
            </a:r>
            <a:r>
              <a:rPr lang="en-US" dirty="0" err="1"/>
              <a:t>int</a:t>
            </a:r>
            <a:r>
              <a:rPr lang="en-US" dirty="0"/>
              <a:t> and double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Casting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If both operands (that is, both</a:t>
            </a:r>
            <a:r>
              <a:rPr lang="en-US" sz="1100" b="0" i="0" u="none" strike="noStrike" cap="none" baseline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numbers) are of type </a:t>
            </a:r>
            <a:r>
              <a:rPr lang="en-U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then the result of combining them with an arithmetic operator is of type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If one, or both, of the operands is of type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then the result is of type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3262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String dynamic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Char byte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7735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0470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4D6AE57-9C5C-4253-992D-807D05D236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F4A6F440-A940-4821-BCF7-542CD3A2C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0263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A664E6C-3574-460E-B714-35460349C9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3F69A5F-7E1A-4BDD-91A5-9D9C42806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453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E591AD8-89AF-458E-9EBB-0C0F8D84C2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35A6A85-091E-431F-A8EE-1D820BEC6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668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063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F8DF99B-807D-45C1-A17E-EAAF212EE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0DC3F55-271C-4D24-9857-0E3B8D9DC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451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B326C2C8-27DE-4A95-8357-1432293AA9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3868109-5420-4466-8024-13BE3DA90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2182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846AFBF-10DA-4235-9FE1-2E931D0DF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144D0D-4AE0-44ED-AF3D-5425ECD4C015}" type="slidenum"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F9CB0DAC-CCC5-45AE-A75B-7A79FC9FC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79582EB8-5479-49F0-A040-1856FF90C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531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3288" y="6479426"/>
            <a:ext cx="2135114" cy="351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5018-1773-38C3-E503-F2C051D5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B7688-C95D-9248-76EF-2FAD812D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925D3-22B2-D95A-F134-E3741FB5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D3A59-C603-01A1-23E6-4874A7F4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22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9B75C-8747-A145-88F3-BD0797C3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CA58B-1202-27F5-4A00-14688F06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85D18-B98F-4E7D-198E-2503991A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35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415600" y="1116100"/>
            <a:ext cx="11360800" cy="5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2"/>
          </p:nvPr>
        </p:nvSpPr>
        <p:spPr>
          <a:xfrm>
            <a:off x="415600" y="6286451"/>
            <a:ext cx="11360800" cy="3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Verdana"/>
              <a:buChar char="●"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325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88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jpe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jpeg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jpeg"/><Relationship Id="rId4" Type="http://schemas.openxmlformats.org/officeDocument/2006/relationships/image" Target="../media/image21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574955"/>
            <a:ext cx="10993549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Lecture1</a:t>
            </a:r>
            <a:r>
              <a:rPr lang="en-US" sz="3600" b="1" dirty="0">
                <a:solidFill>
                  <a:srgbClr val="FFFFCC"/>
                </a:solidFill>
              </a:rPr>
              <a:t>     Review</a:t>
            </a:r>
            <a:endParaRPr lang="en-US" sz="36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17374"/>
            <a:ext cx="10993546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1668" y="3704630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177219" y="1250874"/>
            <a:ext cx="721665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DATA STRUCTURE </a:t>
            </a:r>
          </a:p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AND ALGORITHMS </a:t>
            </a:r>
          </a:p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(CS 201)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FD11D-F602-7311-57A0-93A5ECB1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12" y="1005840"/>
            <a:ext cx="3097122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31" y="593631"/>
            <a:ext cx="5200343" cy="1013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EFF"/>
                </a:solidFill>
              </a:rPr>
              <a:t>Course description</a:t>
            </a:r>
          </a:p>
        </p:txBody>
      </p:sp>
      <p:pic>
        <p:nvPicPr>
          <p:cNvPr id="7" name="Picture 6" descr="What's in the Bible? — &lt;strong&gt;Curriculum&lt;/strong&gt; Bundles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155" y="4042555"/>
            <a:ext cx="2128249" cy="23205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7562" y="1973181"/>
            <a:ext cx="11084507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ea typeface="Times New Roman" panose="02020603050405020304" pitchFamily="18" charset="0"/>
                <a:cs typeface="Times New Roman" panose="02020603050405020304" pitchFamily="18" charset="0"/>
              </a:rPr>
              <a:t>THIS COURSE</a:t>
            </a:r>
            <a:r>
              <a:rPr lang="en-US" sz="2400" u="sng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cs typeface="Times New Roman" panose="02020603050405020304" pitchFamily="18" charset="0"/>
              </a:rPr>
              <a:t>PRESENTS </a:t>
            </a:r>
            <a:r>
              <a:rPr lang="en-US" sz="2400" b="1" dirty="0"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002060"/>
                </a:solidFill>
                <a:cs typeface="Times New Roman" panose="02020603050405020304" pitchFamily="18" charset="0"/>
              </a:rPr>
              <a:t>Arrays, Linear lists, Queues, and Stacks, Tree structures and traversals, Dictionaries and Search trees, Heaps, Tries, Sorting and Searching, Hashing, Basic graph algorithms: Traversals, Minimum Spanning Trees, Shortest Paths.</a:t>
            </a:r>
          </a:p>
          <a:p>
            <a:pPr algn="just"/>
            <a:endParaRPr lang="en-US" sz="2400" b="1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6BCC3F-42FC-CCFF-EA4D-F01E1287603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490" y="848606"/>
            <a:ext cx="1973580" cy="7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EC793-9EC0-77D2-1353-613F0888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9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FC61E5-68BB-3408-D7F8-C1C162CE20AD}"/>
              </a:ext>
            </a:extLst>
          </p:cNvPr>
          <p:cNvSpPr txBox="1">
            <a:spLocks/>
          </p:cNvSpPr>
          <p:nvPr/>
        </p:nvSpPr>
        <p:spPr>
          <a:xfrm>
            <a:off x="433064" y="2680264"/>
            <a:ext cx="11325872" cy="30412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Use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arrays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linked lists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to implement and apply linear lists and the related operations (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insertion, deletion and traversal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).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Implement and use special linear lists (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stacks and queues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) and the related basic operations (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push and pop; Enqueue and Dequeue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).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Implement and use simple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sorting algorithms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Apply searching algorithms including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sequential search, binary search and hashing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techniques.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Implement and use the non-linear list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tree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 data structures (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Binary trees, Binary Search Trees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) and the related operations (insert, delete and traverse).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Use 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graph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 data structure and apply common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graph algorithms.</a:t>
            </a:r>
          </a:p>
          <a:p>
            <a:pPr marL="253001" indent="-253001"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Develop teamwork discipline through working in teams.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0BA44-1CF1-21F3-08B9-C9B4B47D9D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47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F78-3EA1-A340-B6D7-BDACE2A7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EF8D09-CAA0-3ED5-B328-07E1BFE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53CC887-3396-2A92-1AB4-962382049A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F170-D78D-368F-7E16-E01A0E7AF129}"/>
              </a:ext>
            </a:extLst>
          </p:cNvPr>
          <p:cNvSpPr txBox="1"/>
          <p:nvPr/>
        </p:nvSpPr>
        <p:spPr>
          <a:xfrm>
            <a:off x="416027" y="2036790"/>
            <a:ext cx="11359946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linear data structures</a:t>
            </a:r>
            <a:r>
              <a:rPr lang="en-US" dirty="0">
                <a:solidFill>
                  <a:srgbClr val="002060"/>
                </a:solidFill>
              </a:rPr>
              <a:t> such as arrays and linked lists, performing fundamental operations including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and implement special linear data structures</a:t>
            </a:r>
            <a:r>
              <a:rPr lang="en-US" dirty="0">
                <a:solidFill>
                  <a:srgbClr val="002060"/>
                </a:solidFill>
              </a:rPr>
              <a:t> such as stacks and queues, utilizing their core operations (push, pop, enqueue, and dequeue).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Design and implement basic sorting algorithms</a:t>
            </a:r>
            <a:r>
              <a:rPr lang="en-US" dirty="0">
                <a:solidFill>
                  <a:srgbClr val="002060"/>
                </a:solidFill>
              </a:rPr>
              <a:t> to organize data efficiently.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searching algorithms</a:t>
            </a:r>
            <a:r>
              <a:rPr lang="en-US" dirty="0">
                <a:solidFill>
                  <a:srgbClr val="002060"/>
                </a:solidFill>
              </a:rPr>
              <a:t>, including sequential search, binary search, and hashing techniques.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non-linear data structures</a:t>
            </a:r>
            <a:r>
              <a:rPr lang="en-US" dirty="0">
                <a:solidFill>
                  <a:srgbClr val="002060"/>
                </a:solidFill>
              </a:rPr>
              <a:t>, particularly binary trees and binary search trees, performing key operations such as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Utilize graph data structures</a:t>
            </a:r>
            <a:r>
              <a:rPr lang="en-US" dirty="0">
                <a:solidFill>
                  <a:srgbClr val="002060"/>
                </a:solidFill>
              </a:rPr>
              <a:t> and apply fundamental graph algorithms for problem-solving.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Demonstrate effective teamwork skills</a:t>
            </a:r>
            <a:r>
              <a:rPr lang="en-US" dirty="0">
                <a:solidFill>
                  <a:srgbClr val="002060"/>
                </a:solidFill>
              </a:rPr>
              <a:t> by collaborating within groups to develop algorithmic solutions.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67B8A-EC7B-F750-FF17-513A5853E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8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974190"/>
            <a:ext cx="8273331" cy="76089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FEFF"/>
                </a:solidFill>
              </a:rPr>
              <a:t>Assessment Strategy</a:t>
            </a:r>
          </a:p>
        </p:txBody>
      </p:sp>
      <p:sp>
        <p:nvSpPr>
          <p:cNvPr id="25604" name="Slide Number Placeholder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67" indent="-214333"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333" indent="-171466"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266" indent="-171466"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200" indent="-171466"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6133" indent="-171466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9067" indent="-171466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2000" indent="-171466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933" indent="-171466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A06601-528A-4F99-B42D-7E229610534E}" type="slidenum">
              <a:rPr lang="en-US" altLang="en-US" sz="675">
                <a:solidFill>
                  <a:schemeClr val="accent2"/>
                </a:solidFill>
              </a:rPr>
              <a:pPr/>
              <a:t>5</a:t>
            </a:fld>
            <a:endParaRPr lang="en-US" altLang="en-US" sz="675">
              <a:solidFill>
                <a:schemeClr val="accent2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07968" y="2283904"/>
          <a:ext cx="5319081" cy="1926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915">
                  <a:extLst>
                    <a:ext uri="{9D8B030D-6E8A-4147-A177-3AD203B41FA5}">
                      <a16:colId xmlns:a16="http://schemas.microsoft.com/office/drawing/2014/main" val="898082765"/>
                    </a:ext>
                  </a:extLst>
                </a:gridCol>
                <a:gridCol w="1089166">
                  <a:extLst>
                    <a:ext uri="{9D8B030D-6E8A-4147-A177-3AD203B41FA5}">
                      <a16:colId xmlns:a16="http://schemas.microsoft.com/office/drawing/2014/main" val="1763047040"/>
                    </a:ext>
                  </a:extLst>
                </a:gridCol>
              </a:tblGrid>
              <a:tr h="50140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Grading:</a:t>
                      </a:r>
                      <a:r>
                        <a:rPr lang="en-US" sz="2800" dirty="0"/>
                        <a:t> </a:t>
                      </a:r>
                    </a:p>
                  </a:txBody>
                  <a:tcPr marL="51444" marR="51444" marT="25722" marB="25722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51444" marR="51444" marT="25722" marB="25722"/>
                </a:tc>
                <a:extLst>
                  <a:ext uri="{0D108BD9-81ED-4DB2-BD59-A6C34878D82A}">
                    <a16:rowId xmlns:a16="http://schemas.microsoft.com/office/drawing/2014/main" val="3973238921"/>
                  </a:ext>
                </a:extLst>
              </a:tr>
              <a:tr h="3084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Course work (</a:t>
                      </a:r>
                      <a:r>
                        <a:rPr lang="en-US" sz="2000" spc="-10" dirty="0">
                          <a:effectLst/>
                        </a:rPr>
                        <a:t>Quizzes</a:t>
                      </a:r>
                      <a:r>
                        <a:rPr lang="en-US" sz="2000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/>
                        <a:t>- Activates )</a:t>
                      </a:r>
                    </a:p>
                  </a:txBody>
                  <a:tcPr marL="51444" marR="51444" marT="25722" marB="25722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10 %</a:t>
                      </a:r>
                    </a:p>
                  </a:txBody>
                  <a:tcPr marL="51444" marR="51444" marT="25722" marB="25722"/>
                </a:tc>
                <a:extLst>
                  <a:ext uri="{0D108BD9-81ED-4DB2-BD59-A6C34878D82A}">
                    <a16:rowId xmlns:a16="http://schemas.microsoft.com/office/drawing/2014/main" val="2497634665"/>
                  </a:ext>
                </a:extLst>
              </a:tr>
              <a:tr h="301669"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Practical(</a:t>
                      </a:r>
                      <a:r>
                        <a:rPr lang="en-US" sz="2000" dirty="0"/>
                        <a:t>Course Project 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 Labs)</a:t>
                      </a:r>
                    </a:p>
                  </a:txBody>
                  <a:tcPr marL="51444" marR="51444" marT="25722" marB="25722"/>
                </a:tc>
                <a:tc>
                  <a:txBody>
                    <a:bodyPr/>
                    <a:lstStyle/>
                    <a:p>
                      <a:pPr marL="0" marR="0" indent="0" algn="ctr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20 %</a:t>
                      </a:r>
                    </a:p>
                  </a:txBody>
                  <a:tcPr marL="51444" marR="51444" marT="25722" marB="25722"/>
                </a:tc>
                <a:extLst>
                  <a:ext uri="{0D108BD9-81ED-4DB2-BD59-A6C34878D82A}">
                    <a16:rowId xmlns:a16="http://schemas.microsoft.com/office/drawing/2014/main" val="3312898045"/>
                  </a:ext>
                </a:extLst>
              </a:tr>
              <a:tr h="301669">
                <a:tc>
                  <a:txBody>
                    <a:bodyPr/>
                    <a:lstStyle/>
                    <a:p>
                      <a:r>
                        <a:rPr lang="en-US" sz="2000" dirty="0"/>
                        <a:t>Midterm Exam</a:t>
                      </a:r>
                    </a:p>
                  </a:txBody>
                  <a:tcPr marL="51444" marR="51444" marT="25722" marB="2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20 %</a:t>
                      </a:r>
                    </a:p>
                  </a:txBody>
                  <a:tcPr marL="51444" marR="51444" marT="25722" marB="25722"/>
                </a:tc>
                <a:extLst>
                  <a:ext uri="{0D108BD9-81ED-4DB2-BD59-A6C34878D82A}">
                    <a16:rowId xmlns:a16="http://schemas.microsoft.com/office/drawing/2014/main" val="3943182764"/>
                  </a:ext>
                </a:extLst>
              </a:tr>
              <a:tr h="301669">
                <a:tc>
                  <a:txBody>
                    <a:bodyPr/>
                    <a:lstStyle/>
                    <a:p>
                      <a:r>
                        <a:rPr lang="en-US" sz="2000" dirty="0"/>
                        <a:t>Final Exam</a:t>
                      </a:r>
                    </a:p>
                  </a:txBody>
                  <a:tcPr marL="51444" marR="51444" marT="25722" marB="2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50 % </a:t>
                      </a:r>
                    </a:p>
                  </a:txBody>
                  <a:tcPr marL="51444" marR="51444" marT="25722" marB="25722"/>
                </a:tc>
                <a:extLst>
                  <a:ext uri="{0D108BD9-81ED-4DB2-BD59-A6C34878D82A}">
                    <a16:rowId xmlns:a16="http://schemas.microsoft.com/office/drawing/2014/main" val="1831399196"/>
                  </a:ext>
                </a:extLst>
              </a:tr>
            </a:tbl>
          </a:graphicData>
        </a:graphic>
      </p:graphicFrame>
      <p:sp>
        <p:nvSpPr>
          <p:cNvPr id="25625" name="object 5"/>
          <p:cNvSpPr>
            <a:spLocks noChangeArrowheads="1"/>
          </p:cNvSpPr>
          <p:nvPr/>
        </p:nvSpPr>
        <p:spPr bwMode="auto">
          <a:xfrm>
            <a:off x="7674735" y="2608544"/>
            <a:ext cx="3647875" cy="211585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1769" y="1697568"/>
            <a:ext cx="167591" cy="586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2953" tIns="41476" rIns="82953" bIns="41476" numCol="1" anchor="ctr" anchorCtr="0" compatLnSpc="1">
            <a:prstTxWarp prst="textNoShape">
              <a:avLst/>
            </a:prstTxWarp>
            <a:spAutoFit/>
          </a:bodyPr>
          <a:lstStyle/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633">
                <a:latin typeface="Arial" panose="020B0604020202020204" pitchFamily="34" charset="0"/>
              </a:rPr>
            </a:br>
            <a:endParaRPr lang="en-US" altLang="en-US" sz="1633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77340-FDCF-2358-08E6-4818A77DEE0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490" y="848606"/>
            <a:ext cx="1973580" cy="758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34ED22-2CAE-D119-683E-D121F2EE3C19}"/>
              </a:ext>
            </a:extLst>
          </p:cNvPr>
          <p:cNvGraphicFramePr>
            <a:graphicFrameLocks noGrp="1"/>
          </p:cNvGraphicFramePr>
          <p:nvPr/>
        </p:nvGraphicFramePr>
        <p:xfrm>
          <a:off x="1107968" y="5122921"/>
          <a:ext cx="8605168" cy="672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952">
                  <a:extLst>
                    <a:ext uri="{9D8B030D-6E8A-4147-A177-3AD203B41FA5}">
                      <a16:colId xmlns:a16="http://schemas.microsoft.com/office/drawing/2014/main" val="2405051550"/>
                    </a:ext>
                  </a:extLst>
                </a:gridCol>
                <a:gridCol w="6035216">
                  <a:extLst>
                    <a:ext uri="{9D8B030D-6E8A-4147-A177-3AD203B41FA5}">
                      <a16:colId xmlns:a16="http://schemas.microsoft.com/office/drawing/2014/main" val="991024290"/>
                    </a:ext>
                  </a:extLst>
                </a:gridCol>
              </a:tblGrid>
              <a:tr h="672477">
                <a:tc>
                  <a:txBody>
                    <a:bodyPr/>
                    <a:lstStyle/>
                    <a:p>
                      <a:r>
                        <a:rPr lang="en-US" sz="1700" dirty="0"/>
                        <a:t>Midterm Exam</a:t>
                      </a:r>
                    </a:p>
                  </a:txBody>
                  <a:tcPr marL="56708" marR="56708" marT="28354" marB="283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 Date : 8-11-2025 to 13-11-2025</a:t>
                      </a:r>
                    </a:p>
                  </a:txBody>
                  <a:tcPr marL="56708" marR="56708" marT="28354" marB="28354" anchor="ctr"/>
                </a:tc>
                <a:extLst>
                  <a:ext uri="{0D108BD9-81ED-4DB2-BD59-A6C34878D82A}">
                    <a16:rowId xmlns:a16="http://schemas.microsoft.com/office/drawing/2014/main" val="71335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14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2719620" y="483557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buSzPts val="990"/>
            </a:pPr>
            <a:r>
              <a:rPr lang="en" sz="3220" dirty="0">
                <a:solidFill>
                  <a:srgbClr val="002060"/>
                </a:solidFill>
              </a:rPr>
              <a:t>C++ Program Layout</a:t>
            </a:r>
            <a:endParaRPr sz="3220" dirty="0">
              <a:solidFill>
                <a:srgbClr val="002060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9985825" y="6211583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6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546" y="1385026"/>
            <a:ext cx="5022332" cy="4087945"/>
          </a:xfrm>
          <a:prstGeom prst="rect">
            <a:avLst/>
          </a:prstGeom>
        </p:spPr>
      </p:pic>
      <p:sp>
        <p:nvSpPr>
          <p:cNvPr id="10" name="Google Shape;80;p16"/>
          <p:cNvSpPr txBox="1">
            <a:spLocks noGrp="1"/>
          </p:cNvSpPr>
          <p:nvPr>
            <p:ph type="body" idx="1"/>
          </p:nvPr>
        </p:nvSpPr>
        <p:spPr>
          <a:xfrm>
            <a:off x="2582546" y="5518867"/>
            <a:ext cx="3089869" cy="282873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550" dirty="0">
                <a:solidFill>
                  <a:schemeClr val="dk1"/>
                </a:solidFill>
              </a:rPr>
              <a:t>The Typical C++ Layout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BDB22D-D588-D7B5-725F-C71B76FC163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3B9118-33E5-299E-CBEB-DF947C891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749" y="1575655"/>
            <a:ext cx="3700593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5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671400" y="45963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buSzPts val="990"/>
            </a:pPr>
            <a:r>
              <a:rPr lang="en" sz="3220" dirty="0">
                <a:solidFill>
                  <a:srgbClr val="002060"/>
                </a:solidFill>
              </a:rPr>
              <a:t>C++ Program Layout</a:t>
            </a:r>
            <a:endParaRPr sz="3220" dirty="0">
              <a:solidFill>
                <a:srgbClr val="002060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629920" y="1771650"/>
            <a:ext cx="4124959" cy="369736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800" dirty="0">
                <a:solidFill>
                  <a:schemeClr val="dk1"/>
                </a:solidFill>
              </a:rPr>
              <a:t>The program calculates the area of a square.</a:t>
            </a: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800" dirty="0">
                <a:solidFill>
                  <a:schemeClr val="dk1"/>
                </a:solidFill>
              </a:rPr>
              <a:t>- Input: Length</a:t>
            </a: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800" dirty="0">
                <a:solidFill>
                  <a:schemeClr val="dk1"/>
                </a:solidFill>
              </a:rPr>
              <a:t>- Output: Area</a:t>
            </a: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sz="1800" dirty="0">
              <a:solidFill>
                <a:schemeClr val="dk1"/>
              </a:solidFill>
            </a:endParaRP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800" dirty="0">
                <a:solidFill>
                  <a:schemeClr val="dk1"/>
                </a:solidFill>
              </a:rPr>
              <a:t>Steps: </a:t>
            </a:r>
          </a:p>
          <a:p>
            <a:pPr marL="470218" indent="-342900">
              <a:lnSpc>
                <a:spcPct val="150000"/>
              </a:lnSpc>
              <a:buClr>
                <a:schemeClr val="dk1"/>
              </a:buClr>
              <a:buSzPts val="1595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Ask for the length as input</a:t>
            </a:r>
          </a:p>
          <a:p>
            <a:pPr marL="470218" indent="-342900">
              <a:lnSpc>
                <a:spcPct val="150000"/>
              </a:lnSpc>
              <a:buClr>
                <a:schemeClr val="dk1"/>
              </a:buClr>
              <a:buSzPts val="1595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Calculate the area (A = L^2)</a:t>
            </a:r>
          </a:p>
          <a:p>
            <a:pPr marL="470218" indent="-342900">
              <a:lnSpc>
                <a:spcPct val="150000"/>
              </a:lnSpc>
              <a:buClr>
                <a:schemeClr val="dk1"/>
              </a:buClr>
              <a:buSzPts val="1595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Print the output</a:t>
            </a:r>
          </a:p>
          <a:p>
            <a:pPr marL="470218" indent="-342900">
              <a:lnSpc>
                <a:spcPct val="150000"/>
              </a:lnSpc>
              <a:buClr>
                <a:schemeClr val="dk1"/>
              </a:buClr>
              <a:buSzPts val="1595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End Program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9868867" y="6147788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7</a:t>
            </a:fld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032743" y="1817751"/>
            <a:ext cx="5512417" cy="3899516"/>
            <a:chOff x="1804307" y="828562"/>
            <a:chExt cx="5512417" cy="389951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7276" y="828562"/>
              <a:ext cx="5489448" cy="3899516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804307" y="4392386"/>
              <a:ext cx="2436043" cy="3356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cxnSp>
        <p:nvCxnSpPr>
          <p:cNvPr id="6" name="Straight Arrow Connector 5"/>
          <p:cNvCxnSpPr/>
          <p:nvPr/>
        </p:nvCxnSpPr>
        <p:spPr>
          <a:xfrm flipH="1">
            <a:off x="7206345" y="1649186"/>
            <a:ext cx="424543" cy="244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7255331" y="2106386"/>
            <a:ext cx="898071" cy="571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/>
          <p:cNvSpPr/>
          <p:nvPr/>
        </p:nvSpPr>
        <p:spPr>
          <a:xfrm>
            <a:off x="5818414" y="3028952"/>
            <a:ext cx="432348" cy="738559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 10"/>
          <p:cNvSpPr/>
          <p:nvPr/>
        </p:nvSpPr>
        <p:spPr>
          <a:xfrm>
            <a:off x="6339840" y="1094807"/>
            <a:ext cx="3870960" cy="55071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Compiler directive to add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Library for Input/output</a:t>
            </a:r>
            <a:endParaRPr lang="ar-EG" dirty="0">
              <a:solidFill>
                <a:srgbClr val="00206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7703331" y="2909774"/>
            <a:ext cx="887187" cy="161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511598" y="2552195"/>
            <a:ext cx="2796264" cy="58424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Variables Declaration</a:t>
            </a:r>
            <a:endParaRPr lang="ar-EG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67969" y="1813375"/>
            <a:ext cx="3278023" cy="5420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Names defined in iostream are in standard namespace</a:t>
            </a:r>
            <a:endParaRPr lang="ar-EG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4712" y="3197957"/>
            <a:ext cx="2033560" cy="37740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Statements</a:t>
            </a:r>
            <a:r>
              <a:rPr lang="en-US" dirty="0"/>
              <a:t> 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C962F-71E3-3B96-F326-6931AE13F2B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622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1796978" y="538027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buSzPts val="990"/>
            </a:pPr>
            <a:r>
              <a:rPr lang="en" sz="3600" dirty="0">
                <a:solidFill>
                  <a:srgbClr val="002060"/>
                </a:solidFill>
              </a:rPr>
              <a:t>Variables</a:t>
            </a:r>
            <a:endParaRPr sz="3600" dirty="0">
              <a:solidFill>
                <a:srgbClr val="002060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904240" y="1110727"/>
            <a:ext cx="9640919" cy="369736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sz="1800" dirty="0">
                <a:solidFill>
                  <a:schemeClr val="dk1"/>
                </a:solidFill>
              </a:rPr>
              <a:t>Variables are placeholders of data</a:t>
            </a: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</a:rPr>
              <a:t>Every variable in a  C++ program should be declared before usage </a:t>
            </a: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</a:rPr>
              <a:t>The declaration consists of</a:t>
            </a:r>
            <a:r>
              <a:rPr lang="en-US" sz="1800" b="1" dirty="0">
                <a:solidFill>
                  <a:schemeClr val="dk1"/>
                </a:solidFill>
              </a:rPr>
              <a:t> type name</a:t>
            </a:r>
            <a:r>
              <a:rPr lang="en-US" sz="1800" dirty="0">
                <a:solidFill>
                  <a:schemeClr val="dk1"/>
                </a:solidFill>
              </a:rPr>
              <a:t> and </a:t>
            </a:r>
            <a:r>
              <a:rPr lang="en-US" sz="1800" b="1" dirty="0">
                <a:solidFill>
                  <a:schemeClr val="dk1"/>
                </a:solidFill>
              </a:rPr>
              <a:t>variable name </a:t>
            </a:r>
            <a:r>
              <a:rPr lang="en-US" sz="1800" dirty="0">
                <a:solidFill>
                  <a:schemeClr val="dk1"/>
                </a:solidFill>
              </a:rPr>
              <a:t>and ends with a semicolon</a:t>
            </a:r>
            <a:endParaRPr lang="en-US" sz="1800" b="1" dirty="0">
              <a:solidFill>
                <a:schemeClr val="dk1"/>
              </a:solidFill>
            </a:endParaRP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sz="1800" b="1" dirty="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9996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8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37" y="2874466"/>
            <a:ext cx="6902758" cy="32621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D45DB7-9D77-9A02-3842-D1608409CB1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003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1750208" y="48711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buSzPts val="990"/>
            </a:pPr>
            <a:r>
              <a:rPr lang="en" sz="3220" dirty="0">
                <a:solidFill>
                  <a:srgbClr val="002060"/>
                </a:solidFill>
              </a:rPr>
              <a:t>Data Types for Numbers</a:t>
            </a:r>
            <a:endParaRPr sz="3220" dirty="0">
              <a:solidFill>
                <a:srgbClr val="002060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9828027" y="6174179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9</a:t>
            </a:fld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609" y="1285900"/>
            <a:ext cx="7722781" cy="4662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69059" y="2947251"/>
            <a:ext cx="1796522" cy="380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171450" indent="-171450" algn="ctr">
              <a:buFontTx/>
              <a:buChar char="-"/>
            </a:pPr>
            <a:r>
              <a:rPr lang="en-US" sz="1200" b="1" dirty="0">
                <a:solidFill>
                  <a:schemeClr val="tx1"/>
                </a:solidFill>
                <a:latin typeface="Calibri Light" panose="020F0302020204030204" pitchFamily="34" charset="0"/>
              </a:rPr>
              <a:t>9.22  e18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Calibri Light" panose="020F0302020204030204" pitchFamily="34" charset="0"/>
              </a:rPr>
              <a:t>       9.22   e18</a:t>
            </a:r>
            <a:endParaRPr lang="ar-EG" sz="1200" b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618467-29B7-36BD-9DC8-8B1486BE5B3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216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1835700" y="48269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buSzPts val="990"/>
            </a:pPr>
            <a:r>
              <a:rPr lang="en" sz="3220" dirty="0">
                <a:solidFill>
                  <a:srgbClr val="002060"/>
                </a:solidFill>
              </a:rPr>
              <a:t>Data Types for Letters</a:t>
            </a:r>
            <a:endParaRPr sz="3220" dirty="0">
              <a:solidFill>
                <a:srgbClr val="002060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11256298" y="594718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10</a:t>
            </a:fld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80;p16"/>
          <p:cNvSpPr txBox="1">
            <a:spLocks noGrp="1"/>
          </p:cNvSpPr>
          <p:nvPr>
            <p:ph type="body" idx="1"/>
          </p:nvPr>
        </p:nvSpPr>
        <p:spPr>
          <a:xfrm>
            <a:off x="1107440" y="1218170"/>
            <a:ext cx="11176000" cy="369736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chemeClr val="dk1"/>
                </a:solidFill>
              </a:rPr>
              <a:t>char : </a:t>
            </a:r>
            <a:r>
              <a:rPr lang="en-US" sz="1800" dirty="0">
                <a:solidFill>
                  <a:schemeClr val="dk1"/>
                </a:solidFill>
              </a:rPr>
              <a:t>short for character and holds only one letter/character</a:t>
            </a: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1800" b="1" i="1" dirty="0">
                <a:solidFill>
                  <a:schemeClr val="dk1"/>
                </a:solidFill>
              </a:rPr>
              <a:t>string: </a:t>
            </a:r>
            <a:r>
              <a:rPr lang="en-US" sz="1800" dirty="0">
                <a:solidFill>
                  <a:schemeClr val="dk1"/>
                </a:solidFill>
              </a:rPr>
              <a:t>holds a string of characters like words and sentences</a:t>
            </a:r>
          </a:p>
          <a:p>
            <a:pPr marL="584518" lvl="1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en-US" dirty="0">
                <a:solidFill>
                  <a:schemeClr val="dk1"/>
                </a:solidFill>
              </a:rPr>
              <a:t>You must add string library </a:t>
            </a: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sz="1800" b="1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00" y="1810419"/>
            <a:ext cx="7750353" cy="1138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112" y="2987812"/>
            <a:ext cx="3098664" cy="6059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449" y="3978142"/>
            <a:ext cx="1939991" cy="33530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600" y="4576090"/>
            <a:ext cx="9461950" cy="11385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B679E1-68F4-F79D-7088-AF07990993A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631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1866839" y="45103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buSzPts val="990"/>
            </a:pPr>
            <a:r>
              <a:rPr lang="en" sz="3220" dirty="0">
                <a:solidFill>
                  <a:srgbClr val="002060"/>
                </a:solidFill>
              </a:rPr>
              <a:t>Input and Output </a:t>
            </a:r>
            <a:endParaRPr sz="3220" dirty="0">
              <a:solidFill>
                <a:srgbClr val="002060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11332259" y="6143298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ctr" anchorCtr="0" compatLnSpc="1">
            <a:prstTxWarp prst="textNoShape">
              <a:avLst/>
            </a:prstTxWarp>
            <a:normAutofit/>
          </a:bodyPr>
          <a:lstStyle/>
          <a:p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11</a:t>
            </a:fld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80;p16"/>
          <p:cNvSpPr txBox="1">
            <a:spLocks noGrp="1"/>
          </p:cNvSpPr>
          <p:nvPr>
            <p:ph type="body" idx="1"/>
          </p:nvPr>
        </p:nvSpPr>
        <p:spPr>
          <a:xfrm>
            <a:off x="1129280" y="1023738"/>
            <a:ext cx="8709459" cy="369736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Print result using </a:t>
            </a:r>
            <a:r>
              <a:rPr lang="en-US" sz="2000" b="1" i="1" dirty="0" err="1">
                <a:solidFill>
                  <a:schemeClr val="dk1"/>
                </a:solidFill>
              </a:rPr>
              <a:t>cout</a:t>
            </a:r>
            <a:r>
              <a:rPr lang="en-US" sz="2000" b="1" i="1" dirty="0">
                <a:solidFill>
                  <a:schemeClr val="dk1"/>
                </a:solidFill>
              </a:rPr>
              <a:t> &lt;&lt;</a:t>
            </a: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User Inputs using </a:t>
            </a:r>
            <a:r>
              <a:rPr lang="en-US" sz="2000" b="1" i="1" dirty="0" err="1">
                <a:solidFill>
                  <a:schemeClr val="dk1"/>
                </a:solidFill>
              </a:rPr>
              <a:t>cin</a:t>
            </a:r>
            <a:r>
              <a:rPr lang="en-US" sz="2000" b="1" i="1" dirty="0">
                <a:solidFill>
                  <a:schemeClr val="dk1"/>
                </a:solidFill>
              </a:rPr>
              <a:t> &gt;&gt;</a:t>
            </a:r>
            <a:endParaRPr lang="en-US" sz="2000" dirty="0">
              <a:solidFill>
                <a:schemeClr val="dk1"/>
              </a:solidFill>
            </a:endParaRP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chemeClr val="dk1"/>
                </a:solidFill>
              </a:rPr>
              <a:t>&lt;&lt; </a:t>
            </a:r>
            <a:r>
              <a:rPr lang="en-US" sz="2000" dirty="0">
                <a:solidFill>
                  <a:schemeClr val="dk1"/>
                </a:solidFill>
              </a:rPr>
              <a:t>is called insertion operator</a:t>
            </a: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dirty="0"/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sz="1550" b="1" dirty="0">
              <a:solidFill>
                <a:schemeClr val="dk1"/>
              </a:solidFill>
            </a:endParaRPr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endParaRPr lang="en-US" sz="1550" b="1" dirty="0">
              <a:solidFill>
                <a:schemeClr val="dk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156" y="2673114"/>
            <a:ext cx="8731607" cy="20479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462" y="5020655"/>
            <a:ext cx="3901076" cy="9542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B3CD47-EDA5-C168-B083-16AA86C94F1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646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459BAE8A-F65F-48F1-ABDE-30DB0E30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B728D0-4B87-4ED6-90CB-11E865C7216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42EE0B8-8047-4FDA-A7E6-748FBED6316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80858" y="1823341"/>
            <a:ext cx="11029950" cy="1452563"/>
          </a:xfrm>
          <a:noFill/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en-US" altLang="en-US" sz="3600" dirty="0"/>
              <a:t>Write a program to compute the Area of a Circle.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3DF50-D1D6-417B-A150-4D2C3F1C9FF1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45F4C8F0-0B59-4222-B9A4-8DA1D9168B69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FE274-E894-BE26-4AEA-BED10B0FDF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04951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1DD255FE-E39F-4475-8077-E692303D8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49366"/>
            <a:ext cx="5562600" cy="5475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E5B9F4FE-ED64-4E19-8DC1-92C3A98C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85FFF7-A766-4B90-B499-31915389DDE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99EA44F-4786-4834-BD1A-4B26B1C7BB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9280" y="65355"/>
            <a:ext cx="966580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1E91184-8E0F-40C8-89AD-E0868408D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49366"/>
            <a:ext cx="5562600" cy="5475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00FFFF"/>
              </a:highlight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highlight>
                <a:srgbClr val="87FF19"/>
              </a:highlight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25084DA-8112-4B6F-AE76-613DA50AE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49366"/>
            <a:ext cx="5562600" cy="54759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  <a:r>
              <a:rPr lang="en-US" sz="1800" dirty="0">
                <a:solidFill>
                  <a:srgbClr val="FF0000"/>
                </a:solidFill>
                <a:highlight>
                  <a:srgbClr val="FF0000"/>
                </a:highlight>
                <a:latin typeface="Consolas" panose="020B0609020204030204" pitchFamily="49" charset="0"/>
                <a:cs typeface="+mn-cs"/>
              </a:rPr>
              <a:t>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highlight>
                <a:srgbClr val="87FF19"/>
              </a:highlight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87FF19"/>
                </a:highlight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8473A802-C0EB-4D53-AD5D-B37EC5CE792B}"/>
              </a:ext>
            </a:extLst>
          </p:cNvPr>
          <p:cNvSpPr/>
          <p:nvPr/>
        </p:nvSpPr>
        <p:spPr bwMode="auto">
          <a:xfrm>
            <a:off x="4367776" y="1152989"/>
            <a:ext cx="1881845" cy="499265"/>
          </a:xfrm>
          <a:prstGeom prst="wedgeEllipseCallout">
            <a:avLst>
              <a:gd name="adj1" fmla="val -100198"/>
              <a:gd name="adj2" fmla="val 9141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atin typeface="Times New Roman" panose="02020603050405020304" pitchFamily="18" charset="0"/>
              </a:rPr>
              <a:t>No semicolon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689ED99-9EC2-46C6-B603-F04EFC548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49366"/>
            <a:ext cx="5562600" cy="54759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 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+mn-cs"/>
              </a:rPr>
              <a:t>//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+mn-cs"/>
              </a:rPr>
              <a:t>//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+mn-cs"/>
              </a:rPr>
              <a:t>//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8019F-37AC-4DBB-BBB2-A74DA40BD50F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8A6FAFB6-3979-4F6C-B820-E67B5B5DB3AF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ABE7B1-0A35-44B0-7833-389308B628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5226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7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E5B9F4FE-ED64-4E19-8DC1-92C3A98C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85FFF7-A766-4B90-B499-31915389DDE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99EA44F-4786-4834-BD1A-4B26B1C7BB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88840" y="0"/>
            <a:ext cx="868680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A9A8B9C0-C835-4706-A45C-F415E213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843" y="1934505"/>
            <a:ext cx="1524000" cy="29437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7174" name="Text Box 9">
            <a:extLst>
              <a:ext uri="{FF2B5EF4-FFF2-40B4-BE49-F238E27FC236}">
                <a16:creationId xmlns:a16="http://schemas.microsoft.com/office/drawing/2014/main" id="{776EFAD4-A9A3-4065-B437-AE65692A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643" y="1898338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radius</a:t>
            </a:r>
          </a:p>
        </p:txBody>
      </p:sp>
      <p:sp>
        <p:nvSpPr>
          <p:cNvPr id="7175" name="Rectangle 10">
            <a:extLst>
              <a:ext uri="{FF2B5EF4-FFF2-40B4-BE49-F238E27FC236}">
                <a16:creationId xmlns:a16="http://schemas.microsoft.com/office/drawing/2014/main" id="{61C6A915-9A8A-4552-8546-81365E07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550" y="2412591"/>
            <a:ext cx="7450570" cy="295275"/>
          </a:xfrm>
          <a:prstGeom prst="rect">
            <a:avLst/>
          </a:prstGeom>
          <a:gradFill>
            <a:gsLst>
              <a:gs pos="57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None/>
            </a:pP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// Declaring a variable of type double</a:t>
            </a:r>
            <a:endParaRPr lang="en-US" sz="1800">
              <a:solidFill>
                <a:srgbClr val="349934"/>
              </a:solidFill>
              <a:latin typeface="Consolas" panose="020B0609020204030204" pitchFamily="49" charset="0"/>
            </a:endParaRPr>
          </a:p>
        </p:txBody>
      </p:sp>
      <p:sp>
        <p:nvSpPr>
          <p:cNvPr id="186380" name="AutoShape 12">
            <a:extLst>
              <a:ext uri="{FF2B5EF4-FFF2-40B4-BE49-F238E27FC236}">
                <a16:creationId xmlns:a16="http://schemas.microsoft.com/office/drawing/2014/main" id="{8DD164B9-24BD-465C-8E86-CD334EAFF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644" y="877000"/>
            <a:ext cx="1881187" cy="615950"/>
          </a:xfrm>
          <a:prstGeom prst="wedgeRoundRectCallout">
            <a:avLst>
              <a:gd name="adj1" fmla="val -32870"/>
              <a:gd name="adj2" fmla="val 122421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allocate memory for radius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7A82698-C411-42C0-B938-A57E0D98E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96" y="991606"/>
            <a:ext cx="5562600" cy="54759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1E786-EFDF-4487-B825-BD968F8D3470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63F0C1-A8A9-0A50-1D92-4341711516C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680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  <p:bldP spid="7174" grpId="0"/>
      <p:bldP spid="18638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9E7D4497-C412-4EBA-B293-498C22F06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203" y="1386840"/>
            <a:ext cx="1524000" cy="306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522E9E66-E8E3-4664-8226-C79358A74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640" y="136144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radius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2E0A2230-22A5-4C1C-933B-72EC8C7D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215" y="6098540"/>
            <a:ext cx="422857" cy="365125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1B542A-E44D-4BAC-ACA8-AED2C047BDA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E673AF5-523A-4D9F-8F92-35E5FF071C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7520" y="69850"/>
            <a:ext cx="826008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8198" name="Text Box 7">
            <a:extLst>
              <a:ext uri="{FF2B5EF4-FFF2-40B4-BE49-F238E27FC236}">
                <a16:creationId xmlns:a16="http://schemas.microsoft.com/office/drawing/2014/main" id="{3B4E94AC-71E5-4BC8-A2DE-1365748FF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840" y="751841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memory</a:t>
            </a:r>
          </a:p>
        </p:txBody>
      </p:sp>
      <p:sp>
        <p:nvSpPr>
          <p:cNvPr id="8202" name="Rectangle 23">
            <a:extLst>
              <a:ext uri="{FF2B5EF4-FFF2-40B4-BE49-F238E27FC236}">
                <a16:creationId xmlns:a16="http://schemas.microsoft.com/office/drawing/2014/main" id="{BA52880E-F35B-44A6-9A19-F27DF1C82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204" y="1732916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1800">
                <a:solidFill>
                  <a:schemeClr val="bg2"/>
                </a:solidFill>
              </a:rPr>
              <a:t>3.14159</a:t>
            </a:r>
          </a:p>
        </p:txBody>
      </p:sp>
      <p:sp>
        <p:nvSpPr>
          <p:cNvPr id="8203" name="Text Box 24">
            <a:extLst>
              <a:ext uri="{FF2B5EF4-FFF2-40B4-BE49-F238E27FC236}">
                <a16:creationId xmlns:a16="http://schemas.microsoft.com/office/drawing/2014/main" id="{B68C04E7-C11F-42D6-B8F0-0701F1603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640" y="166624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PI</a:t>
            </a:r>
          </a:p>
        </p:txBody>
      </p:sp>
      <p:sp>
        <p:nvSpPr>
          <p:cNvPr id="187417" name="AutoShape 25">
            <a:extLst>
              <a:ext uri="{FF2B5EF4-FFF2-40B4-BE49-F238E27FC236}">
                <a16:creationId xmlns:a16="http://schemas.microsoft.com/office/drawing/2014/main" id="{402A1EF9-8179-4F01-B102-DA649345D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092" y="642122"/>
            <a:ext cx="1881188" cy="615950"/>
          </a:xfrm>
          <a:prstGeom prst="wedgeRoundRectCallout">
            <a:avLst>
              <a:gd name="adj1" fmla="val 69311"/>
              <a:gd name="adj2" fmla="val 131493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allocate memory for PI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888C581-314C-4E21-AF21-07D36ED07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05" y="2539186"/>
            <a:ext cx="8277074" cy="295275"/>
          </a:xfrm>
          <a:prstGeom prst="rect">
            <a:avLst/>
          </a:prstGeom>
          <a:gradFill>
            <a:gsLst>
              <a:gs pos="57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349934"/>
                </a:solidFill>
                <a:latin typeface="Consolas" panose="020B0609020204030204" pitchFamily="49" charset="0"/>
              </a:rPr>
              <a:t>// Naming a constant, should have a value.</a:t>
            </a:r>
            <a:endParaRPr lang="en-US" altLang="en-US" sz="16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DFFD61-1142-4538-86E8-BC5524B4C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56" y="849366"/>
            <a:ext cx="5562600" cy="54759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23" name="AutoShape 25">
            <a:extLst>
              <a:ext uri="{FF2B5EF4-FFF2-40B4-BE49-F238E27FC236}">
                <a16:creationId xmlns:a16="http://schemas.microsoft.com/office/drawing/2014/main" id="{660B8893-96E0-427A-B2F5-71CEEBAA4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645" y="1764304"/>
            <a:ext cx="1881188" cy="370670"/>
          </a:xfrm>
          <a:prstGeom prst="wedgeRoundRectCallout">
            <a:avLst>
              <a:gd name="adj1" fmla="val -43785"/>
              <a:gd name="adj2" fmla="val 15539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Literal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04AC1C-6322-4100-B71E-3D6B01B4D733}"/>
              </a:ext>
            </a:extLst>
          </p:cNvPr>
          <p:cNvSpPr txBox="1"/>
          <p:nvPr/>
        </p:nvSpPr>
        <p:spPr>
          <a:xfrm>
            <a:off x="9006840" y="609854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18094D-BDF2-4A0E-C57A-85F76CAFC5A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046" y="2247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557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FCFFDBF1-55D5-4D83-B057-6E0DF479C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1610360"/>
            <a:ext cx="1524000" cy="306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20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A84C590A-D648-471A-9C41-23AF0441B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58496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radius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1CB264CF-EFF6-4FA4-9657-A0F99FF1E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975361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memory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D945AFD0-39E5-46E4-B846-8BF77BC87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4" y="1956436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3.14159</a:t>
            </a: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03E86E7D-7C7D-4955-8463-AB7A408A3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88976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PI</a:t>
            </a:r>
          </a:p>
        </p:txBody>
      </p:sp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B716734C-FB8E-45FE-B37D-A3B7F7C8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2610" y="6235586"/>
            <a:ext cx="422857" cy="365125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3B1B6A-1426-4D9C-B88D-FDC304C11D5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A1E436E-DD0B-46B3-84E5-15BBF0EA6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5851" y="-584974"/>
            <a:ext cx="11029616" cy="1189554"/>
          </a:xfrm>
          <a:noFill/>
        </p:spPr>
        <p:txBody>
          <a:bodyPr>
            <a:normAutofit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188429" name="AutoShape 13">
            <a:extLst>
              <a:ext uri="{FF2B5EF4-FFF2-40B4-BE49-F238E27FC236}">
                <a16:creationId xmlns:a16="http://schemas.microsoft.com/office/drawing/2014/main" id="{5ECDE107-E644-4B83-9469-1B82E6F62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785" y="975361"/>
            <a:ext cx="2265362" cy="384175"/>
          </a:xfrm>
          <a:prstGeom prst="wedgeRoundRectCallout">
            <a:avLst>
              <a:gd name="adj1" fmla="val 74255"/>
              <a:gd name="adj2" fmla="val 137207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assign 20 to radius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7D686712-BA1B-43A5-BEAF-2BBEF9C2C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116" y="3607616"/>
            <a:ext cx="5105400" cy="295275"/>
          </a:xfrm>
          <a:prstGeom prst="rect">
            <a:avLst/>
          </a:prstGeom>
          <a:gradFill>
            <a:gsLst>
              <a:gs pos="57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// Assignment Statements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3CD69BC6-768E-40FD-B7DB-48135974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516" y="1072886"/>
            <a:ext cx="5562600" cy="54759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D73DEF45-5420-432B-8766-A82F6CF5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222" y="3974811"/>
            <a:ext cx="1881188" cy="370670"/>
          </a:xfrm>
          <a:prstGeom prst="wedgeRoundRectCallout">
            <a:avLst>
              <a:gd name="adj1" fmla="val -48116"/>
              <a:gd name="adj2" fmla="val -91290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Literal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B02838-78E3-4979-A91F-B00DB06D8D70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39B681-2E5F-B9D7-F2BA-B03EA094B21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958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5AA15187-A776-4C64-9447-A4BE19BD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0F9EB3-11D0-4713-85A2-5EC7057D1BF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9D48AA1-1570-4510-A8AD-210931BD1F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30968"/>
            <a:ext cx="871974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E5AF1E24-5EF9-490B-A24E-DEA1F5DD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260" y="4520396"/>
            <a:ext cx="8719740" cy="295275"/>
          </a:xfrm>
          <a:prstGeom prst="rect">
            <a:avLst/>
          </a:prstGeom>
          <a:gradFill>
            <a:gsLst>
              <a:gs pos="57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// Declare variable &amp; assign it 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EE684D6-9F8A-41E5-ACEF-FD47B4766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1447800"/>
            <a:ext cx="1524000" cy="306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C081F8AD-E0F7-4A31-84CE-CC9E222FC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4224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radius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3BE2BC67-E82F-4318-A41A-9F016A56D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812801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memory</a:t>
            </a: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84166A64-DDBC-4920-A67B-FD2EC2B0A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4" y="1793876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3.14159</a:t>
            </a: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BCD56CBC-9671-4B89-9489-1C3932615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72720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PI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361B2F05-24D2-493D-BBAD-78E8589E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4" y="2119258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1256.636</a:t>
            </a: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6F621307-702F-4476-A98B-0EE0D0FE4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052583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area</a:t>
            </a:r>
          </a:p>
        </p:txBody>
      </p:sp>
      <p:sp>
        <p:nvSpPr>
          <p:cNvPr id="189453" name="AutoShape 13">
            <a:extLst>
              <a:ext uri="{FF2B5EF4-FFF2-40B4-BE49-F238E27FC236}">
                <a16:creationId xmlns:a16="http://schemas.microsoft.com/office/drawing/2014/main" id="{EEF50AFE-4138-4814-82F9-421A636B1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2889" y="2906713"/>
            <a:ext cx="2687637" cy="692150"/>
          </a:xfrm>
          <a:prstGeom prst="wedgeRoundRectCallout">
            <a:avLst>
              <a:gd name="adj1" fmla="val -23343"/>
              <a:gd name="adj2" fmla="val -13617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compute area and assign it to a new variable area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B570BBB1-1B3B-42DC-B621-BBC95420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516" y="910326"/>
            <a:ext cx="5562600" cy="54759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9AF174-57EB-4DDE-A040-C4324C5ECB3C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89E2F9-7C1D-4E27-58B7-D0928EBC115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87294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045BCDB7-BA3E-4DC3-AEEE-029B8DA9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A2C656-6899-4476-871F-DBDF587E9F7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D6CE2A1-9B2F-4EEE-A85A-F0270E5455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31520" y="30957"/>
            <a:ext cx="814832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300" dirty="0">
                <a:solidFill>
                  <a:srgbClr val="002060"/>
                </a:solidFill>
              </a:rPr>
              <a:t>Trace a Program Execution</a:t>
            </a:r>
          </a:p>
        </p:txBody>
      </p:sp>
      <p:sp>
        <p:nvSpPr>
          <p:cNvPr id="190478" name="AutoShape 14">
            <a:extLst>
              <a:ext uri="{FF2B5EF4-FFF2-40B4-BE49-F238E27FC236}">
                <a16:creationId xmlns:a16="http://schemas.microsoft.com/office/drawing/2014/main" id="{E7D36DDE-27B6-4E8C-B29C-652537AB9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800" y="2974340"/>
            <a:ext cx="2687638" cy="692150"/>
          </a:xfrm>
          <a:prstGeom prst="wedgeRoundRectCallout">
            <a:avLst>
              <a:gd name="adj1" fmla="val -54134"/>
              <a:gd name="adj2" fmla="val 201606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print a message to the console</a:t>
            </a:r>
          </a:p>
        </p:txBody>
      </p:sp>
      <p:pic>
        <p:nvPicPr>
          <p:cNvPr id="11278" name="Picture 20">
            <a:extLst>
              <a:ext uri="{FF2B5EF4-FFF2-40B4-BE49-F238E27FC236}">
                <a16:creationId xmlns:a16="http://schemas.microsoft.com/office/drawing/2014/main" id="{A99E3BF9-1EFA-4E30-BF25-B5BB92BEC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6" y="4663440"/>
            <a:ext cx="230187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880E0C64-6DCB-4A9E-9CD5-67D4DD62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855" y="5336309"/>
            <a:ext cx="4871061" cy="556507"/>
          </a:xfrm>
          <a:prstGeom prst="rect">
            <a:avLst/>
          </a:prstGeom>
          <a:gradFill>
            <a:gsLst>
              <a:gs pos="57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5D8892A4-ED69-41F3-84D1-67F273E3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1437640"/>
            <a:ext cx="1524000" cy="306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20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943252C9-28E4-4948-9A71-4EB2327A8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41224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radius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32B75-FA9A-4E6A-A6C4-A852AE2EC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4" y="1783716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1800">
                <a:solidFill>
                  <a:schemeClr val="bg2"/>
                </a:solidFill>
              </a:rPr>
              <a:t>3.14159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D13F8778-B0D5-437F-97E9-37F0A7193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717041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PI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D74D093E-4F8E-47E6-95A1-9BF44B95B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4" y="2109098"/>
            <a:ext cx="1524000" cy="269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1256.636</a:t>
            </a: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32D0771D-D614-4711-AC70-E7B3C0597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042423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area</a:t>
            </a: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1DF15A2D-2BA7-4491-8851-13FEEC04F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802641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memory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22374C15-F759-4CDF-8047-B8D502C55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516" y="900166"/>
            <a:ext cx="5562600" cy="54759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radius = 20;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0616E3-E76D-42F8-A36B-FC445621F102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DE8A5-1865-9F35-EFA5-CA0B34C34CC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423794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76AA0E6F-ECB4-48C9-8A88-17F70B61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221D95-9517-4EA6-8C2D-14898C4E49E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B684190-6F78-4D31-B36D-6D1C2DD97F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4720" y="-216731"/>
            <a:ext cx="7421563" cy="685800"/>
          </a:xfrm>
          <a:noFill/>
        </p:spPr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Reading Input from the Keyboard 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61213E9-A968-4520-AB26-63E1B2126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66" y="3361541"/>
            <a:ext cx="7772399" cy="605589"/>
          </a:xfrm>
          <a:prstGeom prst="rect">
            <a:avLst/>
          </a:prstGeom>
          <a:gradFill>
            <a:gsLst>
              <a:gs pos="72000">
                <a:srgbClr val="FFC000">
                  <a:alpha val="0"/>
                </a:srgbClr>
              </a:gs>
              <a:gs pos="100000">
                <a:srgbClr val="FFC000"/>
              </a:gs>
            </a:gsLst>
            <a:lin ang="0" scaled="0"/>
          </a:gradFill>
          <a:ln w="12700">
            <a:solidFill>
              <a:schemeClr val="accent6"/>
            </a:solidFill>
            <a:miter lim="800000"/>
            <a:headEnd type="none" w="sm" len="sm"/>
            <a:tailEnd type="none" w="sm" len="sm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00350" algn="r">
              <a:spcBef>
                <a:spcPct val="0"/>
              </a:spcBef>
              <a:buClrTx/>
              <a:buSzTx/>
              <a:buNone/>
            </a:pP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// Use the </a:t>
            </a:r>
            <a:r>
              <a:rPr lang="en-US" altLang="en-US" sz="1800" err="1">
                <a:solidFill>
                  <a:srgbClr val="349934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 object to read</a:t>
            </a:r>
          </a:p>
          <a:p>
            <a:pPr marL="2800350" algn="r">
              <a:spcBef>
                <a:spcPct val="0"/>
              </a:spcBef>
              <a:buClrTx/>
              <a:buSzTx/>
              <a:buNone/>
            </a:pPr>
            <a:r>
              <a:rPr lang="en-US" altLang="en-US" sz="1800">
                <a:solidFill>
                  <a:srgbClr val="349934"/>
                </a:solidFill>
                <a:latin typeface="Consolas" panose="020B0609020204030204" pitchFamily="49" charset="0"/>
              </a:rPr>
              <a:t>// input from the keyboard.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61C6E6-F80C-4C11-A9C7-640D4C00B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516" y="788406"/>
            <a:ext cx="5562600" cy="54151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  <a:cs typeface="+mn-cs"/>
              </a:rPr>
              <a:t>#include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&lt;iostream&gt;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using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namespace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std;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main()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{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const double 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PI = 3.14159;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1: Read in radius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"Enter a radius: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288925" indent="0"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radius;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2: Compute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= radius * radius * PI;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  <a:cs typeface="+mn-cs"/>
              </a:rPr>
              <a:t>// Step 3: Display the area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  <a:cs typeface="+mn-cs"/>
            </a:endParaRP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  <a:cs typeface="+mn-cs"/>
              </a:rPr>
              <a:t>"The area is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288925" indent="0">
              <a:spcBef>
                <a:spcPct val="0"/>
              </a:spcBef>
              <a:buClrTx/>
              <a:buSzTx/>
              <a:buNone/>
            </a:pP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area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  <a:cs typeface="+mn-cs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  <a:cs typeface="+mn-cs"/>
              </a:rPr>
              <a:t>}</a:t>
            </a:r>
            <a:endParaRPr lang="en-US" sz="18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DBCD29-9C1D-46A4-94CB-64D098412BB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2ACBA5-ECFA-CDC8-7168-E2ED7AA376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10214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2FC9FCC2-0FE2-446C-8E7A-E00B5656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5A3DFA-1BAC-4F47-837F-32F8B8228F0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401F7B4-7836-4BD3-9EFA-6CDC73ED61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61638" y="0"/>
            <a:ext cx="7772400" cy="6111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2060"/>
                </a:solidFill>
              </a:rPr>
              <a:t>Numeric Operators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BCC42CF-CA34-462D-8960-F127CB9AB1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016000"/>
            <a:ext cx="7772400" cy="4114800"/>
          </a:xfrm>
          <a:noFill/>
        </p:spPr>
        <p:txBody>
          <a:bodyPr/>
          <a:lstStyle/>
          <a:p>
            <a:pPr algn="just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3000" dirty="0"/>
              <a:t>+, -, *, /, and %</a:t>
            </a:r>
          </a:p>
          <a:p>
            <a:pPr algn="just">
              <a:spcAft>
                <a:spcPct val="25000"/>
              </a:spcAft>
              <a:buFont typeface="Monotype Sorts" pitchFamily="2" charset="2"/>
              <a:buNone/>
            </a:pPr>
            <a:endParaRPr lang="en-US" altLang="en-US" sz="3000" dirty="0"/>
          </a:p>
          <a:p>
            <a:pPr algn="just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3000" dirty="0"/>
              <a:t>5 / 2 yields an integer 2.</a:t>
            </a:r>
          </a:p>
          <a:p>
            <a:pPr algn="just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3000" dirty="0"/>
              <a:t>5.0 / 2 yields a double value 2.5</a:t>
            </a:r>
          </a:p>
          <a:p>
            <a:pPr algn="just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3000" dirty="0"/>
              <a:t>5 % 2 yields 1 (the remainder of the division)</a:t>
            </a:r>
            <a:r>
              <a:rPr lang="en-US" altLang="en-US" sz="3000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47318F-DF19-49C3-B262-BE87DE4ABAB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A2613A-3B9D-CCD0-5678-D5FD8EF4C27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9643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E92B0AF0-8F98-48CB-BEE5-709538ED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CF227F-24D7-42C7-A0F8-5CEE114070C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9E1BCD0-E28F-4C5C-AC9B-FECB27F545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79425" y="-96520"/>
            <a:ext cx="9326880" cy="584200"/>
          </a:xfrm>
        </p:spPr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Increment and Decrement Operators</a:t>
            </a:r>
          </a:p>
        </p:txBody>
      </p:sp>
      <p:sp>
        <p:nvSpPr>
          <p:cNvPr id="45060" name="Rectangle 9">
            <a:extLst>
              <a:ext uri="{FF2B5EF4-FFF2-40B4-BE49-F238E27FC236}">
                <a16:creationId xmlns:a16="http://schemas.microsoft.com/office/drawing/2014/main" id="{79FE49B9-1743-46FC-88BC-614B6E775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2667000"/>
            <a:ext cx="9144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F7541D02-5B1B-47DE-BC5F-DF51A2E4D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63449"/>
              </p:ext>
            </p:extLst>
          </p:nvPr>
        </p:nvGraphicFramePr>
        <p:xfrm>
          <a:off x="1333985" y="946951"/>
          <a:ext cx="8833150" cy="16277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8969">
                  <a:extLst>
                    <a:ext uri="{9D8B030D-6E8A-4147-A177-3AD203B41FA5}">
                      <a16:colId xmlns:a16="http://schemas.microsoft.com/office/drawing/2014/main" val="3259906459"/>
                    </a:ext>
                  </a:extLst>
                </a:gridCol>
                <a:gridCol w="1522355">
                  <a:extLst>
                    <a:ext uri="{9D8B030D-6E8A-4147-A177-3AD203B41FA5}">
                      <a16:colId xmlns:a16="http://schemas.microsoft.com/office/drawing/2014/main" val="4096770778"/>
                    </a:ext>
                  </a:extLst>
                </a:gridCol>
                <a:gridCol w="5821826">
                  <a:extLst>
                    <a:ext uri="{9D8B030D-6E8A-4147-A177-3AD203B41FA5}">
                      <a16:colId xmlns:a16="http://schemas.microsoft.com/office/drawing/2014/main" val="1696052028"/>
                    </a:ext>
                  </a:extLst>
                </a:gridCol>
              </a:tblGrid>
              <a:tr h="4359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1" u="none" strike="noStrike">
                          <a:effectLst/>
                        </a:rPr>
                        <a:t>Operator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1" u="none" strike="noStrike">
                          <a:effectLst/>
                        </a:rPr>
                        <a:t>Name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1" u="none" strike="noStrike">
                          <a:effectLst/>
                        </a:rPr>
                        <a:t>Description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448701"/>
                  </a:ext>
                </a:extLst>
              </a:tr>
              <a:tr h="11918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var++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post-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increment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expression (var++) evaluates to the original value in var and increments var by 1. </a:t>
                      </a:r>
                    </a:p>
                  </a:txBody>
                  <a:tcPr marL="6350" marR="6350" marT="635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64289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F793FEC3-1E77-4082-86BC-F2D933F7B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571347"/>
              </p:ext>
            </p:extLst>
          </p:nvPr>
        </p:nvGraphicFramePr>
        <p:xfrm>
          <a:off x="1333985" y="2559961"/>
          <a:ext cx="8833150" cy="3458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8969">
                  <a:extLst>
                    <a:ext uri="{9D8B030D-6E8A-4147-A177-3AD203B41FA5}">
                      <a16:colId xmlns:a16="http://schemas.microsoft.com/office/drawing/2014/main" val="3259906459"/>
                    </a:ext>
                  </a:extLst>
                </a:gridCol>
                <a:gridCol w="1522355">
                  <a:extLst>
                    <a:ext uri="{9D8B030D-6E8A-4147-A177-3AD203B41FA5}">
                      <a16:colId xmlns:a16="http://schemas.microsoft.com/office/drawing/2014/main" val="4096770778"/>
                    </a:ext>
                  </a:extLst>
                </a:gridCol>
                <a:gridCol w="5821826">
                  <a:extLst>
                    <a:ext uri="{9D8B030D-6E8A-4147-A177-3AD203B41FA5}">
                      <a16:colId xmlns:a16="http://schemas.microsoft.com/office/drawing/2014/main" val="1696052028"/>
                    </a:ext>
                  </a:extLst>
                </a:gridCol>
              </a:tblGrid>
              <a:tr h="921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++var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0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pre-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increment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expression (++var) increments var by 1 and evaluates to the new value in var after the increment.</a:t>
                      </a:r>
                    </a:p>
                  </a:txBody>
                  <a:tcPr marL="6350" marR="6350" marT="635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345611"/>
                  </a:ext>
                </a:extLst>
              </a:tr>
              <a:tr h="125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var--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0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post-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decrement   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expression (var--) evaluates to the original value in var and decrements var by 1. </a:t>
                      </a:r>
                    </a:p>
                  </a:txBody>
                  <a:tcPr marL="6350" marR="6350" marT="635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06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--var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b="0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pre-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decrement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expression (--var) decrements var by 1 and evaluates to the new value in var after the decrement. </a:t>
                      </a:r>
                    </a:p>
                  </a:txBody>
                  <a:tcPr marL="6350" marR="6350" marT="635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791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923E04A-8463-4460-8085-57BB9491BC89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F7E762-695F-A963-665B-3C2D034421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4360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A1431A64-45A1-4A32-AE26-A322438B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8902BD-B508-4F79-9252-09DF7EA1568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EA158D5-B922-4DFE-B8C2-AE6080F4EC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44537" y="-60375"/>
            <a:ext cx="7772400" cy="533400"/>
          </a:xfrm>
        </p:spPr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if </a:t>
            </a:r>
            <a:r>
              <a:rPr lang="en-US" altLang="en-US" dirty="0">
                <a:solidFill>
                  <a:srgbClr val="002060"/>
                </a:solidFill>
              </a:rPr>
              <a:t>Statements</a:t>
            </a:r>
          </a:p>
        </p:txBody>
      </p:sp>
      <p:sp>
        <p:nvSpPr>
          <p:cNvPr id="8197" name="Rectangle 7">
            <a:extLst>
              <a:ext uri="{FF2B5EF4-FFF2-40B4-BE49-F238E27FC236}">
                <a16:creationId xmlns:a16="http://schemas.microsoft.com/office/drawing/2014/main" id="{890BDEF9-7F9A-4C07-BB7E-05C17FAE5D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51639" y="907442"/>
            <a:ext cx="8491538" cy="4224337"/>
          </a:xfrm>
          <a:noFill/>
        </p:spPr>
        <p:txBody>
          <a:bodyPr/>
          <a:lstStyle/>
          <a:p>
            <a:pPr marL="0" indent="0">
              <a:buNone/>
            </a:pPr>
            <a:endParaRPr lang="en-US" sz="200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 ( radius &gt;= 0 )</a:t>
            </a: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6075" indent="0"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area = radius * radius * PI;</a:t>
            </a:r>
          </a:p>
          <a:p>
            <a:pPr marL="346075" indent="0">
              <a:buNone/>
            </a:pP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"The area for the circle of "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 radius "</a:t>
            </a:r>
          </a:p>
          <a:p>
            <a:pPr marL="346075" indent="0">
              <a:buNone/>
            </a:pP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    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radius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 is "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area;</a:t>
            </a: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000"/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56C05CBF-0330-470F-93AE-EBA818B41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20716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8200" name="Rectangle 13">
            <a:extLst>
              <a:ext uri="{FF2B5EF4-FFF2-40B4-BE49-F238E27FC236}">
                <a16:creationId xmlns:a16="http://schemas.microsoft.com/office/drawing/2014/main" id="{988BAB45-8E4C-4A8D-AE59-393E06E23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5640" y="154814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8201" name="Object 12">
            <a:extLst>
              <a:ext uri="{FF2B5EF4-FFF2-40B4-BE49-F238E27FC236}">
                <a16:creationId xmlns:a16="http://schemas.microsoft.com/office/drawing/2014/main" id="{94F47751-4D5C-48D2-93CB-32857262B6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519088"/>
              </p:ext>
            </p:extLst>
          </p:nvPr>
        </p:nvGraphicFramePr>
        <p:xfrm>
          <a:off x="8391972" y="2240174"/>
          <a:ext cx="8491753" cy="446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49800" imgH="2710080" progId="Word.Picture.8">
                  <p:embed/>
                </p:oleObj>
              </mc:Choice>
              <mc:Fallback>
                <p:oleObj name="Picture" r:id="rId2" imgW="5149800" imgH="2710080" progId="Word.Picture.8">
                  <p:embed/>
                  <p:pic>
                    <p:nvPicPr>
                      <p:cNvPr id="8201" name="Object 12">
                        <a:extLst>
                          <a:ext uri="{FF2B5EF4-FFF2-40B4-BE49-F238E27FC236}">
                            <a16:creationId xmlns:a16="http://schemas.microsoft.com/office/drawing/2014/main" id="{94F47751-4D5C-48D2-93CB-32857262B6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1972" y="2240174"/>
                        <a:ext cx="8491753" cy="4463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02E4A9D2-96DA-4825-9F2C-D1361AA7162A}"/>
              </a:ext>
            </a:extLst>
          </p:cNvPr>
          <p:cNvGrpSpPr/>
          <p:nvPr/>
        </p:nvGrpSpPr>
        <p:grpSpPr>
          <a:xfrm>
            <a:off x="2983950" y="879959"/>
            <a:ext cx="3573937" cy="833761"/>
            <a:chOff x="808310" y="1174254"/>
            <a:chExt cx="3573937" cy="8337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7870FC-824F-4D08-A182-16FE31F59825}"/>
                </a:ext>
              </a:extLst>
            </p:cNvPr>
            <p:cNvSpPr/>
            <p:nvPr/>
          </p:nvSpPr>
          <p:spPr>
            <a:xfrm>
              <a:off x="2344510" y="1174254"/>
              <a:ext cx="20377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C00000"/>
                  </a:solidFill>
                  <a:latin typeface="Times New Roman"/>
                </a:rPr>
                <a:t>Boolean Expression</a:t>
              </a:r>
              <a:endParaRPr lang="en-US">
                <a:solidFill>
                  <a:srgbClr val="C00000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2DA3606-E464-4267-943A-575D9201FCF8}"/>
                </a:ext>
              </a:extLst>
            </p:cNvPr>
            <p:cNvCxnSpPr>
              <a:cxnSpLocks/>
              <a:stCxn id="3" idx="1"/>
              <a:endCxn id="7" idx="1"/>
            </p:cNvCxnSpPr>
            <p:nvPr/>
          </p:nvCxnSpPr>
          <p:spPr bwMode="auto">
            <a:xfrm flipH="1">
              <a:off x="2075676" y="1358920"/>
              <a:ext cx="268834" cy="3773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977BEFE9-51DF-4DCC-B3E4-1C88BD70E5CD}"/>
                </a:ext>
              </a:extLst>
            </p:cNvPr>
            <p:cNvSpPr/>
            <p:nvPr/>
          </p:nvSpPr>
          <p:spPr bwMode="auto">
            <a:xfrm rot="16200000">
              <a:off x="1939794" y="604768"/>
              <a:ext cx="271763" cy="2534732"/>
            </a:xfrm>
            <a:prstGeom prst="rightBrace">
              <a:avLst>
                <a:gd name="adj1" fmla="val 54780"/>
                <a:gd name="adj2" fmla="val 50000"/>
              </a:avLst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D5B261-EBFB-4D45-B66E-71423E3659A4}"/>
              </a:ext>
            </a:extLst>
          </p:cNvPr>
          <p:cNvGrpSpPr/>
          <p:nvPr/>
        </p:nvGrpSpPr>
        <p:grpSpPr>
          <a:xfrm>
            <a:off x="3041404" y="1441956"/>
            <a:ext cx="7124280" cy="594526"/>
            <a:chOff x="865765" y="1736252"/>
            <a:chExt cx="7124280" cy="59452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97C6450-8690-41C7-8FEB-CCC60C1DE011}"/>
                </a:ext>
              </a:extLst>
            </p:cNvPr>
            <p:cNvSpPr/>
            <p:nvPr/>
          </p:nvSpPr>
          <p:spPr>
            <a:xfrm>
              <a:off x="865765" y="1930668"/>
              <a:ext cx="23006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(</a:t>
              </a:r>
              <a:r>
                <a:rPr lang="en-US" sz="200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>
                  <a:latin typeface="Consolas" panose="020B0609020204030204" pitchFamily="49" charset="0"/>
                </a:rPr>
                <a:t>radius &gt;= 0</a:t>
              </a:r>
              <a:r>
                <a:rPr lang="en-US" sz="200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)</a:t>
              </a:r>
              <a:endParaRPr lang="en-US" b="1">
                <a:highlight>
                  <a:srgbClr val="FFFF00"/>
                </a:highlight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731E8D-7254-4FF1-98EF-24C440FE20ED}"/>
                </a:ext>
              </a:extLst>
            </p:cNvPr>
            <p:cNvSpPr/>
            <p:nvPr/>
          </p:nvSpPr>
          <p:spPr>
            <a:xfrm>
              <a:off x="4108556" y="1736252"/>
              <a:ext cx="388148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>
                  <a:solidFill>
                    <a:srgbClr val="C00000"/>
                  </a:solidFill>
                  <a:latin typeface="Times New Roman"/>
                </a:rPr>
                <a:t>Outer parentheses: </a:t>
              </a:r>
              <a:r>
                <a:rPr lang="en-US" altLang="en-US" b="1">
                  <a:solidFill>
                    <a:srgbClr val="C00000"/>
                  </a:solidFill>
                  <a:latin typeface="Times New Roman"/>
                </a:rPr>
                <a:t>Required</a:t>
              </a:r>
              <a:endParaRPr lang="en-US" b="1">
                <a:solidFill>
                  <a:srgbClr val="C0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C99B9D3-0CCD-4C3A-ADDC-B4B391476C9A}"/>
                </a:ext>
              </a:extLst>
            </p:cNvPr>
            <p:cNvCxnSpPr>
              <a:cxnSpLocks/>
              <a:stCxn id="35" idx="1"/>
              <a:endCxn id="26" idx="3"/>
            </p:cNvCxnSpPr>
            <p:nvPr/>
          </p:nvCxnSpPr>
          <p:spPr bwMode="auto">
            <a:xfrm flipH="1">
              <a:off x="3166395" y="1920918"/>
              <a:ext cx="942161" cy="20980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37D1041-5734-4487-B90C-80EAF3A31E39}"/>
                </a:ext>
              </a:extLst>
            </p:cNvPr>
            <p:cNvSpPr/>
            <p:nvPr/>
          </p:nvSpPr>
          <p:spPr>
            <a:xfrm>
              <a:off x="4105306" y="1736252"/>
              <a:ext cx="388148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>
                  <a:solidFill>
                    <a:srgbClr val="C00000"/>
                  </a:solidFill>
                  <a:highlight>
                    <a:srgbClr val="FFFF00"/>
                  </a:highlight>
                  <a:latin typeface="Times New Roman"/>
                </a:rPr>
                <a:t>Outer parentheses: </a:t>
              </a:r>
              <a:r>
                <a:rPr lang="en-US" altLang="en-US" b="1">
                  <a:solidFill>
                    <a:srgbClr val="C00000"/>
                  </a:solidFill>
                  <a:highlight>
                    <a:srgbClr val="FFFF00"/>
                  </a:highlight>
                  <a:latin typeface="Times New Roman"/>
                </a:rPr>
                <a:t>Required</a:t>
              </a:r>
              <a:endParaRPr lang="en-US" b="1">
                <a:solidFill>
                  <a:srgbClr val="C00000"/>
                </a:solidFill>
                <a:highlight>
                  <a:srgbClr val="FFFF00"/>
                </a:highlight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A84E26C-EBC1-472B-B880-CC996050C9CD}"/>
                </a:ext>
              </a:extLst>
            </p:cNvPr>
            <p:cNvCxnSpPr>
              <a:cxnSpLocks/>
              <a:stCxn id="46" idx="1"/>
            </p:cNvCxnSpPr>
            <p:nvPr/>
          </p:nvCxnSpPr>
          <p:spPr bwMode="auto">
            <a:xfrm flipH="1">
              <a:off x="3163145" y="1920918"/>
              <a:ext cx="942161" cy="20980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2A9C7BB-5F84-443E-8382-1D5ADB4F9392}"/>
              </a:ext>
            </a:extLst>
          </p:cNvPr>
          <p:cNvGrpSpPr/>
          <p:nvPr/>
        </p:nvGrpSpPr>
        <p:grpSpPr>
          <a:xfrm>
            <a:off x="2481510" y="2004899"/>
            <a:ext cx="5149445" cy="3334280"/>
            <a:chOff x="305870" y="2299195"/>
            <a:chExt cx="5149445" cy="33342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DBB530-630E-453B-BA3F-65C9294B9D5B}"/>
                </a:ext>
              </a:extLst>
            </p:cNvPr>
            <p:cNvSpPr/>
            <p:nvPr/>
          </p:nvSpPr>
          <p:spPr>
            <a:xfrm>
              <a:off x="305870" y="2299195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spcBef>
                  <a:spcPct val="20000"/>
                </a:spcBef>
                <a:buClr>
                  <a:srgbClr val="000000"/>
                </a:buClr>
                <a:buSzPct val="75000"/>
              </a:pPr>
              <a:r>
                <a:rPr lang="en-US" sz="2000" b="1">
                  <a:solidFill>
                    <a:srgbClr val="000000"/>
                  </a:solidFill>
                  <a:highlight>
                    <a:srgbClr val="00FF00"/>
                  </a:highlight>
                  <a:latin typeface="Consolas" panose="020B0609020204030204" pitchFamily="49" charset="0"/>
                </a:rPr>
                <a:t>{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3059D3F-6A17-4E8B-AE9E-196EFD627586}"/>
                </a:ext>
              </a:extLst>
            </p:cNvPr>
            <p:cNvSpPr/>
            <p:nvPr/>
          </p:nvSpPr>
          <p:spPr>
            <a:xfrm>
              <a:off x="305870" y="3758586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spcBef>
                  <a:spcPct val="20000"/>
                </a:spcBef>
                <a:buClr>
                  <a:srgbClr val="000000"/>
                </a:buClr>
                <a:buSzPct val="75000"/>
              </a:pPr>
              <a:r>
                <a:rPr lang="en-US" sz="2000" b="1">
                  <a:solidFill>
                    <a:srgbClr val="000000"/>
                  </a:solidFill>
                  <a:highlight>
                    <a:srgbClr val="00FF00"/>
                  </a:highlight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20EC59D-EB87-42E1-B7B7-08E0835D24E4}"/>
                </a:ext>
              </a:extLst>
            </p:cNvPr>
            <p:cNvSpPr/>
            <p:nvPr/>
          </p:nvSpPr>
          <p:spPr>
            <a:xfrm>
              <a:off x="1077293" y="4987144"/>
              <a:ext cx="437802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>
                  <a:solidFill>
                    <a:srgbClr val="C00000"/>
                  </a:solidFill>
                  <a:highlight>
                    <a:srgbClr val="00FF00"/>
                  </a:highlight>
                  <a:latin typeface="Times New Roman"/>
                </a:rPr>
                <a:t>Braces can be omitted if the block contains only one statement</a:t>
              </a:r>
              <a:endParaRPr lang="en-US" b="1">
                <a:solidFill>
                  <a:srgbClr val="C00000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366172C-A4E9-4E7D-87D7-332AD3DD45B6}"/>
                </a:ext>
              </a:extLst>
            </p:cNvPr>
            <p:cNvCxnSpPr>
              <a:cxnSpLocks/>
              <a:stCxn id="48" idx="1"/>
              <a:endCxn id="45" idx="2"/>
            </p:cNvCxnSpPr>
            <p:nvPr/>
          </p:nvCxnSpPr>
          <p:spPr bwMode="auto">
            <a:xfrm flipH="1" flipV="1">
              <a:off x="468735" y="4158696"/>
              <a:ext cx="608558" cy="115161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58EB776-05A8-4B2B-9A1F-45D2143E3F97}"/>
              </a:ext>
            </a:extLst>
          </p:cNvPr>
          <p:cNvGrpSpPr/>
          <p:nvPr/>
        </p:nvGrpSpPr>
        <p:grpSpPr>
          <a:xfrm>
            <a:off x="5477690" y="1841065"/>
            <a:ext cx="4684744" cy="369332"/>
            <a:chOff x="3302051" y="1736252"/>
            <a:chExt cx="4684744" cy="36933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4916844-60DA-49EF-A4B7-49B893F8AF7E}"/>
                </a:ext>
              </a:extLst>
            </p:cNvPr>
            <p:cNvSpPr/>
            <p:nvPr/>
          </p:nvSpPr>
          <p:spPr>
            <a:xfrm>
              <a:off x="4105306" y="1736252"/>
              <a:ext cx="388148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>
                  <a:solidFill>
                    <a:srgbClr val="C00000"/>
                  </a:solidFill>
                  <a:highlight>
                    <a:srgbClr val="00FFFF"/>
                  </a:highlight>
                  <a:latin typeface="Times New Roman"/>
                </a:rPr>
                <a:t>NO Semicolon!!</a:t>
              </a:r>
              <a:endParaRPr lang="en-US" b="1">
                <a:solidFill>
                  <a:srgbClr val="C00000"/>
                </a:solidFill>
                <a:highlight>
                  <a:srgbClr val="00FFFF"/>
                </a:highlight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619E757-A225-4B7A-9624-156E314A3FFC}"/>
                </a:ext>
              </a:extLst>
            </p:cNvPr>
            <p:cNvCxnSpPr>
              <a:cxnSpLocks/>
              <a:stCxn id="57" idx="1"/>
            </p:cNvCxnSpPr>
            <p:nvPr/>
          </p:nvCxnSpPr>
          <p:spPr bwMode="auto">
            <a:xfrm flipH="1" flipV="1">
              <a:off x="3302051" y="1793699"/>
              <a:ext cx="803255" cy="12721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1390BF3-59EF-42E6-89E9-6AB896A086D6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C1465B-F032-1F3C-84C8-88CBFE0C7FB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61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CE8FD998-8DFB-419E-836A-4C5B72A2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76D4AC-7937-4C08-A82B-58D168FD3B9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A65392C-61B3-427C-B7DA-3C13081A3D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236720" y="13449"/>
            <a:ext cx="7772400" cy="461665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002060"/>
                </a:solidFill>
              </a:rPr>
              <a:t>Relational Operators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01884751-8F81-4B90-A14A-F1DF51623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49" y="179450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7173" name="Object 4">
            <a:extLst>
              <a:ext uri="{FF2B5EF4-FFF2-40B4-BE49-F238E27FC236}">
                <a16:creationId xmlns:a16="http://schemas.microsoft.com/office/drawing/2014/main" id="{57AFFAA8-1938-4161-BB86-EA1B21095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335236"/>
              </p:ext>
            </p:extLst>
          </p:nvPr>
        </p:nvGraphicFramePr>
        <p:xfrm>
          <a:off x="1852612" y="1125221"/>
          <a:ext cx="8486775" cy="329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8141" imgH="1424039" progId="Word.Picture.8">
                  <p:embed/>
                </p:oleObj>
              </mc:Choice>
              <mc:Fallback>
                <p:oleObj name="Picture" r:id="rId3" imgW="3668141" imgH="1424039" progId="Word.Picture.8">
                  <p:embed/>
                  <p:pic>
                    <p:nvPicPr>
                      <p:cNvPr id="7173" name="Object 4">
                        <a:extLst>
                          <a:ext uri="{FF2B5EF4-FFF2-40B4-BE49-F238E27FC236}">
                            <a16:creationId xmlns:a16="http://schemas.microsoft.com/office/drawing/2014/main" id="{57AFFAA8-1938-4161-BB86-EA1B21095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2" y="1125221"/>
                        <a:ext cx="8486775" cy="329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007427-7464-400B-99B9-B72596BF4B30}"/>
              </a:ext>
            </a:extLst>
          </p:cNvPr>
          <p:cNvSpPr/>
          <p:nvPr/>
        </p:nvSpPr>
        <p:spPr bwMode="auto">
          <a:xfrm>
            <a:off x="1852612" y="3506613"/>
            <a:ext cx="841421" cy="78500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01733-03D9-416C-884D-BCF144582378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48A00-C7D8-6217-61F9-2A926FBD8BA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2954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3B4E288B-6C43-4510-BAEA-51062C67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D4EEE6-74D8-41B8-B7B1-A74BB502C4A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856D940-C604-470E-9CDF-E86E9AE907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23440" y="-44450"/>
            <a:ext cx="7772400" cy="579120"/>
          </a:xfrm>
          <a:noFill/>
        </p:spPr>
        <p:txBody>
          <a:bodyPr/>
          <a:lstStyle/>
          <a:p>
            <a:pPr algn="ctr"/>
            <a:r>
              <a:rPr lang="en-US" altLang="en-US" dirty="0">
                <a:solidFill>
                  <a:srgbClr val="002060"/>
                </a:solidFill>
              </a:rPr>
              <a:t>Example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6527F906-2D5C-4555-8E51-B636A5A23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850" y="639841"/>
            <a:ext cx="56123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771650" algn="l"/>
                <a:tab pos="36576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771650" algn="l"/>
                <a:tab pos="36576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771650" algn="l"/>
                <a:tab pos="3657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771650" algn="l"/>
                <a:tab pos="3657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None/>
            </a:pPr>
            <a:r>
              <a:rPr lang="en-US" altLang="en-US" sz="2400" dirty="0"/>
              <a:t>Write a program that prompts the user to enter an integer. If the number is a multiple of </a:t>
            </a:r>
            <a:r>
              <a:rPr lang="en-US" altLang="en-US" sz="2400" b="1" dirty="0"/>
              <a:t>5</a:t>
            </a:r>
            <a:r>
              <a:rPr lang="en-US" altLang="en-US" sz="2400" dirty="0"/>
              <a:t>, display </a:t>
            </a:r>
            <a:r>
              <a:rPr lang="en-US" altLang="en-US" sz="2400" b="1" dirty="0" err="1"/>
              <a:t>HiFive</a:t>
            </a:r>
            <a:r>
              <a:rPr lang="en-US" altLang="en-US" sz="2400" dirty="0"/>
              <a:t>. </a:t>
            </a:r>
            <a:r>
              <a:rPr lang="en-US" altLang="en-US" sz="2400" dirty="0">
                <a:solidFill>
                  <a:srgbClr val="C00000"/>
                </a:solidFill>
              </a:rPr>
              <a:t>Otherwise</a:t>
            </a:r>
            <a:r>
              <a:rPr lang="en-US" altLang="en-US" sz="2400" dirty="0"/>
              <a:t>, if the number is even, display </a:t>
            </a:r>
            <a:r>
              <a:rPr lang="en-US" altLang="en-US" sz="2400" b="1" dirty="0" err="1"/>
              <a:t>HiEven</a:t>
            </a:r>
            <a:r>
              <a:rPr lang="en-US" altLang="en-US" sz="24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44B4CB-3BD8-4F4F-A840-EE349B7438DE}"/>
              </a:ext>
            </a:extLst>
          </p:cNvPr>
          <p:cNvSpPr/>
          <p:nvPr/>
        </p:nvSpPr>
        <p:spPr>
          <a:xfrm>
            <a:off x="6549130" y="650636"/>
            <a:ext cx="5038350" cy="56630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Prompt the user to enter an integer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number;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an integer: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number;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(number % 5 == 0)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HiFive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(number % 2 == 0 )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HiEven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1E2FBBAC-DD08-48C8-87C5-F7C10C84E14B}"/>
              </a:ext>
            </a:extLst>
          </p:cNvPr>
          <p:cNvSpPr/>
          <p:nvPr/>
        </p:nvSpPr>
        <p:spPr bwMode="auto">
          <a:xfrm>
            <a:off x="7470851" y="4030276"/>
            <a:ext cx="1113745" cy="345645"/>
          </a:xfrm>
          <a:prstGeom prst="wedgeEllipseCallout">
            <a:avLst>
              <a:gd name="adj1" fmla="val -59039"/>
              <a:gd name="adj2" fmla="val 10702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atin typeface="Times New Roman" panose="02020603050405020304" pitchFamily="18" charset="0"/>
              </a:rPr>
              <a:t>Nested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E60DBA-EC57-493A-B074-AE41AD568990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F9FFA-91DC-45B8-B922-9A58F5B40F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541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C7114771-CB47-4859-BC99-05674050B4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77200" y="6937529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D1AA26-3DBE-44D9-BBFC-67C49014FBC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6E07E82-CF0E-4664-B655-D06EB6E8D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5653" y="633606"/>
            <a:ext cx="8001000" cy="914400"/>
          </a:xfrm>
        </p:spPr>
        <p:txBody>
          <a:bodyPr/>
          <a:lstStyle/>
          <a:p>
            <a:r>
              <a:rPr lang="en-US" altLang="en-US" dirty="0"/>
              <a:t>Multiple Alternative if Statements</a:t>
            </a:r>
          </a:p>
        </p:txBody>
      </p:sp>
      <p:graphicFrame>
        <p:nvGraphicFramePr>
          <p:cNvPr id="14342" name="Object 8">
            <a:extLst>
              <a:ext uri="{FF2B5EF4-FFF2-40B4-BE49-F238E27FC236}">
                <a16:creationId xmlns:a16="http://schemas.microsoft.com/office/drawing/2014/main" id="{50453714-FD0E-46B7-9E92-1CAD13925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990664"/>
              </p:ext>
            </p:extLst>
          </p:nvPr>
        </p:nvGraphicFramePr>
        <p:xfrm>
          <a:off x="1676400" y="2814079"/>
          <a:ext cx="8839200" cy="370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385160" imgH="1847880" progId="Word.Picture.8">
                  <p:embed/>
                </p:oleObj>
              </mc:Choice>
              <mc:Fallback>
                <p:oleObj name="Picture" r:id="rId3" imgW="4385160" imgH="1847880" progId="Word.Picture.8">
                  <p:embed/>
                  <p:pic>
                    <p:nvPicPr>
                      <p:cNvPr id="14342" name="Object 8">
                        <a:extLst>
                          <a:ext uri="{FF2B5EF4-FFF2-40B4-BE49-F238E27FC236}">
                            <a16:creationId xmlns:a16="http://schemas.microsoft.com/office/drawing/2014/main" id="{50453714-FD0E-46B7-9E92-1CAD13925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4079"/>
                        <a:ext cx="8839200" cy="370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4161F6A-B7DF-4374-A4D1-CCF5890E9B93}"/>
              </a:ext>
            </a:extLst>
          </p:cNvPr>
          <p:cNvSpPr/>
          <p:nvPr/>
        </p:nvSpPr>
        <p:spPr>
          <a:xfrm>
            <a:off x="1740310" y="2913680"/>
            <a:ext cx="3746090" cy="3165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95.0)</a:t>
            </a:r>
          </a:p>
          <a:p>
            <a:pPr marL="225425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A"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25425"/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80.0)</a:t>
            </a:r>
          </a:p>
          <a:p>
            <a:pPr marL="403225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B"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225425"/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65.0)</a:t>
            </a:r>
          </a:p>
          <a:p>
            <a:pPr marL="628650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C"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03225"/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F"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5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323C0-B0B6-4366-A4D7-ECA67FF5D775}"/>
              </a:ext>
            </a:extLst>
          </p:cNvPr>
          <p:cNvSpPr/>
          <p:nvPr/>
        </p:nvSpPr>
        <p:spPr>
          <a:xfrm>
            <a:off x="6940911" y="2940365"/>
            <a:ext cx="3231485" cy="2631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95.0)</a:t>
            </a:r>
          </a:p>
          <a:p>
            <a:pPr marL="344488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A"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80.0)</a:t>
            </a:r>
          </a:p>
          <a:p>
            <a:pPr marL="344488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B"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(score &gt;= 65.0)</a:t>
            </a:r>
          </a:p>
          <a:p>
            <a:pPr marL="344488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C"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4488"/>
            <a:r>
              <a:rPr lang="en-US" sz="15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onsolas" panose="020B0609020204030204" pitchFamily="49" charset="0"/>
              </a:rPr>
              <a:t>"Grade is F"</a:t>
            </a:r>
            <a:r>
              <a:rPr lang="en-US" sz="15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4488"/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4488"/>
            <a:endParaRPr lang="en-US" sz="15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4488"/>
            <a:endParaRPr lang="en-US" sz="15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7BEF5A-2B93-46B8-8A04-B2957EC263E4}"/>
              </a:ext>
            </a:extLst>
          </p:cNvPr>
          <p:cNvSpPr/>
          <p:nvPr/>
        </p:nvSpPr>
        <p:spPr bwMode="auto">
          <a:xfrm>
            <a:off x="4927600" y="1967819"/>
            <a:ext cx="2966720" cy="807056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if the body of else is just an if-statement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5A5CD-5D5E-3867-367C-2B47ACA5339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767" y="789181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444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1BBD7C09-7EC3-40C0-BD44-04F0C7C465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0E0FB8-138C-42A3-B792-2CF18C19C91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DA624B1-338A-4801-AC9A-5022C6FB2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520" y="292647"/>
            <a:ext cx="7772400" cy="1371600"/>
          </a:xfrm>
          <a:noFill/>
        </p:spPr>
        <p:txBody>
          <a:bodyPr/>
          <a:lstStyle/>
          <a:p>
            <a:r>
              <a:rPr lang="en-US" altLang="en-US" dirty="0"/>
              <a:t>Logical Operators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CE5FE40A-E8F6-4328-8BD6-3348E248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409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32773" name="Object 4">
            <a:extLst>
              <a:ext uri="{FF2B5EF4-FFF2-40B4-BE49-F238E27FC236}">
                <a16:creationId xmlns:a16="http://schemas.microsoft.com/office/drawing/2014/main" id="{C9602CF4-CBF3-47C5-99FD-D4774CA58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105859"/>
              </p:ext>
            </p:extLst>
          </p:nvPr>
        </p:nvGraphicFramePr>
        <p:xfrm>
          <a:off x="1947861" y="2197893"/>
          <a:ext cx="8720138" cy="246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239681" imgH="912673" progId="Word.Picture.8">
                  <p:embed/>
                </p:oleObj>
              </mc:Choice>
              <mc:Fallback>
                <p:oleObj name="Picture" r:id="rId3" imgW="3239681" imgH="912673" progId="Word.Picture.8">
                  <p:embed/>
                  <p:pic>
                    <p:nvPicPr>
                      <p:cNvPr id="32773" name="Object 4">
                        <a:extLst>
                          <a:ext uri="{FF2B5EF4-FFF2-40B4-BE49-F238E27FC236}">
                            <a16:creationId xmlns:a16="http://schemas.microsoft.com/office/drawing/2014/main" id="{C9602CF4-CBF3-47C5-99FD-D4774CA584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1" y="2197893"/>
                        <a:ext cx="8720138" cy="246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0A6F475-B152-45C4-A029-37E794A675C0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0D7DA0-F95A-1066-8761-8B89E3AB912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09" y="79283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4915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FBBD3495-0053-43AA-9054-52E3134E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877AA-47B3-47D1-A79C-70B4E327C2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A4CB06A-8BE7-4EF9-9E01-24DDAD86EE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-184150"/>
            <a:ext cx="7772400" cy="6858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C00000"/>
                </a:solidFill>
                <a:latin typeface="Consolas" panose="020B0609020204030204" pitchFamily="49" charset="0"/>
                <a:ea typeface="+mn-ea"/>
                <a:cs typeface="+mn-cs"/>
              </a:rPr>
              <a:t>switch</a:t>
            </a:r>
            <a:r>
              <a:rPr lang="en-US" altLang="en-US" dirty="0">
                <a:solidFill>
                  <a:srgbClr val="002060"/>
                </a:solidFill>
              </a:rPr>
              <a:t> Statements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903DE35-BA1D-4C4E-A5E0-1C16D20453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3120" y="838200"/>
            <a:ext cx="8686800" cy="533400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switch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selected_Option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0: 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//create new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//open existing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//close current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//exit program;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"Error: invalid input"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05E03-BDC8-4D3E-B8F4-1B8D327BCFC9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DE2FFA51-D792-4583-B6DA-20017B59F36B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gressBar">
            <a:extLst>
              <a:ext uri="{FF2B5EF4-FFF2-40B4-BE49-F238E27FC236}">
                <a16:creationId xmlns:a16="http://schemas.microsoft.com/office/drawing/2014/main" id="{62F9ADD7-DF7C-448C-8390-8FCD8A9C2A40}"/>
              </a:ext>
            </a:extLst>
          </p:cNvPr>
          <p:cNvSpPr/>
          <p:nvPr/>
        </p:nvSpPr>
        <p:spPr bwMode="auto">
          <a:xfrm>
            <a:off x="1524000" y="6813550"/>
            <a:ext cx="3145536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025DCD-A2B9-E361-084D-F2213A1B8F4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7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FBBD3495-0053-43AA-9054-52E3134E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877AA-47B3-47D1-A79C-70B4E327C2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A4CB06A-8BE7-4EF9-9E01-24DDAD86EE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-217805"/>
            <a:ext cx="7772400" cy="6858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C00000"/>
                </a:solidFill>
                <a:latin typeface="Consolas" panose="020B0609020204030204" pitchFamily="49" charset="0"/>
                <a:ea typeface="+mn-ea"/>
                <a:cs typeface="+mn-cs"/>
              </a:rPr>
              <a:t>switch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Statements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903DE35-BA1D-4C4E-A5E0-1C16D20453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26575" y="921450"/>
            <a:ext cx="8686800" cy="533400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switch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selected_Option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0: 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//create new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//open existing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//close current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//exit program;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"Error: invalid input"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FCCF28A-3945-4F1C-9A06-94C8C7AD9BAA}"/>
              </a:ext>
            </a:extLst>
          </p:cNvPr>
          <p:cNvSpPr/>
          <p:nvPr/>
        </p:nvSpPr>
        <p:spPr bwMode="auto">
          <a:xfrm>
            <a:off x="1767084" y="510310"/>
            <a:ext cx="945636" cy="327017"/>
          </a:xfrm>
          <a:prstGeom prst="wedgeRoundRectCallout">
            <a:avLst>
              <a:gd name="adj1" fmla="val 35047"/>
              <a:gd name="adj2" fmla="val 96690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Must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064051B-3967-4B00-B914-CF5F09314EE5}"/>
              </a:ext>
            </a:extLst>
          </p:cNvPr>
          <p:cNvSpPr/>
          <p:nvPr/>
        </p:nvSpPr>
        <p:spPr bwMode="auto">
          <a:xfrm>
            <a:off x="3941487" y="1491220"/>
            <a:ext cx="6187039" cy="369332"/>
          </a:xfrm>
          <a:prstGeom prst="wedgeRoundRectCallout">
            <a:avLst>
              <a:gd name="adj1" fmla="val -59374"/>
              <a:gd name="adj2" fmla="val -118678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bg1"/>
                </a:solidFill>
              </a:rPr>
              <a:t>Must yield a value of char, int, or </a:t>
            </a:r>
            <a:r>
              <a:rPr lang="en-US" dirty="0" err="1">
                <a:highlight>
                  <a:srgbClr val="FFFF00"/>
                </a:highlight>
              </a:rPr>
              <a:t>enum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type (can be expression)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6B008E-3FAC-4AF1-ACCC-D36ED027B32F}"/>
              </a:ext>
            </a:extLst>
          </p:cNvPr>
          <p:cNvSpPr/>
          <p:nvPr/>
        </p:nvSpPr>
        <p:spPr bwMode="auto">
          <a:xfrm>
            <a:off x="2209800" y="1860552"/>
            <a:ext cx="8151531" cy="2706251"/>
          </a:xfrm>
          <a:custGeom>
            <a:avLst/>
            <a:gdLst>
              <a:gd name="connsiteX0" fmla="*/ 46198 w 7286937"/>
              <a:gd name="connsiteY0" fmla="*/ 0 h 2706251"/>
              <a:gd name="connsiteX1" fmla="*/ 4553774 w 7286937"/>
              <a:gd name="connsiteY1" fmla="*/ 1186176 h 2706251"/>
              <a:gd name="connsiteX2" fmla="*/ 4553781 w 7286937"/>
              <a:gd name="connsiteY2" fmla="*/ 1186176 h 2706251"/>
              <a:gd name="connsiteX3" fmla="*/ 7225465 w 7286937"/>
              <a:gd name="connsiteY3" fmla="*/ 1186176 h 2706251"/>
              <a:gd name="connsiteX4" fmla="*/ 7286937 w 7286937"/>
              <a:gd name="connsiteY4" fmla="*/ 1247648 h 2706251"/>
              <a:gd name="connsiteX5" fmla="*/ 7286937 w 7286937"/>
              <a:gd name="connsiteY5" fmla="*/ 1247649 h 2706251"/>
              <a:gd name="connsiteX6" fmla="*/ 7286937 w 7286937"/>
              <a:gd name="connsiteY6" fmla="*/ 1247650 h 2706251"/>
              <a:gd name="connsiteX7" fmla="*/ 7286937 w 7286937"/>
              <a:gd name="connsiteY7" fmla="*/ 1339854 h 2706251"/>
              <a:gd name="connsiteX8" fmla="*/ 7286937 w 7286937"/>
              <a:gd name="connsiteY8" fmla="*/ 1339855 h 2706251"/>
              <a:gd name="connsiteX9" fmla="*/ 7286937 w 7286937"/>
              <a:gd name="connsiteY9" fmla="*/ 1401324 h 2706251"/>
              <a:gd name="connsiteX10" fmla="*/ 7286937 w 7286937"/>
              <a:gd name="connsiteY10" fmla="*/ 1493529 h 2706251"/>
              <a:gd name="connsiteX11" fmla="*/ 7286937 w 7286937"/>
              <a:gd name="connsiteY11" fmla="*/ 1493530 h 2706251"/>
              <a:gd name="connsiteX12" fmla="*/ 7286937 w 7286937"/>
              <a:gd name="connsiteY12" fmla="*/ 1493531 h 2706251"/>
              <a:gd name="connsiteX13" fmla="*/ 7225465 w 7286937"/>
              <a:gd name="connsiteY13" fmla="*/ 1555003 h 2706251"/>
              <a:gd name="connsiteX14" fmla="*/ 4553781 w 7286937"/>
              <a:gd name="connsiteY14" fmla="*/ 1555003 h 2706251"/>
              <a:gd name="connsiteX15" fmla="*/ 4553773 w 7286937"/>
              <a:gd name="connsiteY15" fmla="*/ 1555003 h 2706251"/>
              <a:gd name="connsiteX16" fmla="*/ 27691 w 7286937"/>
              <a:gd name="connsiteY16" fmla="*/ 2706251 h 2706251"/>
              <a:gd name="connsiteX17" fmla="*/ 3172176 w 7286937"/>
              <a:gd name="connsiteY17" fmla="*/ 1627154 h 2706251"/>
              <a:gd name="connsiteX18" fmla="*/ 18460 w 7286937"/>
              <a:gd name="connsiteY18" fmla="*/ 1791853 h 2706251"/>
              <a:gd name="connsiteX19" fmla="*/ 3382401 w 7286937"/>
              <a:gd name="connsiteY19" fmla="*/ 1555003 h 2706251"/>
              <a:gd name="connsiteX20" fmla="*/ 2663000 w 7286937"/>
              <a:gd name="connsiteY20" fmla="*/ 1555003 h 2706251"/>
              <a:gd name="connsiteX21" fmla="*/ 2601527 w 7286937"/>
              <a:gd name="connsiteY21" fmla="*/ 1493531 h 2706251"/>
              <a:gd name="connsiteX22" fmla="*/ 2601527 w 7286937"/>
              <a:gd name="connsiteY22" fmla="*/ 1493530 h 2706251"/>
              <a:gd name="connsiteX23" fmla="*/ 2601527 w 7286937"/>
              <a:gd name="connsiteY23" fmla="*/ 1493530 h 2706251"/>
              <a:gd name="connsiteX24" fmla="*/ 2601527 w 7286937"/>
              <a:gd name="connsiteY24" fmla="*/ 1493529 h 2706251"/>
              <a:gd name="connsiteX25" fmla="*/ 2601527 w 7286937"/>
              <a:gd name="connsiteY25" fmla="*/ 1401324 h 2706251"/>
              <a:gd name="connsiteX26" fmla="*/ 2601527 w 7286937"/>
              <a:gd name="connsiteY26" fmla="*/ 1247648 h 2706251"/>
              <a:gd name="connsiteX27" fmla="*/ 2662999 w 7286937"/>
              <a:gd name="connsiteY27" fmla="*/ 1186176 h 2706251"/>
              <a:gd name="connsiteX28" fmla="*/ 2663000 w 7286937"/>
              <a:gd name="connsiteY28" fmla="*/ 1186176 h 2706251"/>
              <a:gd name="connsiteX29" fmla="*/ 3382419 w 7286937"/>
              <a:gd name="connsiteY29" fmla="*/ 1186176 h 2706251"/>
              <a:gd name="connsiteX30" fmla="*/ 0 w 7286937"/>
              <a:gd name="connsiteY30" fmla="*/ 849746 h 2706251"/>
              <a:gd name="connsiteX31" fmla="*/ 3075185 w 7286937"/>
              <a:gd name="connsiteY31" fmla="*/ 1076939 h 270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286937" h="2706251">
                <a:moveTo>
                  <a:pt x="46198" y="0"/>
                </a:moveTo>
                <a:lnTo>
                  <a:pt x="4553774" y="1186176"/>
                </a:lnTo>
                <a:lnTo>
                  <a:pt x="4553781" y="1186176"/>
                </a:lnTo>
                <a:lnTo>
                  <a:pt x="7225465" y="1186176"/>
                </a:lnTo>
                <a:cubicBezTo>
                  <a:pt x="7259415" y="1186176"/>
                  <a:pt x="7286937" y="1213698"/>
                  <a:pt x="7286937" y="1247648"/>
                </a:cubicBezTo>
                <a:lnTo>
                  <a:pt x="7286937" y="1247649"/>
                </a:lnTo>
                <a:lnTo>
                  <a:pt x="7286937" y="1247650"/>
                </a:lnTo>
                <a:lnTo>
                  <a:pt x="7286937" y="1339854"/>
                </a:lnTo>
                <a:lnTo>
                  <a:pt x="7286937" y="1339855"/>
                </a:lnTo>
                <a:lnTo>
                  <a:pt x="7286937" y="1401324"/>
                </a:lnTo>
                <a:lnTo>
                  <a:pt x="7286937" y="1493529"/>
                </a:lnTo>
                <a:lnTo>
                  <a:pt x="7286937" y="1493530"/>
                </a:lnTo>
                <a:lnTo>
                  <a:pt x="7286937" y="1493531"/>
                </a:lnTo>
                <a:cubicBezTo>
                  <a:pt x="7286937" y="1527481"/>
                  <a:pt x="7259415" y="1555003"/>
                  <a:pt x="7225465" y="1555003"/>
                </a:cubicBezTo>
                <a:lnTo>
                  <a:pt x="4553781" y="1555003"/>
                </a:lnTo>
                <a:lnTo>
                  <a:pt x="4553773" y="1555003"/>
                </a:lnTo>
                <a:lnTo>
                  <a:pt x="27691" y="2706251"/>
                </a:lnTo>
                <a:lnTo>
                  <a:pt x="3172176" y="1627154"/>
                </a:lnTo>
                <a:lnTo>
                  <a:pt x="18460" y="1791853"/>
                </a:lnTo>
                <a:lnTo>
                  <a:pt x="3382401" y="1555003"/>
                </a:lnTo>
                <a:lnTo>
                  <a:pt x="2663000" y="1555003"/>
                </a:lnTo>
                <a:cubicBezTo>
                  <a:pt x="2629050" y="1555003"/>
                  <a:pt x="2601527" y="1527481"/>
                  <a:pt x="2601527" y="1493531"/>
                </a:cubicBezTo>
                <a:lnTo>
                  <a:pt x="2601527" y="1493530"/>
                </a:lnTo>
                <a:lnTo>
                  <a:pt x="2601527" y="1493530"/>
                </a:lnTo>
                <a:lnTo>
                  <a:pt x="2601527" y="1493529"/>
                </a:lnTo>
                <a:lnTo>
                  <a:pt x="2601527" y="1401324"/>
                </a:lnTo>
                <a:lnTo>
                  <a:pt x="2601527" y="1247648"/>
                </a:lnTo>
                <a:cubicBezTo>
                  <a:pt x="2601527" y="1213698"/>
                  <a:pt x="2629049" y="1186176"/>
                  <a:pt x="2662999" y="1186176"/>
                </a:cubicBezTo>
                <a:lnTo>
                  <a:pt x="2663000" y="1186176"/>
                </a:lnTo>
                <a:lnTo>
                  <a:pt x="3382419" y="1186176"/>
                </a:lnTo>
                <a:lnTo>
                  <a:pt x="0" y="849746"/>
                </a:lnTo>
                <a:lnTo>
                  <a:pt x="3075185" y="1076939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6772D-9B93-4C0E-8D01-7B53D49981C4}"/>
              </a:ext>
            </a:extLst>
          </p:cNvPr>
          <p:cNvSpPr/>
          <p:nvPr/>
        </p:nvSpPr>
        <p:spPr>
          <a:xfrm>
            <a:off x="5113190" y="3059668"/>
            <a:ext cx="5595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Must be a const of the same type as switch-expression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B9207-A0C4-46E8-927A-5E3EA0FA3472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84A05-2F17-BC9E-C6B1-439C5AAA6D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33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FBBD3495-0053-43AA-9054-52E3134E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877AA-47B3-47D1-A79C-70B4E327C2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A4CB06A-8BE7-4EF9-9E01-24DDAD86E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1192" y="-112629"/>
            <a:ext cx="11029616" cy="614279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C00000"/>
                </a:solidFill>
                <a:latin typeface="Consolas" panose="020B0609020204030204" pitchFamily="49" charset="0"/>
                <a:ea typeface="+mn-ea"/>
                <a:cs typeface="+mn-cs"/>
              </a:rPr>
              <a:t>switch</a:t>
            </a:r>
            <a:r>
              <a:rPr lang="en-US" altLang="en-US" dirty="0">
                <a:solidFill>
                  <a:srgbClr val="002060"/>
                </a:solidFill>
              </a:rPr>
              <a:t> Statements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903DE35-BA1D-4C4E-A5E0-1C16D204538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672992" y="990600"/>
            <a:ext cx="8995008" cy="533400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switch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selected_Option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0: 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//create new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//open existing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//close current file;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//exit program;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"Error: invalid input"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6B008E-3FAC-4AF1-ACCC-D36ED027B32F}"/>
              </a:ext>
            </a:extLst>
          </p:cNvPr>
          <p:cNvSpPr/>
          <p:nvPr/>
        </p:nvSpPr>
        <p:spPr bwMode="auto">
          <a:xfrm>
            <a:off x="3072855" y="2468876"/>
            <a:ext cx="7818665" cy="2706251"/>
          </a:xfrm>
          <a:custGeom>
            <a:avLst/>
            <a:gdLst>
              <a:gd name="connsiteX0" fmla="*/ 46198 w 7286937"/>
              <a:gd name="connsiteY0" fmla="*/ 0 h 2706251"/>
              <a:gd name="connsiteX1" fmla="*/ 4553774 w 7286937"/>
              <a:gd name="connsiteY1" fmla="*/ 1186176 h 2706251"/>
              <a:gd name="connsiteX2" fmla="*/ 4553781 w 7286937"/>
              <a:gd name="connsiteY2" fmla="*/ 1186176 h 2706251"/>
              <a:gd name="connsiteX3" fmla="*/ 7225465 w 7286937"/>
              <a:gd name="connsiteY3" fmla="*/ 1186176 h 2706251"/>
              <a:gd name="connsiteX4" fmla="*/ 7286937 w 7286937"/>
              <a:gd name="connsiteY4" fmla="*/ 1247648 h 2706251"/>
              <a:gd name="connsiteX5" fmla="*/ 7286937 w 7286937"/>
              <a:gd name="connsiteY5" fmla="*/ 1247649 h 2706251"/>
              <a:gd name="connsiteX6" fmla="*/ 7286937 w 7286937"/>
              <a:gd name="connsiteY6" fmla="*/ 1247650 h 2706251"/>
              <a:gd name="connsiteX7" fmla="*/ 7286937 w 7286937"/>
              <a:gd name="connsiteY7" fmla="*/ 1339854 h 2706251"/>
              <a:gd name="connsiteX8" fmla="*/ 7286937 w 7286937"/>
              <a:gd name="connsiteY8" fmla="*/ 1339855 h 2706251"/>
              <a:gd name="connsiteX9" fmla="*/ 7286937 w 7286937"/>
              <a:gd name="connsiteY9" fmla="*/ 1401324 h 2706251"/>
              <a:gd name="connsiteX10" fmla="*/ 7286937 w 7286937"/>
              <a:gd name="connsiteY10" fmla="*/ 1493529 h 2706251"/>
              <a:gd name="connsiteX11" fmla="*/ 7286937 w 7286937"/>
              <a:gd name="connsiteY11" fmla="*/ 1493530 h 2706251"/>
              <a:gd name="connsiteX12" fmla="*/ 7286937 w 7286937"/>
              <a:gd name="connsiteY12" fmla="*/ 1493531 h 2706251"/>
              <a:gd name="connsiteX13" fmla="*/ 7225465 w 7286937"/>
              <a:gd name="connsiteY13" fmla="*/ 1555003 h 2706251"/>
              <a:gd name="connsiteX14" fmla="*/ 4553781 w 7286937"/>
              <a:gd name="connsiteY14" fmla="*/ 1555003 h 2706251"/>
              <a:gd name="connsiteX15" fmla="*/ 4553773 w 7286937"/>
              <a:gd name="connsiteY15" fmla="*/ 1555003 h 2706251"/>
              <a:gd name="connsiteX16" fmla="*/ 27691 w 7286937"/>
              <a:gd name="connsiteY16" fmla="*/ 2706251 h 2706251"/>
              <a:gd name="connsiteX17" fmla="*/ 3172176 w 7286937"/>
              <a:gd name="connsiteY17" fmla="*/ 1627154 h 2706251"/>
              <a:gd name="connsiteX18" fmla="*/ 18460 w 7286937"/>
              <a:gd name="connsiteY18" fmla="*/ 1791853 h 2706251"/>
              <a:gd name="connsiteX19" fmla="*/ 3382401 w 7286937"/>
              <a:gd name="connsiteY19" fmla="*/ 1555003 h 2706251"/>
              <a:gd name="connsiteX20" fmla="*/ 2663000 w 7286937"/>
              <a:gd name="connsiteY20" fmla="*/ 1555003 h 2706251"/>
              <a:gd name="connsiteX21" fmla="*/ 2601527 w 7286937"/>
              <a:gd name="connsiteY21" fmla="*/ 1493531 h 2706251"/>
              <a:gd name="connsiteX22" fmla="*/ 2601527 w 7286937"/>
              <a:gd name="connsiteY22" fmla="*/ 1493530 h 2706251"/>
              <a:gd name="connsiteX23" fmla="*/ 2601527 w 7286937"/>
              <a:gd name="connsiteY23" fmla="*/ 1493530 h 2706251"/>
              <a:gd name="connsiteX24" fmla="*/ 2601527 w 7286937"/>
              <a:gd name="connsiteY24" fmla="*/ 1493529 h 2706251"/>
              <a:gd name="connsiteX25" fmla="*/ 2601527 w 7286937"/>
              <a:gd name="connsiteY25" fmla="*/ 1401324 h 2706251"/>
              <a:gd name="connsiteX26" fmla="*/ 2601527 w 7286937"/>
              <a:gd name="connsiteY26" fmla="*/ 1247648 h 2706251"/>
              <a:gd name="connsiteX27" fmla="*/ 2662999 w 7286937"/>
              <a:gd name="connsiteY27" fmla="*/ 1186176 h 2706251"/>
              <a:gd name="connsiteX28" fmla="*/ 2663000 w 7286937"/>
              <a:gd name="connsiteY28" fmla="*/ 1186176 h 2706251"/>
              <a:gd name="connsiteX29" fmla="*/ 3382419 w 7286937"/>
              <a:gd name="connsiteY29" fmla="*/ 1186176 h 2706251"/>
              <a:gd name="connsiteX30" fmla="*/ 0 w 7286937"/>
              <a:gd name="connsiteY30" fmla="*/ 849746 h 2706251"/>
              <a:gd name="connsiteX31" fmla="*/ 3075185 w 7286937"/>
              <a:gd name="connsiteY31" fmla="*/ 1076939 h 270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286937" h="2706251">
                <a:moveTo>
                  <a:pt x="46198" y="0"/>
                </a:moveTo>
                <a:lnTo>
                  <a:pt x="4553774" y="1186176"/>
                </a:lnTo>
                <a:lnTo>
                  <a:pt x="4553781" y="1186176"/>
                </a:lnTo>
                <a:lnTo>
                  <a:pt x="7225465" y="1186176"/>
                </a:lnTo>
                <a:cubicBezTo>
                  <a:pt x="7259415" y="1186176"/>
                  <a:pt x="7286937" y="1213698"/>
                  <a:pt x="7286937" y="1247648"/>
                </a:cubicBezTo>
                <a:lnTo>
                  <a:pt x="7286937" y="1247649"/>
                </a:lnTo>
                <a:lnTo>
                  <a:pt x="7286937" y="1247650"/>
                </a:lnTo>
                <a:lnTo>
                  <a:pt x="7286937" y="1339854"/>
                </a:lnTo>
                <a:lnTo>
                  <a:pt x="7286937" y="1339855"/>
                </a:lnTo>
                <a:lnTo>
                  <a:pt x="7286937" y="1401324"/>
                </a:lnTo>
                <a:lnTo>
                  <a:pt x="7286937" y="1493529"/>
                </a:lnTo>
                <a:lnTo>
                  <a:pt x="7286937" y="1493530"/>
                </a:lnTo>
                <a:lnTo>
                  <a:pt x="7286937" y="1493531"/>
                </a:lnTo>
                <a:cubicBezTo>
                  <a:pt x="7286937" y="1527481"/>
                  <a:pt x="7259415" y="1555003"/>
                  <a:pt x="7225465" y="1555003"/>
                </a:cubicBezTo>
                <a:lnTo>
                  <a:pt x="4553781" y="1555003"/>
                </a:lnTo>
                <a:lnTo>
                  <a:pt x="4553773" y="1555003"/>
                </a:lnTo>
                <a:lnTo>
                  <a:pt x="27691" y="2706251"/>
                </a:lnTo>
                <a:lnTo>
                  <a:pt x="3172176" y="1627154"/>
                </a:lnTo>
                <a:lnTo>
                  <a:pt x="18460" y="1791853"/>
                </a:lnTo>
                <a:lnTo>
                  <a:pt x="3382401" y="1555003"/>
                </a:lnTo>
                <a:lnTo>
                  <a:pt x="2663000" y="1555003"/>
                </a:lnTo>
                <a:cubicBezTo>
                  <a:pt x="2629050" y="1555003"/>
                  <a:pt x="2601527" y="1527481"/>
                  <a:pt x="2601527" y="1493531"/>
                </a:cubicBezTo>
                <a:lnTo>
                  <a:pt x="2601527" y="1493530"/>
                </a:lnTo>
                <a:lnTo>
                  <a:pt x="2601527" y="1493530"/>
                </a:lnTo>
                <a:lnTo>
                  <a:pt x="2601527" y="1493529"/>
                </a:lnTo>
                <a:lnTo>
                  <a:pt x="2601527" y="1401324"/>
                </a:lnTo>
                <a:lnTo>
                  <a:pt x="2601527" y="1247648"/>
                </a:lnTo>
                <a:cubicBezTo>
                  <a:pt x="2601527" y="1213698"/>
                  <a:pt x="2629049" y="1186176"/>
                  <a:pt x="2662999" y="1186176"/>
                </a:cubicBezTo>
                <a:lnTo>
                  <a:pt x="2663000" y="1186176"/>
                </a:lnTo>
                <a:lnTo>
                  <a:pt x="3382419" y="1186176"/>
                </a:lnTo>
                <a:lnTo>
                  <a:pt x="0" y="849746"/>
                </a:lnTo>
                <a:lnTo>
                  <a:pt x="3075185" y="1076939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6772D-9B93-4C0E-8D01-7B53D49981C4}"/>
              </a:ext>
            </a:extLst>
          </p:cNvPr>
          <p:cNvSpPr/>
          <p:nvPr/>
        </p:nvSpPr>
        <p:spPr>
          <a:xfrm>
            <a:off x="5793230" y="3637335"/>
            <a:ext cx="53827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 be removed, but then next case will be executed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DF72B009-19B0-4C3F-A5EA-ED863636753C}"/>
              </a:ext>
            </a:extLst>
          </p:cNvPr>
          <p:cNvSpPr/>
          <p:nvPr/>
        </p:nvSpPr>
        <p:spPr bwMode="auto">
          <a:xfrm>
            <a:off x="4907682" y="5055916"/>
            <a:ext cx="5382770" cy="360512"/>
          </a:xfrm>
          <a:prstGeom prst="wedgeRoundRectCallout">
            <a:avLst>
              <a:gd name="adj1" fmla="val -87758"/>
              <a:gd name="adj2" fmla="val 74151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bg1"/>
                </a:solidFill>
              </a:rPr>
              <a:t>Optional, to perform actions when no case is matched.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4767F-9AB2-4D4E-8F18-E6CC6A32AEDD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69689-7A20-70BE-EEA3-68E48CAB3C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001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6">
            <a:extLst>
              <a:ext uri="{FF2B5EF4-FFF2-40B4-BE49-F238E27FC236}">
                <a16:creationId xmlns:a16="http://schemas.microsoft.com/office/drawing/2014/main" id="{8A32E2FD-49AF-434D-8986-7CB3B3FE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027" y="2043664"/>
            <a:ext cx="4578895" cy="2031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Loops</a:t>
            </a:r>
            <a:endParaRPr lang="en-US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379A32-0C07-44FE-BC8E-E7165206EDB1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3239D853-50AF-4DE5-A1D6-853A6A849DF2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gressBar">
            <a:extLst>
              <a:ext uri="{FF2B5EF4-FFF2-40B4-BE49-F238E27FC236}">
                <a16:creationId xmlns:a16="http://schemas.microsoft.com/office/drawing/2014/main" id="{D4F2E7DB-1E66-4C21-8768-150BFCE400C9}"/>
              </a:ext>
            </a:extLst>
          </p:cNvPr>
          <p:cNvSpPr/>
          <p:nvPr/>
        </p:nvSpPr>
        <p:spPr bwMode="auto">
          <a:xfrm>
            <a:off x="1524000" y="6813550"/>
            <a:ext cx="3511296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651358" y="6337300"/>
            <a:ext cx="1905000" cy="457200"/>
          </a:xfrm>
        </p:spPr>
        <p:txBody>
          <a:bodyPr/>
          <a:lstStyle/>
          <a:p>
            <a:fld id="{D0EC7E82-E4D2-4D0C-8BA4-5EFDEF0A62A0}" type="slidenum">
              <a:rPr lang="en-US" alt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30</a:t>
            </a:fld>
            <a:endParaRPr lang="en-US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FB3D7-D5C2-A2DF-BC9B-1BDB0078B12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8465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2732F164-CF79-40C6-8AD7-A161F0D1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DB248C-B6A5-4B54-9841-BC156E6B60F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937A38C-9047-46C9-9A90-D6AA2E4014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13594" y="-131696"/>
            <a:ext cx="7772400" cy="6096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C00000"/>
                </a:solidFill>
              </a:rPr>
              <a:t>For</a:t>
            </a:r>
            <a:r>
              <a:rPr lang="en-US" altLang="en-US" dirty="0">
                <a:solidFill>
                  <a:srgbClr val="002060"/>
                </a:solidFill>
              </a:rPr>
              <a:t> Statment</a:t>
            </a:r>
          </a:p>
        </p:txBody>
      </p:sp>
      <p:sp>
        <p:nvSpPr>
          <p:cNvPr id="37892" name="Text Box 3">
            <a:extLst>
              <a:ext uri="{FF2B5EF4-FFF2-40B4-BE49-F238E27FC236}">
                <a16:creationId xmlns:a16="http://schemas.microsoft.com/office/drawing/2014/main" id="{D97ACFA3-4110-4410-B07A-3F527FDCE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520" y="1153160"/>
            <a:ext cx="9540240" cy="4413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50000"/>
              </a:spcBef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initial-action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 can be a list of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more comma-separated expressions.</a:t>
            </a:r>
          </a:p>
          <a:p>
            <a:pPr marL="342900" indent="-342900">
              <a:spcBef>
                <a:spcPct val="50000"/>
              </a:spcBef>
              <a:buClrTx/>
              <a:buSzTx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50000"/>
              </a:spcBef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action-after-each-iteration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 can be a list of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more comma-separated statements.</a:t>
            </a:r>
          </a:p>
          <a:p>
            <a:pPr marL="342900" indent="-342900">
              <a:spcBef>
                <a:spcPct val="50000"/>
              </a:spcBef>
              <a:buClrTx/>
              <a:buSzTx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50000"/>
              </a:spcBef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have NO stopping condition (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infinite loop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 100; cout &lt;&lt; (i++))</a:t>
            </a:r>
            <a:r>
              <a:rPr lang="nn-NO" sz="24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4C8F3F-4E6C-4087-8302-11826DB9B41A}"/>
              </a:ext>
            </a:extLst>
          </p:cNvPr>
          <p:cNvSpPr/>
          <p:nvPr/>
        </p:nvSpPr>
        <p:spPr>
          <a:xfrm>
            <a:off x="5827165" y="1994724"/>
            <a:ext cx="447937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>
              <a:spcBef>
                <a:spcPct val="20000"/>
              </a:spcBef>
              <a:buClr>
                <a:srgbClr val="000000"/>
              </a:buClr>
              <a:buSzPct val="75000"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</a:t>
            </a:r>
            <a:r>
              <a:rPr lang="nn-NO" sz="2400" dirty="0">
                <a:solidFill>
                  <a:schemeClr val="bg1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i = 0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i &lt; 100; i++)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AA1BA-86D2-418F-A6DC-AF3C29BA731F}"/>
              </a:ext>
            </a:extLst>
          </p:cNvPr>
          <p:cNvSpPr/>
          <p:nvPr/>
        </p:nvSpPr>
        <p:spPr>
          <a:xfrm>
            <a:off x="5845203" y="3427647"/>
            <a:ext cx="447937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>
              <a:spcBef>
                <a:spcPct val="20000"/>
              </a:spcBef>
              <a:buClr>
                <a:srgbClr val="000000"/>
              </a:buClr>
              <a:buSzPct val="75000"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(i = 0; i &lt; 100; </a:t>
            </a:r>
            <a:r>
              <a:rPr lang="nn-NO" sz="2400" dirty="0">
                <a:solidFill>
                  <a:schemeClr val="bg1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i++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F8D52-4AC7-46A7-9DE0-FEF7884C1590}"/>
              </a:ext>
            </a:extLst>
          </p:cNvPr>
          <p:cNvSpPr/>
          <p:nvPr/>
        </p:nvSpPr>
        <p:spPr>
          <a:xfrm>
            <a:off x="5845203" y="4497162"/>
            <a:ext cx="447937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>
              <a:spcBef>
                <a:spcPct val="20000"/>
              </a:spcBef>
              <a:buClr>
                <a:srgbClr val="000000"/>
              </a:buClr>
              <a:buSzPct val="75000"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(i = 0;       ; i++)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E3ADB-4CF3-455D-A7F3-B44E7A454E96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6" name="progressBarBackground">
            <a:extLst>
              <a:ext uri="{FF2B5EF4-FFF2-40B4-BE49-F238E27FC236}">
                <a16:creationId xmlns:a16="http://schemas.microsoft.com/office/drawing/2014/main" id="{FFA530C5-A586-4F7F-95A9-93091E7E2181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rogressBar">
            <a:extLst>
              <a:ext uri="{FF2B5EF4-FFF2-40B4-BE49-F238E27FC236}">
                <a16:creationId xmlns:a16="http://schemas.microsoft.com/office/drawing/2014/main" id="{315FCEBC-9C50-4573-A20D-D568FC53AFFE}"/>
              </a:ext>
            </a:extLst>
          </p:cNvPr>
          <p:cNvSpPr/>
          <p:nvPr/>
        </p:nvSpPr>
        <p:spPr bwMode="auto">
          <a:xfrm>
            <a:off x="1524000" y="6813550"/>
            <a:ext cx="4169664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12173" y="5569509"/>
            <a:ext cx="70660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 (int 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i = 1; i &lt; 100; i++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cout &lt;&lt; i;}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2A589-2641-5336-9596-E47B8C9D03CC}"/>
              </a:ext>
            </a:extLst>
          </p:cNvPr>
          <p:cNvSpPr txBox="1"/>
          <p:nvPr/>
        </p:nvSpPr>
        <p:spPr>
          <a:xfrm>
            <a:off x="1524000" y="618403"/>
            <a:ext cx="77724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(initialization; condition;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inc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or dec)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F3549-B7EA-F9CC-9B0D-7F4245D6C1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827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E1D5124F-E946-4F2C-91C4-5FA6FD6FD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25595D-86FB-4A2C-B88E-79B1E0B268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EA510D0-AA45-4F8B-BF95-91EDF146F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3560" y="540903"/>
            <a:ext cx="8534400" cy="1143000"/>
          </a:xfrm>
        </p:spPr>
        <p:txBody>
          <a:bodyPr/>
          <a:lstStyle/>
          <a:p>
            <a:r>
              <a:rPr lang="en-US" altLang="en-US" dirty="0"/>
              <a:t>Nested Loops 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3AAF60A-EFD2-4880-956C-024C37F23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450" y="1619250"/>
            <a:ext cx="8686800" cy="114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600" dirty="0">
                <a:cs typeface="Courier New" panose="02070309020205020404" pitchFamily="49" charset="0"/>
              </a:rPr>
              <a:t>What does this program do?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09D91-3B0F-4494-B7CE-89F5C6E0AD9C}"/>
              </a:ext>
            </a:extLst>
          </p:cNvPr>
          <p:cNvSpPr/>
          <p:nvPr/>
        </p:nvSpPr>
        <p:spPr>
          <a:xfrm>
            <a:off x="833120" y="2507526"/>
            <a:ext cx="6858000" cy="31700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30188"/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30188"/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&lt;= 9; i++)</a:t>
            </a:r>
          </a:p>
          <a:p>
            <a:pPr marL="230188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61963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j = 1; j &lt;= 9;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6196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684213"/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Display the product and align properly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421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j;</a:t>
            </a:r>
          </a:p>
          <a:p>
            <a:pPr marL="46196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6196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230188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3D9AE3-1BD3-429A-B056-5ADF427F3553}"/>
              </a:ext>
            </a:extLst>
          </p:cNvPr>
          <p:cNvSpPr/>
          <p:nvPr/>
        </p:nvSpPr>
        <p:spPr>
          <a:xfrm>
            <a:off x="7838675" y="2590456"/>
            <a:ext cx="3652285" cy="258364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1 2 3 4 5 6 7 8 9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2 4 6 8 10 12 14 16 18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3 6 9 12 15 18 21 24 27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4 8 12 16 20 24 28 32 36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5 10 15 20 25 30 35 40 45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6 12 18 24 30 36 42 48 54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7 14 21 28 35 42 49 56 63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8 16 24 32 40 48 56 64 72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9 18 27 36 45 54 63 72 81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A87658-D6A8-425D-9463-7A653F484722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9" name="progressBarBackground">
            <a:extLst>
              <a:ext uri="{FF2B5EF4-FFF2-40B4-BE49-F238E27FC236}">
                <a16:creationId xmlns:a16="http://schemas.microsoft.com/office/drawing/2014/main" id="{B00B8070-68AB-475B-9ADF-5749DA4D39A8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rogressBar">
            <a:extLst>
              <a:ext uri="{FF2B5EF4-FFF2-40B4-BE49-F238E27FC236}">
                <a16:creationId xmlns:a16="http://schemas.microsoft.com/office/drawing/2014/main" id="{6EA2A1B7-B7A5-4A6F-8792-E750F7BC3153}"/>
              </a:ext>
            </a:extLst>
          </p:cNvPr>
          <p:cNvSpPr/>
          <p:nvPr/>
        </p:nvSpPr>
        <p:spPr bwMode="auto">
          <a:xfrm>
            <a:off x="1524000" y="6813550"/>
            <a:ext cx="4389120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11D4B-1DEC-910D-88F9-C850621494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19240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06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0E06-20AB-8F38-6EB8-FE863AF8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9DFCE9F5-D8F7-4576-8957-5298427A68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25595D-86FB-4A2C-B88E-79B1E0B268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1420553-FE0F-2910-D754-740760DD2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8534400" cy="1143000"/>
          </a:xfrm>
        </p:spPr>
        <p:txBody>
          <a:bodyPr/>
          <a:lstStyle/>
          <a:p>
            <a:r>
              <a:rPr lang="en-US" altLang="en-US"/>
              <a:t>Nested Loops 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D324318-A2C8-36F2-F42C-D64CEE5FD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2467499"/>
            <a:ext cx="4953000" cy="114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600" dirty="0">
                <a:cs typeface="Courier New" panose="02070309020205020404" pitchFamily="49" charset="0"/>
              </a:rPr>
              <a:t>What is the chang in the program to print the figure shown?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3AFBC9-6A79-B9E7-048A-02A445F1E4BC}"/>
              </a:ext>
            </a:extLst>
          </p:cNvPr>
          <p:cNvSpPr/>
          <p:nvPr/>
        </p:nvSpPr>
        <p:spPr>
          <a:xfrm>
            <a:off x="8020311" y="1991010"/>
            <a:ext cx="3795769" cy="258364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1  2  3  4  5  6  7  8  9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2  4  6  8 10 12 14 16 18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3  6  9 12 15 18 21 24 27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4  8 12 16 20 24 28 32 36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5 10 15 20 25 30 35 40 45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6 12 18 24 30 36 42 48 54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7 14 21 28 35 42 49 56 63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8 16 24 32 40 48 56 64 72</a:t>
            </a:r>
          </a:p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  9 18 27 36 45 54 63 72 81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348075-869A-5500-F766-CA4D0DB3B5AF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341E8-2FC4-C21E-CD46-66058E5466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0953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335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118F97BB-D899-4DFE-841D-F83A2724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AF7906-A215-4354-B820-27F565149D8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ADBEDF2-5A0A-4F3A-B14A-3A966FBC1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93938" y="-57232"/>
            <a:ext cx="8142287" cy="6651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>
                <a:solidFill>
                  <a:srgbClr val="002060"/>
                </a:solidFill>
              </a:rPr>
              <a:t>while Loops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E40BDFF-1C0D-4ACC-BBF5-BF92575D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1393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6EC8B524-1BF2-4C67-B432-59D266FD6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570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0968EFBC-743F-455B-AFAA-F355EC763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5198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1" name="Text Box 6">
            <a:extLst>
              <a:ext uri="{FF2B5EF4-FFF2-40B4-BE49-F238E27FC236}">
                <a16:creationId xmlns:a16="http://schemas.microsoft.com/office/drawing/2014/main" id="{C3C561E7-7E2A-4DFA-A0C5-DBD4C7FF1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1085850"/>
            <a:ext cx="856456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count = 0;</a:t>
            </a:r>
          </a:p>
          <a:p>
            <a:pPr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(count &lt; 100)</a:t>
            </a: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buNone/>
            </a:pP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"Welcome to C++!\n"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count++;</a:t>
            </a: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400" b="1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A68663-6C88-42E7-94D5-813BE9ADFFDD}"/>
              </a:ext>
            </a:extLst>
          </p:cNvPr>
          <p:cNvSpPr/>
          <p:nvPr/>
        </p:nvSpPr>
        <p:spPr>
          <a:xfrm>
            <a:off x="5164103" y="1529376"/>
            <a:ext cx="5282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8000"/>
                </a:solidFill>
                <a:latin typeface="Consolas" panose="020B0609020204030204" pitchFamily="49" charset="0"/>
              </a:rPr>
              <a:t>// loop continuation condition</a:t>
            </a:r>
            <a:endParaRPr lang="en-US" sz="8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AE908-59DF-48CD-8320-A265CA913BA4}"/>
              </a:ext>
            </a:extLst>
          </p:cNvPr>
          <p:cNvSpPr/>
          <p:nvPr/>
        </p:nvSpPr>
        <p:spPr>
          <a:xfrm>
            <a:off x="2370715" y="1969611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8000"/>
                </a:solidFill>
                <a:latin typeface="Consolas" panose="020B0609020204030204" pitchFamily="49" charset="0"/>
              </a:rPr>
              <a:t>// loop body</a:t>
            </a:r>
            <a:endParaRPr lang="en-US" sz="8800"/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070EAE63-C414-40EB-9C14-230267669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719316"/>
              </p:ext>
            </p:extLst>
          </p:nvPr>
        </p:nvGraphicFramePr>
        <p:xfrm>
          <a:off x="23074" y="3425027"/>
          <a:ext cx="8765326" cy="3344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496480" imgH="2523600" progId="Word.Picture.8">
                  <p:embed/>
                </p:oleObj>
              </mc:Choice>
              <mc:Fallback>
                <p:oleObj name="Picture" r:id="rId3" imgW="5496480" imgH="2523600" progId="Word.Picture.8">
                  <p:embed/>
                  <p:pic>
                    <p:nvPicPr>
                      <p:cNvPr id="12" name="Object 2">
                        <a:extLst>
                          <a:ext uri="{FF2B5EF4-FFF2-40B4-BE49-F238E27FC236}">
                            <a16:creationId xmlns:a16="http://schemas.microsoft.com/office/drawing/2014/main" id="{070EAE63-C414-40EB-9C14-230267669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4" y="3425027"/>
                        <a:ext cx="8765326" cy="3344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6E2B2F7-5093-45C7-AEBF-A29353EAAC6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FAC664-440C-DDCD-2381-07CF9EEDF2E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24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F06AA1-0E96-4299-9478-816BA1D9300F}"/>
              </a:ext>
            </a:extLst>
          </p:cNvPr>
          <p:cNvSpPr/>
          <p:nvPr/>
        </p:nvSpPr>
        <p:spPr>
          <a:xfrm>
            <a:off x="843062" y="878286"/>
            <a:ext cx="8595796" cy="5509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an integer (the input ends if it is 0):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Keep reading data until the input is 0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(data != 0)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sum += data;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Read the next data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an integer (the input ends if it is 0):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"The sum is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402B6E-7DB7-4E59-A516-515A54E89B30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447041" y="47289"/>
            <a:ext cx="914400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spcBef>
                <a:spcPct val="100000"/>
              </a:spcBef>
            </a:pPr>
            <a:r>
              <a:rPr lang="en-US" alt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</a:t>
            </a:r>
            <a:r>
              <a:rPr lang="en-US" altLang="en-US" sz="2400" dirty="0">
                <a:solidFill>
                  <a:srgbClr val="FFFFCC"/>
                </a:solidFill>
              </a:rPr>
              <a:t>Write a program that reads and calculates the sum of an unspecified number of integers. The input 0 signifies the end of the input.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06257-956F-9E7C-51D5-D4AFFAFF42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519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CB980F29-2460-4DCE-B658-2BB5DC666A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AB4500-08C8-4559-B54D-C9844B19581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1C552251-020A-422D-8825-9A6802632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438" y="226181"/>
            <a:ext cx="7772400" cy="1428750"/>
          </a:xfrm>
        </p:spPr>
        <p:txBody>
          <a:bodyPr/>
          <a:lstStyle/>
          <a:p>
            <a:r>
              <a:rPr lang="en-US" altLang="en-US" sz="4200" dirty="0">
                <a:solidFill>
                  <a:srgbClr val="FFFFCC"/>
                </a:solidFill>
                <a:latin typeface="Courier New" panose="02070309020205020404" pitchFamily="49" charset="0"/>
              </a:rPr>
              <a:t>do-while</a:t>
            </a:r>
            <a:r>
              <a:rPr lang="en-US" altLang="en-US" dirty="0"/>
              <a:t> </a:t>
            </a:r>
            <a:r>
              <a:rPr lang="en-US" altLang="en-US" sz="3200" dirty="0"/>
              <a:t>Loop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5604" name="Rectangle 12">
            <a:extLst>
              <a:ext uri="{FF2B5EF4-FFF2-40B4-BE49-F238E27FC236}">
                <a16:creationId xmlns:a16="http://schemas.microsoft.com/office/drawing/2014/main" id="{9CEEEA91-986E-4ED3-8965-AE67FBE58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88" y="22288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5605" name="Rectangle 13">
            <a:extLst>
              <a:ext uri="{FF2B5EF4-FFF2-40B4-BE49-F238E27FC236}">
                <a16:creationId xmlns:a16="http://schemas.microsoft.com/office/drawing/2014/main" id="{1D07E4FC-A93A-446C-86BC-DD08E778A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2948922"/>
            <a:ext cx="73152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do </a:t>
            </a: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 // Loop body;</a:t>
            </a: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 Statement(s);</a:t>
            </a:r>
          </a:p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} while (loop-continuation-condition);</a:t>
            </a:r>
          </a:p>
        </p:txBody>
      </p:sp>
      <p:sp>
        <p:nvSpPr>
          <p:cNvPr id="25606" name="Rectangle 15">
            <a:extLst>
              <a:ext uri="{FF2B5EF4-FFF2-40B4-BE49-F238E27FC236}">
                <a16:creationId xmlns:a16="http://schemas.microsoft.com/office/drawing/2014/main" id="{2553A4AA-F281-499C-9208-1012BD4A9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25" y="23002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5607" name="Rectangle 19">
            <a:extLst>
              <a:ext uri="{FF2B5EF4-FFF2-40B4-BE49-F238E27FC236}">
                <a16:creationId xmlns:a16="http://schemas.microsoft.com/office/drawing/2014/main" id="{7D84D3D4-952C-4EA4-BA1A-26ABFA9C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25" y="24193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5608" name="Object 18">
            <a:extLst>
              <a:ext uri="{FF2B5EF4-FFF2-40B4-BE49-F238E27FC236}">
                <a16:creationId xmlns:a16="http://schemas.microsoft.com/office/drawing/2014/main" id="{0F3CD4B7-CA30-44AF-8D3A-88AFC75C3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896216"/>
              </p:ext>
            </p:extLst>
          </p:nvPr>
        </p:nvGraphicFramePr>
        <p:xfrm>
          <a:off x="7181850" y="1615718"/>
          <a:ext cx="36195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07464" imgH="2016252" progId="Word.Picture.8">
                  <p:embed/>
                </p:oleObj>
              </mc:Choice>
              <mc:Fallback>
                <p:oleObj r:id="rId2" imgW="1807464" imgH="2016252" progId="Word.Picture.8">
                  <p:embed/>
                  <p:pic>
                    <p:nvPicPr>
                      <p:cNvPr id="25608" name="Object 18">
                        <a:extLst>
                          <a:ext uri="{FF2B5EF4-FFF2-40B4-BE49-F238E27FC236}">
                            <a16:creationId xmlns:a16="http://schemas.microsoft.com/office/drawing/2014/main" id="{0F3CD4B7-CA30-44AF-8D3A-88AFC75C3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1850" y="1615718"/>
                        <a:ext cx="361950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E39219E-9039-4333-B492-E676C86BE8BA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4E064464-0D7F-4810-8767-4B383EC7099F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gressBar">
            <a:extLst>
              <a:ext uri="{FF2B5EF4-FFF2-40B4-BE49-F238E27FC236}">
                <a16:creationId xmlns:a16="http://schemas.microsoft.com/office/drawing/2014/main" id="{AFB6EBD4-335E-4423-AA53-B52BCE7007F7}"/>
              </a:ext>
            </a:extLst>
          </p:cNvPr>
          <p:cNvSpPr/>
          <p:nvPr/>
        </p:nvSpPr>
        <p:spPr bwMode="auto">
          <a:xfrm>
            <a:off x="1524000" y="6813550"/>
            <a:ext cx="3877056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4D0F0C-A6B6-4688-787A-02D96A0F69E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03654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491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AB5523-100E-4F48-8328-EBF76324CDF0}"/>
              </a:ext>
            </a:extLst>
          </p:cNvPr>
          <p:cNvSpPr/>
          <p:nvPr/>
        </p:nvSpPr>
        <p:spPr>
          <a:xfrm>
            <a:off x="997691" y="551289"/>
            <a:ext cx="8717935" cy="57554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Keep reading data until the input is 0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 = 0;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sum += data;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Read the next data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an integer (the input ends if it is 0):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(data != 0);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"The sum is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F97D5D-BE63-4651-9CF6-AF421D2643B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F4FEFA-4D3D-C45D-15CB-D7F0AE61D0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7415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02873A19-56EF-4275-9BC6-BADD0ECF7A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754313-83B9-4446-A8DE-FCD98DF4374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75CF089-A4E5-4CF9-82C7-09E098BE5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1057275"/>
            <a:ext cx="7772400" cy="533400"/>
          </a:xfrm>
        </p:spPr>
        <p:txBody>
          <a:bodyPr/>
          <a:lstStyle/>
          <a:p>
            <a:r>
              <a:rPr lang="en-US" altLang="en-US" dirty="0"/>
              <a:t>Example: Using </a:t>
            </a:r>
            <a:r>
              <a:rPr lang="en-US" altLang="en-US" u="sng" dirty="0"/>
              <a:t>for</a:t>
            </a:r>
            <a:r>
              <a:rPr lang="en-US" altLang="en-US" dirty="0"/>
              <a:t> Loops 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51D2700-D56A-432D-972C-2E3BF911D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6280" y="1447800"/>
            <a:ext cx="8686800" cy="129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What does this program do?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46127A-CE89-48C8-930A-911285C7942D}"/>
              </a:ext>
            </a:extLst>
          </p:cNvPr>
          <p:cNvSpPr/>
          <p:nvPr/>
        </p:nvSpPr>
        <p:spPr>
          <a:xfrm>
            <a:off x="2209801" y="2547878"/>
            <a:ext cx="7454503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// Initialize sum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// Add 0.01, 0.02, ..., 0.99, 1 to sum</a:t>
            </a:r>
          </a:p>
          <a:p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i = 0.01; i &lt;= 1.0; i = i + 0.01)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   sum +=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// Display result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"The sum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6084D-BBC9-4E86-A7E8-FF2826F99451}"/>
              </a:ext>
            </a:extLst>
          </p:cNvPr>
          <p:cNvSpPr/>
          <p:nvPr/>
        </p:nvSpPr>
        <p:spPr>
          <a:xfrm>
            <a:off x="2209801" y="2547878"/>
            <a:ext cx="7454503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Initialize sum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Add 0.01, 0.02, ..., 0.99, 1 to sum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0.01; i &lt;= 1.0; i = i + 0.01)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sum +=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Display result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sum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FEB4B-A642-47A6-B55F-7314F35F0F26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A4F44-A59A-1F2B-1D46-3D32C64D28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31850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278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6">
            <a:extLst>
              <a:ext uri="{FF2B5EF4-FFF2-40B4-BE49-F238E27FC236}">
                <a16:creationId xmlns:a16="http://schemas.microsoft.com/office/drawing/2014/main" id="{8A32E2FD-49AF-434D-8986-7CB3B3FE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027" y="2043664"/>
            <a:ext cx="4578895" cy="2031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002060"/>
                </a:solidFill>
              </a:rPr>
              <a:t>Arrays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BD5C82-4786-4A9A-8DDE-B0E3C8A3FABB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50159D64-2A60-4C37-BAFC-61F3A3E0A346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EC7E82-E4D2-4D0C-8BA4-5EFDEF0A62A0}" type="slidenum">
              <a:rPr lang="en-US" altLang="en-US" smtClean="0"/>
              <a:pPr/>
              <a:t>39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CC71DA-FFD2-EAB4-93BF-B4DF133961E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3514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>
                <a:solidFill>
                  <a:srgbClr val="002060"/>
                </a:solidFill>
              </a:rPr>
              <a:pPr/>
              <a:t>40</a:t>
            </a:fld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6147" name="Rectangle 1026">
            <a:extLst>
              <a:ext uri="{FF2B5EF4-FFF2-40B4-BE49-F238E27FC236}">
                <a16:creationId xmlns:a16="http://schemas.microsoft.com/office/drawing/2014/main" id="{347C45C3-BAFD-424F-BCFF-C14DDC9692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95700" y="-111919"/>
            <a:ext cx="7772400" cy="652463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2060"/>
                </a:solidFill>
              </a:rPr>
              <a:t>Introducing Arrays</a:t>
            </a:r>
          </a:p>
        </p:txBody>
      </p:sp>
      <p:sp>
        <p:nvSpPr>
          <p:cNvPr id="6148" name="Text Box 1033">
            <a:extLst>
              <a:ext uri="{FF2B5EF4-FFF2-40B4-BE49-F238E27FC236}">
                <a16:creationId xmlns:a16="http://schemas.microsoft.com/office/drawing/2014/main" id="{8B50780C-8650-478D-B898-B4ACE2304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35" y="851301"/>
            <a:ext cx="8680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ts val="1200"/>
              </a:spcAft>
              <a:buClrTx/>
              <a:buSzTx/>
              <a:buNone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is a data structure that represents a collection of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types 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data. </a:t>
            </a: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Rectangle 1035">
            <a:extLst>
              <a:ext uri="{FF2B5EF4-FFF2-40B4-BE49-F238E27FC236}">
                <a16:creationId xmlns:a16="http://schemas.microsoft.com/office/drawing/2014/main" id="{F293041C-95EB-48A6-9ACA-4804A7B24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88" y="21986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150" name="Rectangle 1040">
            <a:extLst>
              <a:ext uri="{FF2B5EF4-FFF2-40B4-BE49-F238E27FC236}">
                <a16:creationId xmlns:a16="http://schemas.microsoft.com/office/drawing/2014/main" id="{877480D2-00FA-4A73-AA58-70866D16C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19129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151" name="Rectangle 1042">
            <a:extLst>
              <a:ext uri="{FF2B5EF4-FFF2-40B4-BE49-F238E27FC236}">
                <a16:creationId xmlns:a16="http://schemas.microsoft.com/office/drawing/2014/main" id="{63CE3ABD-F09A-4A3F-8B3B-FBC016844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2107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152" name="Object 1041">
            <a:extLst>
              <a:ext uri="{FF2B5EF4-FFF2-40B4-BE49-F238E27FC236}">
                <a16:creationId xmlns:a16="http://schemas.microsoft.com/office/drawing/2014/main" id="{28211FAE-3F1B-46D9-A1F9-36FF9A81A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2226" y="1970089"/>
          <a:ext cx="6989763" cy="441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803648" imgH="3025140" progId="Word.Picture.8">
                  <p:embed/>
                </p:oleObj>
              </mc:Choice>
              <mc:Fallback>
                <p:oleObj name="Picture" r:id="rId2" imgW="4803648" imgH="3025140" progId="Word.Picture.8">
                  <p:embed/>
                  <p:pic>
                    <p:nvPicPr>
                      <p:cNvPr id="6152" name="Object 1041">
                        <a:extLst>
                          <a:ext uri="{FF2B5EF4-FFF2-40B4-BE49-F238E27FC236}">
                            <a16:creationId xmlns:a16="http://schemas.microsoft.com/office/drawing/2014/main" id="{28211FAE-3F1B-46D9-A1F9-36FF9A81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1970089"/>
                        <a:ext cx="6989763" cy="441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4A3C9A4-5219-424E-A509-6D02A8D8EA8B}"/>
              </a:ext>
            </a:extLst>
          </p:cNvPr>
          <p:cNvSpPr/>
          <p:nvPr/>
        </p:nvSpPr>
        <p:spPr bwMode="auto">
          <a:xfrm>
            <a:off x="5980785" y="2891330"/>
            <a:ext cx="230430" cy="192012"/>
          </a:xfrm>
          <a:prstGeom prst="rect">
            <a:avLst/>
          </a:prstGeom>
          <a:solidFill>
            <a:srgbClr val="FFFF00">
              <a:alpha val="36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C2C2EC-5E5E-42CE-B42F-E60AC9DB2C3D}"/>
              </a:ext>
            </a:extLst>
          </p:cNvPr>
          <p:cNvSpPr/>
          <p:nvPr/>
        </p:nvSpPr>
        <p:spPr bwMode="auto">
          <a:xfrm>
            <a:off x="5980785" y="6002135"/>
            <a:ext cx="230430" cy="192012"/>
          </a:xfrm>
          <a:prstGeom prst="rect">
            <a:avLst/>
          </a:prstGeom>
          <a:solidFill>
            <a:srgbClr val="FFFF00">
              <a:alpha val="36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1D12CD-C323-48A5-BBC4-B86CD00018A3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C9CEF-943E-1E67-940A-45EB085B30F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0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D328FC1-2C85-4DA4-BEE3-A7B843D34A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23440" y="23987"/>
            <a:ext cx="7772400" cy="496710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altLang="en-US" dirty="0">
                <a:solidFill>
                  <a:srgbClr val="002060"/>
                </a:solidFill>
              </a:rPr>
              <a:t>Declaring Array Variables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2AA5E2F-841C-44D6-B2F6-2EA0C8CD4E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966996"/>
            <a:ext cx="8372475" cy="1443038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datatype </a:t>
            </a:r>
            <a:r>
              <a:rPr lang="en-US" altLang="en-US" sz="2800" dirty="0" err="1">
                <a:latin typeface="Courier New" panose="02070309020205020404" pitchFamily="49" charset="0"/>
              </a:rPr>
              <a:t>arrayRefVar</a:t>
            </a:r>
            <a:r>
              <a:rPr lang="en-US" altLang="en-US" sz="2800" dirty="0">
                <a:latin typeface="Courier New" panose="02070309020205020404" pitchFamily="49" charset="0"/>
              </a:rPr>
              <a:t>[</a:t>
            </a:r>
            <a:r>
              <a:rPr lang="en-US" altLang="en-US" sz="2800" dirty="0" err="1">
                <a:latin typeface="Courier New" panose="02070309020205020404" pitchFamily="49" charset="0"/>
              </a:rPr>
              <a:t>arraySize</a:t>
            </a:r>
            <a:r>
              <a:rPr lang="en-US" altLang="en-US" sz="2800" dirty="0">
                <a:latin typeface="Courier New" panose="02070309020205020404" pitchFamily="49" charset="0"/>
              </a:rPr>
              <a:t>];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200" dirty="0"/>
              <a:t>	</a:t>
            </a:r>
            <a:r>
              <a:rPr lang="en-US" altLang="en-US" sz="2200" u="sng" dirty="0"/>
              <a:t>Example: 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200" dirty="0"/>
              <a:t>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 // the indices are from 0 to 9</a:t>
            </a:r>
            <a:endParaRPr lang="en-US" altLang="en-US" sz="2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en-US" sz="2200" dirty="0">
              <a:latin typeface="Courier New" panose="02070309020205020404" pitchFamily="49" charset="0"/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AA91B951-D751-42A7-9080-7D2F272CC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968625"/>
            <a:ext cx="86804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0100" indent="-34290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Aft>
                <a:spcPct val="0"/>
              </a:spcAft>
              <a:buClr>
                <a:srgbClr val="000000"/>
              </a:buClr>
              <a:buNone/>
              <a:defRPr/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requires that the array size used to declare an array must be a </a:t>
            </a:r>
            <a:r>
              <a:rPr lang="en-US" altLang="en-US" sz="2400" b="1">
                <a:solidFill>
                  <a:srgbClr val="C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3C303-7D59-4788-8D13-CC43EE2DC7E4}"/>
              </a:ext>
            </a:extLst>
          </p:cNvPr>
          <p:cNvSpPr/>
          <p:nvPr/>
        </p:nvSpPr>
        <p:spPr>
          <a:xfrm>
            <a:off x="1755775" y="4081886"/>
            <a:ext cx="5530780" cy="830997"/>
          </a:xfrm>
          <a:custGeom>
            <a:avLst/>
            <a:gdLst>
              <a:gd name="connsiteX0" fmla="*/ 0 w 5530780"/>
              <a:gd name="connsiteY0" fmla="*/ 0 h 830997"/>
              <a:gd name="connsiteX1" fmla="*/ 525424 w 5530780"/>
              <a:gd name="connsiteY1" fmla="*/ 0 h 830997"/>
              <a:gd name="connsiteX2" fmla="*/ 1216772 w 5530780"/>
              <a:gd name="connsiteY2" fmla="*/ 0 h 830997"/>
              <a:gd name="connsiteX3" fmla="*/ 1963427 w 5530780"/>
              <a:gd name="connsiteY3" fmla="*/ 0 h 830997"/>
              <a:gd name="connsiteX4" fmla="*/ 2710082 w 5530780"/>
              <a:gd name="connsiteY4" fmla="*/ 0 h 830997"/>
              <a:gd name="connsiteX5" fmla="*/ 3235506 w 5530780"/>
              <a:gd name="connsiteY5" fmla="*/ 0 h 830997"/>
              <a:gd name="connsiteX6" fmla="*/ 3982162 w 5530780"/>
              <a:gd name="connsiteY6" fmla="*/ 0 h 830997"/>
              <a:gd name="connsiteX7" fmla="*/ 4618201 w 5530780"/>
              <a:gd name="connsiteY7" fmla="*/ 0 h 830997"/>
              <a:gd name="connsiteX8" fmla="*/ 5530780 w 5530780"/>
              <a:gd name="connsiteY8" fmla="*/ 0 h 830997"/>
              <a:gd name="connsiteX9" fmla="*/ 5530780 w 5530780"/>
              <a:gd name="connsiteY9" fmla="*/ 407189 h 830997"/>
              <a:gd name="connsiteX10" fmla="*/ 5530780 w 5530780"/>
              <a:gd name="connsiteY10" fmla="*/ 830997 h 830997"/>
              <a:gd name="connsiteX11" fmla="*/ 4894740 w 5530780"/>
              <a:gd name="connsiteY11" fmla="*/ 830997 h 830997"/>
              <a:gd name="connsiteX12" fmla="*/ 4258701 w 5530780"/>
              <a:gd name="connsiteY12" fmla="*/ 830997 h 830997"/>
              <a:gd name="connsiteX13" fmla="*/ 3456738 w 5530780"/>
              <a:gd name="connsiteY13" fmla="*/ 830997 h 830997"/>
              <a:gd name="connsiteX14" fmla="*/ 2765390 w 5530780"/>
              <a:gd name="connsiteY14" fmla="*/ 830997 h 830997"/>
              <a:gd name="connsiteX15" fmla="*/ 2074043 w 5530780"/>
              <a:gd name="connsiteY15" fmla="*/ 830997 h 830997"/>
              <a:gd name="connsiteX16" fmla="*/ 1382695 w 5530780"/>
              <a:gd name="connsiteY16" fmla="*/ 830997 h 830997"/>
              <a:gd name="connsiteX17" fmla="*/ 801963 w 5530780"/>
              <a:gd name="connsiteY17" fmla="*/ 830997 h 830997"/>
              <a:gd name="connsiteX18" fmla="*/ 0 w 5530780"/>
              <a:gd name="connsiteY18" fmla="*/ 830997 h 830997"/>
              <a:gd name="connsiteX19" fmla="*/ 0 w 5530780"/>
              <a:gd name="connsiteY19" fmla="*/ 440428 h 830997"/>
              <a:gd name="connsiteX20" fmla="*/ 0 w 5530780"/>
              <a:gd name="connsiteY20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30780" h="830997" fill="none" extrusionOk="0">
                <a:moveTo>
                  <a:pt x="0" y="0"/>
                </a:moveTo>
                <a:cubicBezTo>
                  <a:pt x="183348" y="24339"/>
                  <a:pt x="297002" y="6745"/>
                  <a:pt x="525424" y="0"/>
                </a:cubicBezTo>
                <a:cubicBezTo>
                  <a:pt x="753846" y="-6745"/>
                  <a:pt x="912901" y="-4364"/>
                  <a:pt x="1216772" y="0"/>
                </a:cubicBezTo>
                <a:cubicBezTo>
                  <a:pt x="1520643" y="4364"/>
                  <a:pt x="1690478" y="1294"/>
                  <a:pt x="1963427" y="0"/>
                </a:cubicBezTo>
                <a:cubicBezTo>
                  <a:pt x="2236376" y="-1294"/>
                  <a:pt x="2477856" y="-2604"/>
                  <a:pt x="2710082" y="0"/>
                </a:cubicBezTo>
                <a:cubicBezTo>
                  <a:pt x="2942309" y="2604"/>
                  <a:pt x="3051564" y="18540"/>
                  <a:pt x="3235506" y="0"/>
                </a:cubicBezTo>
                <a:cubicBezTo>
                  <a:pt x="3419448" y="-18540"/>
                  <a:pt x="3772670" y="-27933"/>
                  <a:pt x="3982162" y="0"/>
                </a:cubicBezTo>
                <a:cubicBezTo>
                  <a:pt x="4191654" y="27933"/>
                  <a:pt x="4324286" y="18671"/>
                  <a:pt x="4618201" y="0"/>
                </a:cubicBezTo>
                <a:cubicBezTo>
                  <a:pt x="4912116" y="-18671"/>
                  <a:pt x="5190098" y="-17726"/>
                  <a:pt x="5530780" y="0"/>
                </a:cubicBezTo>
                <a:cubicBezTo>
                  <a:pt x="5538238" y="200132"/>
                  <a:pt x="5531514" y="242442"/>
                  <a:pt x="5530780" y="407189"/>
                </a:cubicBezTo>
                <a:cubicBezTo>
                  <a:pt x="5530046" y="571936"/>
                  <a:pt x="5546117" y="688760"/>
                  <a:pt x="5530780" y="830997"/>
                </a:cubicBezTo>
                <a:cubicBezTo>
                  <a:pt x="5218880" y="807089"/>
                  <a:pt x="5124729" y="861702"/>
                  <a:pt x="4894740" y="830997"/>
                </a:cubicBezTo>
                <a:cubicBezTo>
                  <a:pt x="4664751" y="800292"/>
                  <a:pt x="4439486" y="817531"/>
                  <a:pt x="4258701" y="830997"/>
                </a:cubicBezTo>
                <a:cubicBezTo>
                  <a:pt x="4077916" y="844463"/>
                  <a:pt x="3855240" y="819531"/>
                  <a:pt x="3456738" y="830997"/>
                </a:cubicBezTo>
                <a:cubicBezTo>
                  <a:pt x="3058236" y="842463"/>
                  <a:pt x="3082598" y="835090"/>
                  <a:pt x="2765390" y="830997"/>
                </a:cubicBezTo>
                <a:cubicBezTo>
                  <a:pt x="2448182" y="826904"/>
                  <a:pt x="2231793" y="860001"/>
                  <a:pt x="2074043" y="830997"/>
                </a:cubicBezTo>
                <a:cubicBezTo>
                  <a:pt x="1916293" y="801993"/>
                  <a:pt x="1608558" y="862967"/>
                  <a:pt x="1382695" y="830997"/>
                </a:cubicBezTo>
                <a:cubicBezTo>
                  <a:pt x="1156832" y="799027"/>
                  <a:pt x="1050588" y="815858"/>
                  <a:pt x="801963" y="830997"/>
                </a:cubicBezTo>
                <a:cubicBezTo>
                  <a:pt x="553338" y="846136"/>
                  <a:pt x="281684" y="850627"/>
                  <a:pt x="0" y="830997"/>
                </a:cubicBezTo>
                <a:cubicBezTo>
                  <a:pt x="11206" y="752766"/>
                  <a:pt x="-6516" y="627074"/>
                  <a:pt x="0" y="440428"/>
                </a:cubicBezTo>
                <a:cubicBezTo>
                  <a:pt x="6516" y="253782"/>
                  <a:pt x="-6337" y="177389"/>
                  <a:pt x="0" y="0"/>
                </a:cubicBezTo>
                <a:close/>
              </a:path>
              <a:path w="5530780" h="830997" stroke="0" extrusionOk="0">
                <a:moveTo>
                  <a:pt x="0" y="0"/>
                </a:moveTo>
                <a:cubicBezTo>
                  <a:pt x="195135" y="32747"/>
                  <a:pt x="549337" y="3186"/>
                  <a:pt x="691348" y="0"/>
                </a:cubicBezTo>
                <a:cubicBezTo>
                  <a:pt x="833359" y="-3186"/>
                  <a:pt x="1056234" y="-2239"/>
                  <a:pt x="1216772" y="0"/>
                </a:cubicBezTo>
                <a:cubicBezTo>
                  <a:pt x="1377310" y="2239"/>
                  <a:pt x="1557894" y="9196"/>
                  <a:pt x="1797504" y="0"/>
                </a:cubicBezTo>
                <a:cubicBezTo>
                  <a:pt x="2037114" y="-9196"/>
                  <a:pt x="2211415" y="17053"/>
                  <a:pt x="2488851" y="0"/>
                </a:cubicBezTo>
                <a:cubicBezTo>
                  <a:pt x="2766287" y="-17053"/>
                  <a:pt x="2930554" y="-16122"/>
                  <a:pt x="3069583" y="0"/>
                </a:cubicBezTo>
                <a:cubicBezTo>
                  <a:pt x="3208612" y="16122"/>
                  <a:pt x="3477709" y="36290"/>
                  <a:pt x="3871546" y="0"/>
                </a:cubicBezTo>
                <a:cubicBezTo>
                  <a:pt x="4265383" y="-36290"/>
                  <a:pt x="4453317" y="36539"/>
                  <a:pt x="4618201" y="0"/>
                </a:cubicBezTo>
                <a:cubicBezTo>
                  <a:pt x="4783086" y="-36539"/>
                  <a:pt x="5095326" y="26252"/>
                  <a:pt x="5530780" y="0"/>
                </a:cubicBezTo>
                <a:cubicBezTo>
                  <a:pt x="5544890" y="165162"/>
                  <a:pt x="5517999" y="228762"/>
                  <a:pt x="5530780" y="390569"/>
                </a:cubicBezTo>
                <a:cubicBezTo>
                  <a:pt x="5543561" y="552376"/>
                  <a:pt x="5510103" y="732287"/>
                  <a:pt x="5530780" y="830997"/>
                </a:cubicBezTo>
                <a:cubicBezTo>
                  <a:pt x="5252044" y="857707"/>
                  <a:pt x="5167264" y="806253"/>
                  <a:pt x="4894740" y="830997"/>
                </a:cubicBezTo>
                <a:cubicBezTo>
                  <a:pt x="4622216" y="855741"/>
                  <a:pt x="4532736" y="849662"/>
                  <a:pt x="4258701" y="830997"/>
                </a:cubicBezTo>
                <a:cubicBezTo>
                  <a:pt x="3984666" y="812332"/>
                  <a:pt x="3673442" y="839519"/>
                  <a:pt x="3456738" y="830997"/>
                </a:cubicBezTo>
                <a:cubicBezTo>
                  <a:pt x="3240034" y="822475"/>
                  <a:pt x="3082694" y="860237"/>
                  <a:pt x="2820698" y="830997"/>
                </a:cubicBezTo>
                <a:cubicBezTo>
                  <a:pt x="2558702" y="801757"/>
                  <a:pt x="2517503" y="815647"/>
                  <a:pt x="2295274" y="830997"/>
                </a:cubicBezTo>
                <a:cubicBezTo>
                  <a:pt x="2073045" y="846347"/>
                  <a:pt x="1721224" y="836482"/>
                  <a:pt x="1548618" y="830997"/>
                </a:cubicBezTo>
                <a:cubicBezTo>
                  <a:pt x="1376012" y="825512"/>
                  <a:pt x="1125805" y="829927"/>
                  <a:pt x="746655" y="830997"/>
                </a:cubicBezTo>
                <a:cubicBezTo>
                  <a:pt x="367505" y="832067"/>
                  <a:pt x="253113" y="809434"/>
                  <a:pt x="0" y="830997"/>
                </a:cubicBezTo>
                <a:cubicBezTo>
                  <a:pt x="4724" y="625799"/>
                  <a:pt x="8509" y="495209"/>
                  <a:pt x="0" y="398879"/>
                </a:cubicBezTo>
                <a:cubicBezTo>
                  <a:pt x="-8509" y="302549"/>
                  <a:pt x="-17026" y="170746"/>
                  <a:pt x="0" y="0"/>
                </a:cubicBezTo>
                <a:close/>
              </a:path>
            </a:pathLst>
          </a:custGeom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6779597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size = 4;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[size]; </a:t>
            </a:r>
            <a:r>
              <a:rPr lang="en-US" sz="2400">
                <a:solidFill>
                  <a:srgbClr val="008000"/>
                </a:solidFill>
                <a:latin typeface="Consolas" panose="020B0609020204030204" pitchFamily="49" charset="0"/>
              </a:rPr>
              <a:t>// Wrong</a:t>
            </a: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10B7F-CC15-4408-859B-4825A402AF47}"/>
              </a:ext>
            </a:extLst>
          </p:cNvPr>
          <p:cNvSpPr/>
          <p:nvPr/>
        </p:nvSpPr>
        <p:spPr>
          <a:xfrm>
            <a:off x="1751157" y="5272441"/>
            <a:ext cx="5530780" cy="830997"/>
          </a:xfrm>
          <a:custGeom>
            <a:avLst/>
            <a:gdLst>
              <a:gd name="connsiteX0" fmla="*/ 0 w 5530780"/>
              <a:gd name="connsiteY0" fmla="*/ 0 h 830997"/>
              <a:gd name="connsiteX1" fmla="*/ 691348 w 5530780"/>
              <a:gd name="connsiteY1" fmla="*/ 0 h 830997"/>
              <a:gd name="connsiteX2" fmla="*/ 1216772 w 5530780"/>
              <a:gd name="connsiteY2" fmla="*/ 0 h 830997"/>
              <a:gd name="connsiteX3" fmla="*/ 1797504 w 5530780"/>
              <a:gd name="connsiteY3" fmla="*/ 0 h 830997"/>
              <a:gd name="connsiteX4" fmla="*/ 2378235 w 5530780"/>
              <a:gd name="connsiteY4" fmla="*/ 0 h 830997"/>
              <a:gd name="connsiteX5" fmla="*/ 3180198 w 5530780"/>
              <a:gd name="connsiteY5" fmla="*/ 0 h 830997"/>
              <a:gd name="connsiteX6" fmla="*/ 3760930 w 5530780"/>
              <a:gd name="connsiteY6" fmla="*/ 0 h 830997"/>
              <a:gd name="connsiteX7" fmla="*/ 4452278 w 5530780"/>
              <a:gd name="connsiteY7" fmla="*/ 0 h 830997"/>
              <a:gd name="connsiteX8" fmla="*/ 5530780 w 5530780"/>
              <a:gd name="connsiteY8" fmla="*/ 0 h 830997"/>
              <a:gd name="connsiteX9" fmla="*/ 5530780 w 5530780"/>
              <a:gd name="connsiteY9" fmla="*/ 390569 h 830997"/>
              <a:gd name="connsiteX10" fmla="*/ 5530780 w 5530780"/>
              <a:gd name="connsiteY10" fmla="*/ 830997 h 830997"/>
              <a:gd name="connsiteX11" fmla="*/ 4894740 w 5530780"/>
              <a:gd name="connsiteY11" fmla="*/ 830997 h 830997"/>
              <a:gd name="connsiteX12" fmla="*/ 4092777 w 5530780"/>
              <a:gd name="connsiteY12" fmla="*/ 830997 h 830997"/>
              <a:gd name="connsiteX13" fmla="*/ 3567353 w 5530780"/>
              <a:gd name="connsiteY13" fmla="*/ 830997 h 830997"/>
              <a:gd name="connsiteX14" fmla="*/ 2765390 w 5530780"/>
              <a:gd name="connsiteY14" fmla="*/ 830997 h 830997"/>
              <a:gd name="connsiteX15" fmla="*/ 2239966 w 5530780"/>
              <a:gd name="connsiteY15" fmla="*/ 830997 h 830997"/>
              <a:gd name="connsiteX16" fmla="*/ 1714542 w 5530780"/>
              <a:gd name="connsiteY16" fmla="*/ 830997 h 830997"/>
              <a:gd name="connsiteX17" fmla="*/ 1078502 w 5530780"/>
              <a:gd name="connsiteY17" fmla="*/ 830997 h 830997"/>
              <a:gd name="connsiteX18" fmla="*/ 0 w 5530780"/>
              <a:gd name="connsiteY18" fmla="*/ 830997 h 830997"/>
              <a:gd name="connsiteX19" fmla="*/ 0 w 5530780"/>
              <a:gd name="connsiteY19" fmla="*/ 415499 h 830997"/>
              <a:gd name="connsiteX20" fmla="*/ 0 w 5530780"/>
              <a:gd name="connsiteY20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30780" h="830997" fill="none" extrusionOk="0">
                <a:moveTo>
                  <a:pt x="0" y="0"/>
                </a:moveTo>
                <a:cubicBezTo>
                  <a:pt x="255696" y="-29639"/>
                  <a:pt x="440254" y="-8686"/>
                  <a:pt x="691348" y="0"/>
                </a:cubicBezTo>
                <a:cubicBezTo>
                  <a:pt x="942442" y="8686"/>
                  <a:pt x="955396" y="1939"/>
                  <a:pt x="1216772" y="0"/>
                </a:cubicBezTo>
                <a:cubicBezTo>
                  <a:pt x="1478148" y="-1939"/>
                  <a:pt x="1519056" y="7322"/>
                  <a:pt x="1797504" y="0"/>
                </a:cubicBezTo>
                <a:cubicBezTo>
                  <a:pt x="2075952" y="-7322"/>
                  <a:pt x="2101756" y="-16435"/>
                  <a:pt x="2378235" y="0"/>
                </a:cubicBezTo>
                <a:cubicBezTo>
                  <a:pt x="2654714" y="16435"/>
                  <a:pt x="2895796" y="28756"/>
                  <a:pt x="3180198" y="0"/>
                </a:cubicBezTo>
                <a:cubicBezTo>
                  <a:pt x="3464600" y="-28756"/>
                  <a:pt x="3561553" y="-20729"/>
                  <a:pt x="3760930" y="0"/>
                </a:cubicBezTo>
                <a:cubicBezTo>
                  <a:pt x="3960307" y="20729"/>
                  <a:pt x="4165272" y="15982"/>
                  <a:pt x="4452278" y="0"/>
                </a:cubicBezTo>
                <a:cubicBezTo>
                  <a:pt x="4739284" y="-15982"/>
                  <a:pt x="5104884" y="35240"/>
                  <a:pt x="5530780" y="0"/>
                </a:cubicBezTo>
                <a:cubicBezTo>
                  <a:pt x="5519285" y="124160"/>
                  <a:pt x="5516967" y="248471"/>
                  <a:pt x="5530780" y="390569"/>
                </a:cubicBezTo>
                <a:cubicBezTo>
                  <a:pt x="5544593" y="532667"/>
                  <a:pt x="5535737" y="693754"/>
                  <a:pt x="5530780" y="830997"/>
                </a:cubicBezTo>
                <a:cubicBezTo>
                  <a:pt x="5356714" y="848068"/>
                  <a:pt x="5095457" y="837469"/>
                  <a:pt x="4894740" y="830997"/>
                </a:cubicBezTo>
                <a:cubicBezTo>
                  <a:pt x="4694023" y="824525"/>
                  <a:pt x="4325897" y="869091"/>
                  <a:pt x="4092777" y="830997"/>
                </a:cubicBezTo>
                <a:cubicBezTo>
                  <a:pt x="3859657" y="792903"/>
                  <a:pt x="3736160" y="811657"/>
                  <a:pt x="3567353" y="830997"/>
                </a:cubicBezTo>
                <a:cubicBezTo>
                  <a:pt x="3398546" y="850337"/>
                  <a:pt x="3146597" y="845891"/>
                  <a:pt x="2765390" y="830997"/>
                </a:cubicBezTo>
                <a:cubicBezTo>
                  <a:pt x="2384183" y="816103"/>
                  <a:pt x="2405515" y="813675"/>
                  <a:pt x="2239966" y="830997"/>
                </a:cubicBezTo>
                <a:cubicBezTo>
                  <a:pt x="2074417" y="848319"/>
                  <a:pt x="1909357" y="805582"/>
                  <a:pt x="1714542" y="830997"/>
                </a:cubicBezTo>
                <a:cubicBezTo>
                  <a:pt x="1519727" y="856412"/>
                  <a:pt x="1364797" y="806682"/>
                  <a:pt x="1078502" y="830997"/>
                </a:cubicBezTo>
                <a:cubicBezTo>
                  <a:pt x="792207" y="855312"/>
                  <a:pt x="422164" y="832293"/>
                  <a:pt x="0" y="830997"/>
                </a:cubicBezTo>
                <a:cubicBezTo>
                  <a:pt x="-3891" y="636935"/>
                  <a:pt x="-443" y="567867"/>
                  <a:pt x="0" y="415499"/>
                </a:cubicBezTo>
                <a:cubicBezTo>
                  <a:pt x="443" y="263131"/>
                  <a:pt x="1187" y="144936"/>
                  <a:pt x="0" y="0"/>
                </a:cubicBezTo>
                <a:close/>
              </a:path>
              <a:path w="5530780" h="830997" stroke="0" extrusionOk="0">
                <a:moveTo>
                  <a:pt x="0" y="0"/>
                </a:moveTo>
                <a:cubicBezTo>
                  <a:pt x="203199" y="-25969"/>
                  <a:pt x="484429" y="20509"/>
                  <a:pt x="801963" y="0"/>
                </a:cubicBezTo>
                <a:cubicBezTo>
                  <a:pt x="1119497" y="-20509"/>
                  <a:pt x="1160681" y="20919"/>
                  <a:pt x="1327387" y="0"/>
                </a:cubicBezTo>
                <a:cubicBezTo>
                  <a:pt x="1494093" y="-20919"/>
                  <a:pt x="1841570" y="874"/>
                  <a:pt x="2074043" y="0"/>
                </a:cubicBezTo>
                <a:cubicBezTo>
                  <a:pt x="2306516" y="-874"/>
                  <a:pt x="2532458" y="4663"/>
                  <a:pt x="2654774" y="0"/>
                </a:cubicBezTo>
                <a:cubicBezTo>
                  <a:pt x="2777090" y="-4663"/>
                  <a:pt x="3192714" y="-38043"/>
                  <a:pt x="3456738" y="0"/>
                </a:cubicBezTo>
                <a:cubicBezTo>
                  <a:pt x="3720762" y="38043"/>
                  <a:pt x="3880441" y="-16833"/>
                  <a:pt x="4203393" y="0"/>
                </a:cubicBezTo>
                <a:cubicBezTo>
                  <a:pt x="4526345" y="16833"/>
                  <a:pt x="4552359" y="25769"/>
                  <a:pt x="4784125" y="0"/>
                </a:cubicBezTo>
                <a:cubicBezTo>
                  <a:pt x="5015891" y="-25769"/>
                  <a:pt x="5323413" y="-12574"/>
                  <a:pt x="5530780" y="0"/>
                </a:cubicBezTo>
                <a:cubicBezTo>
                  <a:pt x="5544113" y="193248"/>
                  <a:pt x="5528087" y="249521"/>
                  <a:pt x="5530780" y="407189"/>
                </a:cubicBezTo>
                <a:cubicBezTo>
                  <a:pt x="5533473" y="564857"/>
                  <a:pt x="5541022" y="639583"/>
                  <a:pt x="5530780" y="830997"/>
                </a:cubicBezTo>
                <a:cubicBezTo>
                  <a:pt x="5226875" y="826053"/>
                  <a:pt x="5081251" y="852789"/>
                  <a:pt x="4784125" y="830997"/>
                </a:cubicBezTo>
                <a:cubicBezTo>
                  <a:pt x="4486999" y="809205"/>
                  <a:pt x="4403464" y="802193"/>
                  <a:pt x="4092777" y="830997"/>
                </a:cubicBezTo>
                <a:cubicBezTo>
                  <a:pt x="3782090" y="859801"/>
                  <a:pt x="3691413" y="812774"/>
                  <a:pt x="3401430" y="830997"/>
                </a:cubicBezTo>
                <a:cubicBezTo>
                  <a:pt x="3111447" y="849220"/>
                  <a:pt x="2825818" y="820355"/>
                  <a:pt x="2599467" y="830997"/>
                </a:cubicBezTo>
                <a:cubicBezTo>
                  <a:pt x="2373116" y="841639"/>
                  <a:pt x="2111538" y="833862"/>
                  <a:pt x="1908119" y="830997"/>
                </a:cubicBezTo>
                <a:cubicBezTo>
                  <a:pt x="1704700" y="828132"/>
                  <a:pt x="1327570" y="829695"/>
                  <a:pt x="1161464" y="830997"/>
                </a:cubicBezTo>
                <a:cubicBezTo>
                  <a:pt x="995359" y="832299"/>
                  <a:pt x="328042" y="878510"/>
                  <a:pt x="0" y="830997"/>
                </a:cubicBezTo>
                <a:cubicBezTo>
                  <a:pt x="15278" y="679117"/>
                  <a:pt x="-5962" y="627547"/>
                  <a:pt x="0" y="440428"/>
                </a:cubicBezTo>
                <a:cubicBezTo>
                  <a:pt x="5962" y="253309"/>
                  <a:pt x="-11673" y="146593"/>
                  <a:pt x="0" y="0"/>
                </a:cubicBezTo>
                <a:close/>
              </a:path>
            </a:pathLst>
          </a:custGeom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972633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size = 4;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[size]; </a:t>
            </a:r>
            <a:r>
              <a:rPr lang="en-US" sz="2400">
                <a:solidFill>
                  <a:srgbClr val="008000"/>
                </a:solidFill>
                <a:latin typeface="Consolas" panose="020B0609020204030204" pitchFamily="49" charset="0"/>
              </a:rPr>
              <a:t>// Correct</a:t>
            </a:r>
            <a:endParaRPr lang="en-US" sz="24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87F3F0-5349-4D07-8F04-EFFF434E6425}"/>
              </a:ext>
            </a:extLst>
          </p:cNvPr>
          <p:cNvGrpSpPr/>
          <p:nvPr/>
        </p:nvGrpSpPr>
        <p:grpSpPr>
          <a:xfrm>
            <a:off x="7139547" y="4376915"/>
            <a:ext cx="284780" cy="284780"/>
            <a:chOff x="5717754" y="2409021"/>
            <a:chExt cx="378246" cy="37824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E3B5F6-EC86-47A3-A441-87AF405272DF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BFDD25-F31D-463F-A975-E4670E4E6D06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E6E4C90-A852-47F4-80B1-59B79F84566F}"/>
                  </a:ext>
                </a:extLst>
              </p:cNvPr>
              <p:cNvCxnSpPr>
                <a:cxnSpLocks/>
                <a:stCxn id="9" idx="1"/>
                <a:endCxn id="9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A5F899-B729-457E-8F3B-37EE801E179B}"/>
                  </a:ext>
                </a:extLst>
              </p:cNvPr>
              <p:cNvCxnSpPr>
                <a:cxnSpLocks/>
                <a:stCxn id="9" idx="7"/>
                <a:endCxn id="9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8A81748F-3A29-4BA2-8ABC-B03A22B873EE}"/>
              </a:ext>
            </a:extLst>
          </p:cNvPr>
          <p:cNvSpPr/>
          <p:nvPr/>
        </p:nvSpPr>
        <p:spPr>
          <a:xfrm>
            <a:off x="7135274" y="5541275"/>
            <a:ext cx="293326" cy="29332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>
                <a:solidFill>
                  <a:srgbClr val="FFFFFF"/>
                </a:solidFill>
                <a:latin typeface="Arial Rounded MT Bold" panose="020F0704030504030204" pitchFamily="34" charset="0"/>
              </a:rPr>
              <a:t>✔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E75F7F-BD20-411A-958E-29B9AD405F1E}"/>
              </a:ext>
            </a:extLst>
          </p:cNvPr>
          <p:cNvGrpSpPr/>
          <p:nvPr/>
        </p:nvGrpSpPr>
        <p:grpSpPr>
          <a:xfrm>
            <a:off x="6710480" y="4212603"/>
            <a:ext cx="284780" cy="284780"/>
            <a:chOff x="5717754" y="2409021"/>
            <a:chExt cx="378246" cy="37824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6BE570-5C90-49D9-B2DA-8F113415BB4E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28A68DB-E23C-4715-BF49-96CCD0990FCB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7ADD19B-E9C2-4586-BF20-2C2F5A16859A}"/>
                  </a:ext>
                </a:extLst>
              </p:cNvPr>
              <p:cNvCxnSpPr>
                <a:cxnSpLocks/>
                <a:stCxn id="15" idx="1"/>
                <a:endCxn id="15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AA1D461-1FDB-47BA-AD0F-42A9EC94C68C}"/>
                  </a:ext>
                </a:extLst>
              </p:cNvPr>
              <p:cNvCxnSpPr>
                <a:cxnSpLocks/>
                <a:stCxn id="15" idx="7"/>
                <a:endCxn id="15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0836B8-8208-4C4D-A484-CD808AB94121}"/>
              </a:ext>
            </a:extLst>
          </p:cNvPr>
          <p:cNvGrpSpPr/>
          <p:nvPr/>
        </p:nvGrpSpPr>
        <p:grpSpPr>
          <a:xfrm>
            <a:off x="6850494" y="4593567"/>
            <a:ext cx="284780" cy="284780"/>
            <a:chOff x="5717754" y="2409021"/>
            <a:chExt cx="378246" cy="37824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C8E61-B7A5-4397-A824-74570BF4CE3E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196F2F-505B-46E1-BC71-E5DBFC1DA334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6EBE0B4-3654-4B40-AF05-8D772FF9EF0F}"/>
                  </a:ext>
                </a:extLst>
              </p:cNvPr>
              <p:cNvCxnSpPr>
                <a:cxnSpLocks/>
                <a:stCxn id="20" idx="1"/>
                <a:endCxn id="20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81B7197-B34E-4264-84E6-EADEE076CA32}"/>
                  </a:ext>
                </a:extLst>
              </p:cNvPr>
              <p:cNvCxnSpPr>
                <a:cxnSpLocks/>
                <a:stCxn id="20" idx="7"/>
                <a:endCxn id="20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EFE569-74D0-48AA-B0C4-C5813148C325}"/>
              </a:ext>
            </a:extLst>
          </p:cNvPr>
          <p:cNvGrpSpPr/>
          <p:nvPr/>
        </p:nvGrpSpPr>
        <p:grpSpPr>
          <a:xfrm>
            <a:off x="6425700" y="4856941"/>
            <a:ext cx="284780" cy="284780"/>
            <a:chOff x="5717754" y="2409021"/>
            <a:chExt cx="378246" cy="37824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B6271D0-9BE8-4AC2-A569-F09BE34ACD9D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4EA4E32-ED43-40B5-AEDF-7C1AD146A67A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C8D658-1E47-4304-8648-0B9BD4D195E0}"/>
                  </a:ext>
                </a:extLst>
              </p:cNvPr>
              <p:cNvCxnSpPr>
                <a:cxnSpLocks/>
                <a:stCxn id="25" idx="1"/>
                <a:endCxn id="25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106AA4-0F64-495D-A1C0-7CFCDD0E8E56}"/>
                  </a:ext>
                </a:extLst>
              </p:cNvPr>
              <p:cNvCxnSpPr>
                <a:cxnSpLocks/>
                <a:stCxn id="25" idx="7"/>
                <a:endCxn id="25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A4D077-7750-4784-8BD7-FD86F02BDDE5}"/>
              </a:ext>
            </a:extLst>
          </p:cNvPr>
          <p:cNvGrpSpPr/>
          <p:nvPr/>
        </p:nvGrpSpPr>
        <p:grpSpPr>
          <a:xfrm>
            <a:off x="7219806" y="4791084"/>
            <a:ext cx="284780" cy="284780"/>
            <a:chOff x="5717754" y="2409021"/>
            <a:chExt cx="378246" cy="37824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403AB55-4AEF-4707-8168-09E0D5B2B9F4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33D6359-9874-40E0-B559-8AFC05B23258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27F9CDE-6F75-4268-A10F-666D30686EE0}"/>
                  </a:ext>
                </a:extLst>
              </p:cNvPr>
              <p:cNvCxnSpPr>
                <a:cxnSpLocks/>
                <a:stCxn id="30" idx="1"/>
                <a:endCxn id="30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FA93B77-356F-41CD-BB7D-D550A45D5259}"/>
                  </a:ext>
                </a:extLst>
              </p:cNvPr>
              <p:cNvCxnSpPr>
                <a:cxnSpLocks/>
                <a:stCxn id="30" idx="7"/>
                <a:endCxn id="30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2C6E3F-8C9C-49BB-A05C-6504EBEE9348}"/>
              </a:ext>
            </a:extLst>
          </p:cNvPr>
          <p:cNvGrpSpPr/>
          <p:nvPr/>
        </p:nvGrpSpPr>
        <p:grpSpPr>
          <a:xfrm>
            <a:off x="6342546" y="4345285"/>
            <a:ext cx="284780" cy="284780"/>
            <a:chOff x="5717754" y="2409021"/>
            <a:chExt cx="378246" cy="37824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D412FA8-EB84-48EB-92E2-6E9F9C528323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74643DE-FBE6-465C-8218-DACC44922C73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43BDA55-804E-47BA-97DA-EF9ED9900F03}"/>
                  </a:ext>
                </a:extLst>
              </p:cNvPr>
              <p:cNvCxnSpPr>
                <a:cxnSpLocks/>
                <a:stCxn id="35" idx="1"/>
                <a:endCxn id="35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D42C165-388F-4A87-83AF-AAA26C8CA77E}"/>
                  </a:ext>
                </a:extLst>
              </p:cNvPr>
              <p:cNvCxnSpPr>
                <a:cxnSpLocks/>
                <a:stCxn id="35" idx="7"/>
                <a:endCxn id="35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88" name="TextBox 7187">
            <a:extLst>
              <a:ext uri="{FF2B5EF4-FFF2-40B4-BE49-F238E27FC236}">
                <a16:creationId xmlns:a16="http://schemas.microsoft.com/office/drawing/2014/main" id="{DED9A755-0A43-4058-BEB1-0EF07D7A3072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F986A8-8051-7531-CC4D-4B0905F2ED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6436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2" grpId="0" animBg="1"/>
      <p:bldP spid="3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C24D9DE-7637-41CC-B21D-1CB1A31BB1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-117832"/>
            <a:ext cx="7772400" cy="609600"/>
          </a:xfrm>
          <a:noFill/>
        </p:spPr>
        <p:txBody>
          <a:bodyPr/>
          <a:lstStyle/>
          <a:p>
            <a:pPr algn="ctr"/>
            <a:r>
              <a:rPr lang="en-US" altLang="en-US" dirty="0">
                <a:solidFill>
                  <a:srgbClr val="002060"/>
                </a:solidFill>
              </a:rPr>
              <a:t>Using Indexed Variables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555AFCF1-A3D5-41F3-939A-C921DAEB9B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739418"/>
            <a:ext cx="8686800" cy="5486400"/>
          </a:xfrm>
          <a:noFill/>
        </p:spPr>
        <p:txBody>
          <a:bodyPr/>
          <a:lstStyle/>
          <a:p>
            <a:pPr algn="just"/>
            <a:r>
              <a:rPr lang="en-US" altLang="en-US" sz="2800" dirty="0">
                <a:cs typeface="Courier New" panose="02070309020205020404" pitchFamily="49" charset="0"/>
              </a:rPr>
              <a:t>After an array is created, use indexed variables as a regular variable:</a:t>
            </a:r>
          </a:p>
          <a:p>
            <a:pPr algn="just"/>
            <a:endParaRPr lang="en-US" altLang="en-US" sz="2800" dirty="0"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[4];</a:t>
            </a:r>
            <a:endParaRPr lang="en-US" altLang="en-US" sz="2800" dirty="0"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	myList[0] = 5;</a:t>
            </a:r>
          </a:p>
          <a:p>
            <a:pPr marL="400050" lvl="1" indent="0">
              <a:buNone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	myList[1] = 9;</a:t>
            </a:r>
          </a:p>
          <a:p>
            <a:pPr marL="400050" lvl="1" indent="0">
              <a:buNone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	myList[2] = myList[0] + myList[1];</a:t>
            </a:r>
          </a:p>
          <a:p>
            <a:pPr lvl="0" algn="just">
              <a:buClr>
                <a:srgbClr val="000000"/>
              </a:buClr>
            </a:pPr>
            <a:endParaRPr lang="fi-FI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6A132-322E-43EA-80E4-35B165FB046E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6A84422A-6F5C-432A-959B-9FEA5FB56A7A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952AB-8029-949D-4FA4-F51103CA521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18637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5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C24D9DE-7637-41CC-B21D-1CB1A31BB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4840" y="1070377"/>
            <a:ext cx="7772400" cy="609600"/>
          </a:xfrm>
          <a:noFill/>
        </p:spPr>
        <p:txBody>
          <a:bodyPr/>
          <a:lstStyle/>
          <a:p>
            <a:r>
              <a:rPr lang="en-US" altLang="en-US" dirty="0"/>
              <a:t>Using Indexed Variables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555AFCF1-A3D5-41F3-939A-C921DAEB9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960" y="914400"/>
            <a:ext cx="9616440" cy="5486400"/>
          </a:xfrm>
          <a:noFill/>
        </p:spPr>
        <p:txBody>
          <a:bodyPr/>
          <a:lstStyle/>
          <a:p>
            <a:pPr lvl="0" algn="just">
              <a:buClr>
                <a:srgbClr val="000000"/>
              </a:buClr>
            </a:pPr>
            <a:r>
              <a:rPr lang="en-US" altLang="en-US" sz="2800" dirty="0"/>
              <a:t>C++ </a:t>
            </a:r>
            <a:r>
              <a:rPr lang="en-US" altLang="en-US" sz="2800" dirty="0">
                <a:solidFill>
                  <a:srgbClr val="C00000"/>
                </a:solidFill>
              </a:rPr>
              <a:t>does not check </a:t>
            </a:r>
            <a:r>
              <a:rPr lang="en-US" altLang="en-US" sz="2800" dirty="0"/>
              <a:t>array’s boundary</a:t>
            </a:r>
          </a:p>
          <a:p>
            <a:pPr algn="just">
              <a:buClr>
                <a:srgbClr val="000000"/>
              </a:buClr>
            </a:pPr>
            <a:r>
              <a:rPr lang="en-US" altLang="en-US" sz="2800" dirty="0"/>
              <a:t>When an array is created, its elements are assigned with arbitrary values. </a:t>
            </a:r>
          </a:p>
          <a:p>
            <a:pPr lvl="0" algn="just">
              <a:buClr>
                <a:srgbClr val="000000"/>
              </a:buClr>
            </a:pPr>
            <a:endParaRPr lang="fi-FI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C0B814-F12B-41BC-AE4F-CF07EC50D423}"/>
              </a:ext>
            </a:extLst>
          </p:cNvPr>
          <p:cNvSpPr/>
          <p:nvPr/>
        </p:nvSpPr>
        <p:spPr>
          <a:xfrm>
            <a:off x="2079325" y="4619324"/>
            <a:ext cx="7225218" cy="1200329"/>
          </a:xfrm>
          <a:custGeom>
            <a:avLst/>
            <a:gdLst>
              <a:gd name="connsiteX0" fmla="*/ 0 w 7225218"/>
              <a:gd name="connsiteY0" fmla="*/ 0 h 1200329"/>
              <a:gd name="connsiteX1" fmla="*/ 801342 w 7225218"/>
              <a:gd name="connsiteY1" fmla="*/ 0 h 1200329"/>
              <a:gd name="connsiteX2" fmla="*/ 1602685 w 7225218"/>
              <a:gd name="connsiteY2" fmla="*/ 0 h 1200329"/>
              <a:gd name="connsiteX3" fmla="*/ 2331775 w 7225218"/>
              <a:gd name="connsiteY3" fmla="*/ 0 h 1200329"/>
              <a:gd name="connsiteX4" fmla="*/ 2844109 w 7225218"/>
              <a:gd name="connsiteY4" fmla="*/ 0 h 1200329"/>
              <a:gd name="connsiteX5" fmla="*/ 3428694 w 7225218"/>
              <a:gd name="connsiteY5" fmla="*/ 0 h 1200329"/>
              <a:gd name="connsiteX6" fmla="*/ 4157785 w 7225218"/>
              <a:gd name="connsiteY6" fmla="*/ 0 h 1200329"/>
              <a:gd name="connsiteX7" fmla="*/ 4670118 w 7225218"/>
              <a:gd name="connsiteY7" fmla="*/ 0 h 1200329"/>
              <a:gd name="connsiteX8" fmla="*/ 5471461 w 7225218"/>
              <a:gd name="connsiteY8" fmla="*/ 0 h 1200329"/>
              <a:gd name="connsiteX9" fmla="*/ 6272803 w 7225218"/>
              <a:gd name="connsiteY9" fmla="*/ 0 h 1200329"/>
              <a:gd name="connsiteX10" fmla="*/ 7225218 w 7225218"/>
              <a:gd name="connsiteY10" fmla="*/ 0 h 1200329"/>
              <a:gd name="connsiteX11" fmla="*/ 7225218 w 7225218"/>
              <a:gd name="connsiteY11" fmla="*/ 600165 h 1200329"/>
              <a:gd name="connsiteX12" fmla="*/ 7225218 w 7225218"/>
              <a:gd name="connsiteY12" fmla="*/ 1200329 h 1200329"/>
              <a:gd name="connsiteX13" fmla="*/ 6568380 w 7225218"/>
              <a:gd name="connsiteY13" fmla="*/ 1200329 h 1200329"/>
              <a:gd name="connsiteX14" fmla="*/ 5767038 w 7225218"/>
              <a:gd name="connsiteY14" fmla="*/ 1200329 h 1200329"/>
              <a:gd name="connsiteX15" fmla="*/ 4965695 w 7225218"/>
              <a:gd name="connsiteY15" fmla="*/ 1200329 h 1200329"/>
              <a:gd name="connsiteX16" fmla="*/ 4525614 w 7225218"/>
              <a:gd name="connsiteY16" fmla="*/ 1200329 h 1200329"/>
              <a:gd name="connsiteX17" fmla="*/ 3868776 w 7225218"/>
              <a:gd name="connsiteY17" fmla="*/ 1200329 h 1200329"/>
              <a:gd name="connsiteX18" fmla="*/ 3428694 w 7225218"/>
              <a:gd name="connsiteY18" fmla="*/ 1200329 h 1200329"/>
              <a:gd name="connsiteX19" fmla="*/ 2771856 w 7225218"/>
              <a:gd name="connsiteY19" fmla="*/ 1200329 h 1200329"/>
              <a:gd name="connsiteX20" fmla="*/ 1970514 w 7225218"/>
              <a:gd name="connsiteY20" fmla="*/ 1200329 h 1200329"/>
              <a:gd name="connsiteX21" fmla="*/ 1385928 w 7225218"/>
              <a:gd name="connsiteY21" fmla="*/ 1200329 h 1200329"/>
              <a:gd name="connsiteX22" fmla="*/ 729090 w 7225218"/>
              <a:gd name="connsiteY22" fmla="*/ 1200329 h 1200329"/>
              <a:gd name="connsiteX23" fmla="*/ 0 w 7225218"/>
              <a:gd name="connsiteY23" fmla="*/ 1200329 h 1200329"/>
              <a:gd name="connsiteX24" fmla="*/ 0 w 7225218"/>
              <a:gd name="connsiteY24" fmla="*/ 636174 h 1200329"/>
              <a:gd name="connsiteX25" fmla="*/ 0 w 7225218"/>
              <a:gd name="connsiteY25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225218" h="1200329" fill="none" extrusionOk="0">
                <a:moveTo>
                  <a:pt x="0" y="0"/>
                </a:moveTo>
                <a:cubicBezTo>
                  <a:pt x="305380" y="-10512"/>
                  <a:pt x="639159" y="33579"/>
                  <a:pt x="801342" y="0"/>
                </a:cubicBezTo>
                <a:cubicBezTo>
                  <a:pt x="963525" y="-33579"/>
                  <a:pt x="1411080" y="-35676"/>
                  <a:pt x="1602685" y="0"/>
                </a:cubicBezTo>
                <a:cubicBezTo>
                  <a:pt x="1794290" y="35676"/>
                  <a:pt x="2153101" y="30904"/>
                  <a:pt x="2331775" y="0"/>
                </a:cubicBezTo>
                <a:cubicBezTo>
                  <a:pt x="2510449" y="-30904"/>
                  <a:pt x="2685882" y="3304"/>
                  <a:pt x="2844109" y="0"/>
                </a:cubicBezTo>
                <a:cubicBezTo>
                  <a:pt x="3002336" y="-3304"/>
                  <a:pt x="3157747" y="12078"/>
                  <a:pt x="3428694" y="0"/>
                </a:cubicBezTo>
                <a:cubicBezTo>
                  <a:pt x="3699641" y="-12078"/>
                  <a:pt x="3999297" y="-14979"/>
                  <a:pt x="4157785" y="0"/>
                </a:cubicBezTo>
                <a:cubicBezTo>
                  <a:pt x="4316273" y="14979"/>
                  <a:pt x="4449062" y="22527"/>
                  <a:pt x="4670118" y="0"/>
                </a:cubicBezTo>
                <a:cubicBezTo>
                  <a:pt x="4891174" y="-22527"/>
                  <a:pt x="5291868" y="4743"/>
                  <a:pt x="5471461" y="0"/>
                </a:cubicBezTo>
                <a:cubicBezTo>
                  <a:pt x="5651054" y="-4743"/>
                  <a:pt x="5893785" y="25666"/>
                  <a:pt x="6272803" y="0"/>
                </a:cubicBezTo>
                <a:cubicBezTo>
                  <a:pt x="6651821" y="-25666"/>
                  <a:pt x="6991221" y="9728"/>
                  <a:pt x="7225218" y="0"/>
                </a:cubicBezTo>
                <a:cubicBezTo>
                  <a:pt x="7232427" y="155444"/>
                  <a:pt x="7201274" y="384340"/>
                  <a:pt x="7225218" y="600165"/>
                </a:cubicBezTo>
                <a:cubicBezTo>
                  <a:pt x="7249162" y="815990"/>
                  <a:pt x="7249884" y="1061670"/>
                  <a:pt x="7225218" y="1200329"/>
                </a:cubicBezTo>
                <a:cubicBezTo>
                  <a:pt x="7077309" y="1228437"/>
                  <a:pt x="6769051" y="1230317"/>
                  <a:pt x="6568380" y="1200329"/>
                </a:cubicBezTo>
                <a:cubicBezTo>
                  <a:pt x="6367709" y="1170341"/>
                  <a:pt x="5991974" y="1212009"/>
                  <a:pt x="5767038" y="1200329"/>
                </a:cubicBezTo>
                <a:cubicBezTo>
                  <a:pt x="5542102" y="1188649"/>
                  <a:pt x="5133809" y="1182466"/>
                  <a:pt x="4965695" y="1200329"/>
                </a:cubicBezTo>
                <a:cubicBezTo>
                  <a:pt x="4797581" y="1218192"/>
                  <a:pt x="4723163" y="1199413"/>
                  <a:pt x="4525614" y="1200329"/>
                </a:cubicBezTo>
                <a:cubicBezTo>
                  <a:pt x="4328065" y="1201245"/>
                  <a:pt x="4054102" y="1206671"/>
                  <a:pt x="3868776" y="1200329"/>
                </a:cubicBezTo>
                <a:cubicBezTo>
                  <a:pt x="3683450" y="1193987"/>
                  <a:pt x="3551200" y="1208700"/>
                  <a:pt x="3428694" y="1200329"/>
                </a:cubicBezTo>
                <a:cubicBezTo>
                  <a:pt x="3306188" y="1191958"/>
                  <a:pt x="3013081" y="1181724"/>
                  <a:pt x="2771856" y="1200329"/>
                </a:cubicBezTo>
                <a:cubicBezTo>
                  <a:pt x="2530631" y="1218934"/>
                  <a:pt x="2292457" y="1233297"/>
                  <a:pt x="1970514" y="1200329"/>
                </a:cubicBezTo>
                <a:cubicBezTo>
                  <a:pt x="1648571" y="1167361"/>
                  <a:pt x="1638947" y="1214193"/>
                  <a:pt x="1385928" y="1200329"/>
                </a:cubicBezTo>
                <a:cubicBezTo>
                  <a:pt x="1132909" y="1186465"/>
                  <a:pt x="970055" y="1216644"/>
                  <a:pt x="729090" y="1200329"/>
                </a:cubicBezTo>
                <a:cubicBezTo>
                  <a:pt x="488125" y="1184014"/>
                  <a:pt x="339780" y="1169469"/>
                  <a:pt x="0" y="1200329"/>
                </a:cubicBezTo>
                <a:cubicBezTo>
                  <a:pt x="10626" y="966800"/>
                  <a:pt x="26520" y="778983"/>
                  <a:pt x="0" y="636174"/>
                </a:cubicBezTo>
                <a:cubicBezTo>
                  <a:pt x="-26520" y="493366"/>
                  <a:pt x="19918" y="215543"/>
                  <a:pt x="0" y="0"/>
                </a:cubicBezTo>
                <a:close/>
              </a:path>
              <a:path w="7225218" h="1200329" stroke="0" extrusionOk="0">
                <a:moveTo>
                  <a:pt x="0" y="0"/>
                </a:moveTo>
                <a:cubicBezTo>
                  <a:pt x="386712" y="21357"/>
                  <a:pt x="607615" y="7820"/>
                  <a:pt x="801342" y="0"/>
                </a:cubicBezTo>
                <a:cubicBezTo>
                  <a:pt x="995069" y="-7820"/>
                  <a:pt x="1152765" y="3291"/>
                  <a:pt x="1241424" y="0"/>
                </a:cubicBezTo>
                <a:cubicBezTo>
                  <a:pt x="1330083" y="-3291"/>
                  <a:pt x="1727219" y="10190"/>
                  <a:pt x="1970514" y="0"/>
                </a:cubicBezTo>
                <a:cubicBezTo>
                  <a:pt x="2213809" y="-10190"/>
                  <a:pt x="2299170" y="-13472"/>
                  <a:pt x="2482848" y="0"/>
                </a:cubicBezTo>
                <a:cubicBezTo>
                  <a:pt x="2666526" y="13472"/>
                  <a:pt x="3031916" y="-13442"/>
                  <a:pt x="3284190" y="0"/>
                </a:cubicBezTo>
                <a:cubicBezTo>
                  <a:pt x="3536464" y="13442"/>
                  <a:pt x="3796188" y="-26199"/>
                  <a:pt x="4013280" y="0"/>
                </a:cubicBezTo>
                <a:cubicBezTo>
                  <a:pt x="4230372" y="26199"/>
                  <a:pt x="4400147" y="-11362"/>
                  <a:pt x="4525614" y="0"/>
                </a:cubicBezTo>
                <a:cubicBezTo>
                  <a:pt x="4651081" y="11362"/>
                  <a:pt x="4844661" y="7222"/>
                  <a:pt x="4965695" y="0"/>
                </a:cubicBezTo>
                <a:cubicBezTo>
                  <a:pt x="5086729" y="-7222"/>
                  <a:pt x="5411773" y="-9188"/>
                  <a:pt x="5550281" y="0"/>
                </a:cubicBezTo>
                <a:cubicBezTo>
                  <a:pt x="5688789" y="9188"/>
                  <a:pt x="6060888" y="-10847"/>
                  <a:pt x="6207119" y="0"/>
                </a:cubicBezTo>
                <a:cubicBezTo>
                  <a:pt x="6353350" y="10847"/>
                  <a:pt x="6816776" y="27468"/>
                  <a:pt x="7225218" y="0"/>
                </a:cubicBezTo>
                <a:cubicBezTo>
                  <a:pt x="7213889" y="279595"/>
                  <a:pt x="7236813" y="358819"/>
                  <a:pt x="7225218" y="564155"/>
                </a:cubicBezTo>
                <a:cubicBezTo>
                  <a:pt x="7213623" y="769491"/>
                  <a:pt x="7208023" y="1038429"/>
                  <a:pt x="7225218" y="1200329"/>
                </a:cubicBezTo>
                <a:cubicBezTo>
                  <a:pt x="6997073" y="1181699"/>
                  <a:pt x="6597753" y="1217046"/>
                  <a:pt x="6423876" y="1200329"/>
                </a:cubicBezTo>
                <a:cubicBezTo>
                  <a:pt x="6249999" y="1183612"/>
                  <a:pt x="5906618" y="1178305"/>
                  <a:pt x="5767038" y="1200329"/>
                </a:cubicBezTo>
                <a:cubicBezTo>
                  <a:pt x="5627458" y="1222353"/>
                  <a:pt x="5378751" y="1172355"/>
                  <a:pt x="5037947" y="1200329"/>
                </a:cubicBezTo>
                <a:cubicBezTo>
                  <a:pt x="4697143" y="1228303"/>
                  <a:pt x="4602167" y="1195592"/>
                  <a:pt x="4453362" y="1200329"/>
                </a:cubicBezTo>
                <a:cubicBezTo>
                  <a:pt x="4304557" y="1205066"/>
                  <a:pt x="4199541" y="1220506"/>
                  <a:pt x="4013280" y="1200329"/>
                </a:cubicBezTo>
                <a:cubicBezTo>
                  <a:pt x="3827019" y="1180152"/>
                  <a:pt x="3583474" y="1181991"/>
                  <a:pt x="3356442" y="1200329"/>
                </a:cubicBezTo>
                <a:cubicBezTo>
                  <a:pt x="3129410" y="1218667"/>
                  <a:pt x="2959331" y="1212610"/>
                  <a:pt x="2844109" y="1200329"/>
                </a:cubicBezTo>
                <a:cubicBezTo>
                  <a:pt x="2728887" y="1188048"/>
                  <a:pt x="2444540" y="1236384"/>
                  <a:pt x="2115018" y="1200329"/>
                </a:cubicBezTo>
                <a:cubicBezTo>
                  <a:pt x="1785496" y="1164274"/>
                  <a:pt x="1789451" y="1205669"/>
                  <a:pt x="1602685" y="1200329"/>
                </a:cubicBezTo>
                <a:cubicBezTo>
                  <a:pt x="1415919" y="1194989"/>
                  <a:pt x="1243743" y="1199765"/>
                  <a:pt x="1090351" y="1200329"/>
                </a:cubicBezTo>
                <a:cubicBezTo>
                  <a:pt x="936959" y="1200893"/>
                  <a:pt x="727909" y="1185454"/>
                  <a:pt x="578017" y="1200329"/>
                </a:cubicBezTo>
                <a:cubicBezTo>
                  <a:pt x="428125" y="1215204"/>
                  <a:pt x="135808" y="1194528"/>
                  <a:pt x="0" y="1200329"/>
                </a:cubicBezTo>
                <a:cubicBezTo>
                  <a:pt x="-20821" y="994705"/>
                  <a:pt x="26699" y="755340"/>
                  <a:pt x="0" y="588161"/>
                </a:cubicBezTo>
                <a:cubicBezTo>
                  <a:pt x="-26699" y="420982"/>
                  <a:pt x="11170" y="218852"/>
                  <a:pt x="0" y="0"/>
                </a:cubicBezTo>
                <a:close/>
              </a:path>
            </a:pathLst>
          </a:custGeom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972633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[2] </a:t>
            </a:r>
            <a:r>
              <a:rPr lang="en-US" sz="24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[12] </a:t>
            </a:r>
            <a:r>
              <a:rPr lang="en-US" sz="24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B5CBC16-F9AE-41EB-8D81-4DDF72CDD6FD}"/>
              </a:ext>
            </a:extLst>
          </p:cNvPr>
          <p:cNvSpPr/>
          <p:nvPr/>
        </p:nvSpPr>
        <p:spPr>
          <a:xfrm>
            <a:off x="6820842" y="5487343"/>
            <a:ext cx="348324" cy="3002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 anchorCtr="0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1728671-7CA3-4F59-B895-842CCCF8D153}"/>
              </a:ext>
            </a:extLst>
          </p:cNvPr>
          <p:cNvSpPr/>
          <p:nvPr/>
        </p:nvSpPr>
        <p:spPr>
          <a:xfrm>
            <a:off x="6820842" y="4994023"/>
            <a:ext cx="348324" cy="3002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 anchorCtr="0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93E6C5-4FE2-4903-A803-305D92C3F076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8" name="progressBarBackground">
            <a:extLst>
              <a:ext uri="{FF2B5EF4-FFF2-40B4-BE49-F238E27FC236}">
                <a16:creationId xmlns:a16="http://schemas.microsoft.com/office/drawing/2014/main" id="{A7CAAB44-BD67-4D50-BA5A-74DB02765D1C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4BF90-3D6D-CA9A-4AC4-B5783C6D6E9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10272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476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uiExpand="1" build="p"/>
      <p:bldP spid="5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3275F9B-E5C4-47A4-A632-4FDC4E2D0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723899"/>
            <a:ext cx="7772400" cy="990600"/>
          </a:xfrm>
          <a:noFill/>
        </p:spPr>
        <p:txBody>
          <a:bodyPr/>
          <a:lstStyle/>
          <a:p>
            <a:r>
              <a:rPr lang="en-US" altLang="en-US" dirty="0"/>
              <a:t>Printing arrays 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1897E01-59F8-4FAB-86F1-F518FB4F2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8732" y="2081623"/>
            <a:ext cx="8686800" cy="386950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700" dirty="0">
                <a:solidFill>
                  <a:srgbClr val="349934"/>
                </a:solidFill>
                <a:latin typeface="Consolas" panose="020B0609020204030204" pitchFamily="49" charset="0"/>
              </a:rPr>
              <a:t>// Not what you want/mean;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700" dirty="0"/>
              <a:t>To print a regular array, print each element using a loop:</a:t>
            </a:r>
            <a:endParaRPr lang="en-US" altLang="en-US" sz="2700" b="1" u="sng" dirty="0"/>
          </a:p>
          <a:p>
            <a:pPr marL="573088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&lt; ARRAY_SIZE;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1025525" indent="0">
              <a:lnSpc>
                <a:spcPct val="120000"/>
              </a:lnSpc>
              <a:buNone/>
            </a:pP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7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B30C5188-13B3-4FEA-A8D5-CF1705D12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314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B4695C-CCCF-4340-A897-9F36DBA2568A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2613D0B7-BDFE-4AA1-89ED-9DD6912B89F4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44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E9860F-600A-5582-EAD5-6AD61A6D495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10" y="819561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67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1249</TotalTime>
  <Words>3342</Words>
  <Application>Microsoft Office PowerPoint</Application>
  <PresentationFormat>Widescreen</PresentationFormat>
  <Paragraphs>682</Paragraphs>
  <Slides>45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63" baseType="lpstr">
      <vt:lpstr>Arial</vt:lpstr>
      <vt:lpstr>Arial Rounded MT Bold</vt:lpstr>
      <vt:lpstr>Book Antiqua</vt:lpstr>
      <vt:lpstr>Calibri</vt:lpstr>
      <vt:lpstr>Calibri Light</vt:lpstr>
      <vt:lpstr>Consolas</vt:lpstr>
      <vt:lpstr>Courier New</vt:lpstr>
      <vt:lpstr>Gill Sans MT</vt:lpstr>
      <vt:lpstr>Monotype Sorts</vt:lpstr>
      <vt:lpstr>Proxima Nova</vt:lpstr>
      <vt:lpstr>Tahoma</vt:lpstr>
      <vt:lpstr>Times New Roman</vt:lpstr>
      <vt:lpstr>Verdana</vt:lpstr>
      <vt:lpstr>Wingdings</vt:lpstr>
      <vt:lpstr>Wingdings 2</vt:lpstr>
      <vt:lpstr>Dividend</vt:lpstr>
      <vt:lpstr>Picture</vt:lpstr>
      <vt:lpstr>Microsoft Word Picture</vt:lpstr>
      <vt:lpstr>Lecture1     Review</vt:lpstr>
      <vt:lpstr>Course description</vt:lpstr>
      <vt:lpstr>Course Learning Objectives</vt:lpstr>
      <vt:lpstr>Course Learning Objectives</vt:lpstr>
      <vt:lpstr>Assessment Strategy</vt:lpstr>
      <vt:lpstr>C++ Program Layout</vt:lpstr>
      <vt:lpstr>C++ Program Layout</vt:lpstr>
      <vt:lpstr>Variables</vt:lpstr>
      <vt:lpstr>Data Types for Numbers</vt:lpstr>
      <vt:lpstr>Data Types for Letters</vt:lpstr>
      <vt:lpstr>Input and Output </vt:lpstr>
      <vt:lpstr>PowerPoint Presentation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Reading Input from the Keyboard </vt:lpstr>
      <vt:lpstr>Numeric Operators</vt:lpstr>
      <vt:lpstr>Increment and Decrement Operators</vt:lpstr>
      <vt:lpstr>if Statements</vt:lpstr>
      <vt:lpstr>Relational Operators</vt:lpstr>
      <vt:lpstr>Example</vt:lpstr>
      <vt:lpstr>Multiple Alternative if Statements</vt:lpstr>
      <vt:lpstr>Logical Operators</vt:lpstr>
      <vt:lpstr>switch Statements</vt:lpstr>
      <vt:lpstr>switch Statements</vt:lpstr>
      <vt:lpstr>switch Statements</vt:lpstr>
      <vt:lpstr>PowerPoint Presentation</vt:lpstr>
      <vt:lpstr>For Statment</vt:lpstr>
      <vt:lpstr>Nested Loops </vt:lpstr>
      <vt:lpstr>Nested Loops </vt:lpstr>
      <vt:lpstr>while Loops</vt:lpstr>
      <vt:lpstr>PowerPoint Presentation</vt:lpstr>
      <vt:lpstr>do-while Loop</vt:lpstr>
      <vt:lpstr>PowerPoint Presentation</vt:lpstr>
      <vt:lpstr>Example: Using for Loops </vt:lpstr>
      <vt:lpstr>PowerPoint Presentation</vt:lpstr>
      <vt:lpstr>Introducing Arrays</vt:lpstr>
      <vt:lpstr>Declaring Array Variables</vt:lpstr>
      <vt:lpstr>Using Indexed Variables</vt:lpstr>
      <vt:lpstr>Using Indexed Variables</vt:lpstr>
      <vt:lpstr>Printing arrays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Yasser Hamed Ahmed El-Awady</cp:lastModifiedBy>
  <cp:revision>16</cp:revision>
  <dcterms:created xsi:type="dcterms:W3CDTF">2020-10-08T13:37:14Z</dcterms:created>
  <dcterms:modified xsi:type="dcterms:W3CDTF">2025-09-27T22:19:14Z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