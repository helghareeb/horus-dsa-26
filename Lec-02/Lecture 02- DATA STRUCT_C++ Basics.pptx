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72" r:id="rId4"/>
  </p:sldMasterIdLst>
  <p:notesMasterIdLst>
    <p:notesMasterId r:id="rId34"/>
  </p:notesMasterIdLst>
  <p:handoutMasterIdLst>
    <p:handoutMasterId r:id="rId35"/>
  </p:handoutMasterIdLst>
  <p:sldIdLst>
    <p:sldId id="841" r:id="rId5"/>
    <p:sldId id="838" r:id="rId6"/>
    <p:sldId id="802" r:id="rId7"/>
    <p:sldId id="809" r:id="rId8"/>
    <p:sldId id="810" r:id="rId9"/>
    <p:sldId id="811" r:id="rId10"/>
    <p:sldId id="803" r:id="rId11"/>
    <p:sldId id="804" r:id="rId12"/>
    <p:sldId id="805" r:id="rId13"/>
    <p:sldId id="806" r:id="rId14"/>
    <p:sldId id="812" r:id="rId15"/>
    <p:sldId id="813" r:id="rId16"/>
    <p:sldId id="814" r:id="rId17"/>
    <p:sldId id="815" r:id="rId18"/>
    <p:sldId id="840" r:id="rId19"/>
    <p:sldId id="818" r:id="rId20"/>
    <p:sldId id="822" r:id="rId21"/>
    <p:sldId id="823" r:id="rId22"/>
    <p:sldId id="824" r:id="rId23"/>
    <p:sldId id="826" r:id="rId24"/>
    <p:sldId id="483" r:id="rId25"/>
    <p:sldId id="889" r:id="rId26"/>
    <p:sldId id="902" r:id="rId27"/>
    <p:sldId id="891" r:id="rId28"/>
    <p:sldId id="892" r:id="rId29"/>
    <p:sldId id="893" r:id="rId30"/>
    <p:sldId id="894" r:id="rId31"/>
    <p:sldId id="895" r:id="rId32"/>
    <p:sldId id="260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184D950-34DE-4DEA-8DA7-BD7E7C1DCC03}">
          <p14:sldIdLst>
            <p14:sldId id="841"/>
          </p14:sldIdLst>
        </p14:section>
        <p14:section name="Default Section" id="{EF2CF1F3-EF66-423A-B957-D3A605122F27}">
          <p14:sldIdLst>
            <p14:sldId id="838"/>
            <p14:sldId id="802"/>
            <p14:sldId id="809"/>
            <p14:sldId id="810"/>
            <p14:sldId id="811"/>
            <p14:sldId id="803"/>
            <p14:sldId id="804"/>
            <p14:sldId id="805"/>
            <p14:sldId id="806"/>
            <p14:sldId id="812"/>
            <p14:sldId id="813"/>
            <p14:sldId id="814"/>
            <p14:sldId id="815"/>
            <p14:sldId id="840"/>
            <p14:sldId id="818"/>
            <p14:sldId id="822"/>
            <p14:sldId id="823"/>
            <p14:sldId id="824"/>
            <p14:sldId id="826"/>
            <p14:sldId id="483"/>
            <p14:sldId id="889"/>
            <p14:sldId id="902"/>
            <p14:sldId id="891"/>
            <p14:sldId id="892"/>
            <p14:sldId id="893"/>
            <p14:sldId id="894"/>
            <p14:sldId id="895"/>
            <p14:sldId id="260"/>
          </p14:sldIdLst>
        </p14:section>
        <p14:section name="Arrays" id="{51511BFB-9367-426E-AEE8-E44557851A97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3048" userDrawn="1">
          <p15:clr>
            <a:srgbClr val="A4A3A4"/>
          </p15:clr>
        </p15:guide>
        <p15:guide id="2" pos="388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8761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659" autoAdjust="0"/>
    <p:restoredTop sz="94364" autoAdjust="0"/>
  </p:normalViewPr>
  <p:slideViewPr>
    <p:cSldViewPr snapToGrid="0">
      <p:cViewPr varScale="1">
        <p:scale>
          <a:sx n="63" d="100"/>
          <a:sy n="63" d="100"/>
        </p:scale>
        <p:origin x="700" y="76"/>
      </p:cViewPr>
      <p:guideLst>
        <p:guide orient="horz" pos="3048"/>
        <p:guide pos="388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10" d="100"/>
        <a:sy n="110" d="100"/>
      </p:scale>
      <p:origin x="0" y="-10456"/>
    </p:cViewPr>
  </p:sorterViewPr>
  <p:notesViewPr>
    <p:cSldViewPr snapToGrid="0">
      <p:cViewPr varScale="1">
        <p:scale>
          <a:sx n="53" d="100"/>
          <a:sy n="53" d="100"/>
        </p:scale>
        <p:origin x="2844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44646B-21C0-410B-BA17-64C59EB2927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89392C-F5C5-4C38-94CE-455C7F40279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7C4E2E-64C6-46E6-9EEF-ED611B6593D1}" type="datetime1">
              <a:rPr lang="en-US" smtClean="0"/>
              <a:t>10/5/2025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2F3D2C-86D2-4CEA-B1B8-750885E16DD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DR YASSER ELAWADY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6D5F72-69F2-4B4B-A943-B04C4B1E36A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BEBA49-8001-49C3-9348-74483362155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90609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2890AD-4ACA-408F-94CA-F364FF72F1B8}" type="datetime1">
              <a:rPr lang="en-US" smtClean="0"/>
              <a:t>10/5/2025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DR YASSER ELAWADY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3F15BC-4AA1-41C4-8C26-91A7E3BB93D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3467686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3F15BC-4AA1-41C4-8C26-91A7E3BB93D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DR YASSER ELAWADY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00528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7628D-2237-D3B6-E939-D4BC22E6E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>
            <a:extLst>
              <a:ext uri="{FF2B5EF4-FFF2-40B4-BE49-F238E27FC236}">
                <a16:creationId xmlns:a16="http://schemas.microsoft.com/office/drawing/2014/main" id="{1476A574-E3F6-17D1-D59F-42063AC0CB6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ln/>
        </p:spPr>
      </p:sp>
      <p:sp>
        <p:nvSpPr>
          <p:cNvPr id="24579" name="Notes Placeholder 2">
            <a:extLst>
              <a:ext uri="{FF2B5EF4-FFF2-40B4-BE49-F238E27FC236}">
                <a16:creationId xmlns:a16="http://schemas.microsoft.com/office/drawing/2014/main" id="{E43F5238-3F15-0260-6701-2F9AD3DFC1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28207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16158990e2_0_6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116158990e2_0_6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438027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16158990e2_0_6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116158990e2_0_6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147932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36492f5be0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36492f5be0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99322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95972F65-BF3A-450F-A7FC-17E78E56EF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93700" y="692150"/>
            <a:ext cx="6070600" cy="34163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8B256268-7E16-489A-A95A-6033BB1CC0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/>
              <a:t>Find the sum of integers from </a:t>
            </a:r>
            <a:r>
              <a:rPr lang="en-US" altLang="en-US" sz="1200" u="sng"/>
              <a:t>1</a:t>
            </a:r>
            <a:r>
              <a:rPr lang="en-US" altLang="en-US" sz="1200"/>
              <a:t> to </a:t>
            </a:r>
            <a:r>
              <a:rPr lang="en-US" altLang="en-US" sz="1200" u="sng"/>
              <a:t>10</a:t>
            </a:r>
            <a:r>
              <a:rPr lang="en-US" altLang="en-US" sz="1200"/>
              <a:t>, from </a:t>
            </a:r>
            <a:r>
              <a:rPr lang="en-US" altLang="en-US" sz="1200" u="sng"/>
              <a:t>20</a:t>
            </a:r>
            <a:r>
              <a:rPr lang="en-US" altLang="en-US" sz="1200"/>
              <a:t> to </a:t>
            </a:r>
            <a:r>
              <a:rPr lang="en-US" altLang="en-US" sz="1200" u="sng"/>
              <a:t>37</a:t>
            </a:r>
            <a:r>
              <a:rPr lang="en-US" altLang="en-US" sz="1200"/>
              <a:t>, and from </a:t>
            </a:r>
            <a:r>
              <a:rPr lang="en-US" altLang="en-US" sz="1200" u="sng"/>
              <a:t>35</a:t>
            </a:r>
            <a:r>
              <a:rPr lang="en-US" altLang="en-US" sz="1200"/>
              <a:t> to </a:t>
            </a:r>
            <a:r>
              <a:rPr lang="en-US" altLang="en-US" sz="1200" u="sng"/>
              <a:t>49</a:t>
            </a:r>
            <a:r>
              <a:rPr lang="en-US" altLang="en-US" sz="1200"/>
              <a:t>, respectively.</a:t>
            </a:r>
          </a:p>
        </p:txBody>
      </p:sp>
    </p:spTree>
    <p:extLst>
      <p:ext uri="{BB962C8B-B14F-4D97-AF65-F5344CB8AC3E}">
        <p14:creationId xmlns:p14="http://schemas.microsoft.com/office/powerpoint/2010/main" val="17980162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375B9354-D1C0-4F72-B4CA-5E0003ABA4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93700" y="692150"/>
            <a:ext cx="6070600" cy="34163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8D028A51-4B81-4ED4-B7DD-F11ED567D7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95965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375B9354-D1C0-4F72-B4CA-5E0003ABA4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93700" y="692150"/>
            <a:ext cx="6070600" cy="34163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8D028A51-4B81-4ED4-B7DD-F11ED567D7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474109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375B9354-D1C0-4F72-B4CA-5E0003ABA4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93700" y="692150"/>
            <a:ext cx="6070600" cy="34163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8D028A51-4B81-4ED4-B7DD-F11ED567D7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59586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>
            <a:extLst>
              <a:ext uri="{FF2B5EF4-FFF2-40B4-BE49-F238E27FC236}">
                <a16:creationId xmlns:a16="http://schemas.microsoft.com/office/drawing/2014/main" id="{0A6AEDD6-C424-456C-99B0-71D4E3A4689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5475" name="Rectangle 3">
            <a:extLst>
              <a:ext uri="{FF2B5EF4-FFF2-40B4-BE49-F238E27FC236}">
                <a16:creationId xmlns:a16="http://schemas.microsoft.com/office/drawing/2014/main" id="{5C47F2BA-CC49-4EA9-A44F-51B7EDE00A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355436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>
            <a:extLst>
              <a:ext uri="{FF2B5EF4-FFF2-40B4-BE49-F238E27FC236}">
                <a16:creationId xmlns:a16="http://schemas.microsoft.com/office/drawing/2014/main" id="{0A6AEDD6-C424-456C-99B0-71D4E3A4689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5475" name="Rectangle 3">
            <a:extLst>
              <a:ext uri="{FF2B5EF4-FFF2-40B4-BE49-F238E27FC236}">
                <a16:creationId xmlns:a16="http://schemas.microsoft.com/office/drawing/2014/main" id="{5C47F2BA-CC49-4EA9-A44F-51B7EDE00A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92603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>
            <a:extLst>
              <a:ext uri="{FF2B5EF4-FFF2-40B4-BE49-F238E27FC236}">
                <a16:creationId xmlns:a16="http://schemas.microsoft.com/office/drawing/2014/main" id="{0A6AEDD6-C424-456C-99B0-71D4E3A4689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5475" name="Rectangle 3">
            <a:extLst>
              <a:ext uri="{FF2B5EF4-FFF2-40B4-BE49-F238E27FC236}">
                <a16:creationId xmlns:a16="http://schemas.microsoft.com/office/drawing/2014/main" id="{5C47F2BA-CC49-4EA9-A44F-51B7EDE00A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525107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>
            <a:extLst>
              <a:ext uri="{FF2B5EF4-FFF2-40B4-BE49-F238E27FC236}">
                <a16:creationId xmlns:a16="http://schemas.microsoft.com/office/drawing/2014/main" id="{B0865B87-D6F9-4CC8-A42B-69651B00839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7523" name="Rectangle 3">
            <a:extLst>
              <a:ext uri="{FF2B5EF4-FFF2-40B4-BE49-F238E27FC236}">
                <a16:creationId xmlns:a16="http://schemas.microsoft.com/office/drawing/2014/main" id="{2E138DCA-E293-4B42-B94A-B068426045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 dirty="0"/>
              <a:t>Ambiguous </a:t>
            </a:r>
            <a:r>
              <a:rPr lang="ar-EG" altLang="en-US" dirty="0"/>
              <a:t>غامض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189415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>
            <a:extLst>
              <a:ext uri="{FF2B5EF4-FFF2-40B4-BE49-F238E27FC236}">
                <a16:creationId xmlns:a16="http://schemas.microsoft.com/office/drawing/2014/main" id="{966B686D-89BD-4759-8048-EAFDA126017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6739" name="Rectangle 3">
            <a:extLst>
              <a:ext uri="{FF2B5EF4-FFF2-40B4-BE49-F238E27FC236}">
                <a16:creationId xmlns:a16="http://schemas.microsoft.com/office/drawing/2014/main" id="{F4EDA356-462C-4192-9B4D-C6414555D3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320211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>
            <a:extLst>
              <a:ext uri="{FF2B5EF4-FFF2-40B4-BE49-F238E27FC236}">
                <a16:creationId xmlns:a16="http://schemas.microsoft.com/office/drawing/2014/main" id="{966B686D-89BD-4759-8048-EAFDA126017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6739" name="Rectangle 3">
            <a:extLst>
              <a:ext uri="{FF2B5EF4-FFF2-40B4-BE49-F238E27FC236}">
                <a16:creationId xmlns:a16="http://schemas.microsoft.com/office/drawing/2014/main" id="{F4EDA356-462C-4192-9B4D-C6414555D3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65276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>
            <a:extLst>
              <a:ext uri="{FF2B5EF4-FFF2-40B4-BE49-F238E27FC236}">
                <a16:creationId xmlns:a16="http://schemas.microsoft.com/office/drawing/2014/main" id="{CB65A805-CE8A-4D7E-BBB2-D082C80141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D5B9D2B3-747E-4E26-86F4-9A6CDEF3C8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8304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>
            <a:extLst>
              <a:ext uri="{FF2B5EF4-FFF2-40B4-BE49-F238E27FC236}">
                <a16:creationId xmlns:a16="http://schemas.microsoft.com/office/drawing/2014/main" id="{CB65A805-CE8A-4D7E-BBB2-D082C80141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D5B9D2B3-747E-4E26-86F4-9A6CDEF3C8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41765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>
            <a:extLst>
              <a:ext uri="{FF2B5EF4-FFF2-40B4-BE49-F238E27FC236}">
                <a16:creationId xmlns:a16="http://schemas.microsoft.com/office/drawing/2014/main" id="{D30B3EBD-725C-4DDE-8002-A5E26E8369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23907" name="Rectangle 3">
            <a:extLst>
              <a:ext uri="{FF2B5EF4-FFF2-40B4-BE49-F238E27FC236}">
                <a16:creationId xmlns:a16="http://schemas.microsoft.com/office/drawing/2014/main" id="{5EB3EA98-B8B6-45EA-9393-1D1FA12F45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3F15BC-4AA1-41C4-8C26-91A7E3BB93DC}" type="slidenum">
              <a:rPr lang="en-US" smtClean="0"/>
              <a:t>29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YASSER ELAWADY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2064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2"/>
          </p:nvPr>
        </p:nvSpPr>
        <p:spPr>
          <a:xfrm>
            <a:off x="10123248" y="6492875"/>
            <a:ext cx="1064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rgbClr val="FF0000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479" y="6506323"/>
            <a:ext cx="2135114" cy="351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cap="all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22610" y="6479426"/>
            <a:ext cx="4228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77AFCF-E54D-E5CE-C191-CEF19C70971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63402" y="556293"/>
            <a:ext cx="1975275" cy="755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 userDrawn="1"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 userDrawn="1">
  <p:cSld name="Title and body 1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/>
          <p:nvPr/>
        </p:nvSpPr>
        <p:spPr>
          <a:xfrm>
            <a:off x="0" y="6727600"/>
            <a:ext cx="12192000" cy="13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59" name="Google Shape;59;p1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0AFD95E-62BD-38A5-5BF1-9D992976B49A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2820" y="260887"/>
            <a:ext cx="1973580" cy="7588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33252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123248" y="6492875"/>
            <a:ext cx="1064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rgbClr val="FF0000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479" y="6506323"/>
            <a:ext cx="2135114" cy="351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cap="all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22610" y="6479426"/>
            <a:ext cx="4228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cxnSp>
        <p:nvCxnSpPr>
          <p:cNvPr id="8" name="Straight Connector 7"/>
          <p:cNvCxnSpPr/>
          <p:nvPr userDrawn="1"/>
        </p:nvCxnSpPr>
        <p:spPr>
          <a:xfrm flipH="1">
            <a:off x="446534" y="6492873"/>
            <a:ext cx="11298934" cy="2"/>
          </a:xfrm>
          <a:prstGeom prst="line">
            <a:avLst/>
          </a:prstGeom>
          <a:ln w="28575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8" r:id="rId12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581191" y="4574955"/>
            <a:ext cx="10993549" cy="1372887"/>
          </a:xfrm>
        </p:spPr>
        <p:txBody>
          <a:bodyPr>
            <a:noAutofit/>
          </a:bodyPr>
          <a:lstStyle/>
          <a:p>
            <a:pPr marL="76200">
              <a:lnSpc>
                <a:spcPct val="150000"/>
              </a:lnSpc>
            </a:pPr>
            <a:r>
              <a:rPr lang="en-US" sz="3600" b="1" u="sng" dirty="0">
                <a:solidFill>
                  <a:srgbClr val="FFFFCC"/>
                </a:solidFill>
              </a:rPr>
              <a:t>Lecture 2</a:t>
            </a:r>
            <a:r>
              <a:rPr lang="en-US" sz="3600" b="1" dirty="0">
                <a:solidFill>
                  <a:srgbClr val="FFFFCC"/>
                </a:solidFill>
              </a:rPr>
              <a:t>     Review</a:t>
            </a:r>
            <a:endParaRPr lang="en-US" sz="3600" dirty="0">
              <a:solidFill>
                <a:srgbClr val="FFFFCC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617374"/>
            <a:ext cx="10993546" cy="484822"/>
          </a:xfrm>
        </p:spPr>
        <p:txBody>
          <a:bodyPr>
            <a:normAutofit/>
          </a:bodyPr>
          <a:lstStyle/>
          <a:p>
            <a:pPr algn="r"/>
            <a:r>
              <a:rPr lang="en-US" sz="1800" b="1" dirty="0">
                <a:solidFill>
                  <a:srgbClr val="FFFFCC"/>
                </a:solidFill>
              </a:rPr>
              <a:t>Fall (2025-2026)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61668" y="3704630"/>
            <a:ext cx="719592" cy="576262"/>
          </a:xfrm>
          <a:prstGeom prst="rect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BB89D2-1F78-CF8D-0CB0-7B85B5DC8A50}"/>
              </a:ext>
            </a:extLst>
          </p:cNvPr>
          <p:cNvSpPr/>
          <p:nvPr/>
        </p:nvSpPr>
        <p:spPr>
          <a:xfrm>
            <a:off x="177219" y="1250874"/>
            <a:ext cx="7216656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50" normalizeH="0" baseline="0" noProof="0" dirty="0">
                <a:ln w="9525" cmpd="sng">
                  <a:solidFill>
                    <a:srgbClr val="4A66AC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rgbClr val="4A66AC">
                      <a:alpha val="40000"/>
                    </a:srgbClr>
                  </a:glow>
                </a:effectLst>
                <a:uLnTx/>
                <a:uFillTx/>
                <a:latin typeface="Gill Sans MT" panose="020B0502020104020203"/>
                <a:ea typeface="+mn-ea"/>
                <a:cs typeface="+mn-cs"/>
              </a:rPr>
              <a:t>DATA STRUCTURE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50" normalizeH="0" baseline="0" noProof="0" dirty="0">
                <a:ln w="9525" cmpd="sng">
                  <a:solidFill>
                    <a:srgbClr val="4A66AC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rgbClr val="4A66AC">
                      <a:alpha val="40000"/>
                    </a:srgbClr>
                  </a:glow>
                </a:effectLst>
                <a:uLnTx/>
                <a:uFillTx/>
                <a:latin typeface="Gill Sans MT" panose="020B0502020104020203"/>
                <a:ea typeface="+mn-ea"/>
                <a:cs typeface="+mn-cs"/>
              </a:rPr>
              <a:t>AND ALGORITHMS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50" normalizeH="0" baseline="0" noProof="0" dirty="0">
                <a:ln w="9525" cmpd="sng">
                  <a:solidFill>
                    <a:srgbClr val="4A66AC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rgbClr val="4A66AC">
                      <a:alpha val="40000"/>
                    </a:srgbClr>
                  </a:glow>
                </a:effectLst>
                <a:uLnTx/>
                <a:uFillTx/>
                <a:latin typeface="Gill Sans MT" panose="020B0502020104020203"/>
                <a:ea typeface="+mn-ea"/>
                <a:cs typeface="+mn-cs"/>
              </a:rPr>
              <a:t>(CS 201)</a:t>
            </a:r>
          </a:p>
        </p:txBody>
      </p:sp>
      <p:sp>
        <p:nvSpPr>
          <p:cNvPr id="9" name="AutoShape 2" descr="Coding Clipart Guy In Glasses Computer Tech Cartoon Vector ...">
            <a:extLst>
              <a:ext uri="{FF2B5EF4-FFF2-40B4-BE49-F238E27FC236}">
                <a16:creationId xmlns:a16="http://schemas.microsoft.com/office/drawing/2014/main" id="{999E07D1-2798-6AFF-8297-F8D1DCEAE01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B090039-68EA-49BB-C111-B123F2C7348E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1886" y="169227"/>
            <a:ext cx="1973580" cy="75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23FD11D-F602-7311-57A0-93A5ECB1BE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8012" y="1005840"/>
            <a:ext cx="3097122" cy="3422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304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44F78-3EA1-A340-B6D7-BDACE2A78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2EF8D09-CAA0-3ED5-B328-07E1BFEE8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934" y="949120"/>
            <a:ext cx="8272462" cy="760810"/>
          </a:xfrm>
        </p:spPr>
        <p:txBody>
          <a:bodyPr/>
          <a:lstStyle/>
          <a:p>
            <a:pPr>
              <a:defRPr/>
            </a:pPr>
            <a:r>
              <a:rPr lang="en-US" sz="3200" b="1" u="sng" dirty="0"/>
              <a:t>Course Learning Objectives</a:t>
            </a:r>
          </a:p>
        </p:txBody>
      </p:sp>
      <p:sp>
        <p:nvSpPr>
          <p:cNvPr id="23557" name="Slide Number Placeholder 3">
            <a:extLst>
              <a:ext uri="{FF2B5EF4-FFF2-40B4-BE49-F238E27FC236}">
                <a16:creationId xmlns:a16="http://schemas.microsoft.com/office/drawing/2014/main" id="{253CC887-3396-2A92-1AB4-962382049A10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10041443" y="6425275"/>
            <a:ext cx="770468" cy="3650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>
                <a:solidFill>
                  <a:schemeClr val="tx2"/>
                </a:solidFill>
                <a:latin typeface="Gill Sans MT" panose="020B0502020104020203" pitchFamily="34" charset="0"/>
              </a:defRPr>
            </a:lvl1pPr>
            <a:lvl2pPr marL="417905" indent="-160733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>
                <a:solidFill>
                  <a:schemeClr val="tx2"/>
                </a:solidFill>
                <a:latin typeface="Gill Sans MT" panose="020B0502020104020203" pitchFamily="34" charset="0"/>
              </a:defRPr>
            </a:lvl2pPr>
            <a:lvl3pPr marL="642929" indent="-128586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050">
                <a:solidFill>
                  <a:schemeClr val="tx2"/>
                </a:solidFill>
                <a:latin typeface="Gill Sans MT" panose="020B0502020104020203" pitchFamily="34" charset="0"/>
              </a:defRPr>
            </a:lvl3pPr>
            <a:lvl4pPr marL="900101" indent="-128586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>
                <a:solidFill>
                  <a:schemeClr val="tx2"/>
                </a:solidFill>
                <a:latin typeface="Gill Sans MT" panose="020B0502020104020203" pitchFamily="34" charset="0"/>
              </a:defRPr>
            </a:lvl4pPr>
            <a:lvl5pPr marL="1157273" indent="-128586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>
                <a:solidFill>
                  <a:schemeClr val="tx2"/>
                </a:solidFill>
                <a:latin typeface="Gill Sans MT" panose="020B0502020104020203" pitchFamily="34" charset="0"/>
              </a:defRPr>
            </a:lvl5pPr>
            <a:lvl6pPr marL="1500168" indent="-128586" fontAlgn="base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>
                <a:solidFill>
                  <a:schemeClr val="tx2"/>
                </a:solidFill>
                <a:latin typeface="Gill Sans MT" panose="020B0502020104020203" pitchFamily="34" charset="0"/>
              </a:defRPr>
            </a:lvl6pPr>
            <a:lvl7pPr marL="1843064" indent="-128586" fontAlgn="base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>
                <a:solidFill>
                  <a:schemeClr val="tx2"/>
                </a:solidFill>
                <a:latin typeface="Gill Sans MT" panose="020B0502020104020203" pitchFamily="34" charset="0"/>
              </a:defRPr>
            </a:lvl7pPr>
            <a:lvl8pPr marL="2185960" indent="-128586" fontAlgn="base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>
                <a:solidFill>
                  <a:schemeClr val="tx2"/>
                </a:solidFill>
                <a:latin typeface="Gill Sans MT" panose="020B0502020104020203" pitchFamily="34" charset="0"/>
              </a:defRPr>
            </a:lvl8pPr>
            <a:lvl9pPr marL="2528855" indent="-128586" fontAlgn="base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>
                <a:solidFill>
                  <a:schemeClr val="tx2"/>
                </a:solidFill>
                <a:latin typeface="Gill Sans MT" panose="020B0502020104020203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58BF91E0-0E5B-4EFC-98D2-085973D90B5B}" type="slidenum">
              <a:rPr lang="en-US" altLang="en-US">
                <a:solidFill>
                  <a:srgbClr val="898989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2</a:t>
            </a:fld>
            <a:endParaRPr lang="en-US" altLang="en-US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EAF170-D78D-368F-7E16-E01A0E7AF129}"/>
              </a:ext>
            </a:extLst>
          </p:cNvPr>
          <p:cNvSpPr txBox="1"/>
          <p:nvPr/>
        </p:nvSpPr>
        <p:spPr>
          <a:xfrm>
            <a:off x="416027" y="2036790"/>
            <a:ext cx="11359946" cy="4198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solidFill>
                  <a:srgbClr val="002060"/>
                </a:solidFill>
              </a:rPr>
              <a:t>Implement and manipulate linear data structures</a:t>
            </a:r>
            <a:r>
              <a:rPr lang="en-US" dirty="0">
                <a:solidFill>
                  <a:srgbClr val="002060"/>
                </a:solidFill>
              </a:rPr>
              <a:t> such as arrays and linked lists, performing fundamental operations including insertion, deletion, and traversal.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solidFill>
                  <a:srgbClr val="002060"/>
                </a:solidFill>
              </a:rPr>
              <a:t>Apply and implement special linear data structures</a:t>
            </a:r>
            <a:r>
              <a:rPr lang="en-US" dirty="0">
                <a:solidFill>
                  <a:srgbClr val="002060"/>
                </a:solidFill>
              </a:rPr>
              <a:t> such as stacks and queues, utilizing their core operations (push, pop, enqueue, and dequeue).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solidFill>
                  <a:srgbClr val="002060"/>
                </a:solidFill>
              </a:rPr>
              <a:t>Design and implement basic sorting algorithms</a:t>
            </a:r>
            <a:r>
              <a:rPr lang="en-US" dirty="0">
                <a:solidFill>
                  <a:srgbClr val="002060"/>
                </a:solidFill>
              </a:rPr>
              <a:t> to organize data efficiently.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solidFill>
                  <a:srgbClr val="002060"/>
                </a:solidFill>
              </a:rPr>
              <a:t>Apply searching algorithms</a:t>
            </a:r>
            <a:r>
              <a:rPr lang="en-US" dirty="0">
                <a:solidFill>
                  <a:srgbClr val="002060"/>
                </a:solidFill>
              </a:rPr>
              <a:t>, including sequential search, binary search, and hashing techniques.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solidFill>
                  <a:srgbClr val="002060"/>
                </a:solidFill>
              </a:rPr>
              <a:t>Implement and manipulate non-linear data structures</a:t>
            </a:r>
            <a:r>
              <a:rPr lang="en-US" dirty="0">
                <a:solidFill>
                  <a:srgbClr val="002060"/>
                </a:solidFill>
              </a:rPr>
              <a:t>, particularly binary trees and binary search trees, performing key operations such as insertion, deletion, and traversal.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solidFill>
                  <a:srgbClr val="002060"/>
                </a:solidFill>
              </a:rPr>
              <a:t>Utilize graph data structures</a:t>
            </a:r>
            <a:r>
              <a:rPr lang="en-US" dirty="0">
                <a:solidFill>
                  <a:srgbClr val="002060"/>
                </a:solidFill>
              </a:rPr>
              <a:t> and apply fundamental graph algorithms for problem-solving.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solidFill>
                  <a:srgbClr val="002060"/>
                </a:solidFill>
              </a:rPr>
              <a:t>Demonstrate effective teamwork skills</a:t>
            </a:r>
            <a:r>
              <a:rPr lang="en-US" dirty="0">
                <a:solidFill>
                  <a:srgbClr val="002060"/>
                </a:solidFill>
              </a:rPr>
              <a:t> by collaborating within groups to develop algorithmic solutions.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767B8A-EC7B-F750-FF17-513A5853E015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1486" y="832153"/>
            <a:ext cx="1973580" cy="7588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381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26">
            <a:extLst>
              <a:ext uri="{FF2B5EF4-FFF2-40B4-BE49-F238E27FC236}">
                <a16:creationId xmlns:a16="http://schemas.microsoft.com/office/drawing/2014/main" id="{8A32E2FD-49AF-434D-8986-7CB3B3FE5B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8027" y="2043664"/>
            <a:ext cx="4578895" cy="203105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Functions</a:t>
            </a:r>
            <a:endParaRPr lang="en-US" alt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6D854D7-1D05-4FE2-AF25-259B5EB6EC6B}"/>
              </a:ext>
            </a:extLst>
          </p:cNvPr>
          <p:cNvSpPr txBox="1"/>
          <p:nvPr/>
        </p:nvSpPr>
        <p:spPr>
          <a:xfrm>
            <a:off x="10033000" y="6565900"/>
            <a:ext cx="127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76AB0FD-FEC1-BCC2-C678-CD886B5C4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4568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>
            <a:spLocks noGrp="1"/>
          </p:cNvSpPr>
          <p:nvPr>
            <p:ph type="body" idx="4294967295"/>
          </p:nvPr>
        </p:nvSpPr>
        <p:spPr>
          <a:xfrm>
            <a:off x="304800" y="1664063"/>
            <a:ext cx="5262880" cy="4403624"/>
          </a:xfrm>
          <a:prstGeom prst="rect">
            <a:avLst/>
          </a:prstGeom>
        </p:spPr>
        <p:txBody>
          <a:bodyPr spcFirstLastPara="1" vert="horz" wrap="square" lIns="91425" tIns="91425" rIns="91425" bIns="91425" numCol="1" rtlCol="0" anchor="t" anchorCtr="0" compatLnSpc="1">
            <a:prstTxWarp prst="textNoShape">
              <a:avLst/>
            </a:prstTxWarp>
            <a:noAutofit/>
          </a:bodyPr>
          <a:lstStyle/>
          <a:p>
            <a:pPr marL="413068" indent="-285750">
              <a:lnSpc>
                <a:spcPct val="150000"/>
              </a:lnSpc>
              <a:buClr>
                <a:schemeClr val="dk1"/>
              </a:buClr>
              <a:buSzPts val="1595"/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dk1"/>
                </a:solidFill>
              </a:rPr>
              <a:t>C++ comes with libraries of predefined functions that you can use in your programs.</a:t>
            </a:r>
          </a:p>
          <a:p>
            <a:pPr marL="413068" indent="-285750">
              <a:lnSpc>
                <a:spcPct val="150000"/>
              </a:lnSpc>
              <a:buClr>
                <a:schemeClr val="dk1"/>
              </a:buClr>
              <a:buSzPts val="1595"/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dk1"/>
                </a:solidFill>
              </a:rPr>
              <a:t>Using </a:t>
            </a:r>
            <a:r>
              <a:rPr lang="en-US" sz="2000" b="1" dirty="0">
                <a:solidFill>
                  <a:srgbClr val="C00000"/>
                </a:solidFill>
              </a:rPr>
              <a:t>#include </a:t>
            </a:r>
            <a:r>
              <a:rPr lang="en-US" sz="2000" dirty="0">
                <a:solidFill>
                  <a:schemeClr val="dk1"/>
                </a:solidFill>
              </a:rPr>
              <a:t>to include a library, for example:</a:t>
            </a:r>
            <a:br>
              <a:rPr lang="en-US" sz="2000" dirty="0">
                <a:solidFill>
                  <a:schemeClr val="dk1"/>
                </a:solidFill>
              </a:rPr>
            </a:br>
            <a:r>
              <a:rPr lang="en-US" sz="2000" dirty="0">
                <a:solidFill>
                  <a:schemeClr val="dk1"/>
                </a:solidFill>
              </a:rPr>
              <a:t>                </a:t>
            </a:r>
            <a:r>
              <a:rPr lang="af-ZA" sz="2000" b="1" dirty="0">
                <a:solidFill>
                  <a:srgbClr val="C00000"/>
                </a:solidFill>
              </a:rPr>
              <a:t>#include &lt;cmath&gt;</a:t>
            </a:r>
            <a:endParaRPr lang="en-US" sz="2000" b="1" dirty="0">
              <a:solidFill>
                <a:srgbClr val="C00000"/>
              </a:solidFill>
            </a:endParaRPr>
          </a:p>
          <a:p>
            <a:pPr marL="413068" indent="-285750">
              <a:lnSpc>
                <a:spcPct val="150000"/>
              </a:lnSpc>
              <a:buClr>
                <a:schemeClr val="dk1"/>
              </a:buClr>
              <a:buSzPts val="1595"/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dk1"/>
                </a:solidFill>
              </a:rPr>
              <a:t>You can see more predefined functions.</a:t>
            </a:r>
            <a:br>
              <a:rPr lang="en-US" sz="2000" dirty="0">
                <a:solidFill>
                  <a:schemeClr val="dk1"/>
                </a:solidFill>
              </a:rPr>
            </a:br>
            <a:endParaRPr lang="af-ZA" sz="2000" dirty="0"/>
          </a:p>
          <a:p>
            <a:pPr marL="127318" indent="0">
              <a:lnSpc>
                <a:spcPct val="150000"/>
              </a:lnSpc>
              <a:buClr>
                <a:schemeClr val="dk1"/>
              </a:buClr>
              <a:buSzPts val="1595"/>
              <a:buNone/>
            </a:pPr>
            <a:r>
              <a:rPr lang="af-ZA" sz="2000" dirty="0"/>
              <a:t> </a:t>
            </a:r>
            <a:br>
              <a:rPr lang="af-ZA" sz="2000" dirty="0"/>
            </a:br>
            <a:endParaRPr lang="en-US" sz="2000" dirty="0">
              <a:solidFill>
                <a:schemeClr val="dk1"/>
              </a:solidFill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5329242" y="1175853"/>
            <a:ext cx="6730678" cy="5046362"/>
            <a:chOff x="3519815" y="1025968"/>
            <a:chExt cx="5501343" cy="4106636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19815" y="1025968"/>
              <a:ext cx="5501343" cy="4106636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96205" y="4066540"/>
              <a:ext cx="336833" cy="195580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3F30DE2B-CCA5-76E9-B15C-F9DC8BB7E67D}"/>
              </a:ext>
            </a:extLst>
          </p:cNvPr>
          <p:cNvSpPr txBox="1"/>
          <p:nvPr/>
        </p:nvSpPr>
        <p:spPr>
          <a:xfrm>
            <a:off x="2926080" y="52419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af-ZA" sz="2400" b="1" u="sng" dirty="0">
                <a:solidFill>
                  <a:srgbClr val="002060"/>
                </a:solidFill>
              </a:rPr>
              <a:t>Predefined Functions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C35663-88F3-AAB3-30DE-0F40B6E4F6A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4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8377798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>
            <a:spLocks noGrp="1"/>
          </p:cNvSpPr>
          <p:nvPr>
            <p:ph type="title" idx="4294967295"/>
          </p:nvPr>
        </p:nvSpPr>
        <p:spPr>
          <a:xfrm>
            <a:off x="1835700" y="99747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numCol="1" rtlCol="0" anchor="t" anchorCtr="0" compatLnSpc="1">
            <a:prstTxWarp prst="textNoShape">
              <a:avLst/>
            </a:prstTxWarp>
            <a:noAutofit/>
          </a:bodyPr>
          <a:lstStyle/>
          <a:p>
            <a:pPr algn="l">
              <a:buSzPts val="990"/>
            </a:pPr>
            <a:r>
              <a:rPr lang="en-US" sz="3220" dirty="0"/>
              <a:t>C++ Libraries</a:t>
            </a:r>
            <a:endParaRPr sz="322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9946" y="1570175"/>
            <a:ext cx="2525448" cy="11536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87" y="1076960"/>
            <a:ext cx="8305020" cy="538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5"/>
          <a:srcRect r="12428"/>
          <a:stretch/>
        </p:blipFill>
        <p:spPr>
          <a:xfrm>
            <a:off x="9409946" y="3098446"/>
            <a:ext cx="2525448" cy="112913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128666" y="1674451"/>
            <a:ext cx="2213973" cy="572700"/>
          </a:xfrm>
          <a:prstGeom prst="rect">
            <a:avLst/>
          </a:prstGeom>
          <a:noFill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4A5E8-3C5C-1345-B492-3B380386CE4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5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7298994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>
            <a:spLocks noGrp="1"/>
          </p:cNvSpPr>
          <p:nvPr>
            <p:ph type="body" idx="4294967295"/>
          </p:nvPr>
        </p:nvSpPr>
        <p:spPr>
          <a:xfrm>
            <a:off x="1750208" y="2759202"/>
            <a:ext cx="8520600" cy="1158240"/>
          </a:xfrm>
          <a:prstGeom prst="rect">
            <a:avLst/>
          </a:prstGeom>
        </p:spPr>
        <p:txBody>
          <a:bodyPr spcFirstLastPara="1" vert="horz" wrap="square" lIns="91425" tIns="91425" rIns="91425" bIns="91425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indent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af-ZA" sz="4400" b="1" dirty="0"/>
              <a:t>Programmer-defined Functions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C6B170-0843-EF39-5319-B6EEB146F33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6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101876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1CD203C-4249-4C1D-A9FB-2DFFEC988227}" type="slidenum">
              <a:rPr lang="en-US" altLang="en-US" smtClean="0"/>
              <a:pPr/>
              <a:t>7</a:t>
            </a:fld>
            <a:endParaRPr lang="en-US" altLang="en-US"/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62006811-F729-48FD-A8CD-91918223CD8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905250" y="92306"/>
            <a:ext cx="7880350" cy="500062"/>
          </a:xfrm>
        </p:spPr>
        <p:txBody>
          <a:bodyPr>
            <a:normAutofit fontScale="90000"/>
          </a:bodyPr>
          <a:lstStyle/>
          <a:p>
            <a:r>
              <a:rPr lang="en-US" altLang="en-US" sz="4000" dirty="0">
                <a:solidFill>
                  <a:srgbClr val="002060"/>
                </a:solidFill>
              </a:rPr>
              <a:t>Opening Problem</a:t>
            </a:r>
          </a:p>
        </p:txBody>
      </p:sp>
      <p:sp>
        <p:nvSpPr>
          <p:cNvPr id="4103" name="Text Box 6">
            <a:extLst>
              <a:ext uri="{FF2B5EF4-FFF2-40B4-BE49-F238E27FC236}">
                <a16:creationId xmlns:a16="http://schemas.microsoft.com/office/drawing/2014/main" id="{46C9FA33-6E14-4B98-8101-E01BAC3FED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795" y="625475"/>
            <a:ext cx="8832850" cy="461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+mn-lt"/>
                <a:cs typeface="Arial" panose="020B0604020202020204" pitchFamily="34" charset="0"/>
              </a:rPr>
              <a:t>What does this program do?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20D9C4-2C76-4B96-A566-90A9EE87092F}"/>
              </a:ext>
            </a:extLst>
          </p:cNvPr>
          <p:cNvSpPr/>
          <p:nvPr/>
        </p:nvSpPr>
        <p:spPr>
          <a:xfrm>
            <a:off x="1948260" y="1059323"/>
            <a:ext cx="8295480" cy="535531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341313"/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sum = 0;</a:t>
            </a:r>
          </a:p>
          <a:p>
            <a:pPr marL="341313"/>
            <a:r>
              <a:rPr lang="nn-NO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i = 1; i &lt;= 10; i++)</a:t>
            </a:r>
          </a:p>
          <a:p>
            <a:pPr marL="738188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sum +=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341313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cout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"Sum from 1 to 10 is 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sum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341313"/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341313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sum = 0;</a:t>
            </a:r>
          </a:p>
          <a:p>
            <a:pPr marL="341313"/>
            <a:r>
              <a:rPr lang="nn-NO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i = 20; i &lt;= 37; i++)</a:t>
            </a:r>
          </a:p>
          <a:p>
            <a:pPr marL="738188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sum +=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341313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cout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"Sum from 20 to 37 is 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sum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341313"/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341313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sum = 0;</a:t>
            </a:r>
          </a:p>
          <a:p>
            <a:pPr marL="341313"/>
            <a:r>
              <a:rPr lang="nn-NO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i = 35; i &lt;= 49; i++)</a:t>
            </a:r>
          </a:p>
          <a:p>
            <a:pPr marL="738188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sum +=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341313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cout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"Sum from 35 to 49 is 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sum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341313"/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341313"/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dirty="0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9A5BC143-91BA-4412-8D37-FEBFA1EEDF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7738" y="2257496"/>
            <a:ext cx="6067347" cy="739899"/>
          </a:xfrm>
          <a:prstGeom prst="rect">
            <a:avLst/>
          </a:prstGeom>
          <a:solidFill>
            <a:srgbClr val="FF6600">
              <a:alpha val="20000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AF9F8D11-F3D0-4542-9B65-8CBEAFB8F4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7738" y="3601670"/>
            <a:ext cx="6067347" cy="739899"/>
          </a:xfrm>
          <a:prstGeom prst="rect">
            <a:avLst/>
          </a:prstGeom>
          <a:solidFill>
            <a:srgbClr val="FF6600">
              <a:alpha val="20000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4DED8849-D983-4436-ACED-DA3AA83BAB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7738" y="4984250"/>
            <a:ext cx="6067347" cy="739899"/>
          </a:xfrm>
          <a:prstGeom prst="rect">
            <a:avLst/>
          </a:prstGeom>
          <a:solidFill>
            <a:srgbClr val="FF6600">
              <a:alpha val="20000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A8DCC2C-9578-4886-A11D-381E3CF8BE47}"/>
              </a:ext>
            </a:extLst>
          </p:cNvPr>
          <p:cNvSpPr txBox="1"/>
          <p:nvPr/>
        </p:nvSpPr>
        <p:spPr>
          <a:xfrm>
            <a:off x="10033000" y="6565900"/>
            <a:ext cx="127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3455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6" name="Rectangle 7">
            <a:extLst>
              <a:ext uri="{FF2B5EF4-FFF2-40B4-BE49-F238E27FC236}">
                <a16:creationId xmlns:a16="http://schemas.microsoft.com/office/drawing/2014/main" id="{8194EE9A-2B8F-4AFD-8D4E-77A3CBFBD9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5535" y="1005524"/>
            <a:ext cx="5492750" cy="2304806"/>
          </a:xfrm>
          <a:prstGeom prst="rect">
            <a:avLst/>
          </a:prstGeom>
          <a:solidFill>
            <a:srgbClr val="FFC000">
              <a:alpha val="20000"/>
            </a:srgbClr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7177" name="Rectangle 8">
            <a:extLst>
              <a:ext uri="{FF2B5EF4-FFF2-40B4-BE49-F238E27FC236}">
                <a16:creationId xmlns:a16="http://schemas.microsoft.com/office/drawing/2014/main" id="{209D6C62-6C2F-4303-B13A-0C8079C9E4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7903" y="4155174"/>
            <a:ext cx="1382713" cy="268957"/>
          </a:xfrm>
          <a:prstGeom prst="rect">
            <a:avLst/>
          </a:prstGeom>
          <a:solidFill>
            <a:srgbClr val="87FF19">
              <a:alpha val="20000"/>
            </a:srgbClr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 altLang="en-US">
              <a:highlight>
                <a:srgbClr val="00FF00"/>
              </a:highlight>
            </a:endParaRPr>
          </a:p>
        </p:txBody>
      </p:sp>
      <p:sp>
        <p:nvSpPr>
          <p:cNvPr id="7178" name="Rectangle 9">
            <a:extLst>
              <a:ext uri="{FF2B5EF4-FFF2-40B4-BE49-F238E27FC236}">
                <a16:creationId xmlns:a16="http://schemas.microsoft.com/office/drawing/2014/main" id="{847EB5E6-BB98-4822-B557-47A6C5EE59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1890" y="4478412"/>
            <a:ext cx="1498600" cy="214499"/>
          </a:xfrm>
          <a:prstGeom prst="rect">
            <a:avLst/>
          </a:prstGeom>
          <a:solidFill>
            <a:srgbClr val="87FF19">
              <a:alpha val="20000"/>
            </a:srgbClr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 altLang="en-US">
              <a:highlight>
                <a:srgbClr val="00FF00"/>
              </a:highlight>
            </a:endParaRPr>
          </a:p>
        </p:txBody>
      </p:sp>
      <p:sp>
        <p:nvSpPr>
          <p:cNvPr id="7179" name="Rectangle 10">
            <a:extLst>
              <a:ext uri="{FF2B5EF4-FFF2-40B4-BE49-F238E27FC236}">
                <a16:creationId xmlns:a16="http://schemas.microsoft.com/office/drawing/2014/main" id="{83E33EC6-11B2-4605-9B12-95A3417B63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1890" y="4731316"/>
            <a:ext cx="1498600" cy="268957"/>
          </a:xfrm>
          <a:prstGeom prst="rect">
            <a:avLst/>
          </a:prstGeom>
          <a:solidFill>
            <a:srgbClr val="87FF19">
              <a:alpha val="20000"/>
            </a:srgbClr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 altLang="en-US">
              <a:highlight>
                <a:srgbClr val="00FF00"/>
              </a:highlight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D8C385-574C-480C-8535-5FA87C801E2E}"/>
              </a:ext>
            </a:extLst>
          </p:cNvPr>
          <p:cNvSpPr/>
          <p:nvPr/>
        </p:nvSpPr>
        <p:spPr>
          <a:xfrm>
            <a:off x="1105536" y="1016869"/>
            <a:ext cx="8487965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sum(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>
                <a:solidFill>
                  <a:srgbClr val="808080"/>
                </a:solidFill>
                <a:latin typeface="Consolas" panose="020B0609020204030204" pitchFamily="49" charset="0"/>
              </a:rPr>
              <a:t>i1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>
                <a:solidFill>
                  <a:srgbClr val="808080"/>
                </a:solidFill>
                <a:latin typeface="Consolas" panose="020B0609020204030204" pitchFamily="49" charset="0"/>
              </a:rPr>
              <a:t>i2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396875"/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sum = 0;</a:t>
            </a:r>
          </a:p>
          <a:p>
            <a:pPr marL="396875"/>
            <a:r>
              <a:rPr lang="nn-NO" sz="200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sz="200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20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n-NO" sz="2000">
                <a:solidFill>
                  <a:srgbClr val="000000"/>
                </a:solidFill>
                <a:latin typeface="Consolas" panose="020B0609020204030204" pitchFamily="49" charset="0"/>
              </a:rPr>
              <a:t> i = </a:t>
            </a:r>
            <a:r>
              <a:rPr lang="nn-NO" sz="2000">
                <a:solidFill>
                  <a:srgbClr val="808080"/>
                </a:solidFill>
                <a:latin typeface="Consolas" panose="020B0609020204030204" pitchFamily="49" charset="0"/>
              </a:rPr>
              <a:t>i1</a:t>
            </a:r>
            <a:r>
              <a:rPr lang="nn-NO" sz="2000">
                <a:solidFill>
                  <a:srgbClr val="000000"/>
                </a:solidFill>
                <a:latin typeface="Consolas" panose="020B0609020204030204" pitchFamily="49" charset="0"/>
              </a:rPr>
              <a:t>; i &lt;= </a:t>
            </a:r>
            <a:r>
              <a:rPr lang="nn-NO" sz="2000">
                <a:solidFill>
                  <a:srgbClr val="808080"/>
                </a:solidFill>
                <a:latin typeface="Consolas" panose="020B0609020204030204" pitchFamily="49" charset="0"/>
              </a:rPr>
              <a:t>i2</a:t>
            </a:r>
            <a:r>
              <a:rPr lang="nn-NO" sz="2000">
                <a:solidFill>
                  <a:srgbClr val="000000"/>
                </a:solidFill>
                <a:latin typeface="Consolas" panose="020B0609020204030204" pitchFamily="49" charset="0"/>
              </a:rPr>
              <a:t>; i++)</a:t>
            </a:r>
          </a:p>
          <a:p>
            <a:pPr marL="803275"/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sum += </a:t>
            </a:r>
            <a:r>
              <a:rPr lang="en-US" sz="200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396875"/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sum;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sz="20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396875"/>
            <a:r>
              <a:rPr lang="en-US" sz="200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</a:rPr>
              <a:t>"Sum from 1 to 10 is 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sum(1, 10) </a:t>
            </a:r>
            <a:r>
              <a:rPr lang="en-US" sz="20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396875"/>
            <a:r>
              <a:rPr lang="en-US" sz="200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</a:rPr>
              <a:t>"Sum from 20 to 37 is 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sum(20, 37) </a:t>
            </a:r>
            <a:r>
              <a:rPr lang="en-US" sz="20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396875"/>
            <a:r>
              <a:rPr lang="en-US" sz="200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</a:rPr>
              <a:t>"Sum from 35 to 49 is 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sum(35, 49) </a:t>
            </a:r>
            <a:r>
              <a:rPr lang="en-US" sz="20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396875"/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1CD203C-4249-4C1D-A9FB-2DFFEC988227}" type="slidenum">
              <a:rPr lang="en-US" altLang="en-US" smtClean="0"/>
              <a:pPr/>
              <a:t>8</a:t>
            </a:fld>
            <a:endParaRPr lang="en-US" altLang="en-US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917531D4-9D85-4370-8C05-16C21EB4961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065588" y="-121920"/>
            <a:ext cx="7872412" cy="701675"/>
          </a:xfrm>
        </p:spPr>
        <p:txBody>
          <a:bodyPr>
            <a:normAutofit/>
          </a:bodyPr>
          <a:lstStyle/>
          <a:p>
            <a:r>
              <a:rPr lang="en-US" altLang="en-US" sz="3200" dirty="0">
                <a:solidFill>
                  <a:srgbClr val="002060"/>
                </a:solidFill>
              </a:rPr>
              <a:t>An Alternative</a:t>
            </a:r>
          </a:p>
        </p:txBody>
      </p:sp>
      <p:sp>
        <p:nvSpPr>
          <p:cNvPr id="7173" name="Rectangle 4">
            <a:extLst>
              <a:ext uri="{FF2B5EF4-FFF2-40B4-BE49-F238E27FC236}">
                <a16:creationId xmlns:a16="http://schemas.microsoft.com/office/drawing/2014/main" id="{F7CCFAFB-F279-4B5C-AF6F-FD5862C84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761" y="4368792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61772B-47B6-464D-8897-D683F64D68C9}"/>
              </a:ext>
            </a:extLst>
          </p:cNvPr>
          <p:cNvSpPr/>
          <p:nvPr/>
        </p:nvSpPr>
        <p:spPr>
          <a:xfrm>
            <a:off x="6713619" y="1553415"/>
            <a:ext cx="252024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000" b="1">
                <a:solidFill>
                  <a:srgbClr val="8C5F0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 Definition</a:t>
            </a:r>
          </a:p>
          <a:p>
            <a:r>
              <a:rPr lang="en-US" sz="2000" b="1">
                <a:solidFill>
                  <a:srgbClr val="8C5F0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(Define a Function)</a:t>
            </a:r>
            <a:endParaRPr lang="en-US" sz="1000" b="1">
              <a:solidFill>
                <a:srgbClr val="8C5F0E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A1DAB4E-FD2E-4713-82DA-B3C6B1B7059B}"/>
              </a:ext>
            </a:extLst>
          </p:cNvPr>
          <p:cNvSpPr/>
          <p:nvPr/>
        </p:nvSpPr>
        <p:spPr>
          <a:xfrm>
            <a:off x="6713619" y="3738588"/>
            <a:ext cx="180850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000" b="1">
                <a:solidFill>
                  <a:srgbClr val="3499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 Call</a:t>
            </a:r>
            <a:endParaRPr lang="en-US" sz="1000" b="1">
              <a:solidFill>
                <a:srgbClr val="349934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A3B1943-9BEE-4547-9BF0-C17D384F10C6}"/>
              </a:ext>
            </a:extLst>
          </p:cNvPr>
          <p:cNvSpPr/>
          <p:nvPr/>
        </p:nvSpPr>
        <p:spPr>
          <a:xfrm>
            <a:off x="6613213" y="5055967"/>
            <a:ext cx="24625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000" b="1" dirty="0">
                <a:solidFill>
                  <a:srgbClr val="3499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(Invoke a function)</a:t>
            </a:r>
            <a:endParaRPr lang="en-US" sz="1000" b="1" dirty="0">
              <a:solidFill>
                <a:srgbClr val="34993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73851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CD8C385-574C-480C-8535-5FA87C801E2E}"/>
              </a:ext>
            </a:extLst>
          </p:cNvPr>
          <p:cNvSpPr/>
          <p:nvPr/>
        </p:nvSpPr>
        <p:spPr>
          <a:xfrm>
            <a:off x="1755776" y="1545189"/>
            <a:ext cx="8487965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sum(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>
                <a:solidFill>
                  <a:srgbClr val="808080"/>
                </a:solidFill>
                <a:latin typeface="Consolas" panose="020B0609020204030204" pitchFamily="49" charset="0"/>
              </a:rPr>
              <a:t>i1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>
                <a:solidFill>
                  <a:srgbClr val="808080"/>
                </a:solidFill>
                <a:latin typeface="Consolas" panose="020B0609020204030204" pitchFamily="49" charset="0"/>
              </a:rPr>
              <a:t>i2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396875"/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sum = 0;</a:t>
            </a:r>
          </a:p>
          <a:p>
            <a:pPr marL="396875"/>
            <a:r>
              <a:rPr lang="nn-NO" sz="200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sz="200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20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n-NO" sz="2000">
                <a:solidFill>
                  <a:srgbClr val="000000"/>
                </a:solidFill>
                <a:latin typeface="Consolas" panose="020B0609020204030204" pitchFamily="49" charset="0"/>
              </a:rPr>
              <a:t> i = </a:t>
            </a:r>
            <a:r>
              <a:rPr lang="nn-NO" sz="2000">
                <a:solidFill>
                  <a:srgbClr val="808080"/>
                </a:solidFill>
                <a:latin typeface="Consolas" panose="020B0609020204030204" pitchFamily="49" charset="0"/>
              </a:rPr>
              <a:t>i1</a:t>
            </a:r>
            <a:r>
              <a:rPr lang="nn-NO" sz="2000">
                <a:solidFill>
                  <a:srgbClr val="000000"/>
                </a:solidFill>
                <a:latin typeface="Consolas" panose="020B0609020204030204" pitchFamily="49" charset="0"/>
              </a:rPr>
              <a:t>; i &lt;= </a:t>
            </a:r>
            <a:r>
              <a:rPr lang="nn-NO" sz="2000">
                <a:solidFill>
                  <a:srgbClr val="808080"/>
                </a:solidFill>
                <a:latin typeface="Consolas" panose="020B0609020204030204" pitchFamily="49" charset="0"/>
              </a:rPr>
              <a:t>i2</a:t>
            </a:r>
            <a:r>
              <a:rPr lang="nn-NO" sz="2000">
                <a:solidFill>
                  <a:srgbClr val="000000"/>
                </a:solidFill>
                <a:latin typeface="Consolas" panose="020B0609020204030204" pitchFamily="49" charset="0"/>
              </a:rPr>
              <a:t>; i++)</a:t>
            </a:r>
          </a:p>
          <a:p>
            <a:pPr marL="803275"/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sum += </a:t>
            </a:r>
            <a:r>
              <a:rPr lang="en-US" sz="200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396875"/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sum;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sz="20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396875"/>
            <a:r>
              <a:rPr lang="en-US" sz="200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</a:rPr>
              <a:t>"Sum from 1 to 10 is 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sum(1, 10) </a:t>
            </a:r>
            <a:r>
              <a:rPr lang="en-US" sz="20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396875"/>
            <a:r>
              <a:rPr lang="en-US" sz="200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</a:rPr>
              <a:t>"Sum from 20 to 37 is 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sum(20, 37) </a:t>
            </a:r>
            <a:r>
              <a:rPr lang="en-US" sz="20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396875"/>
            <a:r>
              <a:rPr lang="en-US" sz="200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</a:rPr>
              <a:t>"Sum from 35 to 49 is 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sum(35, 49) </a:t>
            </a:r>
            <a:r>
              <a:rPr lang="en-US" sz="20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396875"/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1CD203C-4249-4C1D-A9FB-2DFFEC988227}" type="slidenum">
              <a:rPr lang="en-US" altLang="en-US" smtClean="0"/>
              <a:pPr/>
              <a:t>9</a:t>
            </a:fld>
            <a:endParaRPr lang="en-US" altLang="en-US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917531D4-9D85-4370-8C05-16C21EB4961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319588" y="-143350"/>
            <a:ext cx="7872412" cy="701675"/>
          </a:xfrm>
        </p:spPr>
        <p:txBody>
          <a:bodyPr>
            <a:normAutofit/>
          </a:bodyPr>
          <a:lstStyle/>
          <a:p>
            <a:r>
              <a:rPr lang="en-US" altLang="en-US" sz="3200" dirty="0">
                <a:solidFill>
                  <a:srgbClr val="002060"/>
                </a:solidFill>
              </a:rPr>
              <a:t>An Alternative</a:t>
            </a:r>
          </a:p>
        </p:txBody>
      </p:sp>
      <p:sp>
        <p:nvSpPr>
          <p:cNvPr id="7173" name="Rectangle 4">
            <a:extLst>
              <a:ext uri="{FF2B5EF4-FFF2-40B4-BE49-F238E27FC236}">
                <a16:creationId xmlns:a16="http://schemas.microsoft.com/office/drawing/2014/main" id="{F7CCFAFB-F279-4B5C-AF6F-FD5862C84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917432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6" name="Speech Bubble: Rectangle with Corners Rounded 25">
            <a:extLst>
              <a:ext uri="{FF2B5EF4-FFF2-40B4-BE49-F238E27FC236}">
                <a16:creationId xmlns:a16="http://schemas.microsoft.com/office/drawing/2014/main" id="{CA192B82-44B3-4BB4-B1FF-C0AF70E8E9AC}"/>
              </a:ext>
            </a:extLst>
          </p:cNvPr>
          <p:cNvSpPr/>
          <p:nvPr/>
        </p:nvSpPr>
        <p:spPr bwMode="auto">
          <a:xfrm>
            <a:off x="1772316" y="772504"/>
            <a:ext cx="1174474" cy="589571"/>
          </a:xfrm>
          <a:prstGeom prst="wedgeRoundRectCallout">
            <a:avLst>
              <a:gd name="adj1" fmla="val -19137"/>
              <a:gd name="adj2" fmla="val 101869"/>
              <a:gd name="adj3" fmla="val 16667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Return value type</a:t>
            </a:r>
          </a:p>
        </p:txBody>
      </p:sp>
      <p:sp>
        <p:nvSpPr>
          <p:cNvPr id="27" name="Speech Bubble: Rectangle with Corners Rounded 26">
            <a:extLst>
              <a:ext uri="{FF2B5EF4-FFF2-40B4-BE49-F238E27FC236}">
                <a16:creationId xmlns:a16="http://schemas.microsoft.com/office/drawing/2014/main" id="{EF880C5B-FB04-4103-9A3B-21C194E57565}"/>
              </a:ext>
            </a:extLst>
          </p:cNvPr>
          <p:cNvSpPr/>
          <p:nvPr/>
        </p:nvSpPr>
        <p:spPr bwMode="auto">
          <a:xfrm>
            <a:off x="4751826" y="3559555"/>
            <a:ext cx="1577957" cy="350684"/>
          </a:xfrm>
          <a:prstGeom prst="wedgeRoundRectCallout">
            <a:avLst>
              <a:gd name="adj1" fmla="val -131642"/>
              <a:gd name="adj2" fmla="val -87110"/>
              <a:gd name="adj3" fmla="val 16667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Return value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78BBDBA-E53C-4E09-9C24-0C1A872AE9E0}"/>
              </a:ext>
            </a:extLst>
          </p:cNvPr>
          <p:cNvGrpSpPr/>
          <p:nvPr/>
        </p:nvGrpSpPr>
        <p:grpSpPr>
          <a:xfrm>
            <a:off x="2908386" y="1565508"/>
            <a:ext cx="2724755" cy="731526"/>
            <a:chOff x="1883650" y="1052398"/>
            <a:chExt cx="3873705" cy="731526"/>
          </a:xfrm>
        </p:grpSpPr>
        <p:sp>
          <p:nvSpPr>
            <p:cNvPr id="29" name="Rectangle 7">
              <a:extLst>
                <a:ext uri="{FF2B5EF4-FFF2-40B4-BE49-F238E27FC236}">
                  <a16:creationId xmlns:a16="http://schemas.microsoft.com/office/drawing/2014/main" id="{9B631C12-8DC2-4055-8C6D-1D328313FD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3650" y="1052398"/>
              <a:ext cx="2831549" cy="415210"/>
            </a:xfrm>
            <a:prstGeom prst="rect">
              <a:avLst/>
            </a:prstGeom>
            <a:solidFill>
              <a:srgbClr val="FF5050">
                <a:alpha val="20000"/>
              </a:srgbClr>
            </a:solidFill>
            <a:ln w="12700">
              <a:solidFill>
                <a:schemeClr val="bg2">
                  <a:lumMod val="40000"/>
                  <a:lumOff val="60000"/>
                </a:schemeClr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57D25526-4AD5-46A2-820C-01967A557526}"/>
                </a:ext>
              </a:extLst>
            </p:cNvPr>
            <p:cNvSpPr/>
            <p:nvPr/>
          </p:nvSpPr>
          <p:spPr>
            <a:xfrm>
              <a:off x="2429643" y="1322259"/>
              <a:ext cx="3327712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sz="2400">
                  <a:solidFill>
                    <a:srgbClr val="C00000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rPr>
                <a:t>Parameters List</a:t>
              </a:r>
              <a:endParaRPr lang="en-US" sz="1050">
                <a:solidFill>
                  <a:srgbClr val="C00000"/>
                </a:solidFill>
              </a:endParaRPr>
            </a:p>
          </p:txBody>
        </p:sp>
      </p:grpSp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2E615117-EFDB-4137-B5FE-87A8C7315275}"/>
              </a:ext>
            </a:extLst>
          </p:cNvPr>
          <p:cNvSpPr/>
          <p:nvPr/>
        </p:nvSpPr>
        <p:spPr bwMode="auto">
          <a:xfrm>
            <a:off x="3292436" y="1011238"/>
            <a:ext cx="960125" cy="589571"/>
          </a:xfrm>
          <a:prstGeom prst="wedgeRoundRectCallout">
            <a:avLst>
              <a:gd name="adj1" fmla="val -115116"/>
              <a:gd name="adj2" fmla="val 61055"/>
              <a:gd name="adj3" fmla="val 16667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 name</a:t>
            </a:r>
          </a:p>
        </p:txBody>
      </p:sp>
    </p:spTree>
    <p:extLst>
      <p:ext uri="{BB962C8B-B14F-4D97-AF65-F5344CB8AC3E}">
        <p14:creationId xmlns:p14="http://schemas.microsoft.com/office/powerpoint/2010/main" val="2189057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CD8C385-574C-480C-8535-5FA87C801E2E}"/>
              </a:ext>
            </a:extLst>
          </p:cNvPr>
          <p:cNvSpPr/>
          <p:nvPr/>
        </p:nvSpPr>
        <p:spPr>
          <a:xfrm>
            <a:off x="1613536" y="1219606"/>
            <a:ext cx="8487965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sum(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i1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i2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396875"/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sum = 0;</a:t>
            </a:r>
          </a:p>
          <a:p>
            <a:pPr marL="396875"/>
            <a:r>
              <a:rPr lang="nn-NO" sz="20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sz="20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n-NO" sz="2000" dirty="0">
                <a:solidFill>
                  <a:srgbClr val="000000"/>
                </a:solidFill>
                <a:latin typeface="Consolas" panose="020B0609020204030204" pitchFamily="49" charset="0"/>
              </a:rPr>
              <a:t> i = </a:t>
            </a:r>
            <a:r>
              <a:rPr lang="nn-NO" sz="2000" dirty="0">
                <a:solidFill>
                  <a:srgbClr val="808080"/>
                </a:solidFill>
                <a:latin typeface="Consolas" panose="020B0609020204030204" pitchFamily="49" charset="0"/>
              </a:rPr>
              <a:t>i1</a:t>
            </a:r>
            <a:r>
              <a:rPr lang="nn-NO" sz="2000" dirty="0">
                <a:solidFill>
                  <a:srgbClr val="000000"/>
                </a:solidFill>
                <a:latin typeface="Consolas" panose="020B0609020204030204" pitchFamily="49" charset="0"/>
              </a:rPr>
              <a:t>; i &lt;= </a:t>
            </a:r>
            <a:r>
              <a:rPr lang="nn-NO" sz="2000" dirty="0">
                <a:solidFill>
                  <a:srgbClr val="808080"/>
                </a:solidFill>
                <a:latin typeface="Consolas" panose="020B0609020204030204" pitchFamily="49" charset="0"/>
              </a:rPr>
              <a:t>i2</a:t>
            </a:r>
            <a:r>
              <a:rPr lang="nn-NO" sz="2000" dirty="0">
                <a:solidFill>
                  <a:srgbClr val="000000"/>
                </a:solidFill>
                <a:latin typeface="Consolas" panose="020B0609020204030204" pitchFamily="49" charset="0"/>
              </a:rPr>
              <a:t>; i++)</a:t>
            </a:r>
          </a:p>
          <a:p>
            <a:pPr marL="803275"/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sum +=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396875"/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sum;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396875"/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cout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"Sum from 1 to 10 is 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sum(1, 10)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</a:p>
          <a:p>
            <a:pPr marL="396875"/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cout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"Sum from 20 to 37 is 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sum(20, 37)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</a:p>
          <a:p>
            <a:pPr marL="396875"/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cout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"Sum from 35 to 49 is 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sum(35, 49)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</a:p>
          <a:p>
            <a:pPr marL="396875"/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1CD203C-4249-4C1D-A9FB-2DFFEC988227}" type="slidenum">
              <a:rPr lang="en-US" altLang="en-US" smtClean="0"/>
              <a:pPr/>
              <a:t>10</a:t>
            </a:fld>
            <a:endParaRPr lang="en-US" altLang="en-US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917531D4-9D85-4370-8C05-16C21EB4961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423342" y="-194739"/>
            <a:ext cx="7872412" cy="701675"/>
          </a:xfrm>
        </p:spPr>
        <p:txBody>
          <a:bodyPr>
            <a:normAutofit/>
          </a:bodyPr>
          <a:lstStyle/>
          <a:p>
            <a:r>
              <a:rPr lang="en-US" altLang="en-US" sz="3200" dirty="0">
                <a:solidFill>
                  <a:srgbClr val="002060"/>
                </a:solidFill>
              </a:rPr>
              <a:t>An Alternative</a:t>
            </a:r>
          </a:p>
        </p:txBody>
      </p:sp>
      <p:sp>
        <p:nvSpPr>
          <p:cNvPr id="7173" name="Rectangle 4">
            <a:extLst>
              <a:ext uri="{FF2B5EF4-FFF2-40B4-BE49-F238E27FC236}">
                <a16:creationId xmlns:a16="http://schemas.microsoft.com/office/drawing/2014/main" id="{F7CCFAFB-F279-4B5C-AF6F-FD5862C84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1761" y="457152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95B562F-8005-4BBC-BE6D-E6419024FE8C}"/>
              </a:ext>
            </a:extLst>
          </p:cNvPr>
          <p:cNvGrpSpPr/>
          <p:nvPr/>
        </p:nvGrpSpPr>
        <p:grpSpPr>
          <a:xfrm>
            <a:off x="1613536" y="1202299"/>
            <a:ext cx="7232281" cy="461665"/>
            <a:chOff x="231775" y="877168"/>
            <a:chExt cx="8479544" cy="461665"/>
          </a:xfrm>
        </p:grpSpPr>
        <p:sp>
          <p:nvSpPr>
            <p:cNvPr id="12" name="Rectangle 7">
              <a:extLst>
                <a:ext uri="{FF2B5EF4-FFF2-40B4-BE49-F238E27FC236}">
                  <a16:creationId xmlns:a16="http://schemas.microsoft.com/office/drawing/2014/main" id="{FF6CF830-46B6-46D2-8CE9-F2BBEB3108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775" y="971082"/>
              <a:ext cx="8479544" cy="272823"/>
            </a:xfrm>
            <a:prstGeom prst="rect">
              <a:avLst/>
            </a:prstGeom>
            <a:solidFill>
              <a:srgbClr val="19FF81">
                <a:alpha val="20000"/>
              </a:srgbClr>
            </a:solidFill>
            <a:ln w="12700">
              <a:solidFill>
                <a:schemeClr val="bg2">
                  <a:lumMod val="40000"/>
                  <a:lumOff val="60000"/>
                </a:schemeClr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3F2AD65-05A8-44A4-85B2-4FD27613631E}"/>
                </a:ext>
              </a:extLst>
            </p:cNvPr>
            <p:cNvSpPr/>
            <p:nvPr/>
          </p:nvSpPr>
          <p:spPr>
            <a:xfrm>
              <a:off x="5071730" y="877168"/>
              <a:ext cx="2902689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en-US" sz="2400" dirty="0">
                  <a:solidFill>
                    <a:srgbClr val="00B050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rPr>
                <a:t>Function header</a:t>
              </a:r>
              <a:endParaRPr lang="en-US" sz="1050" dirty="0">
                <a:solidFill>
                  <a:srgbClr val="00B050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292864E-3E73-4DEC-A796-93552A71828A}"/>
              </a:ext>
            </a:extLst>
          </p:cNvPr>
          <p:cNvGrpSpPr/>
          <p:nvPr/>
        </p:nvGrpSpPr>
        <p:grpSpPr>
          <a:xfrm>
            <a:off x="1613535" y="1645447"/>
            <a:ext cx="8479544" cy="1839832"/>
            <a:chOff x="231775" y="971082"/>
            <a:chExt cx="8479544" cy="1839832"/>
          </a:xfrm>
        </p:grpSpPr>
        <p:sp>
          <p:nvSpPr>
            <p:cNvPr id="18" name="Rectangle 7">
              <a:extLst>
                <a:ext uri="{FF2B5EF4-FFF2-40B4-BE49-F238E27FC236}">
                  <a16:creationId xmlns:a16="http://schemas.microsoft.com/office/drawing/2014/main" id="{7E5EFD50-6C90-4E69-BE34-551E72D0A0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775" y="971082"/>
              <a:ext cx="8479544" cy="1839832"/>
            </a:xfrm>
            <a:prstGeom prst="rect">
              <a:avLst/>
            </a:prstGeom>
            <a:solidFill>
              <a:srgbClr val="00B0F0">
                <a:alpha val="20000"/>
              </a:srgbClr>
            </a:solidFill>
            <a:ln w="12700">
              <a:solidFill>
                <a:schemeClr val="bg2">
                  <a:lumMod val="40000"/>
                  <a:lumOff val="60000"/>
                </a:schemeClr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BCCE90D-154C-40C2-B1AF-A7B8FD39BE13}"/>
                </a:ext>
              </a:extLst>
            </p:cNvPr>
            <p:cNvSpPr/>
            <p:nvPr/>
          </p:nvSpPr>
          <p:spPr>
            <a:xfrm>
              <a:off x="6300081" y="1654753"/>
              <a:ext cx="2119491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sz="2400">
                  <a:solidFill>
                    <a:srgbClr val="0070C0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rPr>
                <a:t>Function body</a:t>
              </a:r>
              <a:endParaRPr lang="en-US" sz="1050">
                <a:solidFill>
                  <a:srgbClr val="0070C0"/>
                </a:solidFill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0D3D02C-019A-4373-897E-3B0D56CCAD32}"/>
              </a:ext>
            </a:extLst>
          </p:cNvPr>
          <p:cNvGrpSpPr/>
          <p:nvPr/>
        </p:nvGrpSpPr>
        <p:grpSpPr>
          <a:xfrm>
            <a:off x="2228476" y="795972"/>
            <a:ext cx="2968869" cy="797818"/>
            <a:chOff x="846715" y="568955"/>
            <a:chExt cx="2968869" cy="797818"/>
          </a:xfrm>
        </p:grpSpPr>
        <p:sp>
          <p:nvSpPr>
            <p:cNvPr id="14" name="Rectangle 7">
              <a:extLst>
                <a:ext uri="{FF2B5EF4-FFF2-40B4-BE49-F238E27FC236}">
                  <a16:creationId xmlns:a16="http://schemas.microsoft.com/office/drawing/2014/main" id="{1716562E-F4C5-4F66-9184-2C435B4ED0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6715" y="971082"/>
              <a:ext cx="2756739" cy="395691"/>
            </a:xfrm>
            <a:prstGeom prst="rect">
              <a:avLst/>
            </a:prstGeom>
            <a:solidFill>
              <a:srgbClr val="FFC000">
                <a:alpha val="20000"/>
              </a:srgbClr>
            </a:solidFill>
            <a:ln w="12700">
              <a:solidFill>
                <a:schemeClr val="bg2">
                  <a:lumMod val="40000"/>
                  <a:lumOff val="60000"/>
                </a:schemeClr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877D137-4557-4083-A06E-85561B06A312}"/>
                </a:ext>
              </a:extLst>
            </p:cNvPr>
            <p:cNvSpPr/>
            <p:nvPr/>
          </p:nvSpPr>
          <p:spPr>
            <a:xfrm>
              <a:off x="1058845" y="568955"/>
              <a:ext cx="2756739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en-US" sz="2400">
                  <a:solidFill>
                    <a:srgbClr val="8C5F0E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rPr>
                <a:t>Function signature</a:t>
              </a:r>
              <a:endParaRPr lang="en-US" sz="1050">
                <a:solidFill>
                  <a:srgbClr val="8C5F0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20869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1CD203C-4249-4C1D-A9FB-2DFFEC988227}" type="slidenum">
              <a:rPr lang="en-US" altLang="en-US" smtClean="0"/>
              <a:pPr/>
              <a:t>11</a:t>
            </a:fld>
            <a:endParaRPr lang="en-US" altLang="en-US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E817FEB1-5164-417F-9229-693535DED77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448560" y="-101600"/>
            <a:ext cx="7772400" cy="615950"/>
          </a:xfrm>
        </p:spPr>
        <p:txBody>
          <a:bodyPr/>
          <a:lstStyle/>
          <a:p>
            <a:pPr algn="ctr"/>
            <a:r>
              <a:rPr lang="en-US" altLang="en-US" dirty="0">
                <a:solidFill>
                  <a:srgbClr val="002060"/>
                </a:solidFill>
              </a:rPr>
              <a:t>Overloading Functions</a:t>
            </a:r>
          </a:p>
        </p:txBody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FF763716-B315-486B-A05D-4047015D028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19760" y="933133"/>
            <a:ext cx="9885680" cy="1037907"/>
          </a:xfrm>
        </p:spPr>
        <p:txBody>
          <a:bodyPr/>
          <a:lstStyle/>
          <a:p>
            <a:pPr marL="0" indent="0">
              <a:buNone/>
            </a:pPr>
            <a:r>
              <a:rPr lang="en-US" altLang="en-US" dirty="0"/>
              <a:t>The </a:t>
            </a:r>
            <a:r>
              <a:rPr lang="en-US" altLang="en-US" u="sng" dirty="0"/>
              <a:t>max</a:t>
            </a:r>
            <a:r>
              <a:rPr lang="en-US" altLang="en-US" dirty="0"/>
              <a:t> function used earlier works for </a:t>
            </a:r>
            <a:r>
              <a:rPr lang="en-US" altLang="en-US" u="sng" dirty="0"/>
              <a:t>int</a:t>
            </a:r>
            <a:r>
              <a:rPr lang="en-US" altLang="en-US" dirty="0"/>
              <a:t> data type. </a:t>
            </a:r>
          </a:p>
          <a:p>
            <a:pPr marL="0" indent="0">
              <a:buNone/>
            </a:pPr>
            <a:r>
              <a:rPr lang="en-US" altLang="en-US" dirty="0"/>
              <a:t>What if you also need the max of two floating-point numbers?</a:t>
            </a:r>
          </a:p>
        </p:txBody>
      </p:sp>
    </p:spTree>
    <p:extLst>
      <p:ext uri="{BB962C8B-B14F-4D97-AF65-F5344CB8AC3E}">
        <p14:creationId xmlns:p14="http://schemas.microsoft.com/office/powerpoint/2010/main" val="1212061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4794380-83EB-4E34-84EA-15456AF030AB}"/>
              </a:ext>
            </a:extLst>
          </p:cNvPr>
          <p:cNvSpPr/>
          <p:nvPr/>
        </p:nvSpPr>
        <p:spPr>
          <a:xfrm>
            <a:off x="690880" y="572473"/>
            <a:ext cx="7562122" cy="59093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Return the max of two int values 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max(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num1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num2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num1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&gt;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num2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num1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num2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Find the max of two double values 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max(</a:t>
            </a:r>
            <a:r>
              <a:rPr lang="fr-FR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dirty="0">
                <a:solidFill>
                  <a:srgbClr val="808080"/>
                </a:solidFill>
                <a:latin typeface="Consolas" panose="020B0609020204030204" pitchFamily="49" charset="0"/>
              </a:rPr>
              <a:t>num1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fr-FR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dirty="0">
                <a:solidFill>
                  <a:srgbClr val="808080"/>
                </a:solidFill>
                <a:latin typeface="Consolas" panose="020B0609020204030204" pitchFamily="49" charset="0"/>
              </a:rPr>
              <a:t>num2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num1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&gt;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num2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num1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num2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Return the max of three double values 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max(</a:t>
            </a:r>
            <a:r>
              <a:rPr lang="fr-FR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dirty="0">
                <a:solidFill>
                  <a:srgbClr val="808080"/>
                </a:solidFill>
                <a:latin typeface="Consolas" panose="020B0609020204030204" pitchFamily="49" charset="0"/>
              </a:rPr>
              <a:t>num1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fr-FR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dirty="0">
                <a:solidFill>
                  <a:srgbClr val="808080"/>
                </a:solidFill>
                <a:latin typeface="Consolas" panose="020B0609020204030204" pitchFamily="49" charset="0"/>
              </a:rPr>
              <a:t>num2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fr-FR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dirty="0">
                <a:solidFill>
                  <a:srgbClr val="808080"/>
                </a:solidFill>
                <a:latin typeface="Consolas" panose="020B0609020204030204" pitchFamily="49" charset="0"/>
              </a:rPr>
              <a:t>num3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max(max(</a:t>
            </a:r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num1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num2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), </a:t>
            </a:r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num3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1CD203C-4249-4C1D-A9FB-2DFFEC988227}" type="slidenum">
              <a:rPr lang="en-US" altLang="en-US" smtClean="0"/>
              <a:pPr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733160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493CD60-3F73-4E1C-958A-77965D8B4B53}"/>
              </a:ext>
            </a:extLst>
          </p:cNvPr>
          <p:cNvSpPr/>
          <p:nvPr/>
        </p:nvSpPr>
        <p:spPr>
          <a:xfrm>
            <a:off x="1016995" y="1058861"/>
            <a:ext cx="8065050" cy="452431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Invoke the max function with int parameters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cout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"The maximum of 3 and 4 is "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max(3, 4)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Invoke the max function with the double parameters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cout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"The maximum of 3.0 and 5.4 is "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max(3.0, 5.4)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Invoke the max function with three double parameters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cout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"The maximum of 3.0, 5.4, and 10.14 is "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max(3.0, 5.4, 10.14)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1CD203C-4249-4C1D-A9FB-2DFFEC988227}" type="slidenum">
              <a:rPr lang="en-US" altLang="en-US" smtClean="0"/>
              <a:pPr/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91223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1CD203C-4249-4C1D-A9FB-2DFFEC988227}" type="slidenum">
              <a:rPr lang="en-US" altLang="en-US" smtClean="0"/>
              <a:pPr/>
              <a:t>14</a:t>
            </a:fld>
            <a:endParaRPr lang="en-US" altLang="en-US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2EBF1761-5E6C-4D93-9ED5-B0CBAFBB532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718560" y="-69276"/>
            <a:ext cx="7772400" cy="533400"/>
          </a:xfrm>
        </p:spPr>
        <p:txBody>
          <a:bodyPr/>
          <a:lstStyle/>
          <a:p>
            <a:r>
              <a:rPr lang="en-US" altLang="en-US" dirty="0">
                <a:solidFill>
                  <a:srgbClr val="002060"/>
                </a:solidFill>
              </a:rPr>
              <a:t>Ambiguous Invocation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2E12B3-1388-40B6-A667-D4EBCE2F370E}"/>
              </a:ext>
            </a:extLst>
          </p:cNvPr>
          <p:cNvSpPr/>
          <p:nvPr/>
        </p:nvSpPr>
        <p:spPr>
          <a:xfrm>
            <a:off x="1948260" y="789902"/>
            <a:ext cx="8410695" cy="563231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maxNumber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num1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000FF"/>
                </a:solidFill>
                <a:highlight>
                  <a:srgbClr val="00FFFF"/>
                </a:highlight>
                <a:latin typeface="Consolas" panose="020B060902020403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num2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341313"/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num1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&gt;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num2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628650"/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num1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341313"/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628650"/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num2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maxNumber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FF"/>
                </a:solidFill>
                <a:highlight>
                  <a:srgbClr val="00FFFF"/>
                </a:highlight>
                <a:latin typeface="Consolas" panose="020B060902020403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num1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num2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341313"/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num1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&gt;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num2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628650"/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num1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341313"/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628650"/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num2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341313"/>
            <a:r>
              <a:rPr lang="en-US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cout &lt;&lt; </a:t>
            </a:r>
            <a:r>
              <a:rPr lang="en-US" dirty="0" err="1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maxNumber</a:t>
            </a:r>
            <a:r>
              <a:rPr lang="en-US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(1, 2) &lt;&lt; endl;</a:t>
            </a:r>
          </a:p>
          <a:p>
            <a:pPr marL="341313"/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869F43-FE49-404C-A503-A8A47928C3DA}"/>
              </a:ext>
            </a:extLst>
          </p:cNvPr>
          <p:cNvSpPr/>
          <p:nvPr/>
        </p:nvSpPr>
        <p:spPr>
          <a:xfrm>
            <a:off x="6724611" y="4502379"/>
            <a:ext cx="4572000" cy="369332"/>
          </a:xfrm>
          <a:prstGeom prst="rect">
            <a:avLst/>
          </a:prstGeom>
          <a:solidFill>
            <a:srgbClr val="FFC000"/>
          </a:solidFill>
        </p:spPr>
        <p:txBody>
          <a:bodyPr>
            <a:spAutoFit/>
          </a:bodyPr>
          <a:lstStyle/>
          <a:p>
            <a:r>
              <a:rPr lang="en-US" altLang="en-US" dirty="0">
                <a:cs typeface="Times New Roman" panose="02020603050405020304" pitchFamily="18" charset="0"/>
              </a:rPr>
              <a:t>Ambiguous invocation is a compilation error. </a:t>
            </a:r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DC91A89-B43A-40B3-910E-968C2568253E}"/>
              </a:ext>
            </a:extLst>
          </p:cNvPr>
          <p:cNvGrpSpPr/>
          <p:nvPr/>
        </p:nvGrpSpPr>
        <p:grpSpPr>
          <a:xfrm>
            <a:off x="6518455" y="5197489"/>
            <a:ext cx="378246" cy="378246"/>
            <a:chOff x="5717754" y="2409021"/>
            <a:chExt cx="378246" cy="378246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4012534A-F14C-44C9-BE85-42457F5FBC7D}"/>
                </a:ext>
              </a:extLst>
            </p:cNvPr>
            <p:cNvSpPr/>
            <p:nvPr/>
          </p:nvSpPr>
          <p:spPr>
            <a:xfrm>
              <a:off x="5717754" y="2409021"/>
              <a:ext cx="378246" cy="378246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7BF96C9C-9576-4ED1-951F-BDCBDA02B43D}"/>
                </a:ext>
              </a:extLst>
            </p:cNvPr>
            <p:cNvCxnSpPr>
              <a:cxnSpLocks/>
              <a:stCxn id="7" idx="1"/>
              <a:endCxn id="7" idx="5"/>
            </p:cNvCxnSpPr>
            <p:nvPr/>
          </p:nvCxnSpPr>
          <p:spPr>
            <a:xfrm>
              <a:off x="5773147" y="2464414"/>
              <a:ext cx="267460" cy="267460"/>
            </a:xfrm>
            <a:prstGeom prst="line">
              <a:avLst/>
            </a:prstGeom>
            <a:ln w="508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CA47A7D-013C-4D69-80F0-8946132CD20B}"/>
                </a:ext>
              </a:extLst>
            </p:cNvPr>
            <p:cNvCxnSpPr>
              <a:cxnSpLocks/>
              <a:stCxn id="7" idx="7"/>
              <a:endCxn id="7" idx="3"/>
            </p:cNvCxnSpPr>
            <p:nvPr/>
          </p:nvCxnSpPr>
          <p:spPr>
            <a:xfrm flipH="1">
              <a:off x="5773147" y="2464414"/>
              <a:ext cx="267460" cy="267460"/>
            </a:xfrm>
            <a:prstGeom prst="line">
              <a:avLst/>
            </a:prstGeom>
            <a:ln w="50800"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875897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34857-2E68-054A-BA9F-291C7A4A4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94FE112-2DC4-C29C-5ABC-2E1A8CA94A52}"/>
              </a:ext>
            </a:extLst>
          </p:cNvPr>
          <p:cNvSpPr/>
          <p:nvPr/>
        </p:nvSpPr>
        <p:spPr>
          <a:xfrm>
            <a:off x="413895" y="139826"/>
            <a:ext cx="8986770" cy="63401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#include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std;</a:t>
            </a:r>
          </a:p>
          <a:p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// Function prototype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max(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num1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num2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fr-FR" sz="14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fr-FR" sz="1400" dirty="0">
                <a:solidFill>
                  <a:srgbClr val="000000"/>
                </a:solidFill>
                <a:latin typeface="Consolas" panose="020B0609020204030204" pitchFamily="49" charset="0"/>
              </a:rPr>
              <a:t> max(</a:t>
            </a:r>
            <a:r>
              <a:rPr lang="fr-FR" sz="14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fr-F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400" dirty="0">
                <a:solidFill>
                  <a:srgbClr val="808080"/>
                </a:solidFill>
                <a:latin typeface="Consolas" panose="020B0609020204030204" pitchFamily="49" charset="0"/>
              </a:rPr>
              <a:t>num1</a:t>
            </a:r>
            <a:r>
              <a:rPr lang="fr-FR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fr-FR" sz="14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fr-F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400" dirty="0">
                <a:solidFill>
                  <a:srgbClr val="808080"/>
                </a:solidFill>
                <a:latin typeface="Consolas" panose="020B0609020204030204" pitchFamily="49" charset="0"/>
              </a:rPr>
              <a:t>num2</a:t>
            </a:r>
            <a:r>
              <a:rPr lang="fr-F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fr-FR" sz="14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fr-FR" sz="1400" dirty="0">
                <a:solidFill>
                  <a:srgbClr val="000000"/>
                </a:solidFill>
                <a:latin typeface="Consolas" panose="020B0609020204030204" pitchFamily="49" charset="0"/>
              </a:rPr>
              <a:t> max(</a:t>
            </a:r>
            <a:r>
              <a:rPr lang="fr-FR" sz="14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fr-F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400" dirty="0">
                <a:solidFill>
                  <a:srgbClr val="808080"/>
                </a:solidFill>
                <a:latin typeface="Consolas" panose="020B0609020204030204" pitchFamily="49" charset="0"/>
              </a:rPr>
              <a:t>num1</a:t>
            </a:r>
            <a:r>
              <a:rPr lang="fr-FR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fr-FR" sz="14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fr-F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400" dirty="0">
                <a:solidFill>
                  <a:srgbClr val="808080"/>
                </a:solidFill>
                <a:latin typeface="Consolas" panose="020B0609020204030204" pitchFamily="49" charset="0"/>
              </a:rPr>
              <a:t>num2</a:t>
            </a:r>
            <a:r>
              <a:rPr lang="fr-FR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fr-FR" sz="14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fr-F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400" dirty="0">
                <a:solidFill>
                  <a:srgbClr val="808080"/>
                </a:solidFill>
                <a:latin typeface="Consolas" panose="020B0609020204030204" pitchFamily="49" charset="0"/>
              </a:rPr>
              <a:t>num3</a:t>
            </a:r>
            <a:r>
              <a:rPr lang="fr-F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cout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"The maximum of 3 and 4 is 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</a:rPr>
              <a:t>&lt;&lt; 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max(3, 4)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cout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"The maximum of 3.0 and 5.4 is "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max(3.0, 5.4)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cout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"The maximum of 3.0, 5.4, and 10.14 is "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max(3.0, 5.4, 10.14)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</a:p>
          <a:p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max(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num1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num2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>
                <a:latin typeface="Consolas" panose="020B0609020204030204" pitchFamily="49" charset="0"/>
              </a:rPr>
              <a:t>…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fr-FR" sz="14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fr-FR" sz="1400" dirty="0">
                <a:solidFill>
                  <a:srgbClr val="000000"/>
                </a:solidFill>
                <a:latin typeface="Consolas" panose="020B0609020204030204" pitchFamily="49" charset="0"/>
              </a:rPr>
              <a:t> max(</a:t>
            </a:r>
            <a:r>
              <a:rPr lang="fr-FR" sz="14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fr-F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400" dirty="0">
                <a:solidFill>
                  <a:srgbClr val="808080"/>
                </a:solidFill>
                <a:latin typeface="Consolas" panose="020B0609020204030204" pitchFamily="49" charset="0"/>
              </a:rPr>
              <a:t>num1</a:t>
            </a:r>
            <a:r>
              <a:rPr lang="fr-FR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fr-FR" sz="14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fr-F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400" dirty="0">
                <a:solidFill>
                  <a:srgbClr val="808080"/>
                </a:solidFill>
                <a:latin typeface="Consolas" panose="020B0609020204030204" pitchFamily="49" charset="0"/>
              </a:rPr>
              <a:t>num2</a:t>
            </a:r>
            <a:r>
              <a:rPr lang="fr-FR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…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fr-FR" sz="14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fr-FR" sz="1400" dirty="0">
                <a:solidFill>
                  <a:srgbClr val="000000"/>
                </a:solidFill>
                <a:latin typeface="Consolas" panose="020B0609020204030204" pitchFamily="49" charset="0"/>
              </a:rPr>
              <a:t> max(</a:t>
            </a:r>
            <a:r>
              <a:rPr lang="fr-FR" sz="14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fr-F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400" dirty="0">
                <a:solidFill>
                  <a:srgbClr val="808080"/>
                </a:solidFill>
                <a:latin typeface="Consolas" panose="020B0609020204030204" pitchFamily="49" charset="0"/>
              </a:rPr>
              <a:t>num1</a:t>
            </a:r>
            <a:r>
              <a:rPr lang="fr-FR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fr-FR" sz="14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fr-F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400" dirty="0">
                <a:solidFill>
                  <a:srgbClr val="808080"/>
                </a:solidFill>
                <a:latin typeface="Consolas" panose="020B0609020204030204" pitchFamily="49" charset="0"/>
              </a:rPr>
              <a:t>num2</a:t>
            </a:r>
            <a:r>
              <a:rPr lang="fr-FR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fr-FR" sz="14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fr-F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400" dirty="0">
                <a:solidFill>
                  <a:srgbClr val="808080"/>
                </a:solidFill>
                <a:latin typeface="Consolas" panose="020B0609020204030204" pitchFamily="49" charset="0"/>
              </a:rPr>
              <a:t>num3</a:t>
            </a:r>
            <a:r>
              <a:rPr lang="fr-FR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176213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latin typeface="Consolas" panose="020B0609020204030204" pitchFamily="49" charset="0"/>
              </a:rPr>
              <a:t>…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D6F1286-6C7E-193C-6ADA-5B72A6CD60B8}"/>
              </a:ext>
            </a:extLst>
          </p:cNvPr>
          <p:cNvGrpSpPr/>
          <p:nvPr/>
        </p:nvGrpSpPr>
        <p:grpSpPr>
          <a:xfrm>
            <a:off x="5636975" y="856953"/>
            <a:ext cx="3686880" cy="5453510"/>
            <a:chOff x="5301695" y="702245"/>
            <a:chExt cx="3686880" cy="5453510"/>
          </a:xfrm>
        </p:grpSpPr>
        <p:sp>
          <p:nvSpPr>
            <p:cNvPr id="7" name="Right Brace 6">
              <a:extLst>
                <a:ext uri="{FF2B5EF4-FFF2-40B4-BE49-F238E27FC236}">
                  <a16:creationId xmlns:a16="http://schemas.microsoft.com/office/drawing/2014/main" id="{36BF71D0-41AA-F862-9874-EF029A575850}"/>
                </a:ext>
              </a:extLst>
            </p:cNvPr>
            <p:cNvSpPr/>
            <p:nvPr/>
          </p:nvSpPr>
          <p:spPr bwMode="auto">
            <a:xfrm>
              <a:off x="5301695" y="702245"/>
              <a:ext cx="230430" cy="960125"/>
            </a:xfrm>
            <a:prstGeom prst="rightBrace">
              <a:avLst>
                <a:gd name="adj1" fmla="val 36392"/>
                <a:gd name="adj2" fmla="val 50000"/>
              </a:avLst>
            </a:prstGeom>
            <a:noFill/>
            <a:ln w="19050" cap="flat" cmpd="sng" algn="ctr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latin typeface="Times New Roman" panose="02020603050405020304" pitchFamily="18" charset="0"/>
              </a:endParaRP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9DA32288-07C5-D333-8AA3-A4AD29E6540F}"/>
                </a:ext>
              </a:extLst>
            </p:cNvPr>
            <p:cNvCxnSpPr>
              <a:cxnSpLocks/>
              <a:stCxn id="7" idx="1"/>
              <a:endCxn id="11" idx="1"/>
            </p:cNvCxnSpPr>
            <p:nvPr/>
          </p:nvCxnSpPr>
          <p:spPr bwMode="auto">
            <a:xfrm>
              <a:off x="5532125" y="1182308"/>
              <a:ext cx="76810" cy="469214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sm" len="sm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486A446-6BD8-1BF2-5B14-181FFDB77F45}"/>
                </a:ext>
              </a:extLst>
            </p:cNvPr>
            <p:cNvSpPr txBox="1"/>
            <p:nvPr/>
          </p:nvSpPr>
          <p:spPr>
            <a:xfrm>
              <a:off x="5608935" y="1112913"/>
              <a:ext cx="3379640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Can be moved to a separate </a:t>
              </a:r>
              <a:r>
                <a:rPr lang="en-US" sz="1600" i="1" dirty="0"/>
                <a:t>header</a:t>
              </a:r>
              <a:r>
                <a:rPr lang="en-US" sz="1600" dirty="0"/>
                <a:t> file. </a:t>
              </a:r>
              <a:r>
                <a:rPr lang="en-US" sz="1600" dirty="0" err="1">
                  <a:solidFill>
                    <a:srgbClr val="A31515"/>
                  </a:solidFill>
                  <a:latin typeface="Consolas" panose="020B0609020204030204" pitchFamily="49" charset="0"/>
                </a:rPr>
                <a:t>MyFile.h</a:t>
              </a:r>
              <a:endParaRPr lang="en-US" sz="1600" dirty="0">
                <a:solidFill>
                  <a:srgbClr val="A31515"/>
                </a:solidFill>
                <a:latin typeface="Consolas" panose="020B0609020204030204" pitchFamily="49" charset="0"/>
              </a:endParaRPr>
            </a:p>
            <a:p>
              <a:r>
                <a:rPr lang="en-US" sz="1600" dirty="0"/>
                <a:t>Then add:</a:t>
              </a:r>
            </a:p>
            <a:p>
              <a:r>
                <a:rPr lang="en-US" sz="16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   #include</a:t>
              </a:r>
              <a:r>
                <a:rPr lang="en-US" sz="16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6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"</a:t>
              </a:r>
              <a:r>
                <a:rPr lang="en-US" sz="1600" dirty="0" err="1">
                  <a:solidFill>
                    <a:srgbClr val="A31515"/>
                  </a:solidFill>
                  <a:latin typeface="Consolas" panose="020B0609020204030204" pitchFamily="49" charset="0"/>
                </a:rPr>
                <a:t>MyFile.h</a:t>
              </a:r>
              <a:r>
                <a:rPr lang="en-US" sz="16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"</a:t>
              </a:r>
              <a:endParaRPr lang="en-US" sz="160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23" name="Right Brace 22">
              <a:extLst>
                <a:ext uri="{FF2B5EF4-FFF2-40B4-BE49-F238E27FC236}">
                  <a16:creationId xmlns:a16="http://schemas.microsoft.com/office/drawing/2014/main" id="{4C62EB16-B998-286C-B11F-3CA4BF473456}"/>
                </a:ext>
              </a:extLst>
            </p:cNvPr>
            <p:cNvSpPr/>
            <p:nvPr/>
          </p:nvSpPr>
          <p:spPr bwMode="auto">
            <a:xfrm>
              <a:off x="5301695" y="3582620"/>
              <a:ext cx="230430" cy="2573135"/>
            </a:xfrm>
            <a:prstGeom prst="rightBrace">
              <a:avLst>
                <a:gd name="adj1" fmla="val 36392"/>
                <a:gd name="adj2" fmla="val 50000"/>
              </a:avLst>
            </a:prstGeom>
            <a:noFill/>
            <a:ln w="19050" cap="flat" cmpd="sng" algn="ctr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latin typeface="Times New Roman" panose="02020603050405020304" pitchFamily="18" charset="0"/>
              </a:endParaRP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255039B0-CE13-F813-1545-45826FD4D015}"/>
                </a:ext>
              </a:extLst>
            </p:cNvPr>
            <p:cNvCxnSpPr>
              <a:cxnSpLocks/>
              <a:stCxn id="23" idx="1"/>
              <a:endCxn id="25" idx="1"/>
            </p:cNvCxnSpPr>
            <p:nvPr/>
          </p:nvCxnSpPr>
          <p:spPr bwMode="auto">
            <a:xfrm flipV="1">
              <a:off x="5532125" y="4869187"/>
              <a:ext cx="153620" cy="1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bg2"/>
              </a:solidFill>
              <a:prstDash val="solid"/>
              <a:round/>
              <a:headEnd type="none" w="sm" len="sm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3EBBD2D-951D-1235-42ED-EE5CB2757063}"/>
                </a:ext>
              </a:extLst>
            </p:cNvPr>
            <p:cNvSpPr txBox="1"/>
            <p:nvPr/>
          </p:nvSpPr>
          <p:spPr>
            <a:xfrm>
              <a:off x="5685745" y="4453688"/>
              <a:ext cx="311080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/>
                <a:t>Should be moved with the prototypes to </a:t>
              </a:r>
              <a:r>
                <a:rPr lang="en-US" sz="1600" err="1">
                  <a:solidFill>
                    <a:srgbClr val="A31515"/>
                  </a:solidFill>
                  <a:latin typeface="Consolas" panose="020B0609020204030204" pitchFamily="49" charset="0"/>
                </a:rPr>
                <a:t>MyFile.h</a:t>
              </a:r>
              <a:endParaRPr lang="en-US" sz="1600">
                <a:solidFill>
                  <a:srgbClr val="A31515"/>
                </a:solidFill>
                <a:latin typeface="Consolas" panose="020B0609020204030204" pitchFamily="49" charset="0"/>
              </a:endParaRPr>
            </a:p>
            <a:p>
              <a:r>
                <a:rPr lang="en-US" sz="1600"/>
                <a:t>or to </a:t>
              </a:r>
              <a:r>
                <a:rPr lang="en-US" sz="1600">
                  <a:solidFill>
                    <a:srgbClr val="A31515"/>
                  </a:solidFill>
                  <a:latin typeface="Consolas" panose="020B0609020204030204" pitchFamily="49" charset="0"/>
                </a:rPr>
                <a:t>MyFile.cpp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116CF876-5659-6FB5-EEBA-D8010B6AECB5}"/>
              </a:ext>
            </a:extLst>
          </p:cNvPr>
          <p:cNvSpPr/>
          <p:nvPr/>
        </p:nvSpPr>
        <p:spPr>
          <a:xfrm>
            <a:off x="6845830" y="5729256"/>
            <a:ext cx="2286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/>
              <a:t>Reusing Functions by Different Programs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BBE469F-9938-B997-4944-A7910C55A9C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1CD203C-4249-4C1D-A9FB-2DFFEC988227}" type="slidenum">
              <a:rPr lang="en-US" altLang="en-US" smtClean="0"/>
              <a:pPr/>
              <a:t>15</a:t>
            </a:fld>
            <a:endParaRPr lang="en-US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9A8CF2A-176F-5615-DFCA-3E1962AEBA69}"/>
              </a:ext>
            </a:extLst>
          </p:cNvPr>
          <p:cNvSpPr txBox="1">
            <a:spLocks noChangeArrowheads="1"/>
          </p:cNvSpPr>
          <p:nvPr/>
        </p:nvSpPr>
        <p:spPr>
          <a:xfrm>
            <a:off x="4844310" y="-18946"/>
            <a:ext cx="7772400" cy="5334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en-US" dirty="0">
                <a:solidFill>
                  <a:srgbClr val="002060"/>
                </a:solidFill>
              </a:rPr>
              <a:t>Header files</a:t>
            </a:r>
          </a:p>
        </p:txBody>
      </p:sp>
    </p:spTree>
    <p:extLst>
      <p:ext uri="{BB962C8B-B14F-4D97-AF65-F5344CB8AC3E}">
        <p14:creationId xmlns:p14="http://schemas.microsoft.com/office/powerpoint/2010/main" val="38667816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2D31324-3610-4BDC-BC12-DB75DD409FDF}"/>
              </a:ext>
            </a:extLst>
          </p:cNvPr>
          <p:cNvSpPr/>
          <p:nvPr/>
        </p:nvSpPr>
        <p:spPr>
          <a:xfrm>
            <a:off x="543310" y="756424"/>
            <a:ext cx="11374370" cy="34163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#include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</a:p>
          <a:p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#include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MyFile.h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std;</a:t>
            </a: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"The maximum of 3 and 4 is 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max(3, 4)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"The maximum of 3.0 and 5.4 is "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max(3.0, 5.4)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"The maximum of 3.0, 5.4, and 10.14 is "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max(3.0, 5.4, 10.14)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EE801C9-D157-40C2-BEC2-F75BE2EC55AF}"/>
              </a:ext>
            </a:extLst>
          </p:cNvPr>
          <p:cNvSpPr txBox="1"/>
          <p:nvPr/>
        </p:nvSpPr>
        <p:spPr>
          <a:xfrm>
            <a:off x="10033000" y="6565900"/>
            <a:ext cx="127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  <p:sp>
        <p:nvSpPr>
          <p:cNvPr id="6" name="progressBarBackground">
            <a:extLst>
              <a:ext uri="{FF2B5EF4-FFF2-40B4-BE49-F238E27FC236}">
                <a16:creationId xmlns:a16="http://schemas.microsoft.com/office/drawing/2014/main" id="{549179AA-D2C9-415D-9EFD-C44E3E759617}"/>
              </a:ext>
            </a:extLst>
          </p:cNvPr>
          <p:cNvSpPr/>
          <p:nvPr/>
        </p:nvSpPr>
        <p:spPr bwMode="auto">
          <a:xfrm>
            <a:off x="1524000" y="6813550"/>
            <a:ext cx="9144000" cy="44450"/>
          </a:xfrm>
          <a:prstGeom prst="rect">
            <a:avLst/>
          </a:prstGeom>
          <a:solidFill>
            <a:srgbClr val="F0F0F0"/>
          </a:solidFill>
          <a:ln w="12700" cap="flat" cmpd="sng" algn="ctr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1CD203C-4249-4C1D-A9FB-2DFFEC988227}" type="slidenum">
              <a:rPr lang="en-US" altLang="en-US" smtClean="0"/>
              <a:pPr/>
              <a:t>16</a:t>
            </a:fld>
            <a:endParaRPr lang="en-US" altLang="en-US"/>
          </a:p>
        </p:txBody>
      </p:sp>
      <p:sp>
        <p:nvSpPr>
          <p:cNvPr id="3" name="Arrow: Left 2">
            <a:extLst>
              <a:ext uri="{FF2B5EF4-FFF2-40B4-BE49-F238E27FC236}">
                <a16:creationId xmlns:a16="http://schemas.microsoft.com/office/drawing/2014/main" id="{ADB12D4C-7837-1716-18AF-386A2C0DCDE0}"/>
              </a:ext>
            </a:extLst>
          </p:cNvPr>
          <p:cNvSpPr/>
          <p:nvPr/>
        </p:nvSpPr>
        <p:spPr>
          <a:xfrm>
            <a:off x="3180080" y="1059696"/>
            <a:ext cx="1737360" cy="347970"/>
          </a:xfrm>
          <a:prstGeom prst="left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CA496-B2F1-7D70-BC82-D88752EBEBF3}"/>
              </a:ext>
            </a:extLst>
          </p:cNvPr>
          <p:cNvSpPr txBox="1"/>
          <p:nvPr/>
        </p:nvSpPr>
        <p:spPr>
          <a:xfrm>
            <a:off x="5008880" y="996801"/>
            <a:ext cx="19608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400" dirty="0">
                <a:solidFill>
                  <a:srgbClr val="C00000"/>
                </a:solidFill>
              </a:rPr>
              <a:t>Header files</a:t>
            </a:r>
          </a:p>
        </p:txBody>
      </p:sp>
    </p:spTree>
    <p:extLst>
      <p:ext uri="{BB962C8B-B14F-4D97-AF65-F5344CB8AC3E}">
        <p14:creationId xmlns:p14="http://schemas.microsoft.com/office/powerpoint/2010/main" val="3181309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1CD203C-4249-4C1D-A9FB-2DFFEC988227}" type="slidenum">
              <a:rPr lang="en-US" altLang="en-US" smtClean="0"/>
              <a:pPr/>
              <a:t>17</a:t>
            </a:fld>
            <a:endParaRPr lang="en-US" altLang="en-US"/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7E86B521-5C7C-45F9-A7A5-F24A3A30C8D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020502" y="-182880"/>
            <a:ext cx="4150995" cy="685800"/>
          </a:xfrm>
        </p:spPr>
        <p:txBody>
          <a:bodyPr/>
          <a:lstStyle/>
          <a:p>
            <a:pPr algn="ctr"/>
            <a:r>
              <a:rPr lang="en-US" altLang="en-US" dirty="0">
                <a:solidFill>
                  <a:srgbClr val="002060"/>
                </a:solidFill>
              </a:rPr>
              <a:t>Global Variables</a:t>
            </a:r>
          </a:p>
        </p:txBody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CA799A4D-246A-41C8-8D59-91388E4A2DA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26720" y="578634"/>
            <a:ext cx="8818880" cy="2060278"/>
          </a:xfrm>
        </p:spPr>
        <p:txBody>
          <a:bodyPr/>
          <a:lstStyle/>
          <a:p>
            <a:pPr marL="0" indent="0">
              <a:lnSpc>
                <a:spcPct val="90000"/>
              </a:lnSpc>
              <a:buNone/>
            </a:pPr>
            <a:r>
              <a:rPr lang="en-US" altLang="en-US" b="1" dirty="0"/>
              <a:t>Global variables</a:t>
            </a:r>
            <a:r>
              <a:rPr lang="en-US" altLang="en-US" dirty="0"/>
              <a:t>: 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solidFill>
                  <a:srgbClr val="C00000"/>
                </a:solidFill>
              </a:rPr>
              <a:t>Declared outside </a:t>
            </a:r>
            <a:r>
              <a:rPr lang="en-US" altLang="en-US" dirty="0"/>
              <a:t>all functions and are accessible to all functions in its scope.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solidFill>
                  <a:srgbClr val="C00000"/>
                </a:solidFill>
              </a:rPr>
              <a:t>Defaulted to zero </a:t>
            </a:r>
            <a:r>
              <a:rPr lang="en-US" altLang="en-US" dirty="0"/>
              <a:t>if not directly assigned.</a:t>
            </a:r>
          </a:p>
        </p:txBody>
      </p:sp>
      <p:sp>
        <p:nvSpPr>
          <p:cNvPr id="49157" name="Rectangle 4">
            <a:extLst>
              <a:ext uri="{FF2B5EF4-FFF2-40B4-BE49-F238E27FC236}">
                <a16:creationId xmlns:a16="http://schemas.microsoft.com/office/drawing/2014/main" id="{07A048A8-001F-4E63-A007-78DFAC6E52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2925" y="2714626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</p:spTree>
    <p:extLst>
      <p:ext uri="{BB962C8B-B14F-4D97-AF65-F5344CB8AC3E}">
        <p14:creationId xmlns:p14="http://schemas.microsoft.com/office/powerpoint/2010/main" val="29667913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98ADCB8-0C60-422A-87EB-025581D0E2D3}"/>
              </a:ext>
            </a:extLst>
          </p:cNvPr>
          <p:cNvSpPr/>
          <p:nvPr/>
        </p:nvSpPr>
        <p:spPr bwMode="auto">
          <a:xfrm>
            <a:off x="1097852" y="3157120"/>
            <a:ext cx="1077145" cy="351938"/>
          </a:xfrm>
          <a:prstGeom prst="rect">
            <a:avLst/>
          </a:prstGeom>
          <a:solidFill>
            <a:srgbClr val="FFFF00"/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latin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ECE727B-AE52-4DE9-B7AE-678960007230}"/>
              </a:ext>
            </a:extLst>
          </p:cNvPr>
          <p:cNvSpPr/>
          <p:nvPr/>
        </p:nvSpPr>
        <p:spPr bwMode="auto">
          <a:xfrm>
            <a:off x="1982103" y="4447438"/>
            <a:ext cx="652886" cy="351938"/>
          </a:xfrm>
          <a:prstGeom prst="rect">
            <a:avLst/>
          </a:prstGeom>
          <a:solidFill>
            <a:srgbClr val="FFFF00"/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latin typeface="Times New Roman" panose="02020603050405020304" pitchFamily="18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7937E01-1BA8-46E5-8014-30B2D8E12ACC}"/>
              </a:ext>
            </a:extLst>
          </p:cNvPr>
          <p:cNvSpPr/>
          <p:nvPr/>
        </p:nvSpPr>
        <p:spPr bwMode="auto">
          <a:xfrm>
            <a:off x="5632390" y="5461631"/>
            <a:ext cx="268835" cy="345645"/>
          </a:xfrm>
          <a:prstGeom prst="rect">
            <a:avLst/>
          </a:prstGeom>
          <a:solidFill>
            <a:srgbClr val="FFFF00"/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latin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D2AF1CB-B3BF-4676-8F76-C0E0173580D4}"/>
              </a:ext>
            </a:extLst>
          </p:cNvPr>
          <p:cNvSpPr/>
          <p:nvPr/>
        </p:nvSpPr>
        <p:spPr>
          <a:xfrm>
            <a:off x="1195711" y="593878"/>
            <a:ext cx="9142195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#include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std;</a:t>
            </a: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t1(); 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Fnc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prototype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t2(); 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Fnc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prototype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14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t1(); 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t2();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y; </a:t>
            </a:r>
            <a:endParaRPr lang="en-US" sz="14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t1()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x = 1;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cout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"x is 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x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endl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"y is 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y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x++;  y++;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t2()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x = 1;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cout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"x is 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x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endl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"y is 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y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E0625F-7B64-46B6-B18C-86F25A3F53D2}"/>
              </a:ext>
            </a:extLst>
          </p:cNvPr>
          <p:cNvSpPr/>
          <p:nvPr/>
        </p:nvSpPr>
        <p:spPr>
          <a:xfrm>
            <a:off x="2502341" y="3148423"/>
            <a:ext cx="42370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Global variable, default to 0</a:t>
            </a:r>
            <a:endParaRPr lang="en-US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DF761D36-54F7-4084-9658-B2F4879650CA}"/>
              </a:ext>
            </a:extLst>
          </p:cNvPr>
          <p:cNvSpPr/>
          <p:nvPr/>
        </p:nvSpPr>
        <p:spPr bwMode="auto">
          <a:xfrm>
            <a:off x="8072956" y="3996536"/>
            <a:ext cx="652885" cy="558827"/>
          </a:xfrm>
          <a:prstGeom prst="rightArrow">
            <a:avLst/>
          </a:prstGeom>
          <a:solidFill>
            <a:srgbClr val="DAEFC3"/>
          </a:solidFill>
          <a:ln>
            <a:solidFill>
              <a:srgbClr val="C00000"/>
            </a:solidFill>
            <a:headEnd type="none" w="sm" len="sm"/>
            <a:tailEnd type="none" w="sm" len="sm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4E2D7C2-764D-4A91-A0C3-551F361D96C8}"/>
              </a:ext>
            </a:extLst>
          </p:cNvPr>
          <p:cNvGrpSpPr/>
          <p:nvPr/>
        </p:nvGrpSpPr>
        <p:grpSpPr>
          <a:xfrm>
            <a:off x="8561163" y="1467294"/>
            <a:ext cx="1874602" cy="4648883"/>
            <a:chOff x="7037163" y="0"/>
            <a:chExt cx="1874602" cy="464888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77E3768-542C-4A8C-84B4-747FBFC79AEC}"/>
                </a:ext>
              </a:extLst>
            </p:cNvPr>
            <p:cNvSpPr/>
            <p:nvPr/>
          </p:nvSpPr>
          <p:spPr>
            <a:xfrm>
              <a:off x="7529185" y="0"/>
              <a:ext cx="1382580" cy="1077218"/>
            </a:xfrm>
            <a:prstGeom prst="rect">
              <a:avLst/>
            </a:prstGeom>
            <a:solidFill>
              <a:schemeClr val="tx1"/>
            </a:solidFill>
            <a:ln w="28575">
              <a:solidFill>
                <a:schemeClr val="bg2">
                  <a:lumMod val="40000"/>
                  <a:lumOff val="6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1600" dirty="0">
                  <a:solidFill>
                    <a:srgbClr val="87FF19"/>
                  </a:solidFill>
                  <a:latin typeface="Consolas" panose="020B0609020204030204" pitchFamily="49" charset="0"/>
                </a:rPr>
                <a:t>x is 1</a:t>
              </a:r>
            </a:p>
            <a:p>
              <a:r>
                <a:rPr lang="en-US" sz="1600" dirty="0">
                  <a:solidFill>
                    <a:srgbClr val="87FF19"/>
                  </a:solidFill>
                  <a:latin typeface="Consolas" panose="020B0609020204030204" pitchFamily="49" charset="0"/>
                </a:rPr>
                <a:t>y is 0</a:t>
              </a:r>
            </a:p>
            <a:p>
              <a:r>
                <a:rPr lang="en-US" sz="1600" dirty="0">
                  <a:solidFill>
                    <a:srgbClr val="87FF19"/>
                  </a:solidFill>
                  <a:latin typeface="Consolas" panose="020B0609020204030204" pitchFamily="49" charset="0"/>
                </a:rPr>
                <a:t>x is 2</a:t>
              </a:r>
            </a:p>
            <a:p>
              <a:r>
                <a:rPr lang="en-US" sz="1600" dirty="0">
                  <a:solidFill>
                    <a:srgbClr val="87FF19"/>
                  </a:solidFill>
                  <a:latin typeface="Consolas" panose="020B0609020204030204" pitchFamily="49" charset="0"/>
                </a:rPr>
                <a:t>y is 1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3EA4177-8389-41A4-A06B-B6174091DA3A}"/>
                </a:ext>
              </a:extLst>
            </p:cNvPr>
            <p:cNvSpPr/>
            <p:nvPr/>
          </p:nvSpPr>
          <p:spPr>
            <a:xfrm>
              <a:off x="7529185" y="1190555"/>
              <a:ext cx="1382580" cy="1077218"/>
            </a:xfrm>
            <a:prstGeom prst="rect">
              <a:avLst/>
            </a:prstGeom>
            <a:solidFill>
              <a:schemeClr val="tx1"/>
            </a:solidFill>
            <a:ln w="28575">
              <a:solidFill>
                <a:schemeClr val="bg2">
                  <a:lumMod val="40000"/>
                  <a:lumOff val="6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1600">
                  <a:solidFill>
                    <a:srgbClr val="87FF19"/>
                  </a:solidFill>
                  <a:latin typeface="Consolas" panose="020B0609020204030204" pitchFamily="49" charset="0"/>
                </a:rPr>
                <a:t>x is 1</a:t>
              </a:r>
            </a:p>
            <a:p>
              <a:r>
                <a:rPr lang="en-US" sz="1600">
                  <a:solidFill>
                    <a:srgbClr val="87FF19"/>
                  </a:solidFill>
                  <a:latin typeface="Consolas" panose="020B0609020204030204" pitchFamily="49" charset="0"/>
                </a:rPr>
                <a:t>y is 0</a:t>
              </a:r>
            </a:p>
            <a:p>
              <a:r>
                <a:rPr lang="en-US" sz="1600">
                  <a:solidFill>
                    <a:srgbClr val="87FF19"/>
                  </a:solidFill>
                  <a:latin typeface="Consolas" panose="020B0609020204030204" pitchFamily="49" charset="0"/>
                </a:rPr>
                <a:t>x is 2</a:t>
              </a:r>
            </a:p>
            <a:p>
              <a:r>
                <a:rPr lang="en-US" sz="1600">
                  <a:solidFill>
                    <a:srgbClr val="87FF19"/>
                  </a:solidFill>
                  <a:latin typeface="Consolas" panose="020B0609020204030204" pitchFamily="49" charset="0"/>
                </a:rPr>
                <a:t>y is 2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06236A0-431B-4F85-9E5F-47700CB887B7}"/>
                </a:ext>
              </a:extLst>
            </p:cNvPr>
            <p:cNvSpPr/>
            <p:nvPr/>
          </p:nvSpPr>
          <p:spPr>
            <a:xfrm>
              <a:off x="7529185" y="2381110"/>
              <a:ext cx="1382580" cy="1077218"/>
            </a:xfrm>
            <a:prstGeom prst="rect">
              <a:avLst/>
            </a:prstGeom>
            <a:solidFill>
              <a:schemeClr val="tx1"/>
            </a:solidFill>
            <a:ln w="28575">
              <a:solidFill>
                <a:schemeClr val="bg2">
                  <a:lumMod val="40000"/>
                  <a:lumOff val="6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1600">
                  <a:solidFill>
                    <a:srgbClr val="87FF19"/>
                  </a:solidFill>
                  <a:latin typeface="Consolas" panose="020B0609020204030204" pitchFamily="49" charset="0"/>
                </a:rPr>
                <a:t>x is 1</a:t>
              </a:r>
            </a:p>
            <a:p>
              <a:r>
                <a:rPr lang="en-US" sz="1600">
                  <a:solidFill>
                    <a:srgbClr val="87FF19"/>
                  </a:solidFill>
                  <a:latin typeface="Consolas" panose="020B0609020204030204" pitchFamily="49" charset="0"/>
                </a:rPr>
                <a:t>y is 0</a:t>
              </a:r>
            </a:p>
            <a:p>
              <a:r>
                <a:rPr lang="en-US" sz="1600">
                  <a:solidFill>
                    <a:srgbClr val="87FF19"/>
                  </a:solidFill>
                  <a:latin typeface="Consolas" panose="020B0609020204030204" pitchFamily="49" charset="0"/>
                </a:rPr>
                <a:t>x is 1</a:t>
              </a:r>
            </a:p>
            <a:p>
              <a:r>
                <a:rPr lang="en-US" sz="1600">
                  <a:solidFill>
                    <a:srgbClr val="87FF19"/>
                  </a:solidFill>
                  <a:latin typeface="Consolas" panose="020B0609020204030204" pitchFamily="49" charset="0"/>
                </a:rPr>
                <a:t>y is 1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530DC18-EC7A-4ECF-839A-7ED47C4EC069}"/>
                </a:ext>
              </a:extLst>
            </p:cNvPr>
            <p:cNvSpPr/>
            <p:nvPr/>
          </p:nvSpPr>
          <p:spPr>
            <a:xfrm>
              <a:off x="7529185" y="3571665"/>
              <a:ext cx="1382580" cy="1077218"/>
            </a:xfrm>
            <a:prstGeom prst="rect">
              <a:avLst/>
            </a:prstGeom>
            <a:solidFill>
              <a:schemeClr val="tx1"/>
            </a:solidFill>
            <a:ln w="28575">
              <a:solidFill>
                <a:schemeClr val="bg2">
                  <a:lumMod val="40000"/>
                  <a:lumOff val="6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1600">
                  <a:solidFill>
                    <a:srgbClr val="87FF19"/>
                  </a:solidFill>
                  <a:latin typeface="Consolas" panose="020B0609020204030204" pitchFamily="49" charset="0"/>
                </a:rPr>
                <a:t>x is 1</a:t>
              </a:r>
            </a:p>
            <a:p>
              <a:r>
                <a:rPr lang="en-US" sz="1600">
                  <a:solidFill>
                    <a:srgbClr val="87FF19"/>
                  </a:solidFill>
                  <a:latin typeface="Consolas" panose="020B0609020204030204" pitchFamily="49" charset="0"/>
                </a:rPr>
                <a:t>y is 0</a:t>
              </a:r>
            </a:p>
            <a:p>
              <a:r>
                <a:rPr lang="en-US" sz="1600">
                  <a:solidFill>
                    <a:srgbClr val="87FF19"/>
                  </a:solidFill>
                  <a:latin typeface="Consolas" panose="020B0609020204030204" pitchFamily="49" charset="0"/>
                </a:rPr>
                <a:t>x is 1</a:t>
              </a:r>
            </a:p>
            <a:p>
              <a:r>
                <a:rPr lang="en-US" sz="1600">
                  <a:solidFill>
                    <a:srgbClr val="87FF19"/>
                  </a:solidFill>
                  <a:latin typeface="Consolas" panose="020B0609020204030204" pitchFamily="49" charset="0"/>
                </a:rPr>
                <a:t>y is 2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8E9905E-C729-4043-BB93-F0615D29F5B6}"/>
                </a:ext>
              </a:extLst>
            </p:cNvPr>
            <p:cNvSpPr/>
            <p:nvPr/>
          </p:nvSpPr>
          <p:spPr>
            <a:xfrm>
              <a:off x="7037163" y="0"/>
              <a:ext cx="4138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/>
                <a:t>A)</a:t>
              </a:r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A593D9C-B63C-421C-B2FA-95D268F04418}"/>
                </a:ext>
              </a:extLst>
            </p:cNvPr>
            <p:cNvSpPr/>
            <p:nvPr/>
          </p:nvSpPr>
          <p:spPr>
            <a:xfrm>
              <a:off x="7037163" y="1190555"/>
              <a:ext cx="38985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/>
                <a:t>B)</a:t>
              </a:r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82B3AB2-CE04-4940-A9E5-51A2350BE56D}"/>
                </a:ext>
              </a:extLst>
            </p:cNvPr>
            <p:cNvSpPr/>
            <p:nvPr/>
          </p:nvSpPr>
          <p:spPr>
            <a:xfrm>
              <a:off x="7037163" y="3571665"/>
              <a:ext cx="43313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/>
                <a:t>D)</a:t>
              </a:r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DBFD676-6D4B-4317-A3CD-A81D9D8F36C2}"/>
                </a:ext>
              </a:extLst>
            </p:cNvPr>
            <p:cNvSpPr/>
            <p:nvPr/>
          </p:nvSpPr>
          <p:spPr>
            <a:xfrm>
              <a:off x="7037163" y="2374866"/>
              <a:ext cx="42351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/>
                <a:t>C)</a:t>
              </a:r>
              <a:endParaRPr lang="en-US"/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A7AC7B83-9607-4521-A116-8E57B983D4B4}"/>
              </a:ext>
            </a:extLst>
          </p:cNvPr>
          <p:cNvSpPr txBox="1"/>
          <p:nvPr/>
        </p:nvSpPr>
        <p:spPr>
          <a:xfrm>
            <a:off x="10033000" y="6565900"/>
            <a:ext cx="127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1CD203C-4249-4C1D-A9FB-2DFFEC988227}" type="slidenum">
              <a:rPr lang="en-US" altLang="en-US" smtClean="0"/>
              <a:pPr/>
              <a:t>18</a:t>
            </a:fld>
            <a:endParaRPr lang="en-US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7EEC433-294A-7105-4C5F-9E464981D663}"/>
              </a:ext>
            </a:extLst>
          </p:cNvPr>
          <p:cNvSpPr txBox="1">
            <a:spLocks noChangeArrowheads="1"/>
          </p:cNvSpPr>
          <p:nvPr/>
        </p:nvSpPr>
        <p:spPr>
          <a:xfrm>
            <a:off x="4020502" y="-182880"/>
            <a:ext cx="4150995" cy="685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altLang="en-US" dirty="0">
                <a:solidFill>
                  <a:srgbClr val="002060"/>
                </a:solidFill>
              </a:rPr>
              <a:t>Global Variables</a:t>
            </a:r>
          </a:p>
        </p:txBody>
      </p:sp>
    </p:spTree>
    <p:extLst>
      <p:ext uri="{BB962C8B-B14F-4D97-AF65-F5344CB8AC3E}">
        <p14:creationId xmlns:p14="http://schemas.microsoft.com/office/powerpoint/2010/main" val="42483666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1CD203C-4249-4C1D-A9FB-2DFFEC988227}" type="slidenum">
              <a:rPr lang="en-US" altLang="en-US" smtClean="0"/>
              <a:pPr/>
              <a:t>19</a:t>
            </a:fld>
            <a:endParaRPr lang="en-US" altLang="en-US"/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08EB7BEA-3BB4-43D2-9DDA-E7C63BE32A9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099560" y="-93374"/>
            <a:ext cx="3992880" cy="611188"/>
          </a:xfrm>
        </p:spPr>
        <p:txBody>
          <a:bodyPr>
            <a:noAutofit/>
          </a:bodyPr>
          <a:lstStyle/>
          <a:p>
            <a:pPr algn="ctr"/>
            <a:r>
              <a:rPr lang="en-US" altLang="en-US" sz="3200" dirty="0">
                <a:solidFill>
                  <a:srgbClr val="002060"/>
                </a:solidFill>
              </a:rPr>
              <a:t>Pass by Value</a:t>
            </a:r>
          </a:p>
        </p:txBody>
      </p:sp>
      <p:sp>
        <p:nvSpPr>
          <p:cNvPr id="53252" name="Text Box 3">
            <a:extLst>
              <a:ext uri="{FF2B5EF4-FFF2-40B4-BE49-F238E27FC236}">
                <a16:creationId xmlns:a16="http://schemas.microsoft.com/office/drawing/2014/main" id="{951543AB-8AC9-4F4D-B7CE-C4C5CF7B99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483" y="497757"/>
            <a:ext cx="81407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Write a program for swapping two variables.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0FFB3F-5A09-49AF-A590-5A1504AB6AA5}"/>
              </a:ext>
            </a:extLst>
          </p:cNvPr>
          <p:cNvSpPr/>
          <p:nvPr/>
        </p:nvSpPr>
        <p:spPr>
          <a:xfrm>
            <a:off x="710695" y="968674"/>
            <a:ext cx="8986770" cy="193899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000" dirty="0">
                <a:latin typeface="Consolas" panose="020B0609020204030204" pitchFamily="49" charset="0"/>
              </a:rPr>
              <a:t> swap(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latin typeface="Consolas" panose="020B0609020204030204" pitchFamily="49" charset="0"/>
              </a:rPr>
              <a:t> n1,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latin typeface="Consolas" panose="020B0609020204030204" pitchFamily="49" charset="0"/>
              </a:rPr>
              <a:t> n2)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{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latin typeface="Consolas" panose="020B0609020204030204" pitchFamily="49" charset="0"/>
              </a:rPr>
              <a:t> temp = n1;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n1 = n2; 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n2 = temp;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8D46F6-D5F4-492F-8D47-507DEC41BC6D}"/>
              </a:ext>
            </a:extLst>
          </p:cNvPr>
          <p:cNvSpPr/>
          <p:nvPr/>
        </p:nvSpPr>
        <p:spPr>
          <a:xfrm>
            <a:off x="846464" y="3000223"/>
            <a:ext cx="8986770" cy="286232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vl="0"/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</a:p>
          <a:p>
            <a:pPr lvl="0"/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0"/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num1 = 1;</a:t>
            </a:r>
          </a:p>
          <a:p>
            <a:pPr lvl="0"/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num2 = 2;</a:t>
            </a:r>
          </a:p>
          <a:p>
            <a:pPr lvl="0"/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swap(num1, num2);</a:t>
            </a:r>
          </a:p>
          <a:p>
            <a:pPr lvl="0"/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"After invoking the swap function, num1 is "</a:t>
            </a:r>
          </a:p>
          <a:p>
            <a:pPr lvl="0"/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   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num1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 and num2 is "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num2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0"/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pPr lvl="0"/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D9AC64-7CC4-46BB-992B-BE0C125346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5408" y="4764447"/>
            <a:ext cx="1474153" cy="197797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85B643B-DFBC-4890-BCD0-6491769E9326}"/>
              </a:ext>
            </a:extLst>
          </p:cNvPr>
          <p:cNvSpPr/>
          <p:nvPr/>
        </p:nvSpPr>
        <p:spPr>
          <a:xfrm>
            <a:off x="6852152" y="2379778"/>
            <a:ext cx="3110805" cy="1815882"/>
          </a:xfrm>
          <a:custGeom>
            <a:avLst/>
            <a:gdLst>
              <a:gd name="connsiteX0" fmla="*/ 0 w 3110805"/>
              <a:gd name="connsiteY0" fmla="*/ 0 h 1815882"/>
              <a:gd name="connsiteX1" fmla="*/ 549576 w 3110805"/>
              <a:gd name="connsiteY1" fmla="*/ 0 h 1815882"/>
              <a:gd name="connsiteX2" fmla="*/ 1036935 w 3110805"/>
              <a:gd name="connsiteY2" fmla="*/ 0 h 1815882"/>
              <a:gd name="connsiteX3" fmla="*/ 1586511 w 3110805"/>
              <a:gd name="connsiteY3" fmla="*/ 0 h 1815882"/>
              <a:gd name="connsiteX4" fmla="*/ 2011654 w 3110805"/>
              <a:gd name="connsiteY4" fmla="*/ 0 h 1815882"/>
              <a:gd name="connsiteX5" fmla="*/ 2530121 w 3110805"/>
              <a:gd name="connsiteY5" fmla="*/ 0 h 1815882"/>
              <a:gd name="connsiteX6" fmla="*/ 3110805 w 3110805"/>
              <a:gd name="connsiteY6" fmla="*/ 0 h 1815882"/>
              <a:gd name="connsiteX7" fmla="*/ 3110805 w 3110805"/>
              <a:gd name="connsiteY7" fmla="*/ 435812 h 1815882"/>
              <a:gd name="connsiteX8" fmla="*/ 3110805 w 3110805"/>
              <a:gd name="connsiteY8" fmla="*/ 889782 h 1815882"/>
              <a:gd name="connsiteX9" fmla="*/ 3110805 w 3110805"/>
              <a:gd name="connsiteY9" fmla="*/ 1289276 h 1815882"/>
              <a:gd name="connsiteX10" fmla="*/ 3110805 w 3110805"/>
              <a:gd name="connsiteY10" fmla="*/ 1815882 h 1815882"/>
              <a:gd name="connsiteX11" fmla="*/ 2561229 w 3110805"/>
              <a:gd name="connsiteY11" fmla="*/ 1815882 h 1815882"/>
              <a:gd name="connsiteX12" fmla="*/ 2073870 w 3110805"/>
              <a:gd name="connsiteY12" fmla="*/ 1815882 h 1815882"/>
              <a:gd name="connsiteX13" fmla="*/ 1493186 w 3110805"/>
              <a:gd name="connsiteY13" fmla="*/ 1815882 h 1815882"/>
              <a:gd name="connsiteX14" fmla="*/ 1068043 w 3110805"/>
              <a:gd name="connsiteY14" fmla="*/ 1815882 h 1815882"/>
              <a:gd name="connsiteX15" fmla="*/ 580684 w 3110805"/>
              <a:gd name="connsiteY15" fmla="*/ 1815882 h 1815882"/>
              <a:gd name="connsiteX16" fmla="*/ 0 w 3110805"/>
              <a:gd name="connsiteY16" fmla="*/ 1815882 h 1815882"/>
              <a:gd name="connsiteX17" fmla="*/ 0 w 3110805"/>
              <a:gd name="connsiteY17" fmla="*/ 1416388 h 1815882"/>
              <a:gd name="connsiteX18" fmla="*/ 0 w 3110805"/>
              <a:gd name="connsiteY18" fmla="*/ 944259 h 1815882"/>
              <a:gd name="connsiteX19" fmla="*/ 0 w 3110805"/>
              <a:gd name="connsiteY19" fmla="*/ 544765 h 1815882"/>
              <a:gd name="connsiteX20" fmla="*/ 0 w 3110805"/>
              <a:gd name="connsiteY20" fmla="*/ 0 h 1815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110805" h="1815882" fill="none" extrusionOk="0">
                <a:moveTo>
                  <a:pt x="0" y="0"/>
                </a:moveTo>
                <a:cubicBezTo>
                  <a:pt x="123506" y="-62742"/>
                  <a:pt x="357562" y="22114"/>
                  <a:pt x="549576" y="0"/>
                </a:cubicBezTo>
                <a:cubicBezTo>
                  <a:pt x="741590" y="-22114"/>
                  <a:pt x="886675" y="19523"/>
                  <a:pt x="1036935" y="0"/>
                </a:cubicBezTo>
                <a:cubicBezTo>
                  <a:pt x="1187195" y="-19523"/>
                  <a:pt x="1449790" y="58631"/>
                  <a:pt x="1586511" y="0"/>
                </a:cubicBezTo>
                <a:cubicBezTo>
                  <a:pt x="1723232" y="-58631"/>
                  <a:pt x="1863435" y="28297"/>
                  <a:pt x="2011654" y="0"/>
                </a:cubicBezTo>
                <a:cubicBezTo>
                  <a:pt x="2159873" y="-28297"/>
                  <a:pt x="2313753" y="11515"/>
                  <a:pt x="2530121" y="0"/>
                </a:cubicBezTo>
                <a:cubicBezTo>
                  <a:pt x="2746489" y="-11515"/>
                  <a:pt x="2867527" y="27192"/>
                  <a:pt x="3110805" y="0"/>
                </a:cubicBezTo>
                <a:cubicBezTo>
                  <a:pt x="3152876" y="181392"/>
                  <a:pt x="3091592" y="276116"/>
                  <a:pt x="3110805" y="435812"/>
                </a:cubicBezTo>
                <a:cubicBezTo>
                  <a:pt x="3130018" y="595508"/>
                  <a:pt x="3097685" y="775225"/>
                  <a:pt x="3110805" y="889782"/>
                </a:cubicBezTo>
                <a:cubicBezTo>
                  <a:pt x="3123925" y="1004339"/>
                  <a:pt x="3071085" y="1155466"/>
                  <a:pt x="3110805" y="1289276"/>
                </a:cubicBezTo>
                <a:cubicBezTo>
                  <a:pt x="3150525" y="1423086"/>
                  <a:pt x="3108175" y="1584516"/>
                  <a:pt x="3110805" y="1815882"/>
                </a:cubicBezTo>
                <a:cubicBezTo>
                  <a:pt x="2903542" y="1848256"/>
                  <a:pt x="2697921" y="1801511"/>
                  <a:pt x="2561229" y="1815882"/>
                </a:cubicBezTo>
                <a:cubicBezTo>
                  <a:pt x="2424537" y="1830253"/>
                  <a:pt x="2287581" y="1795911"/>
                  <a:pt x="2073870" y="1815882"/>
                </a:cubicBezTo>
                <a:cubicBezTo>
                  <a:pt x="1860159" y="1835853"/>
                  <a:pt x="1674295" y="1799866"/>
                  <a:pt x="1493186" y="1815882"/>
                </a:cubicBezTo>
                <a:cubicBezTo>
                  <a:pt x="1312077" y="1831898"/>
                  <a:pt x="1252310" y="1782113"/>
                  <a:pt x="1068043" y="1815882"/>
                </a:cubicBezTo>
                <a:cubicBezTo>
                  <a:pt x="883776" y="1849651"/>
                  <a:pt x="744084" y="1813428"/>
                  <a:pt x="580684" y="1815882"/>
                </a:cubicBezTo>
                <a:cubicBezTo>
                  <a:pt x="417284" y="1818336"/>
                  <a:pt x="285602" y="1788262"/>
                  <a:pt x="0" y="1815882"/>
                </a:cubicBezTo>
                <a:cubicBezTo>
                  <a:pt x="-25515" y="1681064"/>
                  <a:pt x="2152" y="1520841"/>
                  <a:pt x="0" y="1416388"/>
                </a:cubicBezTo>
                <a:cubicBezTo>
                  <a:pt x="-2152" y="1311935"/>
                  <a:pt x="3143" y="1124750"/>
                  <a:pt x="0" y="944259"/>
                </a:cubicBezTo>
                <a:cubicBezTo>
                  <a:pt x="-3143" y="763768"/>
                  <a:pt x="44746" y="708514"/>
                  <a:pt x="0" y="544765"/>
                </a:cubicBezTo>
                <a:cubicBezTo>
                  <a:pt x="-44746" y="381016"/>
                  <a:pt x="33306" y="168621"/>
                  <a:pt x="0" y="0"/>
                </a:cubicBezTo>
                <a:close/>
              </a:path>
              <a:path w="3110805" h="1815882" stroke="0" extrusionOk="0">
                <a:moveTo>
                  <a:pt x="0" y="0"/>
                </a:moveTo>
                <a:cubicBezTo>
                  <a:pt x="237543" y="-10138"/>
                  <a:pt x="288201" y="33428"/>
                  <a:pt x="487359" y="0"/>
                </a:cubicBezTo>
                <a:cubicBezTo>
                  <a:pt x="686517" y="-33428"/>
                  <a:pt x="932439" y="56368"/>
                  <a:pt x="1068043" y="0"/>
                </a:cubicBezTo>
                <a:cubicBezTo>
                  <a:pt x="1203647" y="-56368"/>
                  <a:pt x="1516416" y="47289"/>
                  <a:pt x="1648727" y="0"/>
                </a:cubicBezTo>
                <a:cubicBezTo>
                  <a:pt x="1781038" y="-47289"/>
                  <a:pt x="1967548" y="53125"/>
                  <a:pt x="2229410" y="0"/>
                </a:cubicBezTo>
                <a:cubicBezTo>
                  <a:pt x="2491272" y="-53125"/>
                  <a:pt x="2907474" y="96950"/>
                  <a:pt x="3110805" y="0"/>
                </a:cubicBezTo>
                <a:cubicBezTo>
                  <a:pt x="3117120" y="136687"/>
                  <a:pt x="3054234" y="260296"/>
                  <a:pt x="3110805" y="472129"/>
                </a:cubicBezTo>
                <a:cubicBezTo>
                  <a:pt x="3167376" y="683962"/>
                  <a:pt x="3074264" y="720623"/>
                  <a:pt x="3110805" y="907941"/>
                </a:cubicBezTo>
                <a:cubicBezTo>
                  <a:pt x="3147346" y="1095259"/>
                  <a:pt x="3061420" y="1268082"/>
                  <a:pt x="3110805" y="1361912"/>
                </a:cubicBezTo>
                <a:cubicBezTo>
                  <a:pt x="3160190" y="1455742"/>
                  <a:pt x="3084587" y="1659211"/>
                  <a:pt x="3110805" y="1815882"/>
                </a:cubicBezTo>
                <a:cubicBezTo>
                  <a:pt x="2956189" y="1840328"/>
                  <a:pt x="2685454" y="1758602"/>
                  <a:pt x="2561229" y="1815882"/>
                </a:cubicBezTo>
                <a:cubicBezTo>
                  <a:pt x="2437004" y="1873162"/>
                  <a:pt x="2256723" y="1815586"/>
                  <a:pt x="2136086" y="1815882"/>
                </a:cubicBezTo>
                <a:cubicBezTo>
                  <a:pt x="2015449" y="1816178"/>
                  <a:pt x="1878320" y="1771174"/>
                  <a:pt x="1710943" y="1815882"/>
                </a:cubicBezTo>
                <a:cubicBezTo>
                  <a:pt x="1543566" y="1860590"/>
                  <a:pt x="1478450" y="1773668"/>
                  <a:pt x="1254691" y="1815882"/>
                </a:cubicBezTo>
                <a:cubicBezTo>
                  <a:pt x="1030932" y="1858096"/>
                  <a:pt x="949490" y="1795742"/>
                  <a:pt x="736224" y="1815882"/>
                </a:cubicBezTo>
                <a:cubicBezTo>
                  <a:pt x="522958" y="1836022"/>
                  <a:pt x="254933" y="1761359"/>
                  <a:pt x="0" y="1815882"/>
                </a:cubicBezTo>
                <a:cubicBezTo>
                  <a:pt x="-36871" y="1675059"/>
                  <a:pt x="19122" y="1598037"/>
                  <a:pt x="0" y="1416388"/>
                </a:cubicBezTo>
                <a:cubicBezTo>
                  <a:pt x="-19122" y="1234739"/>
                  <a:pt x="47219" y="1153346"/>
                  <a:pt x="0" y="944259"/>
                </a:cubicBezTo>
                <a:cubicBezTo>
                  <a:pt x="-47219" y="735172"/>
                  <a:pt x="48777" y="588449"/>
                  <a:pt x="0" y="472129"/>
                </a:cubicBezTo>
                <a:cubicBezTo>
                  <a:pt x="-48777" y="355809"/>
                  <a:pt x="33115" y="148026"/>
                  <a:pt x="0" y="0"/>
                </a:cubicBezTo>
                <a:close/>
              </a:path>
            </a:pathLst>
          </a:custGeom>
          <a:solidFill>
            <a:srgbClr val="FFEEB9"/>
          </a:solidFill>
          <a:ln w="28575"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1208808761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r>
              <a:rPr lang="en-US" altLang="en-US" sz="2800" dirty="0">
                <a:solidFill>
                  <a:srgbClr val="C00000"/>
                </a:solidFill>
              </a:rPr>
              <a:t>The values of the arguments are not changed after the function is invoked. </a:t>
            </a:r>
            <a:endParaRPr lang="en-US" sz="2800" dirty="0">
              <a:solidFill>
                <a:srgbClr val="C0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6EF619-5ED0-4C4E-87AE-72F96BFCA7F0}"/>
              </a:ext>
            </a:extLst>
          </p:cNvPr>
          <p:cNvSpPr/>
          <p:nvPr/>
        </p:nvSpPr>
        <p:spPr>
          <a:xfrm>
            <a:off x="1962567" y="5770436"/>
            <a:ext cx="7373118" cy="369332"/>
          </a:xfrm>
          <a:prstGeom prst="rect">
            <a:avLst/>
          </a:prstGeom>
          <a:solidFill>
            <a:schemeClr val="tx1"/>
          </a:solidFill>
          <a:ln w="28575">
            <a:solidFill>
              <a:schemeClr val="bg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87FF19"/>
                </a:solidFill>
                <a:latin typeface="Consolas" panose="020B0609020204030204" pitchFamily="49" charset="0"/>
              </a:rPr>
              <a:t>After invoking the swap function, num1 is 1 and num2 is 2</a:t>
            </a:r>
          </a:p>
        </p:txBody>
      </p:sp>
    </p:spTree>
    <p:extLst>
      <p:ext uri="{BB962C8B-B14F-4D97-AF65-F5344CB8AC3E}">
        <p14:creationId xmlns:p14="http://schemas.microsoft.com/office/powerpoint/2010/main" val="7235526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AEAF8BD-D812-458A-9161-BAC787334730}"/>
              </a:ext>
            </a:extLst>
          </p:cNvPr>
          <p:cNvSpPr/>
          <p:nvPr/>
        </p:nvSpPr>
        <p:spPr>
          <a:xfrm>
            <a:off x="983425" y="3140893"/>
            <a:ext cx="8986770" cy="286232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vl="0"/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</a:p>
          <a:p>
            <a:pPr lvl="0"/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0"/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num1 = 1;</a:t>
            </a:r>
          </a:p>
          <a:p>
            <a:pPr lvl="0"/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num2 = 2;</a:t>
            </a:r>
          </a:p>
          <a:p>
            <a:pPr lvl="0"/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swap(num1, num2);</a:t>
            </a:r>
          </a:p>
          <a:p>
            <a:pPr lvl="0"/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cout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"After invoking the swap function, num1 is "</a:t>
            </a:r>
          </a:p>
          <a:p>
            <a:pPr lvl="0"/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   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num1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 and num2 is "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num2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0"/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pPr lvl="0"/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0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1CD203C-4249-4C1D-A9FB-2DFFEC988227}" type="slidenum">
              <a:rPr lang="en-US" altLang="en-US" smtClean="0"/>
              <a:pPr/>
              <a:t>20</a:t>
            </a:fld>
            <a:endParaRPr lang="en-US" altLang="en-US"/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08EB7BEA-3BB4-43D2-9DDA-E7C63BE32A9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419600" y="-38100"/>
            <a:ext cx="7772400" cy="611188"/>
          </a:xfrm>
        </p:spPr>
        <p:txBody>
          <a:bodyPr>
            <a:normAutofit fontScale="90000"/>
          </a:bodyPr>
          <a:lstStyle/>
          <a:p>
            <a:r>
              <a:rPr lang="en-US" altLang="en-US" sz="4000" dirty="0">
                <a:solidFill>
                  <a:srgbClr val="002060"/>
                </a:solidFill>
              </a:rPr>
              <a:t>Pass by Reference</a:t>
            </a:r>
          </a:p>
        </p:txBody>
      </p:sp>
      <p:sp>
        <p:nvSpPr>
          <p:cNvPr id="53252" name="Text Box 3">
            <a:extLst>
              <a:ext uri="{FF2B5EF4-FFF2-40B4-BE49-F238E27FC236}">
                <a16:creationId xmlns:a16="http://schemas.microsoft.com/office/drawing/2014/main" id="{951543AB-8AC9-4F4D-B7CE-C4C5CF7B99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5892" y="539421"/>
            <a:ext cx="81407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800" dirty="0"/>
              <a:t>Write a program for swapping two variables.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0FFB3F-5A09-49AF-A590-5A1504AB6AA5}"/>
              </a:ext>
            </a:extLst>
          </p:cNvPr>
          <p:cNvSpPr/>
          <p:nvPr/>
        </p:nvSpPr>
        <p:spPr>
          <a:xfrm>
            <a:off x="914400" y="1117890"/>
            <a:ext cx="8986770" cy="193899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000" dirty="0">
                <a:latin typeface="Consolas" panose="020B0609020204030204" pitchFamily="49" charset="0"/>
              </a:rPr>
              <a:t> swap(</a:t>
            </a:r>
            <a:r>
              <a:rPr lang="en-US" sz="20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en-US" sz="2000" dirty="0">
                <a:highlight>
                  <a:srgbClr val="FFFF00"/>
                </a:highlight>
                <a:latin typeface="Consolas" panose="020B0609020204030204" pitchFamily="49" charset="0"/>
              </a:rPr>
              <a:t>&amp;</a:t>
            </a:r>
            <a:r>
              <a:rPr lang="en-US" sz="2000" dirty="0">
                <a:latin typeface="Consolas" panose="020B0609020204030204" pitchFamily="49" charset="0"/>
              </a:rPr>
              <a:t> n1, </a:t>
            </a:r>
            <a:r>
              <a:rPr lang="en-US" sz="20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en-US" sz="2000" dirty="0">
                <a:highlight>
                  <a:srgbClr val="FFFF00"/>
                </a:highlight>
                <a:latin typeface="Consolas" panose="020B0609020204030204" pitchFamily="49" charset="0"/>
              </a:rPr>
              <a:t>&amp;</a:t>
            </a:r>
            <a:r>
              <a:rPr lang="en-US" sz="2000" dirty="0">
                <a:latin typeface="Consolas" panose="020B0609020204030204" pitchFamily="49" charset="0"/>
              </a:rPr>
              <a:t> n2)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{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latin typeface="Consolas" panose="020B0609020204030204" pitchFamily="49" charset="0"/>
              </a:rPr>
              <a:t> temp = n1;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n1 = n2; 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n2 = temp;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6EF619-5ED0-4C4E-87AE-72F96BFCA7F0}"/>
              </a:ext>
            </a:extLst>
          </p:cNvPr>
          <p:cNvSpPr/>
          <p:nvPr/>
        </p:nvSpPr>
        <p:spPr>
          <a:xfrm>
            <a:off x="2985195" y="5753454"/>
            <a:ext cx="7373118" cy="369332"/>
          </a:xfrm>
          <a:prstGeom prst="rect">
            <a:avLst/>
          </a:prstGeom>
          <a:solidFill>
            <a:schemeClr val="tx1"/>
          </a:solidFill>
          <a:ln w="28575">
            <a:solidFill>
              <a:schemeClr val="bg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87FF19"/>
                </a:solidFill>
                <a:latin typeface="Consolas" panose="020B0609020204030204" pitchFamily="49" charset="0"/>
              </a:rPr>
              <a:t>After invoking the swap function, num1 is 2 and num2 is 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DA0C8D7-C2F4-43CD-A6D7-31B5E9949789}"/>
              </a:ext>
            </a:extLst>
          </p:cNvPr>
          <p:cNvSpPr txBox="1"/>
          <p:nvPr/>
        </p:nvSpPr>
        <p:spPr>
          <a:xfrm>
            <a:off x="10033000" y="6565900"/>
            <a:ext cx="127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  <p:sp>
        <p:nvSpPr>
          <p:cNvPr id="5" name="progressBarBackground">
            <a:extLst>
              <a:ext uri="{FF2B5EF4-FFF2-40B4-BE49-F238E27FC236}">
                <a16:creationId xmlns:a16="http://schemas.microsoft.com/office/drawing/2014/main" id="{CA14603C-B415-4D27-972C-1AFC8CC2A7A3}"/>
              </a:ext>
            </a:extLst>
          </p:cNvPr>
          <p:cNvSpPr/>
          <p:nvPr/>
        </p:nvSpPr>
        <p:spPr bwMode="auto">
          <a:xfrm>
            <a:off x="1524000" y="6813550"/>
            <a:ext cx="9144000" cy="44450"/>
          </a:xfrm>
          <a:prstGeom prst="rect">
            <a:avLst/>
          </a:prstGeom>
          <a:solidFill>
            <a:srgbClr val="F0F0F0"/>
          </a:solidFill>
          <a:ln w="12700" cap="flat" cmpd="sng" algn="ctr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progressBar">
            <a:extLst>
              <a:ext uri="{FF2B5EF4-FFF2-40B4-BE49-F238E27FC236}">
                <a16:creationId xmlns:a16="http://schemas.microsoft.com/office/drawing/2014/main" id="{1DE21A9F-09B9-454B-B8BC-257EB23F1DEC}"/>
              </a:ext>
            </a:extLst>
          </p:cNvPr>
          <p:cNvSpPr/>
          <p:nvPr/>
        </p:nvSpPr>
        <p:spPr bwMode="auto">
          <a:xfrm>
            <a:off x="1524000" y="6813550"/>
            <a:ext cx="7022592" cy="44450"/>
          </a:xfrm>
          <a:prstGeom prst="rect">
            <a:avLst/>
          </a:prstGeom>
          <a:solidFill>
            <a:srgbClr val="141414"/>
          </a:solidFill>
          <a:ln w="12700" cap="flat" cmpd="sng" algn="ctr">
            <a:solidFill>
              <a:srgbClr val="141414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pageNumber">
            <a:extLst>
              <a:ext uri="{FF2B5EF4-FFF2-40B4-BE49-F238E27FC236}">
                <a16:creationId xmlns:a16="http://schemas.microsoft.com/office/drawing/2014/main" id="{6B8D246F-C334-4159-AA2B-A00DBA8EE2AF}"/>
              </a:ext>
            </a:extLst>
          </p:cNvPr>
          <p:cNvSpPr txBox="1"/>
          <p:nvPr/>
        </p:nvSpPr>
        <p:spPr>
          <a:xfrm>
            <a:off x="10033000" y="6565900"/>
            <a:ext cx="1270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141414"/>
                </a:solidFill>
              </a:rPr>
              <a:t> 96</a:t>
            </a:r>
          </a:p>
        </p:txBody>
      </p:sp>
    </p:spTree>
    <p:extLst>
      <p:ext uri="{BB962C8B-B14F-4D97-AF65-F5344CB8AC3E}">
        <p14:creationId xmlns:p14="http://schemas.microsoft.com/office/powerpoint/2010/main" val="23720995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1CD203C-4249-4C1D-A9FB-2DFFEC988227}" type="slidenum">
              <a:rPr lang="en-US" altLang="en-US" smtClean="0"/>
              <a:pPr/>
              <a:t>21</a:t>
            </a:fld>
            <a:endParaRPr lang="en-US" altLang="en-US"/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8D8A72BE-54E3-4CBE-AB6A-C1ADA5D9CE9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87680" y="652707"/>
            <a:ext cx="7772400" cy="431800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solidFill>
                  <a:srgbClr val="002060"/>
                </a:solidFill>
              </a:rPr>
              <a:t>Reference Variables Example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97A0EC8-9BE1-473F-AC3A-0669103E4A98}"/>
              </a:ext>
            </a:extLst>
          </p:cNvPr>
          <p:cNvSpPr/>
          <p:nvPr/>
        </p:nvSpPr>
        <p:spPr>
          <a:xfrm>
            <a:off x="1363450" y="1084411"/>
            <a:ext cx="8679530" cy="532453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latin typeface="Consolas" panose="020B0609020204030204" pitchFamily="49" charset="0"/>
              </a:rPr>
              <a:t> main()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{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latin typeface="Consolas" panose="020B0609020204030204" pitchFamily="49" charset="0"/>
              </a:rPr>
              <a:t> count = 1;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latin typeface="Consolas" panose="020B0609020204030204" pitchFamily="49" charset="0"/>
              </a:rPr>
              <a:t>&amp; r = count;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cout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"count is "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latin typeface="Consolas" panose="020B0609020204030204" pitchFamily="49" charset="0"/>
              </a:rPr>
              <a:t> count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</a:rPr>
              <a:t>endl</a:t>
            </a:r>
            <a:r>
              <a:rPr lang="en-US" sz="2000" dirty="0">
                <a:latin typeface="Consolas" panose="020B0609020204030204" pitchFamily="49" charset="0"/>
              </a:rPr>
              <a:t>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cout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"r is "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latin typeface="Consolas" panose="020B0609020204030204" pitchFamily="49" charset="0"/>
              </a:rPr>
              <a:t> r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</a:rPr>
              <a:t>endl</a:t>
            </a:r>
            <a:r>
              <a:rPr lang="en-US" sz="2000" dirty="0">
                <a:latin typeface="Consolas" panose="020B0609020204030204" pitchFamily="49" charset="0"/>
              </a:rPr>
              <a:t>;</a:t>
            </a:r>
          </a:p>
          <a:p>
            <a:endParaRPr lang="en-US" sz="2000" dirty="0">
              <a:latin typeface="Consolas" panose="020B0609020204030204" pitchFamily="49" charset="0"/>
            </a:endParaRPr>
          </a:p>
          <a:p>
            <a:r>
              <a:rPr lang="en-US" sz="2000" dirty="0">
                <a:latin typeface="Consolas" panose="020B0609020204030204" pitchFamily="49" charset="0"/>
              </a:rPr>
              <a:t>  r++;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cout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"count is "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latin typeface="Consolas" panose="020B0609020204030204" pitchFamily="49" charset="0"/>
              </a:rPr>
              <a:t> count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</a:rPr>
              <a:t>endl</a:t>
            </a:r>
            <a:r>
              <a:rPr lang="en-US" sz="2000" dirty="0">
                <a:latin typeface="Consolas" panose="020B0609020204030204" pitchFamily="49" charset="0"/>
              </a:rPr>
              <a:t>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cout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"r is "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latin typeface="Consolas" panose="020B0609020204030204" pitchFamily="49" charset="0"/>
              </a:rPr>
              <a:t> r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</a:rPr>
              <a:t>endl</a:t>
            </a:r>
            <a:r>
              <a:rPr lang="en-US" sz="2000" dirty="0">
                <a:latin typeface="Consolas" panose="020B0609020204030204" pitchFamily="49" charset="0"/>
              </a:rPr>
              <a:t>;</a:t>
            </a:r>
          </a:p>
          <a:p>
            <a:endParaRPr lang="en-US" sz="2000" dirty="0">
              <a:latin typeface="Consolas" panose="020B0609020204030204" pitchFamily="49" charset="0"/>
            </a:endParaRPr>
          </a:p>
          <a:p>
            <a:r>
              <a:rPr lang="en-US" sz="2000" dirty="0">
                <a:latin typeface="Consolas" panose="020B0609020204030204" pitchFamily="49" charset="0"/>
              </a:rPr>
              <a:t>  count = 10;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cout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"count is "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latin typeface="Consolas" panose="020B0609020204030204" pitchFamily="49" charset="0"/>
              </a:rPr>
              <a:t> count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</a:rPr>
              <a:t>endl</a:t>
            </a:r>
            <a:r>
              <a:rPr lang="en-US" sz="2000" dirty="0">
                <a:latin typeface="Consolas" panose="020B0609020204030204" pitchFamily="49" charset="0"/>
              </a:rPr>
              <a:t>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cout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"r is "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latin typeface="Consolas" panose="020B0609020204030204" pitchFamily="49" charset="0"/>
              </a:rPr>
              <a:t> r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</a:rPr>
              <a:t>endl</a:t>
            </a:r>
            <a:r>
              <a:rPr lang="en-US" sz="2000" dirty="0">
                <a:latin typeface="Consolas" panose="020B0609020204030204" pitchFamily="49" charset="0"/>
              </a:rPr>
              <a:t>;</a:t>
            </a:r>
          </a:p>
          <a:p>
            <a:endParaRPr lang="en-US" sz="2000" dirty="0">
              <a:latin typeface="Consolas" panose="020B0609020204030204" pitchFamily="49" charset="0"/>
            </a:endParaRPr>
          </a:p>
          <a:p>
            <a:r>
              <a:rPr lang="en-US" sz="2000" dirty="0">
                <a:latin typeface="Consolas" panose="020B0609020204030204" pitchFamily="49" charset="0"/>
              </a:rPr>
              <a:t> 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>
                <a:latin typeface="Consolas" panose="020B0609020204030204" pitchFamily="49" charset="0"/>
              </a:rPr>
              <a:t> 0;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4DC22F1-5A95-429D-AC01-D70379AFC209}"/>
              </a:ext>
            </a:extLst>
          </p:cNvPr>
          <p:cNvSpPr/>
          <p:nvPr/>
        </p:nvSpPr>
        <p:spPr>
          <a:xfrm>
            <a:off x="7136674" y="4327467"/>
            <a:ext cx="2519489" cy="1754326"/>
          </a:xfrm>
          <a:prstGeom prst="rect">
            <a:avLst/>
          </a:prstGeom>
          <a:solidFill>
            <a:schemeClr val="tx1"/>
          </a:solidFill>
          <a:ln w="28575">
            <a:solidFill>
              <a:schemeClr val="bg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87FF19"/>
                </a:solidFill>
                <a:latin typeface="Consolas" panose="020B0609020204030204" pitchFamily="49" charset="0"/>
              </a:rPr>
              <a:t>count is 1</a:t>
            </a:r>
          </a:p>
          <a:p>
            <a:r>
              <a:rPr lang="en-US">
                <a:solidFill>
                  <a:srgbClr val="87FF19"/>
                </a:solidFill>
                <a:latin typeface="Consolas" panose="020B0609020204030204" pitchFamily="49" charset="0"/>
              </a:rPr>
              <a:t>r is 1</a:t>
            </a:r>
          </a:p>
          <a:p>
            <a:r>
              <a:rPr lang="en-US">
                <a:solidFill>
                  <a:srgbClr val="87FF19"/>
                </a:solidFill>
                <a:latin typeface="Consolas" panose="020B0609020204030204" pitchFamily="49" charset="0"/>
              </a:rPr>
              <a:t>count is 2</a:t>
            </a:r>
          </a:p>
          <a:p>
            <a:r>
              <a:rPr lang="en-US">
                <a:solidFill>
                  <a:srgbClr val="87FF19"/>
                </a:solidFill>
                <a:latin typeface="Consolas" panose="020B0609020204030204" pitchFamily="49" charset="0"/>
              </a:rPr>
              <a:t>r is 2</a:t>
            </a:r>
          </a:p>
          <a:p>
            <a:r>
              <a:rPr lang="en-US">
                <a:solidFill>
                  <a:srgbClr val="87FF19"/>
                </a:solidFill>
                <a:latin typeface="Consolas" panose="020B0609020204030204" pitchFamily="49" charset="0"/>
              </a:rPr>
              <a:t>count is 10</a:t>
            </a:r>
          </a:p>
          <a:p>
            <a:r>
              <a:rPr lang="en-US">
                <a:solidFill>
                  <a:srgbClr val="87FF19"/>
                </a:solidFill>
                <a:latin typeface="Consolas" panose="020B0609020204030204" pitchFamily="49" charset="0"/>
              </a:rPr>
              <a:t>r is 10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652356" y="0"/>
            <a:ext cx="1689004" cy="505267"/>
          </a:xfrm>
          <a:custGeom>
            <a:avLst/>
            <a:gdLst/>
            <a:ahLst/>
            <a:cxnLst/>
            <a:rect l="l" t="t" r="r" b="b"/>
            <a:pathLst>
              <a:path w="1461770" h="624840">
                <a:moveTo>
                  <a:pt x="1461516" y="0"/>
                </a:moveTo>
                <a:lnTo>
                  <a:pt x="0" y="0"/>
                </a:lnTo>
                <a:lnTo>
                  <a:pt x="0" y="624839"/>
                </a:lnTo>
                <a:lnTo>
                  <a:pt x="1461516" y="624839"/>
                </a:lnTo>
                <a:lnTo>
                  <a:pt x="1461516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1CD203C-4249-4C1D-A9FB-2DFFEC988227}" type="slidenum">
              <a:rPr lang="en-US" altLang="en-US" smtClean="0"/>
              <a:pPr/>
              <a:t>22</a:t>
            </a:fld>
            <a:endParaRPr lang="en-US" altLang="en-US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 idx="4294967295"/>
          </p:nvPr>
        </p:nvSpPr>
        <p:spPr>
          <a:xfrm>
            <a:off x="1970259" y="-19157"/>
            <a:ext cx="998728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10" dirty="0">
                <a:solidFill>
                  <a:srgbClr val="0070C0"/>
                </a:solidFill>
                <a:latin typeface="Arial"/>
                <a:cs typeface="Arial"/>
              </a:rPr>
              <a:t>Combining Data into Structures</a:t>
            </a:r>
          </a:p>
        </p:txBody>
      </p:sp>
      <p:sp>
        <p:nvSpPr>
          <p:cNvPr id="4" name="object 4"/>
          <p:cNvSpPr/>
          <p:nvPr/>
        </p:nvSpPr>
        <p:spPr>
          <a:xfrm>
            <a:off x="1800714" y="5360805"/>
            <a:ext cx="169545" cy="356870"/>
          </a:xfrm>
          <a:custGeom>
            <a:avLst/>
            <a:gdLst/>
            <a:ahLst/>
            <a:cxnLst/>
            <a:rect l="l" t="t" r="r" b="b"/>
            <a:pathLst>
              <a:path w="169544" h="356870">
                <a:moveTo>
                  <a:pt x="169163" y="0"/>
                </a:moveTo>
                <a:lnTo>
                  <a:pt x="0" y="0"/>
                </a:lnTo>
                <a:lnTo>
                  <a:pt x="0" y="356615"/>
                </a:lnTo>
                <a:lnTo>
                  <a:pt x="169163" y="356615"/>
                </a:lnTo>
                <a:lnTo>
                  <a:pt x="169163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78839" y="1140663"/>
            <a:ext cx="10827608" cy="1391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95"/>
              </a:spcBef>
              <a:buFont typeface="Wingdings" panose="05000000000000000000" pitchFamily="2" charset="2"/>
              <a:buChar char="§"/>
            </a:pPr>
            <a:r>
              <a:rPr sz="2800" b="1" u="sng" dirty="0">
                <a:solidFill>
                  <a:srgbClr val="C0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Structure</a:t>
            </a:r>
            <a:r>
              <a:rPr sz="2800" b="1" dirty="0">
                <a:solidFill>
                  <a:srgbClr val="C00000"/>
                </a:solidFill>
                <a:latin typeface="Arial"/>
                <a:cs typeface="Arial"/>
              </a:rPr>
              <a:t>: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C++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construct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that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allows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b="1" i="1" dirty="0">
                <a:solidFill>
                  <a:srgbClr val="C00000"/>
                </a:solidFill>
                <a:latin typeface="Arial"/>
                <a:cs typeface="Arial"/>
              </a:rPr>
              <a:t>multiple</a:t>
            </a:r>
            <a:r>
              <a:rPr sz="2800" b="1" i="1" spc="-7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i="1" dirty="0">
                <a:solidFill>
                  <a:srgbClr val="C00000"/>
                </a:solidFill>
                <a:latin typeface="Arial"/>
                <a:cs typeface="Arial"/>
              </a:rPr>
              <a:t>variables</a:t>
            </a:r>
            <a:r>
              <a:rPr sz="2800" b="1" i="1" spc="-8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to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be </a:t>
            </a:r>
            <a:r>
              <a:rPr sz="2800" dirty="0">
                <a:latin typeface="Arial"/>
                <a:cs typeface="Arial"/>
              </a:rPr>
              <a:t>grouped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together</a:t>
            </a:r>
            <a:r>
              <a:rPr lang="en-US" sz="2800" spc="-10" dirty="0">
                <a:latin typeface="Arial"/>
                <a:cs typeface="Arial"/>
              </a:rPr>
              <a:t>.</a:t>
            </a:r>
            <a:endParaRPr sz="2800" dirty="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675"/>
              </a:spcBef>
              <a:buFont typeface="Wingdings" panose="05000000000000000000" pitchFamily="2" charset="2"/>
              <a:buChar char="§"/>
            </a:pPr>
            <a:r>
              <a:rPr sz="2800" b="1" dirty="0">
                <a:solidFill>
                  <a:srgbClr val="C00000"/>
                </a:solidFill>
                <a:latin typeface="Arial"/>
                <a:cs typeface="Arial"/>
              </a:rPr>
              <a:t>General</a:t>
            </a:r>
            <a:r>
              <a:rPr sz="2800" b="1" spc="-7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C00000"/>
                </a:solidFill>
                <a:latin typeface="Arial"/>
                <a:cs typeface="Arial"/>
              </a:rPr>
              <a:t>Format</a:t>
            </a:r>
            <a:r>
              <a:rPr sz="2800" spc="-10" dirty="0">
                <a:latin typeface="Arial"/>
                <a:cs typeface="Arial"/>
              </a:rPr>
              <a:t>: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20462" y="2764232"/>
            <a:ext cx="2883535" cy="222186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2400" dirty="0">
                <a:solidFill>
                  <a:srgbClr val="0000FF"/>
                </a:solidFill>
                <a:latin typeface="Consolas"/>
                <a:cs typeface="Consolas"/>
              </a:rPr>
              <a:t>struct</a:t>
            </a:r>
            <a:r>
              <a:rPr sz="2400" spc="1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400" spc="-10" dirty="0">
                <a:solidFill>
                  <a:srgbClr val="2B91AE"/>
                </a:solidFill>
                <a:latin typeface="Consolas"/>
                <a:cs typeface="Consolas"/>
              </a:rPr>
              <a:t>structName</a:t>
            </a:r>
            <a:endParaRPr sz="24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400" dirty="0">
                <a:latin typeface="Consolas"/>
                <a:cs typeface="Consolas"/>
              </a:rPr>
              <a:t>{</a:t>
            </a:r>
          </a:p>
          <a:p>
            <a:pPr marL="299085" marR="389255">
              <a:lnSpc>
                <a:spcPts val="3460"/>
              </a:lnSpc>
              <a:spcBef>
                <a:spcPts val="204"/>
              </a:spcBef>
            </a:pPr>
            <a:r>
              <a:rPr sz="2400" dirty="0">
                <a:latin typeface="Consolas"/>
                <a:cs typeface="Consolas"/>
              </a:rPr>
              <a:t>type1</a:t>
            </a:r>
            <a:r>
              <a:rPr sz="2400" spc="20" dirty="0">
                <a:latin typeface="Consolas"/>
                <a:cs typeface="Consolas"/>
              </a:rPr>
              <a:t> </a:t>
            </a:r>
            <a:r>
              <a:rPr sz="2400" spc="-10" dirty="0">
                <a:latin typeface="Consolas"/>
                <a:cs typeface="Consolas"/>
              </a:rPr>
              <a:t>field1; </a:t>
            </a:r>
            <a:r>
              <a:rPr sz="2400" dirty="0">
                <a:latin typeface="Consolas"/>
                <a:cs typeface="Consolas"/>
              </a:rPr>
              <a:t>type2</a:t>
            </a:r>
            <a:r>
              <a:rPr sz="2400" spc="20" dirty="0">
                <a:latin typeface="Consolas"/>
                <a:cs typeface="Consolas"/>
              </a:rPr>
              <a:t> </a:t>
            </a:r>
            <a:r>
              <a:rPr sz="2400" spc="-10" dirty="0">
                <a:latin typeface="Consolas"/>
                <a:cs typeface="Consolas"/>
              </a:rPr>
              <a:t>field2;</a:t>
            </a:r>
            <a:endParaRPr sz="2400" dirty="0">
              <a:latin typeface="Consolas"/>
              <a:cs typeface="Consolas"/>
            </a:endParaRPr>
          </a:p>
          <a:p>
            <a:pPr marL="299085">
              <a:lnSpc>
                <a:spcPct val="100000"/>
              </a:lnSpc>
              <a:spcBef>
                <a:spcPts val="365"/>
              </a:spcBef>
            </a:pPr>
            <a:r>
              <a:rPr sz="2400" dirty="0">
                <a:latin typeface="Consolas"/>
                <a:cs typeface="Consolas"/>
              </a:rPr>
              <a:t>. .</a:t>
            </a:r>
            <a:r>
              <a:rPr sz="2400" spc="10" dirty="0">
                <a:latin typeface="Consolas"/>
                <a:cs typeface="Consolas"/>
              </a:rPr>
              <a:t> </a:t>
            </a:r>
            <a:r>
              <a:rPr sz="2400" spc="-50" dirty="0">
                <a:latin typeface="Consolas"/>
                <a:cs typeface="Consolas"/>
              </a:rPr>
              <a:t>.</a:t>
            </a:r>
            <a:endParaRPr sz="2400" dirty="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20462" y="5323709"/>
            <a:ext cx="3606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onsolas"/>
                <a:cs typeface="Consolas"/>
              </a:rPr>
              <a:t>};</a:t>
            </a:r>
            <a:endParaRPr sz="2400">
              <a:latin typeface="Consolas"/>
              <a:cs typeface="Consola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337712" y="5529100"/>
            <a:ext cx="169545" cy="356870"/>
          </a:xfrm>
          <a:custGeom>
            <a:avLst/>
            <a:gdLst/>
            <a:ahLst/>
            <a:cxnLst/>
            <a:rect l="l" t="t" r="r" b="b"/>
            <a:pathLst>
              <a:path w="169545" h="356870">
                <a:moveTo>
                  <a:pt x="169163" y="0"/>
                </a:moveTo>
                <a:lnTo>
                  <a:pt x="0" y="0"/>
                </a:lnTo>
                <a:lnTo>
                  <a:pt x="0" y="356616"/>
                </a:lnTo>
                <a:lnTo>
                  <a:pt x="169163" y="356616"/>
                </a:lnTo>
                <a:lnTo>
                  <a:pt x="169163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158007" y="2783843"/>
            <a:ext cx="3011805" cy="266065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2400" dirty="0">
                <a:solidFill>
                  <a:srgbClr val="0000FF"/>
                </a:solidFill>
                <a:latin typeface="Consolas"/>
                <a:cs typeface="Consolas"/>
              </a:rPr>
              <a:t>struct</a:t>
            </a:r>
            <a:r>
              <a:rPr sz="2400" spc="2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400" spc="-10" dirty="0">
                <a:solidFill>
                  <a:srgbClr val="2B91AE"/>
                </a:solidFill>
                <a:latin typeface="Consolas"/>
                <a:cs typeface="Consolas"/>
              </a:rPr>
              <a:t>Student</a:t>
            </a:r>
            <a:endParaRPr sz="24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Consolas"/>
                <a:cs typeface="Consolas"/>
              </a:rPr>
              <a:t>{</a:t>
            </a:r>
          </a:p>
          <a:p>
            <a:pPr marL="643890">
              <a:lnSpc>
                <a:spcPct val="100000"/>
              </a:lnSpc>
              <a:spcBef>
                <a:spcPts val="580"/>
              </a:spcBef>
            </a:pPr>
            <a:r>
              <a:rPr sz="240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2400" spc="1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400" spc="-10" dirty="0">
                <a:latin typeface="Consolas"/>
                <a:cs typeface="Consolas"/>
              </a:rPr>
              <a:t>studentID;</a:t>
            </a:r>
            <a:endParaRPr sz="2400" dirty="0">
              <a:latin typeface="Consolas"/>
              <a:cs typeface="Consolas"/>
            </a:endParaRPr>
          </a:p>
          <a:p>
            <a:pPr marL="643890" marR="173355">
              <a:lnSpc>
                <a:spcPct val="120000"/>
              </a:lnSpc>
            </a:pPr>
            <a:r>
              <a:rPr sz="2400" dirty="0">
                <a:solidFill>
                  <a:srgbClr val="2B91AE"/>
                </a:solidFill>
                <a:latin typeface="Consolas"/>
                <a:cs typeface="Consolas"/>
              </a:rPr>
              <a:t>string</a:t>
            </a:r>
            <a:r>
              <a:rPr sz="2400" spc="25" dirty="0">
                <a:solidFill>
                  <a:srgbClr val="2B91AE"/>
                </a:solidFill>
                <a:latin typeface="Consolas"/>
                <a:cs typeface="Consolas"/>
              </a:rPr>
              <a:t> </a:t>
            </a:r>
            <a:r>
              <a:rPr sz="2400" spc="-10" dirty="0">
                <a:latin typeface="Consolas"/>
                <a:cs typeface="Consolas"/>
              </a:rPr>
              <a:t>name; </a:t>
            </a:r>
            <a:r>
              <a:rPr sz="2400" dirty="0">
                <a:solidFill>
                  <a:srgbClr val="0000FF"/>
                </a:solidFill>
                <a:latin typeface="Consolas"/>
                <a:cs typeface="Consolas"/>
              </a:rPr>
              <a:t>short</a:t>
            </a:r>
            <a:r>
              <a:rPr sz="2400" spc="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400" spc="-10" dirty="0">
                <a:latin typeface="Consolas"/>
                <a:cs typeface="Consolas"/>
              </a:rPr>
              <a:t>intake; </a:t>
            </a:r>
            <a:r>
              <a:rPr sz="2400" dirty="0">
                <a:solidFill>
                  <a:srgbClr val="0000FF"/>
                </a:solidFill>
                <a:latin typeface="Consolas"/>
                <a:cs typeface="Consolas"/>
              </a:rPr>
              <a:t>double</a:t>
            </a:r>
            <a:r>
              <a:rPr sz="2400" spc="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400" spc="-20" dirty="0">
                <a:latin typeface="Consolas"/>
                <a:cs typeface="Consolas"/>
              </a:rPr>
              <a:t>gpa;</a:t>
            </a:r>
            <a:endParaRPr sz="2400" dirty="0">
              <a:latin typeface="Consolas"/>
              <a:cs typeface="Consola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158007" y="5491928"/>
            <a:ext cx="3606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onsolas"/>
                <a:cs typeface="Consolas"/>
              </a:rPr>
              <a:t>};</a:t>
            </a:r>
            <a:endParaRPr sz="2400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219687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/>
      <p:bldP spid="1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BE9DC-AD9C-C506-296A-54B1E13F1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BF99E6E-C42C-AA42-C77F-15B394AE3B9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1CD203C-4249-4C1D-A9FB-2DFFEC988227}" type="slidenum">
              <a:rPr lang="en-US" altLang="en-US" smtClean="0"/>
              <a:pPr/>
              <a:t>23</a:t>
            </a:fld>
            <a:endParaRPr lang="en-US" altLang="en-US" dirty="0"/>
          </a:p>
        </p:txBody>
      </p:sp>
      <p:sp>
        <p:nvSpPr>
          <p:cNvPr id="21" name="object 3">
            <a:extLst>
              <a:ext uri="{FF2B5EF4-FFF2-40B4-BE49-F238E27FC236}">
                <a16:creationId xmlns:a16="http://schemas.microsoft.com/office/drawing/2014/main" id="{3A4A1588-5189-5451-A6CA-46948C90F5F0}"/>
              </a:ext>
            </a:extLst>
          </p:cNvPr>
          <p:cNvSpPr/>
          <p:nvPr/>
        </p:nvSpPr>
        <p:spPr>
          <a:xfrm>
            <a:off x="3895852" y="1138554"/>
            <a:ext cx="3852545" cy="711835"/>
          </a:xfrm>
          <a:custGeom>
            <a:avLst/>
            <a:gdLst/>
            <a:ahLst/>
            <a:cxnLst/>
            <a:rect l="l" t="t" r="r" b="b"/>
            <a:pathLst>
              <a:path w="3852545" h="711835">
                <a:moveTo>
                  <a:pt x="76153" y="31298"/>
                </a:moveTo>
                <a:lnTo>
                  <a:pt x="73960" y="43761"/>
                </a:lnTo>
                <a:lnTo>
                  <a:pt x="3850004" y="711708"/>
                </a:lnTo>
                <a:lnTo>
                  <a:pt x="3852291" y="699262"/>
                </a:lnTo>
                <a:lnTo>
                  <a:pt x="76153" y="31298"/>
                </a:lnTo>
                <a:close/>
              </a:path>
              <a:path w="3852545" h="711835">
                <a:moveTo>
                  <a:pt x="81661" y="0"/>
                </a:moveTo>
                <a:lnTo>
                  <a:pt x="0" y="24257"/>
                </a:lnTo>
                <a:lnTo>
                  <a:pt x="68452" y="75057"/>
                </a:lnTo>
                <a:lnTo>
                  <a:pt x="73960" y="43761"/>
                </a:lnTo>
                <a:lnTo>
                  <a:pt x="61340" y="41529"/>
                </a:lnTo>
                <a:lnTo>
                  <a:pt x="63626" y="29083"/>
                </a:lnTo>
                <a:lnTo>
                  <a:pt x="76543" y="29083"/>
                </a:lnTo>
                <a:lnTo>
                  <a:pt x="81661" y="0"/>
                </a:lnTo>
                <a:close/>
              </a:path>
              <a:path w="3852545" h="711835">
                <a:moveTo>
                  <a:pt x="63626" y="29083"/>
                </a:moveTo>
                <a:lnTo>
                  <a:pt x="61340" y="41529"/>
                </a:lnTo>
                <a:lnTo>
                  <a:pt x="73960" y="43761"/>
                </a:lnTo>
                <a:lnTo>
                  <a:pt x="76153" y="31298"/>
                </a:lnTo>
                <a:lnTo>
                  <a:pt x="63626" y="29083"/>
                </a:lnTo>
                <a:close/>
              </a:path>
              <a:path w="3852545" h="711835">
                <a:moveTo>
                  <a:pt x="76543" y="29083"/>
                </a:moveTo>
                <a:lnTo>
                  <a:pt x="63626" y="29083"/>
                </a:lnTo>
                <a:lnTo>
                  <a:pt x="76153" y="31298"/>
                </a:lnTo>
                <a:lnTo>
                  <a:pt x="76543" y="290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2" name="object 4">
            <a:extLst>
              <a:ext uri="{FF2B5EF4-FFF2-40B4-BE49-F238E27FC236}">
                <a16:creationId xmlns:a16="http://schemas.microsoft.com/office/drawing/2014/main" id="{BA3EAC8A-B525-5A5F-9968-32FD57D588B6}"/>
              </a:ext>
            </a:extLst>
          </p:cNvPr>
          <p:cNvSpPr txBox="1"/>
          <p:nvPr/>
        </p:nvSpPr>
        <p:spPr>
          <a:xfrm>
            <a:off x="7598029" y="1641474"/>
            <a:ext cx="2569210" cy="1077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structure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tag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structure</a:t>
            </a:r>
            <a:r>
              <a:rPr kumimoji="0" sz="24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members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grpSp>
        <p:nvGrpSpPr>
          <p:cNvPr id="23" name="object 5">
            <a:extLst>
              <a:ext uri="{FF2B5EF4-FFF2-40B4-BE49-F238E27FC236}">
                <a16:creationId xmlns:a16="http://schemas.microsoft.com/office/drawing/2014/main" id="{2D2B9211-5898-DAA0-5BA6-1E4A7E7E5329}"/>
              </a:ext>
            </a:extLst>
          </p:cNvPr>
          <p:cNvGrpSpPr/>
          <p:nvPr/>
        </p:nvGrpSpPr>
        <p:grpSpPr>
          <a:xfrm>
            <a:off x="3776979" y="2268982"/>
            <a:ext cx="3670300" cy="1859914"/>
            <a:chOff x="4335779" y="3091942"/>
            <a:chExt cx="3670300" cy="1859914"/>
          </a:xfrm>
        </p:grpSpPr>
        <p:sp>
          <p:nvSpPr>
            <p:cNvPr id="24" name="object 6">
              <a:extLst>
                <a:ext uri="{FF2B5EF4-FFF2-40B4-BE49-F238E27FC236}">
                  <a16:creationId xmlns:a16="http://schemas.microsoft.com/office/drawing/2014/main" id="{4C7E13A4-50DD-BC0B-B6AF-7D7B9153CFA8}"/>
                </a:ext>
              </a:extLst>
            </p:cNvPr>
            <p:cNvSpPr/>
            <p:nvPr/>
          </p:nvSpPr>
          <p:spPr>
            <a:xfrm>
              <a:off x="4454652" y="3091941"/>
              <a:ext cx="3548379" cy="1236980"/>
            </a:xfrm>
            <a:custGeom>
              <a:avLst/>
              <a:gdLst/>
              <a:ahLst/>
              <a:cxnLst/>
              <a:rect l="l" t="t" r="r" b="b"/>
              <a:pathLst>
                <a:path w="3548379" h="1236979">
                  <a:moveTo>
                    <a:pt x="3548126" y="266954"/>
                  </a:moveTo>
                  <a:lnTo>
                    <a:pt x="3546348" y="260858"/>
                  </a:lnTo>
                  <a:lnTo>
                    <a:pt x="3546856" y="254508"/>
                  </a:lnTo>
                  <a:lnTo>
                    <a:pt x="574827" y="31699"/>
                  </a:lnTo>
                  <a:lnTo>
                    <a:pt x="574890" y="30734"/>
                  </a:lnTo>
                  <a:lnTo>
                    <a:pt x="577215" y="0"/>
                  </a:lnTo>
                  <a:lnTo>
                    <a:pt x="498348" y="32258"/>
                  </a:lnTo>
                  <a:lnTo>
                    <a:pt x="571500" y="75946"/>
                  </a:lnTo>
                  <a:lnTo>
                    <a:pt x="573874" y="44259"/>
                  </a:lnTo>
                  <a:lnTo>
                    <a:pt x="3478149" y="262140"/>
                  </a:lnTo>
                  <a:lnTo>
                    <a:pt x="75044" y="646785"/>
                  </a:lnTo>
                  <a:lnTo>
                    <a:pt x="71501" y="615188"/>
                  </a:lnTo>
                  <a:lnTo>
                    <a:pt x="0" y="661670"/>
                  </a:lnTo>
                  <a:lnTo>
                    <a:pt x="80010" y="691007"/>
                  </a:lnTo>
                  <a:lnTo>
                    <a:pt x="76631" y="660908"/>
                  </a:lnTo>
                  <a:lnTo>
                    <a:pt x="76466" y="659472"/>
                  </a:lnTo>
                  <a:lnTo>
                    <a:pt x="3471214" y="275793"/>
                  </a:lnTo>
                  <a:lnTo>
                    <a:pt x="268058" y="1193876"/>
                  </a:lnTo>
                  <a:lnTo>
                    <a:pt x="259334" y="1163320"/>
                  </a:lnTo>
                  <a:lnTo>
                    <a:pt x="196596" y="1220978"/>
                  </a:lnTo>
                  <a:lnTo>
                    <a:pt x="280289" y="1236599"/>
                  </a:lnTo>
                  <a:lnTo>
                    <a:pt x="272542" y="1209548"/>
                  </a:lnTo>
                  <a:lnTo>
                    <a:pt x="271551" y="1206055"/>
                  </a:lnTo>
                  <a:lnTo>
                    <a:pt x="3548126" y="26695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5" name="object 7">
              <a:extLst>
                <a:ext uri="{FF2B5EF4-FFF2-40B4-BE49-F238E27FC236}">
                  <a16:creationId xmlns:a16="http://schemas.microsoft.com/office/drawing/2014/main" id="{A687E6DB-734B-4B96-35CE-E661557D503C}"/>
                </a:ext>
              </a:extLst>
            </p:cNvPr>
            <p:cNvSpPr/>
            <p:nvPr/>
          </p:nvSpPr>
          <p:spPr>
            <a:xfrm>
              <a:off x="7239000" y="3352800"/>
              <a:ext cx="762000" cy="1447800"/>
            </a:xfrm>
            <a:custGeom>
              <a:avLst/>
              <a:gdLst/>
              <a:ahLst/>
              <a:cxnLst/>
              <a:rect l="l" t="t" r="r" b="b"/>
              <a:pathLst>
                <a:path w="762000" h="1447800">
                  <a:moveTo>
                    <a:pt x="762000" y="0"/>
                  </a:moveTo>
                  <a:lnTo>
                    <a:pt x="0" y="14478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6" name="object 8">
              <a:extLst>
                <a:ext uri="{FF2B5EF4-FFF2-40B4-BE49-F238E27FC236}">
                  <a16:creationId xmlns:a16="http://schemas.microsoft.com/office/drawing/2014/main" id="{54DB1DD7-222B-02B7-D992-AD8366276577}"/>
                </a:ext>
              </a:extLst>
            </p:cNvPr>
            <p:cNvSpPr/>
            <p:nvPr/>
          </p:nvSpPr>
          <p:spPr>
            <a:xfrm>
              <a:off x="4335779" y="4794250"/>
              <a:ext cx="2903855" cy="157480"/>
            </a:xfrm>
            <a:custGeom>
              <a:avLst/>
              <a:gdLst/>
              <a:ahLst/>
              <a:cxnLst/>
              <a:rect l="l" t="t" r="r" b="b"/>
              <a:pathLst>
                <a:path w="2903854" h="157479">
                  <a:moveTo>
                    <a:pt x="74675" y="81025"/>
                  </a:moveTo>
                  <a:lnTo>
                    <a:pt x="0" y="122174"/>
                  </a:lnTo>
                  <a:lnTo>
                    <a:pt x="77597" y="157225"/>
                  </a:lnTo>
                  <a:lnTo>
                    <a:pt x="76399" y="125983"/>
                  </a:lnTo>
                  <a:lnTo>
                    <a:pt x="63754" y="125983"/>
                  </a:lnTo>
                  <a:lnTo>
                    <a:pt x="63246" y="113283"/>
                  </a:lnTo>
                  <a:lnTo>
                    <a:pt x="75893" y="112779"/>
                  </a:lnTo>
                  <a:lnTo>
                    <a:pt x="74675" y="81025"/>
                  </a:lnTo>
                  <a:close/>
                </a:path>
                <a:path w="2903854" h="157479">
                  <a:moveTo>
                    <a:pt x="75893" y="112779"/>
                  </a:moveTo>
                  <a:lnTo>
                    <a:pt x="63246" y="113283"/>
                  </a:lnTo>
                  <a:lnTo>
                    <a:pt x="63754" y="125983"/>
                  </a:lnTo>
                  <a:lnTo>
                    <a:pt x="76380" y="125480"/>
                  </a:lnTo>
                  <a:lnTo>
                    <a:pt x="75893" y="112779"/>
                  </a:lnTo>
                  <a:close/>
                </a:path>
                <a:path w="2903854" h="157479">
                  <a:moveTo>
                    <a:pt x="76380" y="125480"/>
                  </a:moveTo>
                  <a:lnTo>
                    <a:pt x="63754" y="125983"/>
                  </a:lnTo>
                  <a:lnTo>
                    <a:pt x="76399" y="125983"/>
                  </a:lnTo>
                  <a:lnTo>
                    <a:pt x="76380" y="125480"/>
                  </a:lnTo>
                  <a:close/>
                </a:path>
                <a:path w="2903854" h="157479">
                  <a:moveTo>
                    <a:pt x="2902966" y="0"/>
                  </a:moveTo>
                  <a:lnTo>
                    <a:pt x="75893" y="112779"/>
                  </a:lnTo>
                  <a:lnTo>
                    <a:pt x="76380" y="125480"/>
                  </a:lnTo>
                  <a:lnTo>
                    <a:pt x="2903474" y="12700"/>
                  </a:lnTo>
                  <a:lnTo>
                    <a:pt x="29029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7" name="object 9">
            <a:extLst>
              <a:ext uri="{FF2B5EF4-FFF2-40B4-BE49-F238E27FC236}">
                <a16:creationId xmlns:a16="http://schemas.microsoft.com/office/drawing/2014/main" id="{330810B2-9E68-B1DD-42BF-C07104DCA265}"/>
              </a:ext>
            </a:extLst>
          </p:cNvPr>
          <p:cNvSpPr txBox="1"/>
          <p:nvPr/>
        </p:nvSpPr>
        <p:spPr>
          <a:xfrm>
            <a:off x="8141551" y="3845560"/>
            <a:ext cx="3382010" cy="2360930"/>
          </a:xfrm>
          <a:prstGeom prst="rect">
            <a:avLst/>
          </a:prstGeom>
          <a:ln w="9525">
            <a:solidFill>
              <a:srgbClr val="E7E6E6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92075" marR="0" lvl="0" indent="0" defTabSz="914400" eaLnBrk="1" fontAlgn="auto" latinLnBrk="0" hangingPunct="1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cs typeface="Consolas"/>
              </a:rPr>
              <a:t>int</a:t>
            </a:r>
            <a:r>
              <a:rPr kumimoji="0" sz="2400" b="0" i="0" u="none" strike="noStrike" kern="0" cap="none" spc="2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cs typeface="Consolas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Consolas"/>
              </a:rPr>
              <a:t>main()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cs typeface="Consolas"/>
            </a:endParaRPr>
          </a:p>
          <a:p>
            <a:pPr marL="92075" marR="0" lvl="0" indent="0" defTabSz="914400" eaLnBrk="1" fontAlgn="auto" latinLnBrk="0" hangingPunct="1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Consolas"/>
              </a:rPr>
              <a:t>{</a:t>
            </a:r>
          </a:p>
          <a:p>
            <a:pPr marL="717550" marR="301625" lvl="0" indent="0" defTabSz="914400" eaLnBrk="1" fontAlgn="auto" latinLnBrk="0" hangingPunct="1">
              <a:lnSpc>
                <a:spcPct val="100000"/>
              </a:lnSpc>
              <a:spcBef>
                <a:spcPts val="1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2B91AE"/>
                </a:solidFill>
                <a:effectLst/>
                <a:uLnTx/>
                <a:uFillTx/>
                <a:cs typeface="Consolas"/>
              </a:rPr>
              <a:t>Student</a:t>
            </a:r>
            <a:r>
              <a:rPr kumimoji="0" sz="2400" b="0" i="0" u="none" strike="noStrike" kern="0" cap="none" spc="35" normalizeH="0" baseline="0" noProof="0" dirty="0">
                <a:ln>
                  <a:noFill/>
                </a:ln>
                <a:solidFill>
                  <a:srgbClr val="2B91AE"/>
                </a:solidFill>
                <a:effectLst/>
                <a:uLnTx/>
                <a:uFillTx/>
                <a:cs typeface="Consolas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Consolas"/>
              </a:rPr>
              <a:t>adham;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2B91AE"/>
                </a:solidFill>
                <a:effectLst/>
                <a:uLnTx/>
                <a:uFillTx/>
                <a:cs typeface="Consolas"/>
              </a:rPr>
              <a:t>Student</a:t>
            </a:r>
            <a:r>
              <a:rPr kumimoji="0" sz="2400" b="0" i="0" u="none" strike="noStrike" kern="0" cap="none" spc="35" normalizeH="0" baseline="0" noProof="0" dirty="0">
                <a:ln>
                  <a:noFill/>
                </a:ln>
                <a:solidFill>
                  <a:srgbClr val="2B91AE"/>
                </a:solidFill>
                <a:effectLst/>
                <a:uLnTx/>
                <a:uFillTx/>
                <a:cs typeface="Consolas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Consolas"/>
              </a:rPr>
              <a:t>esraa;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cs typeface="Consolas"/>
            </a:endParaRPr>
          </a:p>
          <a:p>
            <a:pPr marL="71755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Cambria Math"/>
              </a:rPr>
              <a:t>⋮</a:t>
            </a:r>
          </a:p>
          <a:p>
            <a:pPr marL="92075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Cambria Math"/>
              </a:rPr>
              <a:t>}</a:t>
            </a:r>
          </a:p>
        </p:txBody>
      </p:sp>
      <p:sp>
        <p:nvSpPr>
          <p:cNvPr id="28" name="object 10">
            <a:extLst>
              <a:ext uri="{FF2B5EF4-FFF2-40B4-BE49-F238E27FC236}">
                <a16:creationId xmlns:a16="http://schemas.microsoft.com/office/drawing/2014/main" id="{8E840D20-DC78-2094-A547-7D967CBC61F6}"/>
              </a:ext>
            </a:extLst>
          </p:cNvPr>
          <p:cNvSpPr/>
          <p:nvPr/>
        </p:nvSpPr>
        <p:spPr>
          <a:xfrm>
            <a:off x="1858182" y="4303395"/>
            <a:ext cx="224154" cy="478790"/>
          </a:xfrm>
          <a:custGeom>
            <a:avLst/>
            <a:gdLst/>
            <a:ahLst/>
            <a:cxnLst/>
            <a:rect l="l" t="t" r="r" b="b"/>
            <a:pathLst>
              <a:path w="224155" h="478789">
                <a:moveTo>
                  <a:pt x="224028" y="0"/>
                </a:moveTo>
                <a:lnTo>
                  <a:pt x="0" y="0"/>
                </a:lnTo>
                <a:lnTo>
                  <a:pt x="0" y="478536"/>
                </a:lnTo>
                <a:lnTo>
                  <a:pt x="224028" y="478536"/>
                </a:lnTo>
                <a:lnTo>
                  <a:pt x="224028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9" name="object 11">
            <a:extLst>
              <a:ext uri="{FF2B5EF4-FFF2-40B4-BE49-F238E27FC236}">
                <a16:creationId xmlns:a16="http://schemas.microsoft.com/office/drawing/2014/main" id="{04257605-E115-4223-6809-87B366CD1D18}"/>
              </a:ext>
            </a:extLst>
          </p:cNvPr>
          <p:cNvSpPr txBox="1">
            <a:spLocks/>
          </p:cNvSpPr>
          <p:nvPr/>
        </p:nvSpPr>
        <p:spPr>
          <a:xfrm>
            <a:off x="1539780" y="827514"/>
            <a:ext cx="3775047" cy="3954671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869"/>
              </a:spcBef>
            </a:pPr>
            <a:r>
              <a:rPr lang="en-US" sz="2400" dirty="0">
                <a:solidFill>
                  <a:srgbClr val="0000FF"/>
                </a:solidFill>
              </a:rPr>
              <a:t>struct</a:t>
            </a:r>
            <a:r>
              <a:rPr lang="en-US" sz="2400" spc="-10" dirty="0">
                <a:solidFill>
                  <a:srgbClr val="0000FF"/>
                </a:solidFill>
              </a:rPr>
              <a:t> </a:t>
            </a:r>
            <a:r>
              <a:rPr lang="en-US" sz="2400" spc="-10" dirty="0"/>
              <a:t>Student</a:t>
            </a:r>
          </a:p>
          <a:p>
            <a:pPr marL="12700">
              <a:spcBef>
                <a:spcPts val="770"/>
              </a:spcBef>
            </a:pPr>
            <a:r>
              <a:rPr lang="en-US" sz="2400" dirty="0">
                <a:solidFill>
                  <a:srgbClr val="000000"/>
                </a:solidFill>
              </a:rPr>
              <a:t>{</a:t>
            </a:r>
          </a:p>
          <a:p>
            <a:pPr marL="643255" marR="5080">
              <a:lnSpc>
                <a:spcPct val="120000"/>
              </a:lnSpc>
            </a:pPr>
            <a:r>
              <a:rPr lang="en-US" sz="2400" dirty="0">
                <a:solidFill>
                  <a:srgbClr val="0000FF"/>
                </a:solidFill>
              </a:rPr>
              <a:t>int</a:t>
            </a:r>
            <a:r>
              <a:rPr lang="en-US" sz="2400" spc="5" dirty="0">
                <a:solidFill>
                  <a:srgbClr val="0000FF"/>
                </a:solidFill>
              </a:rPr>
              <a:t> </a:t>
            </a:r>
            <a:r>
              <a:rPr lang="en-US" sz="2400" spc="-10" dirty="0" err="1">
                <a:solidFill>
                  <a:srgbClr val="000000"/>
                </a:solidFill>
              </a:rPr>
              <a:t>studentID</a:t>
            </a:r>
            <a:r>
              <a:rPr lang="en-US" sz="2400" spc="-10" dirty="0">
                <a:solidFill>
                  <a:srgbClr val="000000"/>
                </a:solidFill>
              </a:rPr>
              <a:t>; </a:t>
            </a:r>
          </a:p>
          <a:p>
            <a:pPr marL="643255" marR="5080">
              <a:lnSpc>
                <a:spcPct val="120000"/>
              </a:lnSpc>
            </a:pPr>
            <a:r>
              <a:rPr lang="en-US" sz="2400" dirty="0"/>
              <a:t>string</a:t>
            </a:r>
            <a:r>
              <a:rPr lang="en-US" sz="2400" spc="-5" dirty="0"/>
              <a:t> </a:t>
            </a:r>
            <a:r>
              <a:rPr lang="en-US" sz="2400" spc="-10" dirty="0">
                <a:solidFill>
                  <a:srgbClr val="000000"/>
                </a:solidFill>
              </a:rPr>
              <a:t>name; </a:t>
            </a:r>
          </a:p>
          <a:p>
            <a:pPr marL="643255" marR="5080">
              <a:lnSpc>
                <a:spcPct val="120000"/>
              </a:lnSpc>
            </a:pPr>
            <a:r>
              <a:rPr lang="en-US" sz="2400" dirty="0">
                <a:solidFill>
                  <a:srgbClr val="0000FF"/>
                </a:solidFill>
              </a:rPr>
              <a:t>short</a:t>
            </a:r>
            <a:r>
              <a:rPr lang="en-US" sz="2400" spc="-5" dirty="0">
                <a:solidFill>
                  <a:srgbClr val="0000FF"/>
                </a:solidFill>
              </a:rPr>
              <a:t> </a:t>
            </a:r>
            <a:r>
              <a:rPr lang="en-US" sz="2400" spc="-10" dirty="0">
                <a:solidFill>
                  <a:srgbClr val="000000"/>
                </a:solidFill>
              </a:rPr>
              <a:t>intake; </a:t>
            </a:r>
          </a:p>
          <a:p>
            <a:pPr marL="643255" marR="5080">
              <a:lnSpc>
                <a:spcPct val="120000"/>
              </a:lnSpc>
            </a:pPr>
            <a:r>
              <a:rPr lang="en-US" sz="2400" dirty="0">
                <a:solidFill>
                  <a:srgbClr val="0000FF"/>
                </a:solidFill>
              </a:rPr>
              <a:t>double</a:t>
            </a:r>
            <a:r>
              <a:rPr lang="en-US" sz="2400" spc="-15" dirty="0">
                <a:solidFill>
                  <a:srgbClr val="0000FF"/>
                </a:solidFill>
              </a:rPr>
              <a:t> </a:t>
            </a:r>
            <a:r>
              <a:rPr lang="en-US" sz="2400" spc="-20" dirty="0" err="1">
                <a:solidFill>
                  <a:srgbClr val="000000"/>
                </a:solidFill>
              </a:rPr>
              <a:t>gpa</a:t>
            </a:r>
            <a:r>
              <a:rPr lang="en-US" sz="2400" spc="-20" dirty="0">
                <a:solidFill>
                  <a:srgbClr val="000000"/>
                </a:solidFill>
              </a:rPr>
              <a:t>;</a:t>
            </a:r>
          </a:p>
          <a:p>
            <a:pPr marL="12700">
              <a:spcBef>
                <a:spcPts val="770"/>
              </a:spcBef>
            </a:pPr>
            <a:r>
              <a:rPr lang="en-US" sz="2400" spc="-25" dirty="0">
                <a:solidFill>
                  <a:srgbClr val="000000"/>
                </a:solidFill>
              </a:rPr>
              <a:t>};</a:t>
            </a:r>
          </a:p>
        </p:txBody>
      </p:sp>
      <p:sp>
        <p:nvSpPr>
          <p:cNvPr id="30" name="object 2">
            <a:extLst>
              <a:ext uri="{FF2B5EF4-FFF2-40B4-BE49-F238E27FC236}">
                <a16:creationId xmlns:a16="http://schemas.microsoft.com/office/drawing/2014/main" id="{EDACD5D6-3ECB-DC73-450D-5F9E4BBA5064}"/>
              </a:ext>
            </a:extLst>
          </p:cNvPr>
          <p:cNvSpPr txBox="1">
            <a:spLocks/>
          </p:cNvSpPr>
          <p:nvPr/>
        </p:nvSpPr>
        <p:spPr>
          <a:xfrm>
            <a:off x="2500630" y="11635"/>
            <a:ext cx="719074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12700">
              <a:spcBef>
                <a:spcPts val="100"/>
              </a:spcBef>
            </a:pPr>
            <a:r>
              <a:rPr lang="en-US" sz="3200" b="1" spc="-10" dirty="0">
                <a:solidFill>
                  <a:srgbClr val="0070C0"/>
                </a:solidFill>
              </a:rPr>
              <a:t>Example </a:t>
            </a:r>
            <a:r>
              <a:rPr lang="en-US" sz="3200" b="1" spc="-10" dirty="0">
                <a:solidFill>
                  <a:srgbClr val="C00000"/>
                </a:solidFill>
              </a:rPr>
              <a:t>struct</a:t>
            </a:r>
            <a:r>
              <a:rPr lang="en-US" sz="3200" b="1" spc="-10" dirty="0">
                <a:solidFill>
                  <a:srgbClr val="0070C0"/>
                </a:solidFill>
              </a:rPr>
              <a:t> Declaration</a:t>
            </a:r>
          </a:p>
        </p:txBody>
      </p:sp>
    </p:spTree>
    <p:extLst>
      <p:ext uri="{BB962C8B-B14F-4D97-AF65-F5344CB8AC3E}">
        <p14:creationId xmlns:p14="http://schemas.microsoft.com/office/powerpoint/2010/main" val="7668992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1CD203C-4249-4C1D-A9FB-2DFFEC988227}" type="slidenum">
              <a:rPr lang="en-US" altLang="en-US" smtClean="0"/>
              <a:pPr/>
              <a:t>24</a:t>
            </a:fld>
            <a:endParaRPr lang="en-US" alt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2956560" y="0"/>
            <a:ext cx="65278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10" dirty="0">
                <a:solidFill>
                  <a:srgbClr val="0070C0"/>
                </a:solidFill>
                <a:latin typeface="Arial"/>
                <a:cs typeface="Arial"/>
              </a:rPr>
              <a:t>Defining </a:t>
            </a:r>
            <a:r>
              <a:rPr sz="3200" b="1" spc="-10" dirty="0">
                <a:solidFill>
                  <a:srgbClr val="C00000"/>
                </a:solidFill>
                <a:latin typeface="Arial"/>
                <a:cs typeface="Arial"/>
              </a:rPr>
              <a:t>struct </a:t>
            </a:r>
            <a:r>
              <a:rPr sz="3200" b="1" spc="-10" dirty="0">
                <a:solidFill>
                  <a:srgbClr val="0070C0"/>
                </a:solidFill>
                <a:latin typeface="Arial"/>
                <a:cs typeface="Arial"/>
              </a:rPr>
              <a:t>Variables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8640" y="1221943"/>
            <a:ext cx="393191" cy="40568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8640" y="2304237"/>
            <a:ext cx="393191" cy="40568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78839" y="1128471"/>
            <a:ext cx="9940925" cy="2169795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 marR="5080">
              <a:lnSpc>
                <a:spcPct val="101899"/>
              </a:lnSpc>
              <a:spcBef>
                <a:spcPts val="30"/>
              </a:spcBef>
            </a:pPr>
            <a:r>
              <a:rPr sz="3200" dirty="0">
                <a:solidFill>
                  <a:srgbClr val="0000FF"/>
                </a:solidFill>
                <a:latin typeface="Consolas"/>
                <a:cs typeface="Consolas"/>
              </a:rPr>
              <a:t>struct</a:t>
            </a:r>
            <a:r>
              <a:rPr sz="3200" spc="-88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3200" dirty="0">
                <a:latin typeface="Arial"/>
                <a:cs typeface="Arial"/>
              </a:rPr>
              <a:t>declaration</a:t>
            </a:r>
            <a:r>
              <a:rPr sz="3200" spc="-80" dirty="0"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FF0000"/>
                </a:solidFill>
                <a:latin typeface="Arial"/>
                <a:cs typeface="Arial"/>
              </a:rPr>
              <a:t>does</a:t>
            </a:r>
            <a:r>
              <a:rPr sz="3200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FF0000"/>
                </a:solidFill>
                <a:latin typeface="Arial"/>
                <a:cs typeface="Arial"/>
              </a:rPr>
              <a:t>not</a:t>
            </a:r>
            <a:r>
              <a:rPr sz="3200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allocate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memory</a:t>
            </a:r>
            <a:r>
              <a:rPr sz="3200" spc="-5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or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create variables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3200" spc="-160" dirty="0">
                <a:latin typeface="Arial"/>
                <a:cs typeface="Arial"/>
              </a:rPr>
              <a:t>To</a:t>
            </a:r>
            <a:r>
              <a:rPr sz="3200" spc="-4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define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variables,</a:t>
            </a:r>
            <a:r>
              <a:rPr sz="3200" spc="-5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use</a:t>
            </a:r>
            <a:r>
              <a:rPr sz="3200" spc="-4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structure</a:t>
            </a:r>
            <a:r>
              <a:rPr sz="3200" spc="-5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tag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as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type</a:t>
            </a:r>
            <a:r>
              <a:rPr sz="3200" spc="-5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name:</a:t>
            </a:r>
            <a:endParaRPr sz="3200">
              <a:latin typeface="Arial"/>
              <a:cs typeface="Arial"/>
            </a:endParaRPr>
          </a:p>
          <a:p>
            <a:pPr marL="584200">
              <a:lnSpc>
                <a:spcPct val="100000"/>
              </a:lnSpc>
              <a:spcBef>
                <a:spcPts val="675"/>
              </a:spcBef>
            </a:pPr>
            <a:r>
              <a:rPr sz="3200" dirty="0">
                <a:solidFill>
                  <a:srgbClr val="2B91AE"/>
                </a:solidFill>
                <a:latin typeface="Consolas"/>
                <a:cs typeface="Consolas"/>
              </a:rPr>
              <a:t>Student</a:t>
            </a:r>
            <a:r>
              <a:rPr sz="3200" spc="5" dirty="0">
                <a:solidFill>
                  <a:srgbClr val="2B91AE"/>
                </a:solidFill>
                <a:latin typeface="Consolas"/>
                <a:cs typeface="Consolas"/>
              </a:rPr>
              <a:t> </a:t>
            </a:r>
            <a:r>
              <a:rPr sz="3200" spc="-10" dirty="0">
                <a:latin typeface="Consolas"/>
                <a:cs typeface="Consolas"/>
              </a:rPr>
              <a:t>hesham;</a:t>
            </a:r>
            <a:endParaRPr sz="32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01028" y="3886200"/>
            <a:ext cx="3505200" cy="22098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51435" rIns="0" bIns="0" rtlCol="0">
            <a:spAutoFit/>
          </a:bodyPr>
          <a:lstStyle/>
          <a:p>
            <a:pPr marL="151765">
              <a:lnSpc>
                <a:spcPct val="100000"/>
              </a:lnSpc>
              <a:spcBef>
                <a:spcPts val="405"/>
              </a:spcBef>
            </a:pPr>
            <a:r>
              <a:rPr sz="2000" spc="-10" dirty="0">
                <a:latin typeface="Courier New"/>
                <a:cs typeface="Courier New"/>
              </a:rPr>
              <a:t>studentID</a:t>
            </a:r>
            <a:endParaRPr sz="2000">
              <a:latin typeface="Courier New"/>
              <a:cs typeface="Courier New"/>
            </a:endParaRPr>
          </a:p>
          <a:p>
            <a:pPr marL="167640" marR="2414905" indent="-15875">
              <a:lnSpc>
                <a:spcPct val="158000"/>
              </a:lnSpc>
            </a:pPr>
            <a:r>
              <a:rPr sz="2000" spc="-20" dirty="0">
                <a:latin typeface="Courier New"/>
                <a:cs typeface="Courier New"/>
              </a:rPr>
              <a:t>name </a:t>
            </a:r>
            <a:r>
              <a:rPr sz="2000" spc="-10" dirty="0">
                <a:latin typeface="Courier New"/>
                <a:cs typeface="Courier New"/>
              </a:rPr>
              <a:t>intake</a:t>
            </a:r>
            <a:endParaRPr sz="2000">
              <a:latin typeface="Courier New"/>
              <a:cs typeface="Courier New"/>
            </a:endParaRPr>
          </a:p>
          <a:p>
            <a:pPr marL="151765">
              <a:lnSpc>
                <a:spcPct val="100000"/>
              </a:lnSpc>
              <a:spcBef>
                <a:spcPts val="1420"/>
              </a:spcBef>
            </a:pPr>
            <a:r>
              <a:rPr sz="2000" spc="-25" dirty="0">
                <a:latin typeface="Courier New"/>
                <a:cs typeface="Courier New"/>
              </a:rPr>
              <a:t>gpa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77428" y="3962400"/>
            <a:ext cx="1219200" cy="304800"/>
          </a:xfrm>
          <a:custGeom>
            <a:avLst/>
            <a:gdLst/>
            <a:ahLst/>
            <a:cxnLst/>
            <a:rect l="l" t="t" r="r" b="b"/>
            <a:pathLst>
              <a:path w="1219200" h="304800">
                <a:moveTo>
                  <a:pt x="0" y="304800"/>
                </a:moveTo>
                <a:lnTo>
                  <a:pt x="1219200" y="304800"/>
                </a:lnTo>
                <a:lnTo>
                  <a:pt x="1219200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539228" y="4445508"/>
            <a:ext cx="2057400" cy="304800"/>
          </a:xfrm>
          <a:custGeom>
            <a:avLst/>
            <a:gdLst/>
            <a:ahLst/>
            <a:cxnLst/>
            <a:rect l="l" t="t" r="r" b="b"/>
            <a:pathLst>
              <a:path w="2057400" h="304800">
                <a:moveTo>
                  <a:pt x="0" y="304800"/>
                </a:moveTo>
                <a:lnTo>
                  <a:pt x="2057400" y="304800"/>
                </a:lnTo>
                <a:lnTo>
                  <a:pt x="2057400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813547" y="4927091"/>
            <a:ext cx="1783080" cy="304800"/>
          </a:xfrm>
          <a:custGeom>
            <a:avLst/>
            <a:gdLst/>
            <a:ahLst/>
            <a:cxnLst/>
            <a:rect l="l" t="t" r="r" b="b"/>
            <a:pathLst>
              <a:path w="1783079" h="304800">
                <a:moveTo>
                  <a:pt x="0" y="304799"/>
                </a:moveTo>
                <a:lnTo>
                  <a:pt x="1783079" y="304799"/>
                </a:lnTo>
                <a:lnTo>
                  <a:pt x="1783079" y="0"/>
                </a:lnTo>
                <a:lnTo>
                  <a:pt x="0" y="0"/>
                </a:lnTo>
                <a:lnTo>
                  <a:pt x="0" y="304799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386828" y="5410200"/>
            <a:ext cx="2209800" cy="304800"/>
          </a:xfrm>
          <a:custGeom>
            <a:avLst/>
            <a:gdLst/>
            <a:ahLst/>
            <a:cxnLst/>
            <a:rect l="l" t="t" r="r" b="b"/>
            <a:pathLst>
              <a:path w="2209800" h="304800">
                <a:moveTo>
                  <a:pt x="0" y="304800"/>
                </a:moveTo>
                <a:lnTo>
                  <a:pt x="2209800" y="304800"/>
                </a:lnTo>
                <a:lnTo>
                  <a:pt x="2209800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221473" y="3543680"/>
            <a:ext cx="9398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Courier New"/>
                <a:cs typeface="Courier New"/>
              </a:rPr>
              <a:t>hesham</a:t>
            </a:r>
            <a:endParaRPr sz="20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41712841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8">
            <a:extLst>
              <a:ext uri="{FF2B5EF4-FFF2-40B4-BE49-F238E27FC236}">
                <a16:creationId xmlns:a16="http://schemas.microsoft.com/office/drawing/2014/main" id="{2F9EEE63-D620-D77F-C707-0DB5A4F18F38}"/>
              </a:ext>
            </a:extLst>
          </p:cNvPr>
          <p:cNvSpPr/>
          <p:nvPr/>
        </p:nvSpPr>
        <p:spPr>
          <a:xfrm>
            <a:off x="5017072" y="2601248"/>
            <a:ext cx="1790128" cy="416559"/>
          </a:xfrm>
          <a:custGeom>
            <a:avLst/>
            <a:gdLst/>
            <a:ahLst/>
            <a:cxnLst/>
            <a:rect l="l" t="t" r="r" b="b"/>
            <a:pathLst>
              <a:path w="977264" h="416560">
                <a:moveTo>
                  <a:pt x="976884" y="0"/>
                </a:moveTo>
                <a:lnTo>
                  <a:pt x="0" y="0"/>
                </a:lnTo>
                <a:lnTo>
                  <a:pt x="0" y="416051"/>
                </a:lnTo>
                <a:lnTo>
                  <a:pt x="976884" y="416051"/>
                </a:lnTo>
                <a:lnTo>
                  <a:pt x="97688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8">
            <a:extLst>
              <a:ext uri="{FF2B5EF4-FFF2-40B4-BE49-F238E27FC236}">
                <a16:creationId xmlns:a16="http://schemas.microsoft.com/office/drawing/2014/main" id="{4438B34C-12E2-0574-4560-26D3FE35D562}"/>
              </a:ext>
            </a:extLst>
          </p:cNvPr>
          <p:cNvSpPr/>
          <p:nvPr/>
        </p:nvSpPr>
        <p:spPr>
          <a:xfrm>
            <a:off x="4139691" y="2153088"/>
            <a:ext cx="977265" cy="416559"/>
          </a:xfrm>
          <a:custGeom>
            <a:avLst/>
            <a:gdLst/>
            <a:ahLst/>
            <a:cxnLst/>
            <a:rect l="l" t="t" r="r" b="b"/>
            <a:pathLst>
              <a:path w="977264" h="416560">
                <a:moveTo>
                  <a:pt x="976884" y="0"/>
                </a:moveTo>
                <a:lnTo>
                  <a:pt x="0" y="0"/>
                </a:lnTo>
                <a:lnTo>
                  <a:pt x="0" y="416051"/>
                </a:lnTo>
                <a:lnTo>
                  <a:pt x="976884" y="416051"/>
                </a:lnTo>
                <a:lnTo>
                  <a:pt x="97688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1CD203C-4249-4C1D-A9FB-2DFFEC988227}" type="slidenum">
              <a:rPr lang="en-US" altLang="en-US" smtClean="0"/>
              <a:pPr/>
              <a:t>25</a:t>
            </a:fld>
            <a:endParaRPr lang="en-US" alt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2591116" y="0"/>
            <a:ext cx="706437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10" dirty="0">
                <a:solidFill>
                  <a:srgbClr val="0070C0"/>
                </a:solidFill>
                <a:latin typeface="Arial"/>
                <a:cs typeface="Arial"/>
              </a:rPr>
              <a:t>Accessing </a:t>
            </a:r>
            <a:r>
              <a:rPr sz="3200" b="1" spc="-10" dirty="0">
                <a:solidFill>
                  <a:srgbClr val="C00000"/>
                </a:solidFill>
                <a:latin typeface="Arial"/>
                <a:cs typeface="Arial"/>
              </a:rPr>
              <a:t>struct</a:t>
            </a:r>
            <a:r>
              <a:rPr sz="3200" b="1" spc="-10" dirty="0">
                <a:solidFill>
                  <a:srgbClr val="0070C0"/>
                </a:solidFill>
                <a:latin typeface="Arial"/>
                <a:cs typeface="Arial"/>
              </a:rPr>
              <a:t> Members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78839" y="1116279"/>
            <a:ext cx="10488930" cy="8739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95"/>
              </a:spcBef>
              <a:buFont typeface="Wingdings" panose="05000000000000000000" pitchFamily="2" charset="2"/>
              <a:buChar char="§"/>
            </a:pPr>
            <a:r>
              <a:rPr sz="2800" dirty="0">
                <a:latin typeface="Arial"/>
                <a:cs typeface="Arial"/>
              </a:rPr>
              <a:t>Use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the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C00000"/>
                </a:solidFill>
                <a:latin typeface="Arial"/>
                <a:cs typeface="Arial"/>
              </a:rPr>
              <a:t>dot</a:t>
            </a:r>
            <a:r>
              <a:rPr sz="2800" b="1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spc="-25" dirty="0">
                <a:solidFill>
                  <a:srgbClr val="C00000"/>
                </a:solidFill>
                <a:latin typeface="Courier New"/>
                <a:cs typeface="Courier New"/>
              </a:rPr>
              <a:t>(</a:t>
            </a:r>
            <a:r>
              <a:rPr sz="2800" b="1" spc="-25" dirty="0">
                <a:solidFill>
                  <a:srgbClr val="C00000"/>
                </a:solidFill>
                <a:latin typeface="Consolas"/>
                <a:cs typeface="Consolas"/>
              </a:rPr>
              <a:t>.</a:t>
            </a:r>
            <a:r>
              <a:rPr sz="2800" b="1" spc="-25" dirty="0">
                <a:solidFill>
                  <a:srgbClr val="C00000"/>
                </a:solidFill>
                <a:latin typeface="Courier New"/>
                <a:cs typeface="Courier New"/>
              </a:rPr>
              <a:t>)</a:t>
            </a:r>
            <a:r>
              <a:rPr sz="2800" b="1" spc="-91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800" dirty="0">
                <a:latin typeface="Arial"/>
                <a:cs typeface="Arial"/>
              </a:rPr>
              <a:t>operator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to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refer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to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C00000"/>
                </a:solidFill>
                <a:latin typeface="Arial"/>
                <a:cs typeface="Arial"/>
              </a:rPr>
              <a:t>members</a:t>
            </a:r>
            <a:r>
              <a:rPr sz="2800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of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b="1" spc="-25" dirty="0">
                <a:solidFill>
                  <a:srgbClr val="0000FF"/>
                </a:solidFill>
                <a:latin typeface="Consolas"/>
                <a:cs typeface="Consolas"/>
              </a:rPr>
              <a:t>struct</a:t>
            </a:r>
            <a:r>
              <a:rPr sz="2800" spc="-75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800" spc="-10" dirty="0">
                <a:latin typeface="Arial"/>
                <a:cs typeface="Arial"/>
              </a:rPr>
              <a:t>variables: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94395" y="4954078"/>
            <a:ext cx="1045781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95"/>
              </a:spcBef>
              <a:buFont typeface="Wingdings" panose="05000000000000000000" pitchFamily="2" charset="2"/>
              <a:buChar char="§"/>
            </a:pPr>
            <a:r>
              <a:rPr sz="2800" b="1" dirty="0">
                <a:solidFill>
                  <a:srgbClr val="C00000"/>
                </a:solidFill>
                <a:latin typeface="Arial"/>
                <a:cs typeface="Arial"/>
              </a:rPr>
              <a:t>Member</a:t>
            </a:r>
            <a:r>
              <a:rPr sz="2800" b="1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C00000"/>
                </a:solidFill>
                <a:latin typeface="Arial"/>
                <a:cs typeface="Arial"/>
              </a:rPr>
              <a:t>variables</a:t>
            </a:r>
            <a:r>
              <a:rPr sz="2800" b="1" spc="-6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can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be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used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in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any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manner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appropriate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for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their </a:t>
            </a:r>
            <a:r>
              <a:rPr sz="2800" dirty="0">
                <a:latin typeface="Arial"/>
                <a:cs typeface="Arial"/>
              </a:rPr>
              <a:t>data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type</a:t>
            </a:r>
            <a:r>
              <a:rPr lang="en-US" sz="2800" spc="-20" dirty="0">
                <a:latin typeface="Arial"/>
                <a:cs typeface="Arial"/>
              </a:rPr>
              <a:t>.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513392" y="3055479"/>
            <a:ext cx="977265" cy="416559"/>
          </a:xfrm>
          <a:custGeom>
            <a:avLst/>
            <a:gdLst/>
            <a:ahLst/>
            <a:cxnLst/>
            <a:rect l="l" t="t" r="r" b="b"/>
            <a:pathLst>
              <a:path w="977264" h="416560">
                <a:moveTo>
                  <a:pt x="976884" y="0"/>
                </a:moveTo>
                <a:lnTo>
                  <a:pt x="0" y="0"/>
                </a:lnTo>
                <a:lnTo>
                  <a:pt x="0" y="416051"/>
                </a:lnTo>
                <a:lnTo>
                  <a:pt x="976884" y="416051"/>
                </a:lnTo>
                <a:lnTo>
                  <a:pt x="97688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591116" y="2140381"/>
            <a:ext cx="5209540" cy="1318950"/>
          </a:xfrm>
          <a:prstGeom prst="rect">
            <a:avLst/>
          </a:prstGeom>
          <a:ln w="9525">
            <a:solidFill>
              <a:srgbClr val="3333CC"/>
            </a:solidFill>
          </a:ln>
        </p:spPr>
        <p:txBody>
          <a:bodyPr vert="horz" wrap="square" lIns="0" tIns="26034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04"/>
              </a:spcBef>
            </a:pPr>
            <a:r>
              <a:rPr sz="2800" dirty="0">
                <a:solidFill>
                  <a:srgbClr val="2B91AE"/>
                </a:solidFill>
                <a:latin typeface="Consolas"/>
                <a:cs typeface="Consolas"/>
              </a:rPr>
              <a:t>Student</a:t>
            </a:r>
            <a:r>
              <a:rPr sz="2800" spc="-135" dirty="0">
                <a:solidFill>
                  <a:srgbClr val="2B91AE"/>
                </a:solidFill>
                <a:latin typeface="Consolas"/>
                <a:cs typeface="Consolas"/>
              </a:rPr>
              <a:t> </a:t>
            </a:r>
            <a:r>
              <a:rPr sz="2800" spc="-10" dirty="0">
                <a:latin typeface="Consolas"/>
                <a:cs typeface="Consolas"/>
              </a:rPr>
              <a:t>stu1;</a:t>
            </a:r>
            <a:endParaRPr sz="2800" dirty="0">
              <a:latin typeface="Consolas"/>
              <a:cs typeface="Consolas"/>
            </a:endParaRPr>
          </a:p>
          <a:p>
            <a:pPr marL="90805" marR="422275">
              <a:lnSpc>
                <a:spcPct val="100000"/>
              </a:lnSpc>
              <a:spcBef>
                <a:spcPts val="5"/>
              </a:spcBef>
            </a:pPr>
            <a:r>
              <a:rPr sz="2800" dirty="0">
                <a:latin typeface="Consolas"/>
                <a:cs typeface="Consolas"/>
              </a:rPr>
              <a:t>cin</a:t>
            </a:r>
            <a:r>
              <a:rPr sz="2800" spc="-55" dirty="0"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008080"/>
                </a:solidFill>
                <a:latin typeface="Consolas"/>
                <a:cs typeface="Consolas"/>
              </a:rPr>
              <a:t>&gt;&gt;</a:t>
            </a:r>
            <a:r>
              <a:rPr sz="2800" spc="-40" dirty="0">
                <a:solidFill>
                  <a:srgbClr val="008080"/>
                </a:solidFill>
                <a:latin typeface="Consolas"/>
                <a:cs typeface="Consolas"/>
              </a:rPr>
              <a:t> </a:t>
            </a:r>
            <a:r>
              <a:rPr sz="2800" spc="-10" dirty="0">
                <a:latin typeface="Consolas"/>
                <a:cs typeface="Consolas"/>
              </a:rPr>
              <a:t>stu1.studentID; </a:t>
            </a:r>
            <a:r>
              <a:rPr sz="2800" dirty="0">
                <a:latin typeface="Consolas"/>
                <a:cs typeface="Consolas"/>
              </a:rPr>
              <a:t>stu1.gpa</a:t>
            </a:r>
            <a:r>
              <a:rPr sz="2800" spc="-85" dirty="0">
                <a:latin typeface="Consolas"/>
                <a:cs typeface="Consolas"/>
              </a:rPr>
              <a:t> </a:t>
            </a:r>
            <a:r>
              <a:rPr sz="2800" dirty="0">
                <a:latin typeface="Consolas"/>
                <a:cs typeface="Consolas"/>
              </a:rPr>
              <a:t>=</a:t>
            </a:r>
            <a:r>
              <a:rPr sz="2800" spc="-85" dirty="0">
                <a:latin typeface="Consolas"/>
                <a:cs typeface="Consolas"/>
              </a:rPr>
              <a:t> </a:t>
            </a:r>
            <a:r>
              <a:rPr sz="2800" spc="-20" dirty="0">
                <a:latin typeface="Consolas"/>
                <a:cs typeface="Consolas"/>
              </a:rPr>
              <a:t>3.75;</a:t>
            </a:r>
            <a:endParaRPr sz="2800" dirty="0">
              <a:latin typeface="Consolas"/>
              <a:cs typeface="Consola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078976" y="4204208"/>
            <a:ext cx="139065" cy="299085"/>
          </a:xfrm>
          <a:custGeom>
            <a:avLst/>
            <a:gdLst/>
            <a:ahLst/>
            <a:cxnLst/>
            <a:rect l="l" t="t" r="r" b="b"/>
            <a:pathLst>
              <a:path w="139065" h="299085">
                <a:moveTo>
                  <a:pt x="138683" y="0"/>
                </a:moveTo>
                <a:lnTo>
                  <a:pt x="0" y="0"/>
                </a:lnTo>
                <a:lnTo>
                  <a:pt x="0" y="298704"/>
                </a:lnTo>
                <a:lnTo>
                  <a:pt x="138683" y="298704"/>
                </a:lnTo>
                <a:lnTo>
                  <a:pt x="138683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846819" y="1956816"/>
            <a:ext cx="2950845" cy="276606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254"/>
              </a:spcBef>
            </a:pPr>
            <a:r>
              <a:rPr sz="2000" dirty="0">
                <a:solidFill>
                  <a:srgbClr val="0000FF"/>
                </a:solidFill>
                <a:latin typeface="Consolas"/>
                <a:cs typeface="Consolas"/>
              </a:rPr>
              <a:t>struct</a:t>
            </a:r>
            <a:r>
              <a:rPr sz="2000" spc="-1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000" spc="-10" dirty="0">
                <a:solidFill>
                  <a:srgbClr val="2B91AE"/>
                </a:solidFill>
                <a:latin typeface="Consolas"/>
                <a:cs typeface="Consolas"/>
              </a:rPr>
              <a:t>Student</a:t>
            </a:r>
            <a:endParaRPr sz="2000">
              <a:latin typeface="Consolas"/>
              <a:cs typeface="Consolas"/>
            </a:endParaRPr>
          </a:p>
          <a:p>
            <a:pPr marL="92710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Consolas"/>
                <a:cs typeface="Consolas"/>
              </a:rPr>
              <a:t>{</a:t>
            </a:r>
            <a:endParaRPr sz="2000">
              <a:latin typeface="Consolas"/>
              <a:cs typeface="Consolas"/>
            </a:endParaRPr>
          </a:p>
          <a:p>
            <a:pPr marL="723900" marR="261620">
              <a:lnSpc>
                <a:spcPct val="120000"/>
              </a:lnSpc>
            </a:pPr>
            <a:r>
              <a:rPr sz="200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2000" spc="-1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000" spc="-10" dirty="0">
                <a:latin typeface="Consolas"/>
                <a:cs typeface="Consolas"/>
              </a:rPr>
              <a:t>studentID; </a:t>
            </a:r>
            <a:r>
              <a:rPr sz="2000" dirty="0">
                <a:solidFill>
                  <a:srgbClr val="2B91AE"/>
                </a:solidFill>
                <a:latin typeface="Consolas"/>
                <a:cs typeface="Consolas"/>
              </a:rPr>
              <a:t>string</a:t>
            </a:r>
            <a:r>
              <a:rPr sz="2000" spc="-20" dirty="0">
                <a:solidFill>
                  <a:srgbClr val="2B91AE"/>
                </a:solidFill>
                <a:latin typeface="Consolas"/>
                <a:cs typeface="Consolas"/>
              </a:rPr>
              <a:t> </a:t>
            </a:r>
            <a:r>
              <a:rPr sz="2000" spc="-10" dirty="0">
                <a:latin typeface="Consolas"/>
                <a:cs typeface="Consolas"/>
              </a:rPr>
              <a:t>name; </a:t>
            </a:r>
            <a:r>
              <a:rPr sz="2000" dirty="0">
                <a:solidFill>
                  <a:srgbClr val="0000FF"/>
                </a:solidFill>
                <a:latin typeface="Consolas"/>
                <a:cs typeface="Consolas"/>
              </a:rPr>
              <a:t>short </a:t>
            </a:r>
            <a:r>
              <a:rPr sz="2000" spc="-10" dirty="0">
                <a:latin typeface="Consolas"/>
                <a:cs typeface="Consolas"/>
              </a:rPr>
              <a:t>intake; </a:t>
            </a:r>
            <a:r>
              <a:rPr sz="2000" dirty="0">
                <a:solidFill>
                  <a:srgbClr val="0000FF"/>
                </a:solidFill>
                <a:latin typeface="Consolas"/>
                <a:cs typeface="Consolas"/>
              </a:rPr>
              <a:t>double</a:t>
            </a:r>
            <a:r>
              <a:rPr sz="2000" spc="-3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000" spc="-20" dirty="0">
                <a:latin typeface="Consolas"/>
                <a:cs typeface="Consolas"/>
              </a:rPr>
              <a:t>gpa;</a:t>
            </a:r>
            <a:endParaRPr sz="2000">
              <a:latin typeface="Consolas"/>
              <a:cs typeface="Consolas"/>
            </a:endParaRPr>
          </a:p>
          <a:p>
            <a:pPr marL="92710">
              <a:lnSpc>
                <a:spcPct val="100000"/>
              </a:lnSpc>
              <a:spcBef>
                <a:spcPts val="480"/>
              </a:spcBef>
            </a:pPr>
            <a:r>
              <a:rPr sz="2000" spc="-25" dirty="0">
                <a:latin typeface="Consolas"/>
                <a:cs typeface="Consolas"/>
              </a:rPr>
              <a:t>};</a:t>
            </a:r>
            <a:endParaRPr sz="2000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6021166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1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1CD203C-4249-4C1D-A9FB-2DFFEC988227}" type="slidenum">
              <a:rPr lang="en-US" altLang="en-US" smtClean="0"/>
              <a:pPr/>
              <a:t>26</a:t>
            </a:fld>
            <a:endParaRPr lang="en-US" alt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2788798" y="0"/>
            <a:ext cx="7243762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10" dirty="0">
                <a:solidFill>
                  <a:srgbClr val="0070C0"/>
                </a:solidFill>
                <a:latin typeface="Arial"/>
                <a:cs typeface="Arial"/>
              </a:rPr>
              <a:t>Displaying a </a:t>
            </a:r>
            <a:r>
              <a:rPr sz="3200" b="1" spc="-10" dirty="0">
                <a:solidFill>
                  <a:srgbClr val="C00000"/>
                </a:solidFill>
                <a:latin typeface="Arial"/>
                <a:cs typeface="Arial"/>
              </a:rPr>
              <a:t>struct</a:t>
            </a:r>
            <a:r>
              <a:rPr sz="3200" b="1" spc="-10" dirty="0">
                <a:solidFill>
                  <a:srgbClr val="0070C0"/>
                </a:solidFill>
                <a:latin typeface="Arial"/>
                <a:cs typeface="Arial"/>
              </a:rPr>
              <a:t> Variable</a:t>
            </a:r>
          </a:p>
        </p:txBody>
      </p:sp>
      <p:sp>
        <p:nvSpPr>
          <p:cNvPr id="3" name="object 3"/>
          <p:cNvSpPr/>
          <p:nvPr/>
        </p:nvSpPr>
        <p:spPr>
          <a:xfrm>
            <a:off x="1435931" y="3408448"/>
            <a:ext cx="5824855" cy="1569720"/>
          </a:xfrm>
          <a:custGeom>
            <a:avLst/>
            <a:gdLst/>
            <a:ahLst/>
            <a:cxnLst/>
            <a:rect l="l" t="t" r="r" b="b"/>
            <a:pathLst>
              <a:path w="5824855" h="1569720">
                <a:moveTo>
                  <a:pt x="0" y="1569720"/>
                </a:moveTo>
                <a:lnTo>
                  <a:pt x="5824728" y="1569720"/>
                </a:lnTo>
                <a:lnTo>
                  <a:pt x="5824728" y="0"/>
                </a:lnTo>
                <a:lnTo>
                  <a:pt x="0" y="0"/>
                </a:lnTo>
                <a:lnTo>
                  <a:pt x="0" y="1569720"/>
                </a:lnTo>
                <a:close/>
              </a:path>
            </a:pathLst>
          </a:custGeom>
          <a:ln w="9525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514671" y="3424958"/>
            <a:ext cx="5578475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nsolas"/>
                <a:cs typeface="Consolas"/>
              </a:rPr>
              <a:t>cout</a:t>
            </a:r>
            <a:r>
              <a:rPr sz="2400" spc="10" dirty="0">
                <a:latin typeface="Consolas"/>
                <a:cs typeface="Consolas"/>
              </a:rPr>
              <a:t> </a:t>
            </a:r>
            <a:r>
              <a:rPr sz="2400" dirty="0">
                <a:solidFill>
                  <a:srgbClr val="008080"/>
                </a:solidFill>
                <a:latin typeface="Consolas"/>
                <a:cs typeface="Consolas"/>
              </a:rPr>
              <a:t>&lt;&lt;</a:t>
            </a:r>
            <a:r>
              <a:rPr sz="2400" spc="30" dirty="0">
                <a:solidFill>
                  <a:srgbClr val="008080"/>
                </a:solidFill>
                <a:latin typeface="Consolas"/>
                <a:cs typeface="Consolas"/>
              </a:rPr>
              <a:t> </a:t>
            </a:r>
            <a:r>
              <a:rPr sz="2400" dirty="0">
                <a:latin typeface="Consolas"/>
                <a:cs typeface="Consolas"/>
              </a:rPr>
              <a:t>kareem.studentID</a:t>
            </a:r>
            <a:r>
              <a:rPr sz="2400" spc="50" dirty="0">
                <a:latin typeface="Consolas"/>
                <a:cs typeface="Consolas"/>
              </a:rPr>
              <a:t> </a:t>
            </a:r>
            <a:r>
              <a:rPr sz="2400" dirty="0">
                <a:solidFill>
                  <a:srgbClr val="008080"/>
                </a:solidFill>
                <a:latin typeface="Consolas"/>
                <a:cs typeface="Consolas"/>
              </a:rPr>
              <a:t>&lt;&lt;</a:t>
            </a:r>
            <a:r>
              <a:rPr sz="2400" spc="-10" dirty="0">
                <a:latin typeface="Consolas"/>
                <a:cs typeface="Consolas"/>
              </a:rPr>
              <a:t>endl; </a:t>
            </a:r>
            <a:r>
              <a:rPr sz="2400" dirty="0">
                <a:latin typeface="Consolas"/>
                <a:cs typeface="Consolas"/>
              </a:rPr>
              <a:t>cout </a:t>
            </a:r>
            <a:r>
              <a:rPr sz="2400" dirty="0">
                <a:solidFill>
                  <a:srgbClr val="008080"/>
                </a:solidFill>
                <a:latin typeface="Consolas"/>
                <a:cs typeface="Consolas"/>
              </a:rPr>
              <a:t>&lt;&lt;</a:t>
            </a:r>
            <a:r>
              <a:rPr sz="2400" spc="25" dirty="0">
                <a:solidFill>
                  <a:srgbClr val="008080"/>
                </a:solidFill>
                <a:latin typeface="Consolas"/>
                <a:cs typeface="Consolas"/>
              </a:rPr>
              <a:t> </a:t>
            </a:r>
            <a:r>
              <a:rPr sz="2400" dirty="0">
                <a:latin typeface="Consolas"/>
                <a:cs typeface="Consolas"/>
              </a:rPr>
              <a:t>kareem.name</a:t>
            </a:r>
            <a:r>
              <a:rPr sz="2400" spc="25" dirty="0">
                <a:latin typeface="Consolas"/>
                <a:cs typeface="Consolas"/>
              </a:rPr>
              <a:t> </a:t>
            </a:r>
            <a:r>
              <a:rPr sz="2400" dirty="0">
                <a:solidFill>
                  <a:srgbClr val="008080"/>
                </a:solidFill>
                <a:latin typeface="Consolas"/>
                <a:cs typeface="Consolas"/>
              </a:rPr>
              <a:t>&lt;&lt;</a:t>
            </a:r>
            <a:r>
              <a:rPr sz="2400" spc="10" dirty="0">
                <a:solidFill>
                  <a:srgbClr val="008080"/>
                </a:solidFill>
                <a:latin typeface="Consolas"/>
                <a:cs typeface="Consolas"/>
              </a:rPr>
              <a:t> </a:t>
            </a:r>
            <a:r>
              <a:rPr sz="2400" spc="-10" dirty="0">
                <a:latin typeface="Consolas"/>
                <a:cs typeface="Consolas"/>
              </a:rPr>
              <a:t>endl;</a:t>
            </a:r>
            <a:endParaRPr sz="2400" dirty="0">
              <a:latin typeface="Consolas"/>
              <a:cs typeface="Consolas"/>
            </a:endParaRPr>
          </a:p>
          <a:p>
            <a:pPr marL="12700" marR="509270">
              <a:lnSpc>
                <a:spcPct val="100000"/>
              </a:lnSpc>
            </a:pPr>
            <a:r>
              <a:rPr sz="2400" dirty="0">
                <a:latin typeface="Consolas"/>
                <a:cs typeface="Consolas"/>
              </a:rPr>
              <a:t>cout</a:t>
            </a:r>
            <a:r>
              <a:rPr sz="2400" spc="5" dirty="0">
                <a:latin typeface="Consolas"/>
                <a:cs typeface="Consolas"/>
              </a:rPr>
              <a:t> </a:t>
            </a:r>
            <a:r>
              <a:rPr sz="2400" dirty="0">
                <a:solidFill>
                  <a:srgbClr val="008080"/>
                </a:solidFill>
                <a:latin typeface="Consolas"/>
                <a:cs typeface="Consolas"/>
              </a:rPr>
              <a:t>&lt;&lt;</a:t>
            </a:r>
            <a:r>
              <a:rPr sz="2400" spc="25" dirty="0">
                <a:solidFill>
                  <a:srgbClr val="008080"/>
                </a:solidFill>
                <a:latin typeface="Consolas"/>
                <a:cs typeface="Consolas"/>
              </a:rPr>
              <a:t> </a:t>
            </a:r>
            <a:r>
              <a:rPr sz="2400" dirty="0">
                <a:latin typeface="Consolas"/>
                <a:cs typeface="Consolas"/>
              </a:rPr>
              <a:t>kareem.intake</a:t>
            </a:r>
            <a:r>
              <a:rPr sz="2400" spc="45" dirty="0">
                <a:latin typeface="Consolas"/>
                <a:cs typeface="Consolas"/>
              </a:rPr>
              <a:t> </a:t>
            </a:r>
            <a:r>
              <a:rPr sz="2400" dirty="0">
                <a:solidFill>
                  <a:srgbClr val="008080"/>
                </a:solidFill>
                <a:latin typeface="Consolas"/>
                <a:cs typeface="Consolas"/>
              </a:rPr>
              <a:t>&lt;&lt;</a:t>
            </a:r>
            <a:r>
              <a:rPr sz="2400" spc="30" dirty="0">
                <a:solidFill>
                  <a:srgbClr val="008080"/>
                </a:solidFill>
                <a:latin typeface="Consolas"/>
                <a:cs typeface="Consolas"/>
              </a:rPr>
              <a:t> </a:t>
            </a:r>
            <a:r>
              <a:rPr sz="2400" spc="-10" dirty="0">
                <a:latin typeface="Consolas"/>
                <a:cs typeface="Consolas"/>
              </a:rPr>
              <a:t>endl; </a:t>
            </a:r>
            <a:r>
              <a:rPr sz="2400" dirty="0">
                <a:latin typeface="Consolas"/>
                <a:cs typeface="Consolas"/>
              </a:rPr>
              <a:t>cout </a:t>
            </a:r>
            <a:r>
              <a:rPr sz="2400" dirty="0">
                <a:solidFill>
                  <a:srgbClr val="008080"/>
                </a:solidFill>
                <a:latin typeface="Consolas"/>
                <a:cs typeface="Consolas"/>
              </a:rPr>
              <a:t>&lt;&lt;</a:t>
            </a:r>
            <a:r>
              <a:rPr sz="2400" spc="25" dirty="0">
                <a:solidFill>
                  <a:srgbClr val="008080"/>
                </a:solidFill>
                <a:latin typeface="Consolas"/>
                <a:cs typeface="Consolas"/>
              </a:rPr>
              <a:t> </a:t>
            </a:r>
            <a:r>
              <a:rPr sz="2400" dirty="0">
                <a:latin typeface="Consolas"/>
                <a:cs typeface="Consolas"/>
              </a:rPr>
              <a:t>kareem.gpa</a:t>
            </a:r>
            <a:r>
              <a:rPr sz="2400" spc="40" dirty="0">
                <a:latin typeface="Consolas"/>
                <a:cs typeface="Consolas"/>
              </a:rPr>
              <a:t> </a:t>
            </a:r>
            <a:r>
              <a:rPr sz="2400" dirty="0">
                <a:solidFill>
                  <a:srgbClr val="008080"/>
                </a:solidFill>
                <a:latin typeface="Consolas"/>
                <a:cs typeface="Consolas"/>
              </a:rPr>
              <a:t>&lt;&lt;</a:t>
            </a:r>
            <a:r>
              <a:rPr sz="2400" spc="25" dirty="0">
                <a:solidFill>
                  <a:srgbClr val="008080"/>
                </a:solidFill>
                <a:latin typeface="Consolas"/>
                <a:cs typeface="Consolas"/>
              </a:rPr>
              <a:t> </a:t>
            </a:r>
            <a:r>
              <a:rPr sz="2400" spc="-10" dirty="0">
                <a:latin typeface="Consolas"/>
                <a:cs typeface="Consolas"/>
              </a:rPr>
              <a:t>endl;</a:t>
            </a:r>
            <a:endParaRPr sz="2400" dirty="0">
              <a:latin typeface="Consolas"/>
              <a:cs typeface="Consola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435931" y="2074948"/>
            <a:ext cx="5824855" cy="1190625"/>
          </a:xfrm>
          <a:custGeom>
            <a:avLst/>
            <a:gdLst/>
            <a:ahLst/>
            <a:cxnLst/>
            <a:rect l="l" t="t" r="r" b="b"/>
            <a:pathLst>
              <a:path w="5824855" h="1190625">
                <a:moveTo>
                  <a:pt x="0" y="1190244"/>
                </a:moveTo>
                <a:lnTo>
                  <a:pt x="5824728" y="1190244"/>
                </a:lnTo>
                <a:lnTo>
                  <a:pt x="5824728" y="0"/>
                </a:lnTo>
                <a:lnTo>
                  <a:pt x="0" y="0"/>
                </a:lnTo>
                <a:lnTo>
                  <a:pt x="0" y="1190244"/>
                </a:lnTo>
                <a:close/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514671" y="2092092"/>
            <a:ext cx="2548255" cy="75882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85"/>
              </a:spcBef>
            </a:pPr>
            <a:r>
              <a:rPr sz="2400" dirty="0">
                <a:solidFill>
                  <a:srgbClr val="2B91AE"/>
                </a:solidFill>
                <a:latin typeface="Consolas"/>
                <a:cs typeface="Consolas"/>
              </a:rPr>
              <a:t>Student</a:t>
            </a:r>
            <a:r>
              <a:rPr sz="2400" spc="35" dirty="0">
                <a:solidFill>
                  <a:srgbClr val="2B91AE"/>
                </a:solidFill>
                <a:latin typeface="Consolas"/>
                <a:cs typeface="Consolas"/>
              </a:rPr>
              <a:t> </a:t>
            </a:r>
            <a:r>
              <a:rPr sz="2400" spc="-10" dirty="0">
                <a:latin typeface="Consolas"/>
                <a:cs typeface="Consolas"/>
              </a:rPr>
              <a:t>kareem; </a:t>
            </a:r>
            <a:r>
              <a:rPr sz="2400" dirty="0">
                <a:latin typeface="Consolas"/>
                <a:cs typeface="Consolas"/>
              </a:rPr>
              <a:t>cout</a:t>
            </a:r>
            <a:r>
              <a:rPr sz="2400" spc="10" dirty="0">
                <a:latin typeface="Consolas"/>
                <a:cs typeface="Consolas"/>
              </a:rPr>
              <a:t> </a:t>
            </a:r>
            <a:r>
              <a:rPr sz="2400" dirty="0">
                <a:solidFill>
                  <a:srgbClr val="008080"/>
                </a:solidFill>
                <a:latin typeface="Consolas"/>
                <a:cs typeface="Consolas"/>
              </a:rPr>
              <a:t>&lt;&lt;</a:t>
            </a:r>
            <a:r>
              <a:rPr sz="2400" spc="20" dirty="0">
                <a:solidFill>
                  <a:srgbClr val="008080"/>
                </a:solidFill>
                <a:latin typeface="Consolas"/>
                <a:cs typeface="Consolas"/>
              </a:rPr>
              <a:t> </a:t>
            </a:r>
            <a:r>
              <a:rPr sz="2400" spc="-10" dirty="0">
                <a:latin typeface="Consolas"/>
                <a:cs typeface="Consolas"/>
              </a:rPr>
              <a:t>kareem;</a:t>
            </a:r>
            <a:endParaRPr sz="2400">
              <a:latin typeface="Consolas"/>
              <a:cs typeface="Consola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006151" y="3893079"/>
            <a:ext cx="511809" cy="534670"/>
            <a:chOff x="8016240" y="3669791"/>
            <a:chExt cx="511809" cy="534670"/>
          </a:xfrm>
        </p:grpSpPr>
        <p:sp>
          <p:nvSpPr>
            <p:cNvPr id="8" name="object 8"/>
            <p:cNvSpPr/>
            <p:nvPr/>
          </p:nvSpPr>
          <p:spPr>
            <a:xfrm>
              <a:off x="8081772" y="3709415"/>
              <a:ext cx="378460" cy="378460"/>
            </a:xfrm>
            <a:custGeom>
              <a:avLst/>
              <a:gdLst/>
              <a:ahLst/>
              <a:cxnLst/>
              <a:rect l="l" t="t" r="r" b="b"/>
              <a:pathLst>
                <a:path w="378459" h="378460">
                  <a:moveTo>
                    <a:pt x="188975" y="0"/>
                  </a:moveTo>
                  <a:lnTo>
                    <a:pt x="138729" y="6748"/>
                  </a:lnTo>
                  <a:lnTo>
                    <a:pt x="93584" y="25795"/>
                  </a:lnTo>
                  <a:lnTo>
                    <a:pt x="55340" y="55340"/>
                  </a:lnTo>
                  <a:lnTo>
                    <a:pt x="25795" y="93584"/>
                  </a:lnTo>
                  <a:lnTo>
                    <a:pt x="6748" y="138729"/>
                  </a:lnTo>
                  <a:lnTo>
                    <a:pt x="0" y="188975"/>
                  </a:lnTo>
                  <a:lnTo>
                    <a:pt x="6748" y="239222"/>
                  </a:lnTo>
                  <a:lnTo>
                    <a:pt x="25795" y="284367"/>
                  </a:lnTo>
                  <a:lnTo>
                    <a:pt x="55340" y="322611"/>
                  </a:lnTo>
                  <a:lnTo>
                    <a:pt x="93584" y="352156"/>
                  </a:lnTo>
                  <a:lnTo>
                    <a:pt x="138729" y="371203"/>
                  </a:lnTo>
                  <a:lnTo>
                    <a:pt x="188975" y="377951"/>
                  </a:lnTo>
                  <a:lnTo>
                    <a:pt x="239222" y="371203"/>
                  </a:lnTo>
                  <a:lnTo>
                    <a:pt x="284367" y="352156"/>
                  </a:lnTo>
                  <a:lnTo>
                    <a:pt x="322611" y="322611"/>
                  </a:lnTo>
                  <a:lnTo>
                    <a:pt x="352156" y="284367"/>
                  </a:lnTo>
                  <a:lnTo>
                    <a:pt x="371203" y="239222"/>
                  </a:lnTo>
                  <a:lnTo>
                    <a:pt x="377951" y="188975"/>
                  </a:lnTo>
                  <a:lnTo>
                    <a:pt x="371203" y="138729"/>
                  </a:lnTo>
                  <a:lnTo>
                    <a:pt x="352156" y="93584"/>
                  </a:lnTo>
                  <a:lnTo>
                    <a:pt x="322611" y="55340"/>
                  </a:lnTo>
                  <a:lnTo>
                    <a:pt x="284367" y="25795"/>
                  </a:lnTo>
                  <a:lnTo>
                    <a:pt x="239222" y="6748"/>
                  </a:lnTo>
                  <a:lnTo>
                    <a:pt x="188975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16240" y="3669791"/>
              <a:ext cx="511301" cy="534162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7053394" y="2512336"/>
            <a:ext cx="378460" cy="378460"/>
            <a:chOff x="8063483" y="2289048"/>
            <a:chExt cx="378460" cy="378460"/>
          </a:xfrm>
        </p:grpSpPr>
        <p:sp>
          <p:nvSpPr>
            <p:cNvPr id="11" name="object 11"/>
            <p:cNvSpPr/>
            <p:nvPr/>
          </p:nvSpPr>
          <p:spPr>
            <a:xfrm>
              <a:off x="8063483" y="2289048"/>
              <a:ext cx="378460" cy="378460"/>
            </a:xfrm>
            <a:custGeom>
              <a:avLst/>
              <a:gdLst/>
              <a:ahLst/>
              <a:cxnLst/>
              <a:rect l="l" t="t" r="r" b="b"/>
              <a:pathLst>
                <a:path w="378459" h="378460">
                  <a:moveTo>
                    <a:pt x="188975" y="0"/>
                  </a:moveTo>
                  <a:lnTo>
                    <a:pt x="138729" y="6748"/>
                  </a:lnTo>
                  <a:lnTo>
                    <a:pt x="93584" y="25795"/>
                  </a:lnTo>
                  <a:lnTo>
                    <a:pt x="55340" y="55340"/>
                  </a:lnTo>
                  <a:lnTo>
                    <a:pt x="25795" y="93584"/>
                  </a:lnTo>
                  <a:lnTo>
                    <a:pt x="6748" y="138729"/>
                  </a:lnTo>
                  <a:lnTo>
                    <a:pt x="0" y="188975"/>
                  </a:lnTo>
                  <a:lnTo>
                    <a:pt x="6748" y="239222"/>
                  </a:lnTo>
                  <a:lnTo>
                    <a:pt x="25795" y="284367"/>
                  </a:lnTo>
                  <a:lnTo>
                    <a:pt x="55340" y="322611"/>
                  </a:lnTo>
                  <a:lnTo>
                    <a:pt x="93584" y="352156"/>
                  </a:lnTo>
                  <a:lnTo>
                    <a:pt x="138729" y="371203"/>
                  </a:lnTo>
                  <a:lnTo>
                    <a:pt x="188975" y="377951"/>
                  </a:lnTo>
                  <a:lnTo>
                    <a:pt x="239222" y="371203"/>
                  </a:lnTo>
                  <a:lnTo>
                    <a:pt x="284367" y="352156"/>
                  </a:lnTo>
                  <a:lnTo>
                    <a:pt x="322611" y="322611"/>
                  </a:lnTo>
                  <a:lnTo>
                    <a:pt x="352156" y="284367"/>
                  </a:lnTo>
                  <a:lnTo>
                    <a:pt x="371203" y="239222"/>
                  </a:lnTo>
                  <a:lnTo>
                    <a:pt x="377951" y="188975"/>
                  </a:lnTo>
                  <a:lnTo>
                    <a:pt x="371203" y="138729"/>
                  </a:lnTo>
                  <a:lnTo>
                    <a:pt x="352156" y="93584"/>
                  </a:lnTo>
                  <a:lnTo>
                    <a:pt x="322611" y="55340"/>
                  </a:lnTo>
                  <a:lnTo>
                    <a:pt x="284367" y="25795"/>
                  </a:lnTo>
                  <a:lnTo>
                    <a:pt x="239222" y="6748"/>
                  </a:lnTo>
                  <a:lnTo>
                    <a:pt x="188975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155685" y="2381250"/>
              <a:ext cx="197485" cy="197485"/>
            </a:xfrm>
            <a:custGeom>
              <a:avLst/>
              <a:gdLst/>
              <a:ahLst/>
              <a:cxnLst/>
              <a:rect l="l" t="t" r="r" b="b"/>
              <a:pathLst>
                <a:path w="197484" h="197485">
                  <a:moveTo>
                    <a:pt x="0" y="0"/>
                  </a:moveTo>
                  <a:lnTo>
                    <a:pt x="197231" y="197230"/>
                  </a:lnTo>
                </a:path>
                <a:path w="197484" h="197485">
                  <a:moveTo>
                    <a:pt x="197231" y="0"/>
                  </a:moveTo>
                  <a:lnTo>
                    <a:pt x="0" y="197230"/>
                  </a:lnTo>
                </a:path>
              </a:pathLst>
            </a:custGeom>
            <a:ln w="508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234376" y="2482821"/>
            <a:ext cx="221170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sz="2400" spc="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2400" dirty="0">
                <a:solidFill>
                  <a:srgbClr val="008000"/>
                </a:solidFill>
                <a:latin typeface="Consolas"/>
                <a:cs typeface="Consolas"/>
              </a:rPr>
              <a:t>won’t</a:t>
            </a:r>
            <a:r>
              <a:rPr sz="2400" spc="2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2400" spc="-20" dirty="0">
                <a:solidFill>
                  <a:srgbClr val="008000"/>
                </a:solidFill>
                <a:latin typeface="Consolas"/>
                <a:cs typeface="Consolas"/>
              </a:rPr>
              <a:t>work</a:t>
            </a:r>
            <a:endParaRPr sz="2400">
              <a:latin typeface="Consolas"/>
              <a:cs typeface="Consola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068887" y="4427496"/>
            <a:ext cx="139065" cy="299085"/>
          </a:xfrm>
          <a:custGeom>
            <a:avLst/>
            <a:gdLst/>
            <a:ahLst/>
            <a:cxnLst/>
            <a:rect l="l" t="t" r="r" b="b"/>
            <a:pathLst>
              <a:path w="139065" h="299085">
                <a:moveTo>
                  <a:pt x="138683" y="0"/>
                </a:moveTo>
                <a:lnTo>
                  <a:pt x="0" y="0"/>
                </a:lnTo>
                <a:lnTo>
                  <a:pt x="0" y="298704"/>
                </a:lnTo>
                <a:lnTo>
                  <a:pt x="138683" y="298704"/>
                </a:lnTo>
                <a:lnTo>
                  <a:pt x="138683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7836730" y="2180104"/>
            <a:ext cx="2950845" cy="276606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254"/>
              </a:spcBef>
            </a:pPr>
            <a:r>
              <a:rPr sz="2000" dirty="0">
                <a:solidFill>
                  <a:srgbClr val="0000FF"/>
                </a:solidFill>
                <a:latin typeface="Consolas"/>
                <a:cs typeface="Consolas"/>
              </a:rPr>
              <a:t>struct</a:t>
            </a:r>
            <a:r>
              <a:rPr sz="2000" spc="-1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000" spc="-10" dirty="0">
                <a:solidFill>
                  <a:srgbClr val="2B91AE"/>
                </a:solidFill>
                <a:latin typeface="Consolas"/>
                <a:cs typeface="Consolas"/>
              </a:rPr>
              <a:t>Student</a:t>
            </a:r>
            <a:endParaRPr sz="2000">
              <a:latin typeface="Consolas"/>
              <a:cs typeface="Consolas"/>
            </a:endParaRPr>
          </a:p>
          <a:p>
            <a:pPr marL="92710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Consolas"/>
                <a:cs typeface="Consolas"/>
              </a:rPr>
              <a:t>{</a:t>
            </a:r>
            <a:endParaRPr sz="2000">
              <a:latin typeface="Consolas"/>
              <a:cs typeface="Consolas"/>
            </a:endParaRPr>
          </a:p>
          <a:p>
            <a:pPr marL="723900" marR="261620">
              <a:lnSpc>
                <a:spcPct val="120000"/>
              </a:lnSpc>
            </a:pPr>
            <a:r>
              <a:rPr sz="200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2000" spc="-1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000" spc="-10" dirty="0">
                <a:latin typeface="Consolas"/>
                <a:cs typeface="Consolas"/>
              </a:rPr>
              <a:t>studentID; </a:t>
            </a:r>
            <a:r>
              <a:rPr sz="2000" dirty="0">
                <a:solidFill>
                  <a:srgbClr val="2B91AE"/>
                </a:solidFill>
                <a:latin typeface="Consolas"/>
                <a:cs typeface="Consolas"/>
              </a:rPr>
              <a:t>string</a:t>
            </a:r>
            <a:r>
              <a:rPr sz="2000" spc="-20" dirty="0">
                <a:solidFill>
                  <a:srgbClr val="2B91AE"/>
                </a:solidFill>
                <a:latin typeface="Consolas"/>
                <a:cs typeface="Consolas"/>
              </a:rPr>
              <a:t> </a:t>
            </a:r>
            <a:r>
              <a:rPr sz="2000" spc="-10" dirty="0">
                <a:latin typeface="Consolas"/>
                <a:cs typeface="Consolas"/>
              </a:rPr>
              <a:t>name; </a:t>
            </a:r>
            <a:r>
              <a:rPr sz="2000" dirty="0">
                <a:solidFill>
                  <a:srgbClr val="0000FF"/>
                </a:solidFill>
                <a:latin typeface="Consolas"/>
                <a:cs typeface="Consolas"/>
              </a:rPr>
              <a:t>short </a:t>
            </a:r>
            <a:r>
              <a:rPr sz="2000" spc="-10" dirty="0">
                <a:latin typeface="Consolas"/>
                <a:cs typeface="Consolas"/>
              </a:rPr>
              <a:t>intake; </a:t>
            </a:r>
            <a:r>
              <a:rPr sz="2000" dirty="0">
                <a:solidFill>
                  <a:srgbClr val="0000FF"/>
                </a:solidFill>
                <a:latin typeface="Consolas"/>
                <a:cs typeface="Consolas"/>
              </a:rPr>
              <a:t>double</a:t>
            </a:r>
            <a:r>
              <a:rPr sz="2000" spc="-3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000" spc="-20" dirty="0">
                <a:latin typeface="Consolas"/>
                <a:cs typeface="Consolas"/>
              </a:rPr>
              <a:t>gpa;</a:t>
            </a:r>
            <a:endParaRPr sz="2000">
              <a:latin typeface="Consolas"/>
              <a:cs typeface="Consolas"/>
            </a:endParaRPr>
          </a:p>
          <a:p>
            <a:pPr marL="92710">
              <a:lnSpc>
                <a:spcPct val="100000"/>
              </a:lnSpc>
              <a:spcBef>
                <a:spcPts val="480"/>
              </a:spcBef>
            </a:pPr>
            <a:r>
              <a:rPr sz="2000" spc="-25" dirty="0">
                <a:latin typeface="Consolas"/>
                <a:cs typeface="Consolas"/>
              </a:rPr>
              <a:t>};</a:t>
            </a:r>
            <a:endParaRPr sz="2000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4352636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1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1CD203C-4249-4C1D-A9FB-2DFFEC988227}" type="slidenum">
              <a:rPr lang="en-US" altLang="en-US" smtClean="0"/>
              <a:pPr/>
              <a:t>27</a:t>
            </a:fld>
            <a:endParaRPr lang="en-US" alt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2690241" y="0"/>
            <a:ext cx="6527800" cy="504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10" dirty="0">
                <a:solidFill>
                  <a:srgbClr val="0070C0"/>
                </a:solidFill>
                <a:latin typeface="Arial"/>
                <a:cs typeface="Arial"/>
              </a:rPr>
              <a:t>Copying </a:t>
            </a:r>
            <a:r>
              <a:rPr sz="3200" b="1" spc="-10" dirty="0">
                <a:solidFill>
                  <a:srgbClr val="C00000"/>
                </a:solidFill>
                <a:latin typeface="Arial"/>
                <a:cs typeface="Arial"/>
              </a:rPr>
              <a:t>struct</a:t>
            </a:r>
            <a:r>
              <a:rPr sz="3200" b="1" spc="-10" dirty="0">
                <a:solidFill>
                  <a:srgbClr val="0070C0"/>
                </a:solidFill>
                <a:latin typeface="Arial"/>
                <a:cs typeface="Arial"/>
              </a:rPr>
              <a:t> Variables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3185160"/>
            <a:ext cx="7397750" cy="462280"/>
          </a:xfrm>
          <a:custGeom>
            <a:avLst/>
            <a:gdLst/>
            <a:ahLst/>
            <a:cxnLst/>
            <a:rect l="l" t="t" r="r" b="b"/>
            <a:pathLst>
              <a:path w="7397750" h="462279">
                <a:moveTo>
                  <a:pt x="0" y="461771"/>
                </a:moveTo>
                <a:lnTo>
                  <a:pt x="7397496" y="461771"/>
                </a:lnTo>
                <a:lnTo>
                  <a:pt x="7397496" y="0"/>
                </a:lnTo>
                <a:lnTo>
                  <a:pt x="0" y="0"/>
                </a:lnTo>
                <a:lnTo>
                  <a:pt x="0" y="461771"/>
                </a:lnTo>
                <a:close/>
              </a:path>
            </a:pathLst>
          </a:custGeom>
          <a:ln w="9524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5330" y="3201670"/>
            <a:ext cx="52431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nsolas"/>
                <a:cs typeface="Consolas"/>
              </a:rPr>
              <a:t>studentRepresentative</a:t>
            </a:r>
            <a:r>
              <a:rPr sz="2400" spc="60" dirty="0">
                <a:latin typeface="Consolas"/>
                <a:cs typeface="Consolas"/>
              </a:rPr>
              <a:t> </a:t>
            </a:r>
            <a:r>
              <a:rPr sz="2400" dirty="0">
                <a:latin typeface="Consolas"/>
                <a:cs typeface="Consolas"/>
              </a:rPr>
              <a:t>=</a:t>
            </a:r>
            <a:r>
              <a:rPr sz="2400" spc="50" dirty="0">
                <a:latin typeface="Consolas"/>
                <a:cs typeface="Consolas"/>
              </a:rPr>
              <a:t> </a:t>
            </a:r>
            <a:r>
              <a:rPr sz="2400" spc="-10" dirty="0">
                <a:latin typeface="Consolas"/>
                <a:cs typeface="Consolas"/>
              </a:rPr>
              <a:t>kareem;</a:t>
            </a:r>
            <a:endParaRPr sz="24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7200" y="1908048"/>
            <a:ext cx="7397750" cy="835660"/>
          </a:xfrm>
          <a:prstGeom prst="rect">
            <a:avLst/>
          </a:prstGeom>
          <a:ln w="12700">
            <a:solidFill>
              <a:srgbClr val="0000FF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29"/>
              </a:spcBef>
            </a:pPr>
            <a:r>
              <a:rPr sz="2400" dirty="0">
                <a:solidFill>
                  <a:srgbClr val="2B91AE"/>
                </a:solidFill>
                <a:latin typeface="Consolas"/>
                <a:cs typeface="Consolas"/>
              </a:rPr>
              <a:t>Student</a:t>
            </a:r>
            <a:r>
              <a:rPr sz="2400" spc="35" dirty="0">
                <a:solidFill>
                  <a:srgbClr val="2B91AE"/>
                </a:solidFill>
                <a:latin typeface="Consolas"/>
                <a:cs typeface="Consolas"/>
              </a:rPr>
              <a:t> </a:t>
            </a:r>
            <a:r>
              <a:rPr sz="2400" spc="-10" dirty="0">
                <a:latin typeface="Consolas"/>
                <a:cs typeface="Consolas"/>
              </a:rPr>
              <a:t>kareem;</a:t>
            </a:r>
            <a:endParaRPr sz="2400">
              <a:latin typeface="Consolas"/>
              <a:cs typeface="Consolas"/>
            </a:endParaRPr>
          </a:p>
          <a:p>
            <a:pPr marL="90805">
              <a:lnSpc>
                <a:spcPct val="100000"/>
              </a:lnSpc>
            </a:pPr>
            <a:r>
              <a:rPr sz="2400" dirty="0">
                <a:solidFill>
                  <a:srgbClr val="2B91AE"/>
                </a:solidFill>
                <a:latin typeface="Consolas"/>
                <a:cs typeface="Consolas"/>
              </a:rPr>
              <a:t>Student</a:t>
            </a:r>
            <a:r>
              <a:rPr sz="2400" spc="15" dirty="0">
                <a:solidFill>
                  <a:srgbClr val="2B91AE"/>
                </a:solidFill>
                <a:latin typeface="Consolas"/>
                <a:cs typeface="Consolas"/>
              </a:rPr>
              <a:t> </a:t>
            </a:r>
            <a:r>
              <a:rPr sz="2400" spc="-10" dirty="0">
                <a:latin typeface="Consolas"/>
                <a:cs typeface="Consolas"/>
              </a:rPr>
              <a:t>studentRepresentative;</a:t>
            </a:r>
            <a:endParaRPr sz="2400">
              <a:latin typeface="Consolas"/>
              <a:cs typeface="Consola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618476" y="3194304"/>
            <a:ext cx="511809" cy="534670"/>
            <a:chOff x="7618476" y="3194304"/>
            <a:chExt cx="511809" cy="534670"/>
          </a:xfrm>
        </p:grpSpPr>
        <p:sp>
          <p:nvSpPr>
            <p:cNvPr id="7" name="object 7"/>
            <p:cNvSpPr/>
            <p:nvPr/>
          </p:nvSpPr>
          <p:spPr>
            <a:xfrm>
              <a:off x="7684008" y="3232404"/>
              <a:ext cx="378460" cy="379730"/>
            </a:xfrm>
            <a:custGeom>
              <a:avLst/>
              <a:gdLst/>
              <a:ahLst/>
              <a:cxnLst/>
              <a:rect l="l" t="t" r="r" b="b"/>
              <a:pathLst>
                <a:path w="378459" h="379729">
                  <a:moveTo>
                    <a:pt x="188975" y="0"/>
                  </a:moveTo>
                  <a:lnTo>
                    <a:pt x="138729" y="6778"/>
                  </a:lnTo>
                  <a:lnTo>
                    <a:pt x="93584" y="25907"/>
                  </a:lnTo>
                  <a:lnTo>
                    <a:pt x="55340" y="55578"/>
                  </a:lnTo>
                  <a:lnTo>
                    <a:pt x="25795" y="93979"/>
                  </a:lnTo>
                  <a:lnTo>
                    <a:pt x="6748" y="139303"/>
                  </a:lnTo>
                  <a:lnTo>
                    <a:pt x="0" y="189737"/>
                  </a:lnTo>
                  <a:lnTo>
                    <a:pt x="6748" y="240172"/>
                  </a:lnTo>
                  <a:lnTo>
                    <a:pt x="25795" y="285495"/>
                  </a:lnTo>
                  <a:lnTo>
                    <a:pt x="55340" y="323897"/>
                  </a:lnTo>
                  <a:lnTo>
                    <a:pt x="93584" y="353567"/>
                  </a:lnTo>
                  <a:lnTo>
                    <a:pt x="138729" y="372697"/>
                  </a:lnTo>
                  <a:lnTo>
                    <a:pt x="188975" y="379476"/>
                  </a:lnTo>
                  <a:lnTo>
                    <a:pt x="239222" y="372697"/>
                  </a:lnTo>
                  <a:lnTo>
                    <a:pt x="284367" y="353568"/>
                  </a:lnTo>
                  <a:lnTo>
                    <a:pt x="322611" y="323897"/>
                  </a:lnTo>
                  <a:lnTo>
                    <a:pt x="352156" y="285496"/>
                  </a:lnTo>
                  <a:lnTo>
                    <a:pt x="371203" y="240172"/>
                  </a:lnTo>
                  <a:lnTo>
                    <a:pt x="377951" y="189737"/>
                  </a:lnTo>
                  <a:lnTo>
                    <a:pt x="371203" y="139303"/>
                  </a:lnTo>
                  <a:lnTo>
                    <a:pt x="352156" y="93980"/>
                  </a:lnTo>
                  <a:lnTo>
                    <a:pt x="322611" y="55578"/>
                  </a:lnTo>
                  <a:lnTo>
                    <a:pt x="284367" y="25908"/>
                  </a:lnTo>
                  <a:lnTo>
                    <a:pt x="239222" y="6778"/>
                  </a:lnTo>
                  <a:lnTo>
                    <a:pt x="188975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18476" y="3194304"/>
              <a:ext cx="511301" cy="534162"/>
            </a:xfrm>
            <a:prstGeom prst="rect">
              <a:avLst/>
            </a:prstGeom>
          </p:spPr>
        </p:pic>
      </p:grpSp>
      <p:sp>
        <p:nvSpPr>
          <p:cNvPr id="9" name="object 9"/>
          <p:cNvSpPr/>
          <p:nvPr/>
        </p:nvSpPr>
        <p:spPr>
          <a:xfrm>
            <a:off x="9078976" y="4204208"/>
            <a:ext cx="139065" cy="299085"/>
          </a:xfrm>
          <a:custGeom>
            <a:avLst/>
            <a:gdLst/>
            <a:ahLst/>
            <a:cxnLst/>
            <a:rect l="l" t="t" r="r" b="b"/>
            <a:pathLst>
              <a:path w="139065" h="299085">
                <a:moveTo>
                  <a:pt x="138683" y="0"/>
                </a:moveTo>
                <a:lnTo>
                  <a:pt x="0" y="0"/>
                </a:lnTo>
                <a:lnTo>
                  <a:pt x="0" y="298704"/>
                </a:lnTo>
                <a:lnTo>
                  <a:pt x="138683" y="298704"/>
                </a:lnTo>
                <a:lnTo>
                  <a:pt x="138683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846819" y="1956816"/>
            <a:ext cx="2950845" cy="276606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254"/>
              </a:spcBef>
            </a:pPr>
            <a:r>
              <a:rPr sz="2000" dirty="0">
                <a:solidFill>
                  <a:srgbClr val="0000FF"/>
                </a:solidFill>
                <a:latin typeface="Consolas"/>
                <a:cs typeface="Consolas"/>
              </a:rPr>
              <a:t>struct</a:t>
            </a:r>
            <a:r>
              <a:rPr sz="2000" spc="-1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000" spc="-10" dirty="0">
                <a:solidFill>
                  <a:srgbClr val="2B91AE"/>
                </a:solidFill>
                <a:latin typeface="Consolas"/>
                <a:cs typeface="Consolas"/>
              </a:rPr>
              <a:t>Student</a:t>
            </a:r>
            <a:endParaRPr sz="2000">
              <a:latin typeface="Consolas"/>
              <a:cs typeface="Consolas"/>
            </a:endParaRPr>
          </a:p>
          <a:p>
            <a:pPr marL="92710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Consolas"/>
                <a:cs typeface="Consolas"/>
              </a:rPr>
              <a:t>{</a:t>
            </a:r>
            <a:endParaRPr sz="2000">
              <a:latin typeface="Consolas"/>
              <a:cs typeface="Consolas"/>
            </a:endParaRPr>
          </a:p>
          <a:p>
            <a:pPr marL="723900" marR="261620">
              <a:lnSpc>
                <a:spcPct val="120000"/>
              </a:lnSpc>
            </a:pPr>
            <a:r>
              <a:rPr sz="200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2000" spc="-1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000" spc="-10" dirty="0">
                <a:latin typeface="Consolas"/>
                <a:cs typeface="Consolas"/>
              </a:rPr>
              <a:t>studentID; </a:t>
            </a:r>
            <a:r>
              <a:rPr sz="2000" dirty="0">
                <a:solidFill>
                  <a:srgbClr val="2B91AE"/>
                </a:solidFill>
                <a:latin typeface="Consolas"/>
                <a:cs typeface="Consolas"/>
              </a:rPr>
              <a:t>string</a:t>
            </a:r>
            <a:r>
              <a:rPr sz="2000" spc="-20" dirty="0">
                <a:solidFill>
                  <a:srgbClr val="2B91AE"/>
                </a:solidFill>
                <a:latin typeface="Consolas"/>
                <a:cs typeface="Consolas"/>
              </a:rPr>
              <a:t> </a:t>
            </a:r>
            <a:r>
              <a:rPr sz="2000" spc="-10" dirty="0">
                <a:latin typeface="Consolas"/>
                <a:cs typeface="Consolas"/>
              </a:rPr>
              <a:t>name; </a:t>
            </a:r>
            <a:r>
              <a:rPr sz="2000" dirty="0">
                <a:solidFill>
                  <a:srgbClr val="0000FF"/>
                </a:solidFill>
                <a:latin typeface="Consolas"/>
                <a:cs typeface="Consolas"/>
              </a:rPr>
              <a:t>short </a:t>
            </a:r>
            <a:r>
              <a:rPr sz="2000" spc="-10" dirty="0">
                <a:latin typeface="Consolas"/>
                <a:cs typeface="Consolas"/>
              </a:rPr>
              <a:t>intake; </a:t>
            </a:r>
            <a:r>
              <a:rPr sz="2000" dirty="0">
                <a:solidFill>
                  <a:srgbClr val="0000FF"/>
                </a:solidFill>
                <a:latin typeface="Consolas"/>
                <a:cs typeface="Consolas"/>
              </a:rPr>
              <a:t>double</a:t>
            </a:r>
            <a:r>
              <a:rPr sz="2000" spc="-3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000" spc="-20" dirty="0">
                <a:latin typeface="Consolas"/>
                <a:cs typeface="Consolas"/>
              </a:rPr>
              <a:t>gpa;</a:t>
            </a:r>
            <a:endParaRPr sz="2000">
              <a:latin typeface="Consolas"/>
              <a:cs typeface="Consolas"/>
            </a:endParaRPr>
          </a:p>
          <a:p>
            <a:pPr marL="92710">
              <a:lnSpc>
                <a:spcPct val="100000"/>
              </a:lnSpc>
              <a:spcBef>
                <a:spcPts val="480"/>
              </a:spcBef>
            </a:pPr>
            <a:r>
              <a:rPr sz="2000" spc="-25" dirty="0">
                <a:latin typeface="Consolas"/>
                <a:cs typeface="Consolas"/>
              </a:rPr>
              <a:t>};</a:t>
            </a:r>
            <a:endParaRPr sz="2000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48020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1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1CD203C-4249-4C1D-A9FB-2DFFEC988227}" type="slidenum">
              <a:rPr lang="en-US" altLang="en-US" smtClean="0"/>
              <a:pPr/>
              <a:t>28</a:t>
            </a:fld>
            <a:endParaRPr lang="en-US" alt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2418080" y="-36154"/>
            <a:ext cx="7208838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10" dirty="0">
                <a:solidFill>
                  <a:srgbClr val="0070C0"/>
                </a:solidFill>
                <a:latin typeface="Arial"/>
                <a:cs typeface="Arial"/>
              </a:rPr>
              <a:t>Comparing </a:t>
            </a:r>
            <a:r>
              <a:rPr sz="3200" b="1" spc="-10" dirty="0">
                <a:solidFill>
                  <a:srgbClr val="C00000"/>
                </a:solidFill>
                <a:latin typeface="Arial"/>
                <a:cs typeface="Arial"/>
              </a:rPr>
              <a:t>struct</a:t>
            </a:r>
            <a:r>
              <a:rPr sz="3200" b="1" spc="-10" dirty="0">
                <a:solidFill>
                  <a:srgbClr val="0070C0"/>
                </a:solidFill>
                <a:latin typeface="Arial"/>
                <a:cs typeface="Arial"/>
              </a:rPr>
              <a:t> Variables</a:t>
            </a:r>
          </a:p>
        </p:txBody>
      </p:sp>
      <p:sp>
        <p:nvSpPr>
          <p:cNvPr id="3" name="object 3"/>
          <p:cNvSpPr/>
          <p:nvPr/>
        </p:nvSpPr>
        <p:spPr>
          <a:xfrm>
            <a:off x="769619" y="3185160"/>
            <a:ext cx="10750550" cy="462280"/>
          </a:xfrm>
          <a:custGeom>
            <a:avLst/>
            <a:gdLst/>
            <a:ahLst/>
            <a:cxnLst/>
            <a:rect l="l" t="t" r="r" b="b"/>
            <a:pathLst>
              <a:path w="10750550" h="462279">
                <a:moveTo>
                  <a:pt x="0" y="461771"/>
                </a:moveTo>
                <a:lnTo>
                  <a:pt x="10750296" y="461771"/>
                </a:lnTo>
                <a:lnTo>
                  <a:pt x="10750296" y="0"/>
                </a:lnTo>
                <a:lnTo>
                  <a:pt x="0" y="0"/>
                </a:lnTo>
                <a:lnTo>
                  <a:pt x="0" y="461771"/>
                </a:lnTo>
                <a:close/>
              </a:path>
            </a:pathLst>
          </a:custGeom>
          <a:ln w="9525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69619" y="1908048"/>
            <a:ext cx="10750550" cy="544195"/>
          </a:xfrm>
          <a:custGeom>
            <a:avLst/>
            <a:gdLst/>
            <a:ahLst/>
            <a:cxnLst/>
            <a:rect l="l" t="t" r="r" b="b"/>
            <a:pathLst>
              <a:path w="10750550" h="544194">
                <a:moveTo>
                  <a:pt x="0" y="544067"/>
                </a:moveTo>
                <a:lnTo>
                  <a:pt x="10750296" y="544067"/>
                </a:lnTo>
                <a:lnTo>
                  <a:pt x="10750296" y="0"/>
                </a:lnTo>
                <a:lnTo>
                  <a:pt x="0" y="0"/>
                </a:lnTo>
                <a:lnTo>
                  <a:pt x="0" y="544067"/>
                </a:lnTo>
                <a:close/>
              </a:path>
            </a:pathLst>
          </a:custGeom>
          <a:ln w="1269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47750" y="1926082"/>
            <a:ext cx="9451340" cy="1666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00FF"/>
                </a:solidFill>
                <a:latin typeface="Consolas"/>
                <a:cs typeface="Consolas"/>
              </a:rPr>
              <a:t>if</a:t>
            </a:r>
            <a:r>
              <a:rPr sz="2400" spc="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400" dirty="0">
                <a:latin typeface="Consolas"/>
                <a:cs typeface="Consolas"/>
              </a:rPr>
              <a:t>(studentRepresentative</a:t>
            </a:r>
            <a:r>
              <a:rPr sz="2400" spc="60" dirty="0">
                <a:latin typeface="Consolas"/>
                <a:cs typeface="Consolas"/>
              </a:rPr>
              <a:t> </a:t>
            </a:r>
            <a:r>
              <a:rPr sz="2400" dirty="0">
                <a:latin typeface="Consolas"/>
                <a:cs typeface="Consolas"/>
              </a:rPr>
              <a:t>==</a:t>
            </a:r>
            <a:r>
              <a:rPr sz="2400" spc="30" dirty="0">
                <a:latin typeface="Consolas"/>
                <a:cs typeface="Consolas"/>
              </a:rPr>
              <a:t> </a:t>
            </a:r>
            <a:r>
              <a:rPr sz="2400" dirty="0">
                <a:latin typeface="Consolas"/>
                <a:cs typeface="Consolas"/>
              </a:rPr>
              <a:t>kareem)</a:t>
            </a:r>
            <a:r>
              <a:rPr sz="2400" spc="35" dirty="0">
                <a:latin typeface="Consolas"/>
                <a:cs typeface="Consolas"/>
              </a:rPr>
              <a:t> </a:t>
            </a:r>
            <a:r>
              <a:rPr sz="2400" dirty="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sz="2400" spc="3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2400" dirty="0">
                <a:solidFill>
                  <a:srgbClr val="008000"/>
                </a:solidFill>
                <a:latin typeface="Consolas"/>
                <a:cs typeface="Consolas"/>
              </a:rPr>
              <a:t>won’t</a:t>
            </a:r>
            <a:r>
              <a:rPr sz="2400" spc="4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2400" spc="-20" dirty="0">
                <a:solidFill>
                  <a:srgbClr val="008000"/>
                </a:solidFill>
                <a:latin typeface="Consolas"/>
                <a:cs typeface="Consolas"/>
              </a:rPr>
              <a:t>work</a:t>
            </a:r>
            <a:endParaRPr sz="24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24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24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sz="2400" dirty="0">
                <a:solidFill>
                  <a:srgbClr val="0000FF"/>
                </a:solidFill>
                <a:latin typeface="Consolas"/>
                <a:cs typeface="Consolas"/>
              </a:rPr>
              <a:t>if</a:t>
            </a:r>
            <a:r>
              <a:rPr sz="2400" spc="4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400" dirty="0">
                <a:latin typeface="Consolas"/>
                <a:cs typeface="Consolas"/>
              </a:rPr>
              <a:t>(studentRepresentative.studentID</a:t>
            </a:r>
            <a:r>
              <a:rPr sz="2400" spc="105" dirty="0">
                <a:latin typeface="Consolas"/>
                <a:cs typeface="Consolas"/>
              </a:rPr>
              <a:t> </a:t>
            </a:r>
            <a:r>
              <a:rPr sz="2400" dirty="0">
                <a:latin typeface="Consolas"/>
                <a:cs typeface="Consolas"/>
              </a:rPr>
              <a:t>==</a:t>
            </a:r>
            <a:r>
              <a:rPr sz="2400" spc="55" dirty="0">
                <a:latin typeface="Consolas"/>
                <a:cs typeface="Consolas"/>
              </a:rPr>
              <a:t> </a:t>
            </a:r>
            <a:r>
              <a:rPr sz="2400" spc="-10" dirty="0">
                <a:latin typeface="Consolas"/>
                <a:cs typeface="Consolas"/>
              </a:rPr>
              <a:t>kareem.studentID)</a:t>
            </a:r>
            <a:endParaRPr sz="2400" dirty="0">
              <a:latin typeface="Consolas"/>
              <a:cs typeface="Consola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1291316" y="3194304"/>
            <a:ext cx="511809" cy="534670"/>
            <a:chOff x="11291316" y="3194304"/>
            <a:chExt cx="511809" cy="534670"/>
          </a:xfrm>
        </p:grpSpPr>
        <p:sp>
          <p:nvSpPr>
            <p:cNvPr id="7" name="object 7"/>
            <p:cNvSpPr/>
            <p:nvPr/>
          </p:nvSpPr>
          <p:spPr>
            <a:xfrm>
              <a:off x="11356848" y="3232404"/>
              <a:ext cx="378460" cy="379730"/>
            </a:xfrm>
            <a:custGeom>
              <a:avLst/>
              <a:gdLst/>
              <a:ahLst/>
              <a:cxnLst/>
              <a:rect l="l" t="t" r="r" b="b"/>
              <a:pathLst>
                <a:path w="378459" h="379729">
                  <a:moveTo>
                    <a:pt x="188975" y="0"/>
                  </a:moveTo>
                  <a:lnTo>
                    <a:pt x="138729" y="6778"/>
                  </a:lnTo>
                  <a:lnTo>
                    <a:pt x="93584" y="25907"/>
                  </a:lnTo>
                  <a:lnTo>
                    <a:pt x="55340" y="55578"/>
                  </a:lnTo>
                  <a:lnTo>
                    <a:pt x="25795" y="93979"/>
                  </a:lnTo>
                  <a:lnTo>
                    <a:pt x="6748" y="139303"/>
                  </a:lnTo>
                  <a:lnTo>
                    <a:pt x="0" y="189737"/>
                  </a:lnTo>
                  <a:lnTo>
                    <a:pt x="6748" y="240172"/>
                  </a:lnTo>
                  <a:lnTo>
                    <a:pt x="25795" y="285495"/>
                  </a:lnTo>
                  <a:lnTo>
                    <a:pt x="55340" y="323897"/>
                  </a:lnTo>
                  <a:lnTo>
                    <a:pt x="93584" y="353567"/>
                  </a:lnTo>
                  <a:lnTo>
                    <a:pt x="138729" y="372697"/>
                  </a:lnTo>
                  <a:lnTo>
                    <a:pt x="188975" y="379476"/>
                  </a:lnTo>
                  <a:lnTo>
                    <a:pt x="239222" y="372697"/>
                  </a:lnTo>
                  <a:lnTo>
                    <a:pt x="284367" y="353568"/>
                  </a:lnTo>
                  <a:lnTo>
                    <a:pt x="322611" y="323897"/>
                  </a:lnTo>
                  <a:lnTo>
                    <a:pt x="352156" y="285496"/>
                  </a:lnTo>
                  <a:lnTo>
                    <a:pt x="371203" y="240172"/>
                  </a:lnTo>
                  <a:lnTo>
                    <a:pt x="377951" y="189737"/>
                  </a:lnTo>
                  <a:lnTo>
                    <a:pt x="371203" y="139303"/>
                  </a:lnTo>
                  <a:lnTo>
                    <a:pt x="352156" y="93980"/>
                  </a:lnTo>
                  <a:lnTo>
                    <a:pt x="322611" y="55578"/>
                  </a:lnTo>
                  <a:lnTo>
                    <a:pt x="284367" y="25908"/>
                  </a:lnTo>
                  <a:lnTo>
                    <a:pt x="239222" y="6778"/>
                  </a:lnTo>
                  <a:lnTo>
                    <a:pt x="188975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91316" y="3194304"/>
              <a:ext cx="511301" cy="534162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11338559" y="2017776"/>
            <a:ext cx="378460" cy="379730"/>
            <a:chOff x="11338559" y="2017776"/>
            <a:chExt cx="378460" cy="379730"/>
          </a:xfrm>
        </p:grpSpPr>
        <p:sp>
          <p:nvSpPr>
            <p:cNvPr id="10" name="object 10"/>
            <p:cNvSpPr/>
            <p:nvPr/>
          </p:nvSpPr>
          <p:spPr>
            <a:xfrm>
              <a:off x="11338559" y="2017776"/>
              <a:ext cx="378460" cy="379730"/>
            </a:xfrm>
            <a:custGeom>
              <a:avLst/>
              <a:gdLst/>
              <a:ahLst/>
              <a:cxnLst/>
              <a:rect l="l" t="t" r="r" b="b"/>
              <a:pathLst>
                <a:path w="378459" h="379730">
                  <a:moveTo>
                    <a:pt x="188975" y="0"/>
                  </a:moveTo>
                  <a:lnTo>
                    <a:pt x="138729" y="6778"/>
                  </a:lnTo>
                  <a:lnTo>
                    <a:pt x="93584" y="25907"/>
                  </a:lnTo>
                  <a:lnTo>
                    <a:pt x="55340" y="55578"/>
                  </a:lnTo>
                  <a:lnTo>
                    <a:pt x="25795" y="93979"/>
                  </a:lnTo>
                  <a:lnTo>
                    <a:pt x="6748" y="139303"/>
                  </a:lnTo>
                  <a:lnTo>
                    <a:pt x="0" y="189737"/>
                  </a:lnTo>
                  <a:lnTo>
                    <a:pt x="6748" y="240172"/>
                  </a:lnTo>
                  <a:lnTo>
                    <a:pt x="25795" y="285495"/>
                  </a:lnTo>
                  <a:lnTo>
                    <a:pt x="55340" y="323897"/>
                  </a:lnTo>
                  <a:lnTo>
                    <a:pt x="93584" y="353567"/>
                  </a:lnTo>
                  <a:lnTo>
                    <a:pt x="138729" y="372697"/>
                  </a:lnTo>
                  <a:lnTo>
                    <a:pt x="188975" y="379475"/>
                  </a:lnTo>
                  <a:lnTo>
                    <a:pt x="239222" y="372697"/>
                  </a:lnTo>
                  <a:lnTo>
                    <a:pt x="284367" y="353568"/>
                  </a:lnTo>
                  <a:lnTo>
                    <a:pt x="322611" y="323897"/>
                  </a:lnTo>
                  <a:lnTo>
                    <a:pt x="352156" y="285496"/>
                  </a:lnTo>
                  <a:lnTo>
                    <a:pt x="371203" y="240172"/>
                  </a:lnTo>
                  <a:lnTo>
                    <a:pt x="377951" y="189737"/>
                  </a:lnTo>
                  <a:lnTo>
                    <a:pt x="371203" y="139303"/>
                  </a:lnTo>
                  <a:lnTo>
                    <a:pt x="352156" y="93980"/>
                  </a:lnTo>
                  <a:lnTo>
                    <a:pt x="322611" y="55578"/>
                  </a:lnTo>
                  <a:lnTo>
                    <a:pt x="284367" y="25908"/>
                  </a:lnTo>
                  <a:lnTo>
                    <a:pt x="239222" y="6778"/>
                  </a:lnTo>
                  <a:lnTo>
                    <a:pt x="188975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430761" y="2109978"/>
              <a:ext cx="197485" cy="197485"/>
            </a:xfrm>
            <a:custGeom>
              <a:avLst/>
              <a:gdLst/>
              <a:ahLst/>
              <a:cxnLst/>
              <a:rect l="l" t="t" r="r" b="b"/>
              <a:pathLst>
                <a:path w="197484" h="197485">
                  <a:moveTo>
                    <a:pt x="0" y="0"/>
                  </a:moveTo>
                  <a:lnTo>
                    <a:pt x="197231" y="197231"/>
                  </a:lnTo>
                </a:path>
                <a:path w="197484" h="197485">
                  <a:moveTo>
                    <a:pt x="197231" y="0"/>
                  </a:moveTo>
                  <a:lnTo>
                    <a:pt x="0" y="197231"/>
                  </a:lnTo>
                </a:path>
              </a:pathLst>
            </a:custGeom>
            <a:ln w="508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9078976" y="6089802"/>
            <a:ext cx="139065" cy="299085"/>
          </a:xfrm>
          <a:custGeom>
            <a:avLst/>
            <a:gdLst/>
            <a:ahLst/>
            <a:cxnLst/>
            <a:rect l="l" t="t" r="r" b="b"/>
            <a:pathLst>
              <a:path w="139065" h="299085">
                <a:moveTo>
                  <a:pt x="138683" y="0"/>
                </a:moveTo>
                <a:lnTo>
                  <a:pt x="0" y="0"/>
                </a:lnTo>
                <a:lnTo>
                  <a:pt x="0" y="298703"/>
                </a:lnTo>
                <a:lnTo>
                  <a:pt x="138683" y="298703"/>
                </a:lnTo>
                <a:lnTo>
                  <a:pt x="138683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8846819" y="3843528"/>
            <a:ext cx="2950845" cy="276479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250"/>
              </a:spcBef>
            </a:pPr>
            <a:r>
              <a:rPr sz="2000" dirty="0">
                <a:solidFill>
                  <a:srgbClr val="0000FF"/>
                </a:solidFill>
                <a:latin typeface="Consolas"/>
                <a:cs typeface="Consolas"/>
              </a:rPr>
              <a:t>struct</a:t>
            </a:r>
            <a:r>
              <a:rPr sz="2000" spc="-1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000" spc="-10" dirty="0">
                <a:solidFill>
                  <a:srgbClr val="2B91AE"/>
                </a:solidFill>
                <a:latin typeface="Consolas"/>
                <a:cs typeface="Consolas"/>
              </a:rPr>
              <a:t>Student</a:t>
            </a:r>
            <a:endParaRPr sz="2000">
              <a:latin typeface="Consolas"/>
              <a:cs typeface="Consolas"/>
            </a:endParaRPr>
          </a:p>
          <a:p>
            <a:pPr marL="92710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Consolas"/>
                <a:cs typeface="Consolas"/>
              </a:rPr>
              <a:t>{</a:t>
            </a:r>
            <a:endParaRPr sz="2000">
              <a:latin typeface="Consolas"/>
              <a:cs typeface="Consolas"/>
            </a:endParaRPr>
          </a:p>
          <a:p>
            <a:pPr marL="723900" marR="261620">
              <a:lnSpc>
                <a:spcPct val="120000"/>
              </a:lnSpc>
            </a:pPr>
            <a:r>
              <a:rPr sz="2000" dirty="0">
                <a:solidFill>
                  <a:srgbClr val="0000FF"/>
                </a:solidFill>
                <a:latin typeface="Consolas"/>
                <a:cs typeface="Consolas"/>
              </a:rPr>
              <a:t>int</a:t>
            </a:r>
            <a:r>
              <a:rPr sz="2000" spc="-1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000" spc="-10" dirty="0">
                <a:latin typeface="Consolas"/>
                <a:cs typeface="Consolas"/>
              </a:rPr>
              <a:t>studentID; </a:t>
            </a:r>
            <a:r>
              <a:rPr sz="2000" dirty="0">
                <a:solidFill>
                  <a:srgbClr val="2B91AE"/>
                </a:solidFill>
                <a:latin typeface="Consolas"/>
                <a:cs typeface="Consolas"/>
              </a:rPr>
              <a:t>string</a:t>
            </a:r>
            <a:r>
              <a:rPr sz="2000" spc="-20" dirty="0">
                <a:solidFill>
                  <a:srgbClr val="2B91AE"/>
                </a:solidFill>
                <a:latin typeface="Consolas"/>
                <a:cs typeface="Consolas"/>
              </a:rPr>
              <a:t> </a:t>
            </a:r>
            <a:r>
              <a:rPr sz="2000" spc="-10" dirty="0">
                <a:latin typeface="Consolas"/>
                <a:cs typeface="Consolas"/>
              </a:rPr>
              <a:t>name; </a:t>
            </a:r>
            <a:r>
              <a:rPr sz="2000" dirty="0">
                <a:solidFill>
                  <a:srgbClr val="0000FF"/>
                </a:solidFill>
                <a:latin typeface="Consolas"/>
                <a:cs typeface="Consolas"/>
              </a:rPr>
              <a:t>short </a:t>
            </a:r>
            <a:r>
              <a:rPr sz="2000" spc="-10" dirty="0">
                <a:latin typeface="Consolas"/>
                <a:cs typeface="Consolas"/>
              </a:rPr>
              <a:t>intake; </a:t>
            </a:r>
            <a:r>
              <a:rPr sz="2000" dirty="0">
                <a:solidFill>
                  <a:srgbClr val="0000FF"/>
                </a:solidFill>
                <a:latin typeface="Consolas"/>
                <a:cs typeface="Consolas"/>
              </a:rPr>
              <a:t>double</a:t>
            </a:r>
            <a:r>
              <a:rPr sz="2000" spc="-3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000" spc="-20" dirty="0">
                <a:latin typeface="Consolas"/>
                <a:cs typeface="Consolas"/>
              </a:rPr>
              <a:t>gpa;</a:t>
            </a:r>
            <a:endParaRPr sz="2000">
              <a:latin typeface="Consolas"/>
              <a:cs typeface="Consolas"/>
            </a:endParaRPr>
          </a:p>
          <a:p>
            <a:pPr marL="92710">
              <a:lnSpc>
                <a:spcPct val="100000"/>
              </a:lnSpc>
              <a:spcBef>
                <a:spcPts val="484"/>
              </a:spcBef>
            </a:pPr>
            <a:r>
              <a:rPr sz="2000" spc="-25" dirty="0">
                <a:latin typeface="Consolas"/>
                <a:cs typeface="Consolas"/>
              </a:rPr>
              <a:t>};</a:t>
            </a:r>
            <a:endParaRPr sz="2000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2928668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igital Numbers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79263" cy="5676901"/>
          </a:xfrm>
          <a:prstGeom prst="rect">
            <a:avLst/>
          </a:prstGeom>
        </p:spPr>
      </p:pic>
      <p:pic>
        <p:nvPicPr>
          <p:cNvPr id="6" name="Picture 5" descr="&lt;strong&gt;Thank you PNG&lt;/strong&gt;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373" y="3928010"/>
            <a:ext cx="3543824" cy="88595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CB2DC1F-F7EA-6225-D949-BFC44BE51E80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3290" y="1005839"/>
            <a:ext cx="2713990" cy="9789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Status xmlns="71af3243-3dd4-4a8d-8c0d-dd76da1f02a5">Not started</Statu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b385d60f68dd989dca1fdc827799d85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911b479caf7b199da365455750e4572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3FC8A1C-A436-42C0-AC33-FAFFFAF219B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F5C8BF1-B0E4-49A1-808F-40F2AD30E743}">
  <ds:schemaRefs>
    <ds:schemaRef ds:uri="http://schemas.microsoft.com/office/2006/metadata/properties"/>
    <ds:schemaRef ds:uri="http://purl.org/dc/elements/1.1/"/>
    <ds:schemaRef ds:uri="http://purl.org/dc/terms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16c05727-aa75-4e4a-9b5f-8a80a1165891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E3852F5D-AAE7-473B-9767-8875B60BC63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design</Template>
  <TotalTime>1141</TotalTime>
  <Words>2217</Words>
  <Application>Microsoft Office PowerPoint</Application>
  <PresentationFormat>Widescreen</PresentationFormat>
  <Paragraphs>430</Paragraphs>
  <Slides>29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9" baseType="lpstr">
      <vt:lpstr>Arial</vt:lpstr>
      <vt:lpstr>Calibri</vt:lpstr>
      <vt:lpstr>Cambria Math</vt:lpstr>
      <vt:lpstr>Consolas</vt:lpstr>
      <vt:lpstr>Courier New</vt:lpstr>
      <vt:lpstr>Gill Sans MT</vt:lpstr>
      <vt:lpstr>Times New Roman</vt:lpstr>
      <vt:lpstr>Wingdings</vt:lpstr>
      <vt:lpstr>Wingdings 2</vt:lpstr>
      <vt:lpstr>Dividend</vt:lpstr>
      <vt:lpstr>Lecture 2     Review</vt:lpstr>
      <vt:lpstr>Course Learning Objectives</vt:lpstr>
      <vt:lpstr>PowerPoint Presentation</vt:lpstr>
      <vt:lpstr>PowerPoint Presentation</vt:lpstr>
      <vt:lpstr>C++ Libraries</vt:lpstr>
      <vt:lpstr>PowerPoint Presentation</vt:lpstr>
      <vt:lpstr>Opening Problem</vt:lpstr>
      <vt:lpstr>An Alternative</vt:lpstr>
      <vt:lpstr>An Alternative</vt:lpstr>
      <vt:lpstr>An Alternative</vt:lpstr>
      <vt:lpstr>Overloading Functions</vt:lpstr>
      <vt:lpstr>PowerPoint Presentation</vt:lpstr>
      <vt:lpstr>PowerPoint Presentation</vt:lpstr>
      <vt:lpstr>Ambiguous Invocation</vt:lpstr>
      <vt:lpstr>PowerPoint Presentation</vt:lpstr>
      <vt:lpstr>PowerPoint Presentation</vt:lpstr>
      <vt:lpstr>Global Variables</vt:lpstr>
      <vt:lpstr>PowerPoint Presentation</vt:lpstr>
      <vt:lpstr>Pass by Value</vt:lpstr>
      <vt:lpstr>Pass by Reference</vt:lpstr>
      <vt:lpstr>Reference Variables Example</vt:lpstr>
      <vt:lpstr>Combining Data into Structures</vt:lpstr>
      <vt:lpstr>PowerPoint Presentation</vt:lpstr>
      <vt:lpstr>Defining struct Variables</vt:lpstr>
      <vt:lpstr>Accessing struct Members</vt:lpstr>
      <vt:lpstr>Displaying a struct Variable</vt:lpstr>
      <vt:lpstr>Copying struct Variables</vt:lpstr>
      <vt:lpstr>Comparing struct Variables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DR-Yasser Elawady</dc:creator>
  <cp:lastModifiedBy>Yasser Hamed Ahmed El-Awady</cp:lastModifiedBy>
  <cp:revision>22</cp:revision>
  <dcterms:created xsi:type="dcterms:W3CDTF">2020-10-08T13:37:14Z</dcterms:created>
  <dcterms:modified xsi:type="dcterms:W3CDTF">2025-10-05T19:09:46Z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