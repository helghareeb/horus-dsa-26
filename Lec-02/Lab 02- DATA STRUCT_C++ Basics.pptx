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4"/>
  </p:sldMasterIdLst>
  <p:notesMasterIdLst>
    <p:notesMasterId r:id="rId27"/>
  </p:notesMasterIdLst>
  <p:sldIdLst>
    <p:sldId id="256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31" r:id="rId15"/>
    <p:sldId id="432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270" r:id="rId26"/>
  </p:sldIdLst>
  <p:sldSz cx="9144000" cy="5143500" type="screen16x9"/>
  <p:notesSz cx="6858000" cy="9144000"/>
  <p:embeddedFontLst>
    <p:embeddedFont>
      <p:font typeface="Trebuchet MS" panose="020B0603020202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C1307-79D8-AB57-916A-4DB33DCB2EB2}" v="1" dt="2025-10-08T10:06:51.870"/>
    <p1510:client id="{5C44F13A-9F16-95EF-DAB2-0C002159ACBF}" v="2" dt="2025-10-08T11:18:50.279"/>
    <p1510:client id="{79445DF1-A9BF-E5DC-0C92-3695F1FBEC69}" v="1" dt="2025-10-07T11:22:41.603"/>
    <p1510:client id="{BA05B2A7-DBA3-E810-B058-9C6B93658E43}" v="4" dt="2025-10-07T03:50:39.604"/>
    <p1510:client id="{CEB25096-DB2C-B06F-6C15-DB61FBE64C0D}" v="4" dt="2025-10-07T12:20:15.429"/>
    <p1510:client id="{E5B37750-AC5F-87FE-6B4A-33585198D06C}" v="4" dt="2025-10-08T09:01:31.521"/>
  </p1510:revLst>
</p1510:revInfo>
</file>

<file path=ppt/tableStyles.xml><?xml version="1.0" encoding="utf-8"?>
<a:tblStyleLst xmlns:a="http://schemas.openxmlformats.org/drawingml/2006/main" def="{30BFA541-CCAD-4979-975F-2BAA3A9823B3}">
  <a:tblStyle styleId="{30BFA541-CCAD-4979-975F-2BAA3A9823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1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0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2" name="Google Shape;392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e1d838b627_4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02" name="Google Shape;902;ge1d838b627_4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>
            <a:spLocks noGrp="1"/>
          </p:cNvSpPr>
          <p:nvPr>
            <p:ph type="title" hasCustomPrompt="1"/>
          </p:nvPr>
        </p:nvSpPr>
        <p:spPr>
          <a:xfrm>
            <a:off x="4811950" y="1776350"/>
            <a:ext cx="3095400" cy="10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2" name="Google Shape;122;p11"/>
          <p:cNvSpPr txBox="1">
            <a:spLocks noGrp="1"/>
          </p:cNvSpPr>
          <p:nvPr>
            <p:ph type="subTitle" idx="1"/>
          </p:nvPr>
        </p:nvSpPr>
        <p:spPr>
          <a:xfrm>
            <a:off x="4811950" y="2864350"/>
            <a:ext cx="3095400" cy="50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-858351" y="1447575"/>
            <a:ext cx="2352930" cy="235293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 rot="10800000">
            <a:off x="5910838" y="4241512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2888113" y="12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7996032" y="-1493732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-1137174" y="539498"/>
            <a:ext cx="1666787" cy="1666787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 rot="-2700000">
            <a:off x="1710897" y="21904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 rot="-2700000">
            <a:off x="3529106" y="475800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 rot="-2700000">
            <a:off x="8797665" y="263482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 rot="-2700000">
            <a:off x="313323" y="443828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 rot="-2700000">
            <a:off x="6748206" y="21906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8528260" y="46326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1_1_1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-995441" y="4347584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570050" y="5"/>
            <a:ext cx="1320889" cy="571378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 rot="-2700000">
            <a:off x="348672" y="376089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 rot="-2700000">
            <a:off x="154531" y="71767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 rot="-2700000">
            <a:off x="5835865" y="21704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 rot="-2700000">
            <a:off x="8076748" y="48178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 rot="-2700000">
            <a:off x="3131756" y="48178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8756660" y="212113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8" name="Google Shape;198;p18"/>
          <p:cNvGrpSpPr/>
          <p:nvPr/>
        </p:nvGrpSpPr>
        <p:grpSpPr>
          <a:xfrm>
            <a:off x="8629633" y="4002066"/>
            <a:ext cx="901968" cy="901968"/>
            <a:chOff x="1350404" y="-3124999"/>
            <a:chExt cx="1570279" cy="1570279"/>
          </a:xfrm>
        </p:grpSpPr>
        <p:sp>
          <p:nvSpPr>
            <p:cNvPr id="199" name="Google Shape;199;p18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subTitle" idx="1"/>
          </p:nvPr>
        </p:nvSpPr>
        <p:spPr>
          <a:xfrm>
            <a:off x="4938050" y="2727754"/>
            <a:ext cx="3346200" cy="8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/>
          <p:nvPr/>
        </p:nvSpPr>
        <p:spPr>
          <a:xfrm>
            <a:off x="-753977" y="3910975"/>
            <a:ext cx="2489827" cy="248982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p26"/>
          <p:cNvGrpSpPr/>
          <p:nvPr/>
        </p:nvGrpSpPr>
        <p:grpSpPr>
          <a:xfrm>
            <a:off x="295975" y="4188655"/>
            <a:ext cx="1694813" cy="830678"/>
            <a:chOff x="-215300" y="3851305"/>
            <a:chExt cx="1694813" cy="830678"/>
          </a:xfrm>
        </p:grpSpPr>
        <p:sp>
          <p:nvSpPr>
            <p:cNvPr id="321" name="Google Shape;321;p26"/>
            <p:cNvSpPr/>
            <p:nvPr/>
          </p:nvSpPr>
          <p:spPr>
            <a:xfrm>
              <a:off x="861887" y="3947362"/>
              <a:ext cx="215345" cy="4222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2" name="Google Shape;322;p26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323" name="Google Shape;323;p26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26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26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6" name="Google Shape;326;p26"/>
            <p:cNvSpPr/>
            <p:nvPr/>
          </p:nvSpPr>
          <p:spPr>
            <a:xfrm>
              <a:off x="-85801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294020" y="4210340"/>
              <a:ext cx="105745" cy="471557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48397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053745" y="4472133"/>
              <a:ext cx="105745" cy="209628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1243698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-32968" y="4087783"/>
              <a:ext cx="1329975" cy="42031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-61417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128536" y="4354614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318446" y="418938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508356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698309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893172" y="4336368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1078172" y="4457909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1268082" y="4046253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26"/>
          <p:cNvSpPr/>
          <p:nvPr/>
        </p:nvSpPr>
        <p:spPr>
          <a:xfrm rot="-2700000">
            <a:off x="7679247" y="18329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 rot="-2700000">
            <a:off x="422294" y="56792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 rot="-2700000">
            <a:off x="8760102" y="359387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 rot="-2700000">
            <a:off x="228123" y="30408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 rot="-2700000">
            <a:off x="4242256" y="47461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3199535" y="1921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" name="Google Shape;350;p26"/>
          <p:cNvGrpSpPr/>
          <p:nvPr/>
        </p:nvGrpSpPr>
        <p:grpSpPr>
          <a:xfrm>
            <a:off x="8430783" y="1741366"/>
            <a:ext cx="901968" cy="901968"/>
            <a:chOff x="1350404" y="-3124999"/>
            <a:chExt cx="1570279" cy="1570279"/>
          </a:xfrm>
        </p:grpSpPr>
        <p:sp>
          <p:nvSpPr>
            <p:cNvPr id="351" name="Google Shape;351;p26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26"/>
          <p:cNvSpPr/>
          <p:nvPr/>
        </p:nvSpPr>
        <p:spPr>
          <a:xfrm>
            <a:off x="4407973" y="-1942300"/>
            <a:ext cx="2489827" cy="248982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8146410" y="47549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64" r:id="rId2"/>
    <p:sldLayoutId id="2147483665" r:id="rId3"/>
    <p:sldLayoutId id="214748367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1"/>
          <p:cNvSpPr txBox="1">
            <a:spLocks noGrp="1"/>
          </p:cNvSpPr>
          <p:nvPr>
            <p:ph type="title"/>
          </p:nvPr>
        </p:nvSpPr>
        <p:spPr>
          <a:xfrm>
            <a:off x="599561" y="199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7030A0"/>
                </a:solidFill>
              </a:rPr>
              <a:t>Data Structures </a:t>
            </a:r>
            <a:br>
              <a:rPr lang="en-US" sz="3200" b="1" dirty="0">
                <a:solidFill>
                  <a:srgbClr val="7030A0"/>
                </a:solidFill>
              </a:rPr>
            </a:br>
            <a:r>
              <a:rPr lang="en-US" sz="3200" b="1" dirty="0">
                <a:solidFill>
                  <a:srgbClr val="7030A0"/>
                </a:solidFill>
              </a:rPr>
              <a:t>&amp; </a:t>
            </a:r>
            <a:br>
              <a:rPr lang="en-US" sz="3200" b="1" dirty="0">
                <a:solidFill>
                  <a:srgbClr val="7030A0"/>
                </a:solidFill>
              </a:rPr>
            </a:br>
            <a:r>
              <a:rPr lang="en-US" sz="3200" b="1" dirty="0">
                <a:solidFill>
                  <a:srgbClr val="7030A0"/>
                </a:solidFill>
              </a:rPr>
              <a:t>Algorithms</a:t>
            </a:r>
            <a:endParaRPr sz="3200" b="1" dirty="0">
              <a:solidFill>
                <a:srgbClr val="7030A0"/>
              </a:solidFill>
            </a:endParaRPr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4294967295"/>
          </p:nvPr>
        </p:nvSpPr>
        <p:spPr>
          <a:xfrm>
            <a:off x="2567781" y="3359756"/>
            <a:ext cx="4008438" cy="4508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7030A0"/>
                </a:solidFill>
              </a:rPr>
              <a:t>Lab 2</a:t>
            </a:r>
          </a:p>
        </p:txBody>
      </p:sp>
      <p:grpSp>
        <p:nvGrpSpPr>
          <p:cNvPr id="434" name="Google Shape;434;p31"/>
          <p:cNvGrpSpPr/>
          <p:nvPr/>
        </p:nvGrpSpPr>
        <p:grpSpPr>
          <a:xfrm>
            <a:off x="1062846" y="290916"/>
            <a:ext cx="901968" cy="901968"/>
            <a:chOff x="1350404" y="-3124999"/>
            <a:chExt cx="1570279" cy="1570279"/>
          </a:xfrm>
        </p:grpSpPr>
        <p:sp>
          <p:nvSpPr>
            <p:cNvPr id="435" name="Google Shape;435;p31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5" name="Google Shape;455;p31"/>
          <p:cNvGrpSpPr/>
          <p:nvPr/>
        </p:nvGrpSpPr>
        <p:grpSpPr>
          <a:xfrm>
            <a:off x="-180991" y="3982928"/>
            <a:ext cx="1694813" cy="830678"/>
            <a:chOff x="-215300" y="3851305"/>
            <a:chExt cx="1694813" cy="830678"/>
          </a:xfrm>
        </p:grpSpPr>
        <p:sp>
          <p:nvSpPr>
            <p:cNvPr id="456" name="Google Shape;456;p31"/>
            <p:cNvSpPr/>
            <p:nvPr/>
          </p:nvSpPr>
          <p:spPr>
            <a:xfrm>
              <a:off x="861887" y="3947362"/>
              <a:ext cx="215268" cy="422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7" name="Google Shape;457;p31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458" name="Google Shape;458;p31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31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31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1" name="Google Shape;461;p31"/>
            <p:cNvSpPr/>
            <p:nvPr/>
          </p:nvSpPr>
          <p:spPr>
            <a:xfrm>
              <a:off x="-85801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31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1"/>
            <p:cNvSpPr/>
            <p:nvPr/>
          </p:nvSpPr>
          <p:spPr>
            <a:xfrm>
              <a:off x="294020" y="4210340"/>
              <a:ext cx="105708" cy="471388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1"/>
            <p:cNvSpPr/>
            <p:nvPr/>
          </p:nvSpPr>
          <p:spPr>
            <a:xfrm>
              <a:off x="483972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31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31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1053745" y="4472133"/>
              <a:ext cx="105708" cy="209553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1"/>
            <p:cNvSpPr/>
            <p:nvPr/>
          </p:nvSpPr>
          <p:spPr>
            <a:xfrm>
              <a:off x="1243698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31"/>
            <p:cNvSpPr/>
            <p:nvPr/>
          </p:nvSpPr>
          <p:spPr>
            <a:xfrm>
              <a:off x="-32968" y="4087783"/>
              <a:ext cx="1329498" cy="42016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31"/>
            <p:cNvSpPr/>
            <p:nvPr/>
          </p:nvSpPr>
          <p:spPr>
            <a:xfrm>
              <a:off x="-61417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31"/>
            <p:cNvSpPr/>
            <p:nvPr/>
          </p:nvSpPr>
          <p:spPr>
            <a:xfrm>
              <a:off x="128536" y="4354614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31"/>
            <p:cNvSpPr/>
            <p:nvPr/>
          </p:nvSpPr>
          <p:spPr>
            <a:xfrm>
              <a:off x="318446" y="418938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508356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31"/>
            <p:cNvSpPr/>
            <p:nvPr/>
          </p:nvSpPr>
          <p:spPr>
            <a:xfrm>
              <a:off x="698309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1"/>
            <p:cNvSpPr/>
            <p:nvPr/>
          </p:nvSpPr>
          <p:spPr>
            <a:xfrm>
              <a:off x="893172" y="4336368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1"/>
            <p:cNvSpPr/>
            <p:nvPr/>
          </p:nvSpPr>
          <p:spPr>
            <a:xfrm>
              <a:off x="1078172" y="4457909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1268082" y="4046253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" name="Picture 6" descr="A blue hexagon with white circle and white plus and white letters&#10;&#10;AI-generated content may be incorrect.">
            <a:extLst>
              <a:ext uri="{FF2B5EF4-FFF2-40B4-BE49-F238E27FC236}">
                <a16:creationId xmlns:a16="http://schemas.microsoft.com/office/drawing/2014/main" id="{3A1C7A7E-6F01-2854-BB40-52BDEE166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903" y="504714"/>
            <a:ext cx="826361" cy="9302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9375B-125C-2FA2-5A8D-0ADE9DDA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E533-171B-E10B-3969-D85C4259A3B0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4780503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GB" sz="3600" b="1" dirty="0"/>
              <a:t>C++ Functions</a:t>
            </a:r>
          </a:p>
          <a:p>
            <a:endParaRPr lang="en-GB" sz="3600" b="1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2E7CD903-91B9-47AB-9102-20A8730C1C51}"/>
              </a:ext>
            </a:extLst>
          </p:cNvPr>
          <p:cNvSpPr txBox="1">
            <a:spLocks/>
          </p:cNvSpPr>
          <p:nvPr/>
        </p:nvSpPr>
        <p:spPr>
          <a:xfrm>
            <a:off x="1112742" y="2230472"/>
            <a:ext cx="6347714" cy="136765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Write a C++ program to find the Power Calculation.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Write a C++ program to find the </a:t>
            </a:r>
            <a:r>
              <a:rPr lang="en-GB" b="1" dirty="0"/>
              <a:t>largest three elements</a:t>
            </a:r>
            <a:r>
              <a:rPr lang="en-GB" dirty="0"/>
              <a:t> in an array.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22AAD-773B-D484-6C01-F806C87532B3}"/>
              </a:ext>
            </a:extLst>
          </p:cNvPr>
          <p:cNvSpPr txBox="1"/>
          <p:nvPr/>
        </p:nvSpPr>
        <p:spPr>
          <a:xfrm>
            <a:off x="1112742" y="1399849"/>
            <a:ext cx="5267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dk1"/>
                </a:solidFill>
                <a:latin typeface="Passion One"/>
                <a:sym typeface="Passion One"/>
              </a:rPr>
              <a:t>Task</a:t>
            </a:r>
            <a:endParaRPr lang="en-US" sz="3600" dirty="0">
              <a:solidFill>
                <a:schemeClr val="dk1"/>
              </a:solidFill>
              <a:latin typeface="Passion One"/>
              <a:sym typeface="Passion One"/>
            </a:endParaRPr>
          </a:p>
        </p:txBody>
      </p:sp>
    </p:spTree>
    <p:extLst>
      <p:ext uri="{BB962C8B-B14F-4D97-AF65-F5344CB8AC3E}">
        <p14:creationId xmlns:p14="http://schemas.microsoft.com/office/powerpoint/2010/main" val="271798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D560-1C1D-C117-7676-442BF3A4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C483-EC2A-CA5C-F4E4-20E41B60BF02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4780503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GB" sz="3600" b="1" dirty="0"/>
              <a:t>Syntax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9E79BAE2-50F8-2C61-BB62-41D7A390309A}"/>
              </a:ext>
            </a:extLst>
          </p:cNvPr>
          <p:cNvSpPr txBox="1">
            <a:spLocks/>
          </p:cNvSpPr>
          <p:nvPr/>
        </p:nvSpPr>
        <p:spPr>
          <a:xfrm>
            <a:off x="1398143" y="1345250"/>
            <a:ext cx="6347714" cy="11312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void </a:t>
            </a:r>
            <a:r>
              <a:rPr lang="en-US" i="1" dirty="0" err="1"/>
              <a:t>myFunction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  // code to be executed</a:t>
            </a:r>
            <a:br>
              <a:rPr lang="en-US" dirty="0"/>
            </a:br>
            <a:r>
              <a:rPr lang="en-US" dirty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142D7-004F-11FC-E2CD-4A0EC7A0A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28" y="2366772"/>
            <a:ext cx="75438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06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81041-6C29-9687-8E62-3F76D4D9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20EE6-C5FA-D4CC-91D6-FF1A71A462FC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4780503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US" sz="3600" b="1" dirty="0"/>
              <a:t>Types of Functions</a:t>
            </a:r>
            <a:endParaRPr lang="en-US" sz="3600" b="1" dirty="0">
              <a:solidFill>
                <a:srgbClr val="7030A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8562ED-553C-C946-4B45-2C273DF5F3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1261872"/>
            <a:ext cx="77724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7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16323-C004-318D-1EA0-BD98E73A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3CA2-CCCC-E25C-7415-08DD2C7E497C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4780503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US" sz="3600" b="1" dirty="0"/>
              <a:t>Example1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794CA-9490-4403-54BF-0A9143748A1A}"/>
              </a:ext>
            </a:extLst>
          </p:cNvPr>
          <p:cNvSpPr txBox="1">
            <a:spLocks/>
          </p:cNvSpPr>
          <p:nvPr/>
        </p:nvSpPr>
        <p:spPr>
          <a:xfrm>
            <a:off x="1036319" y="1624142"/>
            <a:ext cx="6347714" cy="388077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Inside main, call </a:t>
            </a:r>
            <a:r>
              <a:rPr lang="en-US" dirty="0" err="1"/>
              <a:t>myFunction</a:t>
            </a:r>
            <a:r>
              <a:rPr lang="en-US" dirty="0"/>
              <a:t>():</a:t>
            </a:r>
          </a:p>
          <a:p>
            <a:endParaRPr lang="en-US" dirty="0"/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// Create a function</a:t>
            </a:r>
            <a:br>
              <a:rPr lang="en-US" dirty="0"/>
            </a:br>
            <a:r>
              <a:rPr lang="en-US" dirty="0"/>
              <a:t>void </a:t>
            </a:r>
            <a:r>
              <a:rPr lang="en-US" dirty="0" err="1"/>
              <a:t>myFunction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  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cout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&lt;&lt; "I just got executed!";</a:t>
            </a:r>
            <a:br>
              <a:rPr lang="en-US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 main() {</a:t>
            </a:r>
            <a:br>
              <a:rPr lang="en-US" dirty="0"/>
            </a:br>
            <a:r>
              <a:rPr lang="en-US" dirty="0"/>
              <a:t>  </a:t>
            </a:r>
            <a:r>
              <a:rPr lang="en-US" b="1" dirty="0" err="1">
                <a:solidFill>
                  <a:schemeClr val="tx1">
                    <a:lumMod val="50000"/>
                  </a:schemeClr>
                </a:solidFill>
              </a:rPr>
              <a:t>myFunction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();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 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// call the function</a:t>
            </a:r>
            <a:br>
              <a:rPr lang="en-US" dirty="0"/>
            </a:br>
            <a:r>
              <a:rPr lang="en-US" dirty="0"/>
              <a:t>  return 0;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34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EE698-F778-EEAD-9A95-84914F5B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34EB-2608-D688-DE4E-A4C1FCEB5336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7507620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US" sz="3600" b="1" dirty="0"/>
              <a:t>Example 2: Function with Parameters</a:t>
            </a:r>
            <a:endParaRPr lang="en-US" sz="3600" b="1" dirty="0">
              <a:solidFill>
                <a:srgbClr val="7030A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3773DE-E0F8-8E70-888C-25CC735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844" y="1262063"/>
            <a:ext cx="6290311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85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9380-6F77-4F44-B7DE-00E4C6F4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F1E1-ECE3-CB72-5DAD-305196EB95A4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7507620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US" sz="3600" b="1" dirty="0"/>
              <a:t>Example 3: Add Two Numbers</a:t>
            </a:r>
            <a:br>
              <a:rPr lang="en-US" sz="3600" b="1" dirty="0"/>
            </a:br>
            <a:endParaRPr lang="en-US" sz="3600" b="1" dirty="0">
              <a:solidFill>
                <a:srgbClr val="7030A0"/>
              </a:solidFill>
            </a:endParaRP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2F408C0B-0329-30F8-134B-BF9544662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924" y="1160844"/>
            <a:ext cx="610534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2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DDDE-224C-9B2B-21F5-6E940891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E459-786D-6AA4-B4C9-CD59E35EC80A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7507620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US" sz="3600" b="1" dirty="0"/>
              <a:t>Example 4: Find the Square Root of a Number</a:t>
            </a:r>
            <a:br>
              <a:rPr lang="en-US" sz="3600" b="1" dirty="0"/>
            </a:br>
            <a:endParaRPr lang="en-US" sz="3600" b="1" dirty="0">
              <a:solidFill>
                <a:srgbClr val="7030A0"/>
              </a:solidFill>
            </a:endParaRP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C6887739-4DDC-8A8C-D018-DA84338A5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793" y="1738195"/>
            <a:ext cx="6348413" cy="323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94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9B34A-E750-4AA8-FDF6-23A5A795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FC02-0F8A-3AAC-946B-2254E383CB14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7507620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US" sz="3600" b="1" dirty="0"/>
              <a:t>Write a C++ program to find the largest three elements in an array</a:t>
            </a:r>
            <a:br>
              <a:rPr lang="en-US" sz="3600" b="1" dirty="0"/>
            </a:br>
            <a:endParaRPr lang="en-US" sz="3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357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0193B-8EEC-96A3-5571-05E621E2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09ADE7-878D-D478-9E84-C440D9C2DB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722"/>
          <a:stretch>
            <a:fillRect/>
          </a:stretch>
        </p:blipFill>
        <p:spPr>
          <a:xfrm>
            <a:off x="786556" y="450595"/>
            <a:ext cx="7295115" cy="36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98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6B328-5937-ADAB-EA02-4233E335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0CA5D-1AA5-ECDA-3F05-0511E12E5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99" y="783259"/>
            <a:ext cx="6845602" cy="357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77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2327E-36B4-EF7B-C4B9-A05DA637A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5E3235-BE80-FFE9-550F-AE6BC2657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62" y="234843"/>
            <a:ext cx="6973874" cy="21956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649397-F804-0D3F-9B47-8CCACB9D8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131" y="2819688"/>
            <a:ext cx="5509737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39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44BE8-5D56-A565-4A48-909DEAC93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AF1D-57F3-505F-3DA3-686C57DBAD74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4780503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US" sz="3600" b="1" dirty="0"/>
              <a:t>Structures in C++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955E8-AB8A-1EE6-9C16-9126A50ADA69}"/>
              </a:ext>
            </a:extLst>
          </p:cNvPr>
          <p:cNvSpPr txBox="1">
            <a:spLocks/>
          </p:cNvSpPr>
          <p:nvPr/>
        </p:nvSpPr>
        <p:spPr>
          <a:xfrm>
            <a:off x="1036319" y="1624142"/>
            <a:ext cx="6347714" cy="388077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EF39BA5-31BF-8BDB-3883-49A702D8AA60}"/>
              </a:ext>
            </a:extLst>
          </p:cNvPr>
          <p:cNvSpPr txBox="1">
            <a:spLocks/>
          </p:cNvSpPr>
          <p:nvPr/>
        </p:nvSpPr>
        <p:spPr>
          <a:xfrm>
            <a:off x="902207" y="1416878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Syntax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918655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struct name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918655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   type1 mem1;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type2 mem2;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918655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	 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918655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55985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F2B40-5B74-13D4-133D-FDBBBECA5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7179-801C-9B84-7844-34FFDF40DADC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6613285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US" sz="3600" b="1" dirty="0"/>
              <a:t>Initialize Structure Members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313F6-5F40-B89F-38EC-3CCFB1A72A5F}"/>
              </a:ext>
            </a:extLst>
          </p:cNvPr>
          <p:cNvSpPr txBox="1">
            <a:spLocks/>
          </p:cNvSpPr>
          <p:nvPr/>
        </p:nvSpPr>
        <p:spPr>
          <a:xfrm>
            <a:off x="1036319" y="1624142"/>
            <a:ext cx="6347714" cy="388077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5CC42A56-B287-1A12-FD5E-051207E175D2}"/>
              </a:ext>
            </a:extLst>
          </p:cNvPr>
          <p:cNvSpPr txBox="1">
            <a:spLocks/>
          </p:cNvSpPr>
          <p:nvPr/>
        </p:nvSpPr>
        <p:spPr>
          <a:xfrm>
            <a:off x="902207" y="1416878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18655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struct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918655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Point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918655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lang="fr-FR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	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x = 0;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lang="fr-FR" dirty="0">
                <a:solidFill>
                  <a:prstClr val="black">
                    <a:lumMod val="75000"/>
                    <a:lumOff val="25000"/>
                  </a:prstClr>
                </a:solidFill>
                <a:latin typeface="Trebuchet MS" panose="020B0603020202020204"/>
              </a:rPr>
              <a:t>	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y = 0;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918655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};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918655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5151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5FE32-FBAC-4A70-C236-A268B28C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14B4-16BA-44C6-64EB-919FE0E2C3B2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6613285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US" sz="3600" b="1" dirty="0"/>
              <a:t>Access Structure Members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7C9DF-D6C6-AF23-5548-CC2393B47E03}"/>
              </a:ext>
            </a:extLst>
          </p:cNvPr>
          <p:cNvSpPr txBox="1">
            <a:spLocks/>
          </p:cNvSpPr>
          <p:nvPr/>
        </p:nvSpPr>
        <p:spPr>
          <a:xfrm>
            <a:off x="1036319" y="1624142"/>
            <a:ext cx="6347714" cy="388077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pic>
        <p:nvPicPr>
          <p:cNvPr id="4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BA599C2-81DD-6135-1EB3-914CEB0CD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420" y="1295400"/>
            <a:ext cx="6001512" cy="375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83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9A50-483A-B04B-B903-8D6BC0F40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0D0B-3547-E3A0-803F-BB6252732568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7909956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US" sz="3600" b="1" dirty="0"/>
              <a:t>One Structure in Multiple Variables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2C180-1FD4-1568-5B11-DB09157BEF6D}"/>
              </a:ext>
            </a:extLst>
          </p:cNvPr>
          <p:cNvSpPr txBox="1">
            <a:spLocks/>
          </p:cNvSpPr>
          <p:nvPr/>
        </p:nvSpPr>
        <p:spPr>
          <a:xfrm>
            <a:off x="1036319" y="1624142"/>
            <a:ext cx="6347714" cy="388077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80D609D-6EB5-698D-9A20-D35198041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436" y="1222248"/>
            <a:ext cx="5745480" cy="381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44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687B-5F26-E32F-B20F-748A7602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3786-0D21-FDB8-86BB-D2BDDB6781C8}"/>
              </a:ext>
            </a:extLst>
          </p:cNvPr>
          <p:cNvSpPr txBox="1">
            <a:spLocks/>
          </p:cNvSpPr>
          <p:nvPr/>
        </p:nvSpPr>
        <p:spPr>
          <a:xfrm>
            <a:off x="795132" y="746916"/>
            <a:ext cx="7909956" cy="3361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When we pass a structure to a function, it can be passed in two primary ways: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Call by Value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— A copy of the structure is made. Changes inside the function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do not affect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the original structure.</a:t>
            </a:r>
            <a:endParaRPr kumimoji="0" lang="ar-EG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Tahoma" panose="020B060403050404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Call by Reference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— A reference (or pointer) to the structure is passed. Changes inside the function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affect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the original structure.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B02DE-0550-114A-3B5B-ADE6C75BF68F}"/>
              </a:ext>
            </a:extLst>
          </p:cNvPr>
          <p:cNvSpPr txBox="1">
            <a:spLocks/>
          </p:cNvSpPr>
          <p:nvPr/>
        </p:nvSpPr>
        <p:spPr>
          <a:xfrm>
            <a:off x="1036319" y="1624142"/>
            <a:ext cx="6347714" cy="388077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63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29ED1-13AA-628B-DFE6-D2CB478B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385C-A57B-19BA-80E0-C8232DCE7434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7507620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GB" sz="3600" b="1" dirty="0"/>
              <a:t>Exercise 1: Passing a struct by Value</a:t>
            </a:r>
          </a:p>
          <a:p>
            <a:br>
              <a:rPr lang="en-US" sz="3600" b="1" dirty="0"/>
            </a:b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2731A-5B1E-AEA1-C097-1EE511087C5E}"/>
              </a:ext>
            </a:extLst>
          </p:cNvPr>
          <p:cNvSpPr txBox="1"/>
          <p:nvPr/>
        </p:nvSpPr>
        <p:spPr>
          <a:xfrm>
            <a:off x="1350178" y="1552611"/>
            <a:ext cx="63487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None/>
            </a:pPr>
            <a:r>
              <a:rPr lang="en-GB" dirty="0"/>
              <a:t>Write a C++ program that defines a structure named Student containing the following members:</a:t>
            </a:r>
          </a:p>
          <a:p>
            <a:pPr lvl="4"/>
            <a:r>
              <a:rPr lang="en-GB" dirty="0"/>
              <a:t>          name (string)</a:t>
            </a:r>
          </a:p>
          <a:p>
            <a:pPr lvl="4"/>
            <a:r>
              <a:rPr lang="en-GB" dirty="0"/>
              <a:t>          age (integer)</a:t>
            </a:r>
          </a:p>
          <a:p>
            <a:pPr lvl="4"/>
            <a:r>
              <a:rPr lang="en-GB" dirty="0"/>
              <a:t>          </a:t>
            </a:r>
            <a:r>
              <a:rPr lang="en-GB" dirty="0" err="1"/>
              <a:t>gpa</a:t>
            </a:r>
            <a:r>
              <a:rPr lang="en-GB" dirty="0"/>
              <a:t> (float)</a:t>
            </a:r>
          </a:p>
          <a:p>
            <a:pPr lvl="4"/>
            <a:endParaRPr lang="en-GB" dirty="0"/>
          </a:p>
          <a:p>
            <a:r>
              <a:rPr lang="en-GB" dirty="0"/>
              <a:t>Then, create a function called </a:t>
            </a:r>
            <a:r>
              <a:rPr lang="en-GB" dirty="0" err="1"/>
              <a:t>modifyByValue</a:t>
            </a:r>
            <a:r>
              <a:rPr lang="en-GB" dirty="0"/>
              <a:t>() that takes a structure by value and modifies its members.</a:t>
            </a:r>
            <a:br>
              <a:rPr lang="en-GB" dirty="0"/>
            </a:br>
            <a:r>
              <a:rPr lang="en-GB" dirty="0"/>
              <a:t>Print the values before and after calling the function.</a:t>
            </a:r>
            <a:br>
              <a:rPr lang="en-GB" dirty="0"/>
            </a:br>
            <a:r>
              <a:rPr lang="en-GB" dirty="0"/>
              <a:t>Observe whether the changes inside the function affect the original variable.</a:t>
            </a:r>
          </a:p>
        </p:txBody>
      </p:sp>
    </p:spTree>
    <p:extLst>
      <p:ext uri="{BB962C8B-B14F-4D97-AF65-F5344CB8AC3E}">
        <p14:creationId xmlns:p14="http://schemas.microsoft.com/office/powerpoint/2010/main" val="4128500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7589-EF8B-1D6D-8050-E5B7DB342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0D2A543-AA5A-2F19-ABC6-B7DCF0647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1" y="289698"/>
            <a:ext cx="7626097" cy="456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86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EBCD-377B-6022-55CC-D603C9012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233D-469E-8D88-78A1-A23210ED484A}"/>
              </a:ext>
            </a:extLst>
          </p:cNvPr>
          <p:cNvSpPr txBox="1">
            <a:spLocks/>
          </p:cNvSpPr>
          <p:nvPr/>
        </p:nvSpPr>
        <p:spPr>
          <a:xfrm>
            <a:off x="770748" y="429924"/>
            <a:ext cx="7507620" cy="594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 b="0" i="0" u="none" strike="noStrike" cap="none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r>
              <a:rPr lang="en-GB" sz="3600" b="1" dirty="0"/>
              <a:t>Exercise 2: Passing a struct by Reference</a:t>
            </a:r>
          </a:p>
          <a:p>
            <a:br>
              <a:rPr lang="en-US" sz="3600" b="1" dirty="0"/>
            </a:b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1BF6E-640F-CFF2-EC80-E0B531EAF579}"/>
              </a:ext>
            </a:extLst>
          </p:cNvPr>
          <p:cNvSpPr txBox="1"/>
          <p:nvPr/>
        </p:nvSpPr>
        <p:spPr>
          <a:xfrm>
            <a:off x="1636776" y="1983792"/>
            <a:ext cx="557434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Modify the previous program so that the function </a:t>
            </a:r>
            <a:r>
              <a:rPr lang="en-GB" sz="1600" dirty="0" err="1"/>
              <a:t>modifyByReference</a:t>
            </a:r>
            <a:r>
              <a:rPr lang="en-GB" sz="1600" dirty="0"/>
              <a:t>() receives the structure </a:t>
            </a:r>
            <a:r>
              <a:rPr lang="en-GB" sz="1600" b="1" dirty="0"/>
              <a:t>by reference</a:t>
            </a:r>
            <a:r>
              <a:rPr lang="en-GB" sz="1600" dirty="0"/>
              <a:t> using the &amp; symbol.</a:t>
            </a:r>
          </a:p>
          <a:p>
            <a:br>
              <a:rPr lang="en-GB" sz="1600" dirty="0"/>
            </a:br>
            <a:r>
              <a:rPr lang="en-GB" sz="1600" dirty="0"/>
              <a:t>Change the values inside the function and print the results before and after calling it.</a:t>
            </a:r>
            <a:br>
              <a:rPr lang="en-GB" sz="1600" dirty="0"/>
            </a:br>
            <a:r>
              <a:rPr lang="en-GB" sz="1600" dirty="0"/>
              <a:t>Compare the behaviour to the first example.</a:t>
            </a:r>
          </a:p>
        </p:txBody>
      </p:sp>
    </p:spTree>
    <p:extLst>
      <p:ext uri="{BB962C8B-B14F-4D97-AF65-F5344CB8AC3E}">
        <p14:creationId xmlns:p14="http://schemas.microsoft.com/office/powerpoint/2010/main" val="670603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C24F-4350-35D2-0DCF-A701232E2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B1BF31D-5131-7A67-3C36-A503E05A0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375" y="287052"/>
            <a:ext cx="4823250" cy="456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9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5"/>
          <p:cNvSpPr txBox="1">
            <a:spLocks noGrp="1"/>
          </p:cNvSpPr>
          <p:nvPr>
            <p:ph type="title"/>
          </p:nvPr>
        </p:nvSpPr>
        <p:spPr>
          <a:xfrm>
            <a:off x="4817585" y="2052843"/>
            <a:ext cx="3730421" cy="10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7030A0"/>
                </a:solidFill>
              </a:rPr>
              <a:t>Thank You</a:t>
            </a:r>
            <a:endParaRPr sz="7200">
              <a:solidFill>
                <a:srgbClr val="7030A0"/>
              </a:solidFill>
            </a:endParaRPr>
          </a:p>
        </p:txBody>
      </p:sp>
      <p:grpSp>
        <p:nvGrpSpPr>
          <p:cNvPr id="906" name="Google Shape;906;p45"/>
          <p:cNvGrpSpPr/>
          <p:nvPr/>
        </p:nvGrpSpPr>
        <p:grpSpPr>
          <a:xfrm>
            <a:off x="1282490" y="1513113"/>
            <a:ext cx="2231730" cy="1093837"/>
            <a:chOff x="-215300" y="3851305"/>
            <a:chExt cx="1694813" cy="830678"/>
          </a:xfrm>
        </p:grpSpPr>
        <p:sp>
          <p:nvSpPr>
            <p:cNvPr id="907" name="Google Shape;907;p45"/>
            <p:cNvSpPr/>
            <p:nvPr/>
          </p:nvSpPr>
          <p:spPr>
            <a:xfrm>
              <a:off x="861887" y="3947362"/>
              <a:ext cx="215345" cy="4222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8" name="Google Shape;908;p45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909" name="Google Shape;909;p45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45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45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2" name="Google Shape;912;p45"/>
            <p:cNvSpPr/>
            <p:nvPr/>
          </p:nvSpPr>
          <p:spPr>
            <a:xfrm>
              <a:off x="-85801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5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45"/>
            <p:cNvSpPr/>
            <p:nvPr/>
          </p:nvSpPr>
          <p:spPr>
            <a:xfrm>
              <a:off x="294020" y="4210340"/>
              <a:ext cx="105745" cy="471557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5"/>
            <p:cNvSpPr/>
            <p:nvPr/>
          </p:nvSpPr>
          <p:spPr>
            <a:xfrm>
              <a:off x="48397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5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5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5"/>
            <p:cNvSpPr/>
            <p:nvPr/>
          </p:nvSpPr>
          <p:spPr>
            <a:xfrm>
              <a:off x="1053745" y="4472133"/>
              <a:ext cx="105745" cy="209628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5"/>
            <p:cNvSpPr/>
            <p:nvPr/>
          </p:nvSpPr>
          <p:spPr>
            <a:xfrm>
              <a:off x="1243698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5"/>
            <p:cNvSpPr/>
            <p:nvPr/>
          </p:nvSpPr>
          <p:spPr>
            <a:xfrm>
              <a:off x="-32968" y="4087783"/>
              <a:ext cx="1329975" cy="42031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45"/>
            <p:cNvSpPr/>
            <p:nvPr/>
          </p:nvSpPr>
          <p:spPr>
            <a:xfrm>
              <a:off x="-61417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45"/>
            <p:cNvSpPr/>
            <p:nvPr/>
          </p:nvSpPr>
          <p:spPr>
            <a:xfrm>
              <a:off x="128536" y="4354614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45"/>
            <p:cNvSpPr/>
            <p:nvPr/>
          </p:nvSpPr>
          <p:spPr>
            <a:xfrm>
              <a:off x="318446" y="418938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45"/>
            <p:cNvSpPr/>
            <p:nvPr/>
          </p:nvSpPr>
          <p:spPr>
            <a:xfrm>
              <a:off x="508356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5"/>
            <p:cNvSpPr/>
            <p:nvPr/>
          </p:nvSpPr>
          <p:spPr>
            <a:xfrm>
              <a:off x="698309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5"/>
            <p:cNvSpPr/>
            <p:nvPr/>
          </p:nvSpPr>
          <p:spPr>
            <a:xfrm>
              <a:off x="893172" y="4336368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5"/>
            <p:cNvSpPr/>
            <p:nvPr/>
          </p:nvSpPr>
          <p:spPr>
            <a:xfrm>
              <a:off x="1078172" y="4457909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5"/>
            <p:cNvSpPr/>
            <p:nvPr/>
          </p:nvSpPr>
          <p:spPr>
            <a:xfrm>
              <a:off x="1268082" y="4046253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5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0" name="Google Shape;930;p45"/>
          <p:cNvGrpSpPr/>
          <p:nvPr/>
        </p:nvGrpSpPr>
        <p:grpSpPr>
          <a:xfrm>
            <a:off x="2522746" y="2864348"/>
            <a:ext cx="1536351" cy="1024197"/>
            <a:chOff x="5491417" y="588600"/>
            <a:chExt cx="1098728" cy="732459"/>
          </a:xfrm>
        </p:grpSpPr>
        <p:sp>
          <p:nvSpPr>
            <p:cNvPr id="931" name="Google Shape;931;p45"/>
            <p:cNvSpPr/>
            <p:nvPr/>
          </p:nvSpPr>
          <p:spPr>
            <a:xfrm>
              <a:off x="5491417" y="588600"/>
              <a:ext cx="183058" cy="183057"/>
            </a:xfrm>
            <a:custGeom>
              <a:avLst/>
              <a:gdLst/>
              <a:ahLst/>
              <a:cxnLst/>
              <a:rect l="l" t="t" r="r" b="b"/>
              <a:pathLst>
                <a:path w="254247" h="254246" extrusionOk="0">
                  <a:moveTo>
                    <a:pt x="254248" y="254247"/>
                  </a:moveTo>
                  <a:lnTo>
                    <a:pt x="0" y="254247"/>
                  </a:lnTo>
                  <a:lnTo>
                    <a:pt x="0" y="106044"/>
                  </a:lnTo>
                  <a:cubicBezTo>
                    <a:pt x="0" y="47477"/>
                    <a:pt x="47477" y="0"/>
                    <a:pt x="106044" y="0"/>
                  </a:cubicBezTo>
                  <a:lnTo>
                    <a:pt x="254248" y="0"/>
                  </a:lnTo>
                  <a:lnTo>
                    <a:pt x="254248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5"/>
            <p:cNvSpPr/>
            <p:nvPr/>
          </p:nvSpPr>
          <p:spPr>
            <a:xfrm>
              <a:off x="549141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5"/>
            <p:cNvSpPr/>
            <p:nvPr/>
          </p:nvSpPr>
          <p:spPr>
            <a:xfrm>
              <a:off x="549141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5"/>
            <p:cNvSpPr/>
            <p:nvPr/>
          </p:nvSpPr>
          <p:spPr>
            <a:xfrm>
              <a:off x="5491417" y="1138002"/>
              <a:ext cx="183058" cy="183002"/>
            </a:xfrm>
            <a:custGeom>
              <a:avLst/>
              <a:gdLst/>
              <a:ahLst/>
              <a:cxnLst/>
              <a:rect l="l" t="t" r="r" b="b"/>
              <a:pathLst>
                <a:path w="254247" h="254170" extrusionOk="0">
                  <a:moveTo>
                    <a:pt x="254248" y="254171"/>
                  </a:moveTo>
                  <a:lnTo>
                    <a:pt x="106044" y="254171"/>
                  </a:lnTo>
                  <a:cubicBezTo>
                    <a:pt x="47477" y="254171"/>
                    <a:pt x="0" y="206694"/>
                    <a:pt x="0" y="148127"/>
                  </a:cubicBezTo>
                  <a:lnTo>
                    <a:pt x="0" y="0"/>
                  </a:lnTo>
                  <a:lnTo>
                    <a:pt x="254248" y="0"/>
                  </a:lnTo>
                  <a:lnTo>
                    <a:pt x="254248" y="2541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5"/>
            <p:cNvSpPr/>
            <p:nvPr/>
          </p:nvSpPr>
          <p:spPr>
            <a:xfrm>
              <a:off x="5674551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5"/>
            <p:cNvSpPr/>
            <p:nvPr/>
          </p:nvSpPr>
          <p:spPr>
            <a:xfrm>
              <a:off x="5674551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5"/>
            <p:cNvSpPr/>
            <p:nvPr/>
          </p:nvSpPr>
          <p:spPr>
            <a:xfrm>
              <a:off x="5674551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5"/>
            <p:cNvSpPr/>
            <p:nvPr/>
          </p:nvSpPr>
          <p:spPr>
            <a:xfrm>
              <a:off x="5674551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45"/>
            <p:cNvSpPr/>
            <p:nvPr/>
          </p:nvSpPr>
          <p:spPr>
            <a:xfrm>
              <a:off x="5857685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45"/>
            <p:cNvSpPr/>
            <p:nvPr/>
          </p:nvSpPr>
          <p:spPr>
            <a:xfrm>
              <a:off x="5857685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45"/>
            <p:cNvSpPr/>
            <p:nvPr/>
          </p:nvSpPr>
          <p:spPr>
            <a:xfrm>
              <a:off x="5857685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5"/>
            <p:cNvSpPr/>
            <p:nvPr/>
          </p:nvSpPr>
          <p:spPr>
            <a:xfrm>
              <a:off x="5857685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6040819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6040819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45"/>
            <p:cNvSpPr/>
            <p:nvPr/>
          </p:nvSpPr>
          <p:spPr>
            <a:xfrm>
              <a:off x="6040819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5"/>
            <p:cNvSpPr/>
            <p:nvPr/>
          </p:nvSpPr>
          <p:spPr>
            <a:xfrm>
              <a:off x="6040819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6223953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5"/>
            <p:cNvSpPr/>
            <p:nvPr/>
          </p:nvSpPr>
          <p:spPr>
            <a:xfrm>
              <a:off x="6223953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5"/>
            <p:cNvSpPr/>
            <p:nvPr/>
          </p:nvSpPr>
          <p:spPr>
            <a:xfrm>
              <a:off x="6223953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5"/>
            <p:cNvSpPr/>
            <p:nvPr/>
          </p:nvSpPr>
          <p:spPr>
            <a:xfrm>
              <a:off x="6223953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5"/>
            <p:cNvSpPr/>
            <p:nvPr/>
          </p:nvSpPr>
          <p:spPr>
            <a:xfrm>
              <a:off x="6407087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254247" y="254247"/>
                  </a:moveTo>
                  <a:lnTo>
                    <a:pt x="0" y="254247"/>
                  </a:lnTo>
                  <a:lnTo>
                    <a:pt x="0" y="0"/>
                  </a:lnTo>
                  <a:lnTo>
                    <a:pt x="148203" y="0"/>
                  </a:lnTo>
                  <a:cubicBezTo>
                    <a:pt x="206770" y="0"/>
                    <a:pt x="254247" y="47477"/>
                    <a:pt x="254247" y="106044"/>
                  </a:cubicBezTo>
                  <a:lnTo>
                    <a:pt x="254247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5"/>
            <p:cNvSpPr/>
            <p:nvPr/>
          </p:nvSpPr>
          <p:spPr>
            <a:xfrm>
              <a:off x="640708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5"/>
            <p:cNvSpPr/>
            <p:nvPr/>
          </p:nvSpPr>
          <p:spPr>
            <a:xfrm>
              <a:off x="640708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5"/>
            <p:cNvSpPr/>
            <p:nvPr/>
          </p:nvSpPr>
          <p:spPr>
            <a:xfrm>
              <a:off x="6407032" y="1138002"/>
              <a:ext cx="183057" cy="183002"/>
            </a:xfrm>
            <a:custGeom>
              <a:avLst/>
              <a:gdLst/>
              <a:ahLst/>
              <a:cxnLst/>
              <a:rect l="l" t="t" r="r" b="b"/>
              <a:pathLst>
                <a:path w="254246" h="254170" extrusionOk="0">
                  <a:moveTo>
                    <a:pt x="148203" y="254171"/>
                  </a:moveTo>
                  <a:lnTo>
                    <a:pt x="0" y="254171"/>
                  </a:lnTo>
                  <a:lnTo>
                    <a:pt x="0" y="0"/>
                  </a:lnTo>
                  <a:lnTo>
                    <a:pt x="254247" y="0"/>
                  </a:lnTo>
                  <a:lnTo>
                    <a:pt x="254247" y="148203"/>
                  </a:lnTo>
                  <a:cubicBezTo>
                    <a:pt x="254323" y="206694"/>
                    <a:pt x="206770" y="254171"/>
                    <a:pt x="148203" y="2541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5"/>
            <p:cNvSpPr/>
            <p:nvPr/>
          </p:nvSpPr>
          <p:spPr>
            <a:xfrm>
              <a:off x="5646646" y="740710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76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5"/>
            <p:cNvSpPr/>
            <p:nvPr/>
          </p:nvSpPr>
          <p:spPr>
            <a:xfrm>
              <a:off x="5741250" y="8317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5"/>
            <p:cNvSpPr/>
            <p:nvPr/>
          </p:nvSpPr>
          <p:spPr>
            <a:xfrm>
              <a:off x="5961208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5"/>
            <p:cNvSpPr/>
            <p:nvPr/>
          </p:nvSpPr>
          <p:spPr>
            <a:xfrm>
              <a:off x="5829780" y="99059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5"/>
            <p:cNvSpPr/>
            <p:nvPr/>
          </p:nvSpPr>
          <p:spPr>
            <a:xfrm>
              <a:off x="6099858" y="1214768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0" y="60137"/>
                    <a:pt x="0" y="38741"/>
                  </a:cubicBezTo>
                  <a:cubicBezTo>
                    <a:pt x="0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45"/>
            <p:cNvSpPr/>
            <p:nvPr/>
          </p:nvSpPr>
          <p:spPr>
            <a:xfrm>
              <a:off x="5891007" y="92696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5"/>
            <p:cNvSpPr/>
            <p:nvPr/>
          </p:nvSpPr>
          <p:spPr>
            <a:xfrm>
              <a:off x="5543343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5"/>
            <p:cNvSpPr/>
            <p:nvPr/>
          </p:nvSpPr>
          <p:spPr>
            <a:xfrm>
              <a:off x="5829780" y="85014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19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5"/>
            <p:cNvSpPr/>
            <p:nvPr/>
          </p:nvSpPr>
          <p:spPr>
            <a:xfrm>
              <a:off x="5741250" y="935444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5"/>
            <p:cNvSpPr/>
            <p:nvPr/>
          </p:nvSpPr>
          <p:spPr>
            <a:xfrm>
              <a:off x="5575516" y="10185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5"/>
            <p:cNvSpPr/>
            <p:nvPr/>
          </p:nvSpPr>
          <p:spPr>
            <a:xfrm>
              <a:off x="5547610" y="1173732"/>
              <a:ext cx="55787" cy="55786"/>
            </a:xfrm>
            <a:custGeom>
              <a:avLst/>
              <a:gdLst/>
              <a:ahLst/>
              <a:cxnLst/>
              <a:rect l="l" t="t" r="r" b="b"/>
              <a:pathLst>
                <a:path w="77482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2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20"/>
                    <a:pt x="17320" y="0"/>
                    <a:pt x="38742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5"/>
            <p:cNvSpPr/>
            <p:nvPr/>
          </p:nvSpPr>
          <p:spPr>
            <a:xfrm>
              <a:off x="5646646" y="87804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5"/>
            <p:cNvSpPr/>
            <p:nvPr/>
          </p:nvSpPr>
          <p:spPr>
            <a:xfrm>
              <a:off x="6292621" y="80385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Analysis and Statistics - 4th grade by Slidesgo">
  <a:themeElements>
    <a:clrScheme name="Simple Light">
      <a:dk1>
        <a:srgbClr val="17175A"/>
      </a:dk1>
      <a:lt1>
        <a:srgbClr val="FFFFFF"/>
      </a:lt1>
      <a:dk2>
        <a:srgbClr val="F6F2CC"/>
      </a:dk2>
      <a:lt2>
        <a:srgbClr val="FCBD0E"/>
      </a:lt2>
      <a:accent1>
        <a:srgbClr val="FA9D02"/>
      </a:accent1>
      <a:accent2>
        <a:srgbClr val="FC81FD"/>
      </a:accent2>
      <a:accent3>
        <a:srgbClr val="7CE1CF"/>
      </a:accent3>
      <a:accent4>
        <a:srgbClr val="6E6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52D19C52B9B740967287BB916612AF" ma:contentTypeVersion="10" ma:contentTypeDescription="Create a new document." ma:contentTypeScope="" ma:versionID="29e28ae6375dac7fbf47728415347747">
  <xsd:schema xmlns:xsd="http://www.w3.org/2001/XMLSchema" xmlns:xs="http://www.w3.org/2001/XMLSchema" xmlns:p="http://schemas.microsoft.com/office/2006/metadata/properties" xmlns:ns3="599ffa52-2d03-4237-a1d1-7b26f4d9cba3" targetNamespace="http://schemas.microsoft.com/office/2006/metadata/properties" ma:root="true" ma:fieldsID="70c36bf369daf21c4c4d4ad79ccd78a0" ns3:_="">
    <xsd:import namespace="599ffa52-2d03-4237-a1d1-7b26f4d9cba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ffa52-2d03-4237-a1d1-7b26f4d9cba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99ffa52-2d03-4237-a1d1-7b26f4d9cba3" xsi:nil="true"/>
  </documentManagement>
</p:properties>
</file>

<file path=customXml/itemProps1.xml><?xml version="1.0" encoding="utf-8"?>
<ds:datastoreItem xmlns:ds="http://schemas.openxmlformats.org/officeDocument/2006/customXml" ds:itemID="{5E8771A0-91C4-4DB5-892C-48646C9A81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E4F314-2F8A-4483-B358-C52184D249BA}">
  <ds:schemaRefs>
    <ds:schemaRef ds:uri="599ffa52-2d03-4237-a1d1-7b26f4d9cb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95197D4-3140-4B7D-90EB-BE0BAD7566B7}">
  <ds:schemaRefs>
    <ds:schemaRef ds:uri="599ffa52-2d03-4237-a1d1-7b26f4d9cba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396</Words>
  <Application>Microsoft Office PowerPoint</Application>
  <PresentationFormat>On-screen Show (16:9)</PresentationFormat>
  <Paragraphs>51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Trebuchet MS</vt:lpstr>
      <vt:lpstr>Inter</vt:lpstr>
      <vt:lpstr>Calibri</vt:lpstr>
      <vt:lpstr>Arial</vt:lpstr>
      <vt:lpstr>Passion One</vt:lpstr>
      <vt:lpstr>Data Analysis and Statistics - 4th grade by Slidesgo</vt:lpstr>
      <vt:lpstr>Data Structures  &amp; 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aml sabry</dc:creator>
  <cp:lastModifiedBy>Asmaa Yaser Rezk Yousef</cp:lastModifiedBy>
  <cp:revision>4</cp:revision>
  <dcterms:modified xsi:type="dcterms:W3CDTF">2025-10-08T17:47:28Z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0x0101008052D19C52B9B740967287BB916612AF</vt:lpwstr>
  </property>
</Properties>
</file>