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33"/>
  </p:notesMasterIdLst>
  <p:handoutMasterIdLst>
    <p:handoutMasterId r:id="rId34"/>
  </p:handoutMasterIdLst>
  <p:sldIdLst>
    <p:sldId id="841" r:id="rId5"/>
    <p:sldId id="838" r:id="rId6"/>
    <p:sldId id="304" r:id="rId7"/>
    <p:sldId id="342" r:id="rId8"/>
    <p:sldId id="343" r:id="rId9"/>
    <p:sldId id="310" r:id="rId10"/>
    <p:sldId id="314" r:id="rId11"/>
    <p:sldId id="318" r:id="rId12"/>
    <p:sldId id="319" r:id="rId13"/>
    <p:sldId id="320" r:id="rId14"/>
    <p:sldId id="321" r:id="rId15"/>
    <p:sldId id="322" r:id="rId16"/>
    <p:sldId id="492" r:id="rId17"/>
    <p:sldId id="323" r:id="rId18"/>
    <p:sldId id="324" r:id="rId19"/>
    <p:sldId id="339" r:id="rId20"/>
    <p:sldId id="340" r:id="rId21"/>
    <p:sldId id="907" r:id="rId22"/>
    <p:sldId id="908" r:id="rId23"/>
    <p:sldId id="909" r:id="rId24"/>
    <p:sldId id="910" r:id="rId25"/>
    <p:sldId id="911" r:id="rId26"/>
    <p:sldId id="912" r:id="rId27"/>
    <p:sldId id="913" r:id="rId28"/>
    <p:sldId id="344" r:id="rId29"/>
    <p:sldId id="493" r:id="rId30"/>
    <p:sldId id="541" r:id="rId31"/>
    <p:sldId id="26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4D950-34DE-4DEA-8DA7-BD7E7C1DCC03}">
          <p14:sldIdLst>
            <p14:sldId id="841"/>
            <p14:sldId id="838"/>
            <p14:sldId id="304"/>
            <p14:sldId id="342"/>
            <p14:sldId id="343"/>
            <p14:sldId id="310"/>
            <p14:sldId id="314"/>
            <p14:sldId id="318"/>
            <p14:sldId id="319"/>
            <p14:sldId id="320"/>
            <p14:sldId id="321"/>
            <p14:sldId id="322"/>
            <p14:sldId id="492"/>
            <p14:sldId id="323"/>
            <p14:sldId id="324"/>
            <p14:sldId id="339"/>
            <p14:sldId id="340"/>
            <p14:sldId id="907"/>
            <p14:sldId id="908"/>
            <p14:sldId id="909"/>
            <p14:sldId id="910"/>
            <p14:sldId id="911"/>
            <p14:sldId id="912"/>
            <p14:sldId id="913"/>
            <p14:sldId id="344"/>
            <p14:sldId id="493"/>
            <p14:sldId id="541"/>
          </p14:sldIdLst>
        </p14:section>
        <p14:section name="Default Section" id="{072ABBF4-93B1-44E9-AA79-C9E5443176EE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876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700" y="56"/>
      </p:cViewPr>
      <p:guideLst>
        <p:guide orient="horz" pos="3048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0456"/>
    </p:cViewPr>
  </p:sorter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C4E2E-64C6-46E6-9EEF-ED611B6593D1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890AD-4ACA-408F-94CA-F364FF72F1B8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F15BC-4AA1-41C4-8C26-91A7E3BB93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 YASSER ELAWADY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628D-2237-D3B6-E939-D4BC22E6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476A574-E3F6-17D1-D59F-42063AC0C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E43F5238-3F15-0260-6701-2F9AD3DF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2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CustomShape 1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89748A2-E14F-4973-B636-A059F9A7902A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50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4988" y="754063"/>
            <a:ext cx="6700837" cy="3770312"/>
          </a:xfrm>
          <a:prstGeom prst="rect">
            <a:avLst/>
          </a:prstGeom>
        </p:spPr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1036800" y="4777920"/>
            <a:ext cx="5697360" cy="4525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056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Times New Roman"/>
              </a:rPr>
              <a:t>A primitive data type is generally a basic structure that is usually built into the language, such as an integer, a float.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513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0168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</a:pPr>
            <a:r>
              <a:rPr lang="en-US" sz="2000" b="1" strike="noStrike" spc="-1" dirty="0">
                <a:latin typeface="Times New Roman"/>
              </a:rPr>
              <a:t>Non Primitive DS</a:t>
            </a:r>
            <a:endParaRPr lang="en-US" sz="2000" b="0" strike="noStrike" spc="-1" dirty="0">
              <a:latin typeface="Arial"/>
            </a:endParaRPr>
          </a:p>
          <a:p>
            <a:pPr marL="558720" indent="-341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latin typeface="Times New Roman"/>
              </a:rPr>
              <a:t>more sophisticated data types.</a:t>
            </a:r>
            <a:endParaRPr lang="en-US" sz="2000" b="0" strike="noStrike" spc="-1" dirty="0">
              <a:latin typeface="Arial"/>
            </a:endParaRPr>
          </a:p>
          <a:p>
            <a:pPr marL="558720" indent="-341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latin typeface="Times New Roman"/>
              </a:rPr>
              <a:t>derived from the primitive data structures. </a:t>
            </a:r>
            <a:endParaRPr lang="en-US" sz="2000" b="0" strike="noStrike" spc="-1" dirty="0">
              <a:latin typeface="Arial"/>
            </a:endParaRPr>
          </a:p>
          <a:p>
            <a:pPr marL="558720" indent="-3416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latin typeface="Times New Roman"/>
              </a:rPr>
              <a:t>built out of primitive data structures linked together in meaningful ways</a:t>
            </a:r>
            <a:endParaRPr lang="en-US" sz="2000" b="0" strike="noStrike" spc="-1" dirty="0">
              <a:latin typeface="Arial"/>
            </a:endParaRPr>
          </a:p>
          <a:p>
            <a:pPr marL="558720" indent="-34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latin typeface="Times New Roman"/>
              </a:rPr>
              <a:t>emphasize on structuring of a group of data items.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516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5048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+mn-ea"/>
              </a:rPr>
              <a:t>It does not specify how data will be organized in memory and what algorithms will be used for implementing the operations</a:t>
            </a:r>
            <a:endParaRPr lang="en-US" sz="20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519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7177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Calibri"/>
              </a:rPr>
              <a:t>Things you make lists of</a:t>
            </a: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Calibri"/>
              </a:rPr>
              <a:t>Addresses</a:t>
            </a: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Calibri"/>
              </a:rPr>
              <a:t>Groceries</a:t>
            </a: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Calibri"/>
              </a:rPr>
              <a:t>Class list</a:t>
            </a: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525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1124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+mn-ea"/>
              </a:rPr>
              <a:t>An array is a type of list. A list is an abstract data type that implies an ordered sequence of values. Another type of list is a linked list (double or single). </a:t>
            </a:r>
            <a:endParaRPr lang="en-US" sz="20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  <a:ea typeface="+mn-ea"/>
              </a:rPr>
              <a:t>an array is always a list but a list is not always an array. :)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528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1535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Insert will take the position to insert the new element  </a:t>
            </a:r>
            <a:r>
              <a:rPr lang="en-US" sz="2000" b="1" strike="noStrike" spc="-1" dirty="0">
                <a:latin typeface="Arial"/>
              </a:rPr>
              <a:t>insert (3,44)</a:t>
            </a: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1" strike="noStrike" spc="-1" dirty="0">
                <a:latin typeface="Arial"/>
              </a:rPr>
              <a:t>Steps to insert using array :</a:t>
            </a: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1- shift the array to make a room for the new element at the requested position </a:t>
            </a: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2- Insert the new element </a:t>
            </a:r>
          </a:p>
          <a:p>
            <a:pPr marL="216000" indent="-214920"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Cost of this function is Linear O(n)</a:t>
            </a: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If we have multiple insertion it will take time </a:t>
            </a:r>
          </a:p>
        </p:txBody>
      </p:sp>
      <p:sp>
        <p:nvSpPr>
          <p:cNvPr id="531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033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RemoveAt(3)</a:t>
            </a:r>
            <a:endParaRPr lang="en-US" sz="20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Steps to remove element using array :</a:t>
            </a:r>
            <a:endParaRPr lang="en-US" sz="20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1- Remove requested element</a:t>
            </a: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2- shift items to fill gap </a:t>
            </a:r>
          </a:p>
          <a:p>
            <a:pPr marL="216000" indent="-21492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Cost of this function is Linear O(n)</a:t>
            </a:r>
          </a:p>
          <a:p>
            <a:pPr marL="216000" indent="-21492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If we have multiple removal it will take time </a:t>
            </a:r>
          </a:p>
        </p:txBody>
      </p:sp>
      <p:sp>
        <p:nvSpPr>
          <p:cNvPr id="534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4586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13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99931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3685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2883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402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D5DA2-3CBC-5D85-FB3E-76A1D457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E165783D-2696-7998-997E-8508D7229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5C7F7324-A9CA-99FD-E927-6F6B444DAFE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3227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3761-C1EE-CEB4-CEF2-CD845B8A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A6B01AC8-3640-A918-CA75-DD757EE50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FC4B1AFE-AD07-4FA2-6EF5-556E2E2EB31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7816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F617C-3388-B298-3B83-AF40B598E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4AB77CCE-831D-C5E6-FA86-4CEB206A0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B41038AF-FD9C-4415-8036-11EC8505DCF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0284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E58AC-00D7-2E3D-D364-88F9773C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95FB525D-1F56-1784-0E34-69AB0D19A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EBBE74E9-E58A-A8D1-ED63-38D12DCBB87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099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90CF-5E7A-0DF9-4A81-D951E7D2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42D08F56-5A13-82B9-35DD-B03C5EB84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AC44ACA5-165D-F62D-DCE0-450D4A78212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2355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7F44-9FD5-D3C8-65BA-64EA456D8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1B48DF3C-83A6-D475-EE4D-AB233E178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8CD24D47-F572-9F64-E771-759DC856ED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353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45BA-8EE9-8B43-118A-EC78B273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AE90F0BD-665D-9BB4-D8D9-BB40C75D7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5A462315-4699-9FC1-B22E-E363A8FAFE5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492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The head pointer is used to know where the first cell can be found.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9492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4988" y="763588"/>
            <a:ext cx="6700837" cy="3770312"/>
          </a:xfrm>
          <a:prstGeom prst="rect">
            <a:avLst/>
          </a:prstGeom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040" cy="4524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spcBef>
                <a:spcPts val="601"/>
              </a:spcBef>
            </a:pPr>
            <a:r>
              <a:rPr lang="en-US" sz="2000" b="1" strike="noStrike" spc="-1">
                <a:solidFill>
                  <a:srgbClr val="FF0000"/>
                </a:solidFill>
                <a:latin typeface="Times New Roman"/>
              </a:rPr>
              <a:t>How to implement doubly linked lists?</a:t>
            </a:r>
            <a:endParaRPr lang="en-US" sz="2000" b="0" strike="noStrike" spc="-1">
              <a:latin typeface="Arial"/>
            </a:endParaRPr>
          </a:p>
          <a:p>
            <a:pPr marL="216000" indent="-215280">
              <a:lnSpc>
                <a:spcPct val="100000"/>
              </a:lnSpc>
              <a:spcBef>
                <a:spcPts val="601"/>
              </a:spcBef>
            </a:pPr>
            <a:endParaRPr lang="en-US" sz="2000" b="0" strike="noStrike" spc="-1">
              <a:latin typeface="Arial"/>
            </a:endParaRPr>
          </a:p>
          <a:p>
            <a:pPr marL="216000" indent="-215280">
              <a:lnSpc>
                <a:spcPct val="100000"/>
              </a:lnSpc>
              <a:spcBef>
                <a:spcPts val="601"/>
              </a:spcBef>
            </a:pPr>
            <a:r>
              <a:rPr lang="en-US" sz="2000" b="1" strike="noStrike" spc="-1">
                <a:solidFill>
                  <a:srgbClr val="FF0000"/>
                </a:solidFill>
                <a:latin typeface="Times New Roman"/>
              </a:rPr>
              <a:t>What about Circular Linked list?</a:t>
            </a:r>
            <a:endParaRPr lang="en-US" sz="2000" b="0" strike="noStrike" spc="-1">
              <a:latin typeface="Arial"/>
            </a:endParaRPr>
          </a:p>
          <a:p>
            <a:pPr marL="216000" indent="-21528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16000" indent="-215280">
              <a:lnSpc>
                <a:spcPct val="100000"/>
              </a:lnSpc>
            </a:pPr>
            <a:r>
              <a:rPr lang="en-US" sz="2000" b="0" strike="noStrike" spc="-1">
                <a:solidFill>
                  <a:srgbClr val="FF0000"/>
                </a:solidFill>
                <a:latin typeface="Times New Roman"/>
              </a:rPr>
              <a:t>Just add new pointer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551" name="CustomShape 3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1717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26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72418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27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951237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7AFCF-E54D-E5CE-C191-CEF19C709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3402" y="556293"/>
            <a:ext cx="197527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4453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0701" y="1569250"/>
            <a:ext cx="3789679" cy="412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B91AE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65164" y="2338093"/>
            <a:ext cx="4423409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4521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-25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62954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76684" y="6492875"/>
            <a:ext cx="537564" cy="365125"/>
          </a:xfrm>
        </p:spPr>
        <p:txBody>
          <a:bodyPr/>
          <a:lstStyle>
            <a:lvl1pPr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C5AE351-457C-4431-A86D-BC5A5A7DDEB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114FCA-D669-9944-0F24-CD07B13AAA05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3542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161BB-3643-412C-94A5-FD7AAC805E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66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 userDrawn="1"/>
        </p:nvCxnSpPr>
        <p:spPr>
          <a:xfrm flipH="1">
            <a:off x="446534" y="6492873"/>
            <a:ext cx="11298934" cy="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81191" y="4574955"/>
            <a:ext cx="10993549" cy="1372887"/>
          </a:xfrm>
        </p:spPr>
        <p:txBody>
          <a:bodyPr>
            <a:noAutofit/>
          </a:bodyPr>
          <a:lstStyle/>
          <a:p>
            <a:pPr marL="76200">
              <a:lnSpc>
                <a:spcPct val="150000"/>
              </a:lnSpc>
            </a:pPr>
            <a:r>
              <a:rPr lang="en-US" sz="3600" b="1" u="sng" dirty="0">
                <a:solidFill>
                  <a:srgbClr val="FFFFCC"/>
                </a:solidFill>
              </a:rPr>
              <a:t>Lecture 5</a:t>
            </a:r>
            <a:r>
              <a:rPr lang="en-US" sz="3600" b="1" dirty="0">
                <a:solidFill>
                  <a:srgbClr val="FFFFCC"/>
                </a:solidFill>
              </a:rPr>
              <a:t>     Lists &amp; Linked Lists </a:t>
            </a:r>
            <a:endParaRPr lang="en-US" sz="3600" dirty="0">
              <a:solidFill>
                <a:srgbClr val="FFFFC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17374"/>
            <a:ext cx="10993546" cy="484822"/>
          </a:xfrm>
        </p:spPr>
        <p:txBody>
          <a:bodyPr>
            <a:normAutofit/>
          </a:bodyPr>
          <a:lstStyle/>
          <a:p>
            <a:pPr algn="r"/>
            <a:r>
              <a:rPr lang="en-US" sz="1800" b="1" dirty="0">
                <a:solidFill>
                  <a:srgbClr val="FFFFCC"/>
                </a:solidFill>
              </a:rPr>
              <a:t>Fall (2025-2026)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61668" y="3704630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B89D2-1F78-CF8D-0CB0-7B85B5DC8A50}"/>
              </a:ext>
            </a:extLst>
          </p:cNvPr>
          <p:cNvSpPr/>
          <p:nvPr/>
        </p:nvSpPr>
        <p:spPr>
          <a:xfrm>
            <a:off x="177219" y="1250874"/>
            <a:ext cx="721665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DATA STRUCTURE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AND ALGORITHMS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(CS 201)</a:t>
            </a:r>
          </a:p>
        </p:txBody>
      </p:sp>
      <p:sp>
        <p:nvSpPr>
          <p:cNvPr id="9" name="AutoShape 2" descr="Coding Clipart Guy In Glasses Computer Tech Cartoon Vector ...">
            <a:extLst>
              <a:ext uri="{FF2B5EF4-FFF2-40B4-BE49-F238E27FC236}">
                <a16:creationId xmlns:a16="http://schemas.microsoft.com/office/drawing/2014/main" id="{999E07D1-2798-6AFF-8297-F8D1DCEAE0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90039-68EA-49BB-C111-B123F2C734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3FD11D-F602-7311-57A0-93A5ECB1B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12" y="1005840"/>
            <a:ext cx="3097122" cy="342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04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4F78-3EA1-A340-B6D7-BDACE2A7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EF8D09-CAA0-3ED5-B328-07E1BFEE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34" y="949120"/>
            <a:ext cx="8272462" cy="760810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Course Learning Objectives</a:t>
            </a: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253CC887-3396-2A92-1AB4-962382049A1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041443" y="6425275"/>
            <a:ext cx="770468" cy="365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417905" indent="-160733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642929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900101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1157273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1500168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1843064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2185960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2528855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8BF91E0-0E5B-4EFC-98D2-085973D90B5B}" type="slidenum">
              <a:rPr lang="en-US" altLang="en-US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AF170-D78D-368F-7E16-E01A0E7AF129}"/>
              </a:ext>
            </a:extLst>
          </p:cNvPr>
          <p:cNvSpPr txBox="1"/>
          <p:nvPr/>
        </p:nvSpPr>
        <p:spPr>
          <a:xfrm>
            <a:off x="416027" y="2036790"/>
            <a:ext cx="11359946" cy="419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linear data structures</a:t>
            </a:r>
            <a:r>
              <a:rPr lang="en-US" dirty="0">
                <a:solidFill>
                  <a:srgbClr val="002060"/>
                </a:solidFill>
              </a:rPr>
              <a:t> such as arrays and linked lists, performing fundamental operations including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and implement special linear data structures</a:t>
            </a:r>
            <a:r>
              <a:rPr lang="en-US" dirty="0">
                <a:solidFill>
                  <a:srgbClr val="002060"/>
                </a:solidFill>
              </a:rPr>
              <a:t> such as stacks and queues, utilizing their core operations (push, pop, enqueue, and dequeue).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Design and implement basic sorting algorithms</a:t>
            </a:r>
            <a:r>
              <a:rPr lang="en-US" dirty="0">
                <a:solidFill>
                  <a:srgbClr val="002060"/>
                </a:solidFill>
              </a:rPr>
              <a:t> to organize data efficiently.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searching algorithms</a:t>
            </a:r>
            <a:r>
              <a:rPr lang="en-US" dirty="0">
                <a:solidFill>
                  <a:srgbClr val="002060"/>
                </a:solidFill>
              </a:rPr>
              <a:t>, including sequential search, binary search, and hashing techniques.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non-linear data structures</a:t>
            </a:r>
            <a:r>
              <a:rPr lang="en-US" dirty="0">
                <a:solidFill>
                  <a:srgbClr val="002060"/>
                </a:solidFill>
              </a:rPr>
              <a:t>, particularly binary trees and binary search trees, performing key operations such as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Utilize graph data structures</a:t>
            </a:r>
            <a:r>
              <a:rPr lang="en-US" dirty="0">
                <a:solidFill>
                  <a:srgbClr val="002060"/>
                </a:solidFill>
              </a:rPr>
              <a:t> and apply fundamental graph algorithms for problem-solving.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Demonstrate effective teamwork skills</a:t>
            </a:r>
            <a:r>
              <a:rPr lang="en-US" dirty="0">
                <a:solidFill>
                  <a:srgbClr val="002060"/>
                </a:solidFill>
              </a:rPr>
              <a:t> by collaborating within groups to develop algorithmic solutions.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67B8A-EC7B-F750-FF17-513A5853E0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86" y="83215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1792953" y="529162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Agenda</a:t>
            </a:r>
          </a:p>
        </p:txBody>
      </p:sp>
      <p:sp>
        <p:nvSpPr>
          <p:cNvPr id="163" name="CustomShape 2"/>
          <p:cNvSpPr/>
          <p:nvPr/>
        </p:nvSpPr>
        <p:spPr>
          <a:xfrm>
            <a:off x="8438968" y="6656466"/>
            <a:ext cx="2128684" cy="220445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0" b="1" spc="-1" dirty="0">
                <a:solidFill>
                  <a:srgbClr val="008080"/>
                </a:solidFill>
                <a:latin typeface="Times New Roman"/>
                <a:ea typeface="DejaVu Sans"/>
              </a:rPr>
              <a:t>1-</a:t>
            </a:r>
            <a:fld id="{5E798AC7-8CCA-439C-8A88-75B3717BC91F}" type="slidenum">
              <a:rPr lang="en-US" sz="1270" b="1" spc="-1">
                <a:solidFill>
                  <a:srgbClr val="008080"/>
                </a:solidFill>
                <a:latin typeface="Times New Roman"/>
                <a:ea typeface="DejaVu Sans"/>
              </a:rPr>
              <a:t>3</a:t>
            </a:fld>
            <a:endParaRPr lang="en-US" sz="1270" spc="-1" dirty="0">
              <a:latin typeface="Arial"/>
            </a:endParaRPr>
          </a:p>
        </p:txBody>
      </p:sp>
      <p:sp>
        <p:nvSpPr>
          <p:cNvPr id="164" name="CustomShape 3"/>
          <p:cNvSpPr/>
          <p:nvPr/>
        </p:nvSpPr>
        <p:spPr>
          <a:xfrm>
            <a:off x="894080" y="1634364"/>
            <a:ext cx="9966960" cy="40369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58506" indent="-457200">
              <a:spcAft>
                <a:spcPts val="1281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540" b="1" spc="-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DejaVu Sans"/>
              </a:rPr>
              <a:t>Classification of Data Structures </a:t>
            </a:r>
            <a:endParaRPr lang="en-US" sz="2540" spc="-1" dirty="0">
              <a:solidFill>
                <a:schemeClr val="accent2">
                  <a:lumMod val="75000"/>
                </a:schemeClr>
              </a:solidFill>
              <a:latin typeface="Arial"/>
            </a:endParaRPr>
          </a:p>
          <a:p>
            <a:pPr marL="458506" indent="-457200">
              <a:spcAft>
                <a:spcPts val="1281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540" b="1" spc="-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DejaVu Sans"/>
              </a:rPr>
              <a:t>Abstract Data Types (ADT)</a:t>
            </a:r>
            <a:endParaRPr lang="en-US" sz="2540" spc="-1" dirty="0">
              <a:solidFill>
                <a:schemeClr val="accent2">
                  <a:lumMod val="75000"/>
                </a:schemeClr>
              </a:solidFill>
              <a:latin typeface="Arial"/>
            </a:endParaRPr>
          </a:p>
          <a:p>
            <a:pPr marL="458506" indent="-457200">
              <a:spcAft>
                <a:spcPts val="1281"/>
              </a:spcAft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540" b="1" spc="-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DejaVu Sans"/>
              </a:rPr>
              <a:t>List ADT</a:t>
            </a:r>
            <a:endParaRPr lang="en-US" sz="2540" spc="-1" dirty="0">
              <a:solidFill>
                <a:schemeClr val="accent2">
                  <a:lumMod val="75000"/>
                </a:schemeClr>
              </a:solidFill>
              <a:latin typeface="Arial"/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b="1" spc="-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DejaVu Sans"/>
              </a:rPr>
              <a:t>Array based implementation </a:t>
            </a:r>
            <a:endParaRPr lang="en-US" sz="2177" spc="-1" dirty="0">
              <a:solidFill>
                <a:schemeClr val="accent2">
                  <a:lumMod val="75000"/>
                </a:schemeClr>
              </a:solidFill>
              <a:latin typeface="Arial"/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b="1" spc="-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DejaVu Sans"/>
              </a:rPr>
              <a:t>Linked list based implementation </a:t>
            </a:r>
            <a:endParaRPr lang="en-US" sz="2177" spc="-1" dirty="0">
              <a:solidFill>
                <a:schemeClr val="accent2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69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1559281" y="-112455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Classification of Data Structure</a:t>
            </a:r>
          </a:p>
        </p:txBody>
      </p:sp>
      <p:sp>
        <p:nvSpPr>
          <p:cNvPr id="172" name="CustomShape 2"/>
          <p:cNvSpPr/>
          <p:nvPr/>
        </p:nvSpPr>
        <p:spPr>
          <a:xfrm>
            <a:off x="4689767" y="2377137"/>
            <a:ext cx="3094397" cy="575117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2" b="1" spc="-1">
                <a:solidFill>
                  <a:schemeClr val="bg1"/>
                </a:solidFill>
                <a:latin typeface="Times New Roman"/>
                <a:ea typeface="DejaVu Sans"/>
              </a:rPr>
              <a:t>Data Types </a:t>
            </a:r>
            <a:endParaRPr lang="en-US" sz="3202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73" name="Line 3"/>
          <p:cNvSpPr/>
          <p:nvPr/>
        </p:nvSpPr>
        <p:spPr>
          <a:xfrm>
            <a:off x="6274033" y="2953233"/>
            <a:ext cx="0" cy="287069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174" name="Line 4"/>
          <p:cNvSpPr/>
          <p:nvPr/>
        </p:nvSpPr>
        <p:spPr>
          <a:xfrm>
            <a:off x="4186498" y="3240302"/>
            <a:ext cx="4032024" cy="0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175" name="Line 5"/>
          <p:cNvSpPr/>
          <p:nvPr/>
        </p:nvSpPr>
        <p:spPr>
          <a:xfrm>
            <a:off x="4186498" y="3240302"/>
            <a:ext cx="0" cy="360550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176" name="Line 6"/>
          <p:cNvSpPr/>
          <p:nvPr/>
        </p:nvSpPr>
        <p:spPr>
          <a:xfrm>
            <a:off x="8218523" y="3240302"/>
            <a:ext cx="0" cy="360550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177" name="CustomShape 7"/>
          <p:cNvSpPr/>
          <p:nvPr/>
        </p:nvSpPr>
        <p:spPr>
          <a:xfrm>
            <a:off x="2746583" y="3600852"/>
            <a:ext cx="3094397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2" b="1" spc="-1" dirty="0">
                <a:solidFill>
                  <a:schemeClr val="bg1"/>
                </a:solidFill>
                <a:latin typeface="Times New Roman"/>
                <a:ea typeface="DejaVu Sans"/>
              </a:rPr>
              <a:t>Primitive </a:t>
            </a:r>
            <a:endParaRPr lang="en-US" sz="3202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78" name="CustomShape 8"/>
          <p:cNvSpPr/>
          <p:nvPr/>
        </p:nvSpPr>
        <p:spPr>
          <a:xfrm>
            <a:off x="6707412" y="3600852"/>
            <a:ext cx="3094397" cy="575117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66" b="1" spc="-1" dirty="0">
                <a:solidFill>
                  <a:schemeClr val="bg1"/>
                </a:solidFill>
                <a:latin typeface="Times New Roman"/>
                <a:ea typeface="DejaVu Sans"/>
              </a:rPr>
              <a:t>Non-Primitive </a:t>
            </a:r>
            <a:endParaRPr lang="en-US" sz="3266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79" name="CustomShape 9"/>
          <p:cNvSpPr/>
          <p:nvPr/>
        </p:nvSpPr>
        <p:spPr>
          <a:xfrm>
            <a:off x="1810262" y="5472514"/>
            <a:ext cx="1222736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2" spc="-1">
                <a:solidFill>
                  <a:schemeClr val="bg1"/>
                </a:solidFill>
                <a:latin typeface="Times New Roman"/>
                <a:ea typeface="DejaVu Sans"/>
              </a:rPr>
              <a:t>Integer</a:t>
            </a:r>
            <a:endParaRPr lang="en-US" sz="3202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80" name="CustomShape 10"/>
          <p:cNvSpPr/>
          <p:nvPr/>
        </p:nvSpPr>
        <p:spPr>
          <a:xfrm>
            <a:off x="3178656" y="5472514"/>
            <a:ext cx="1222736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2" spc="-1">
                <a:solidFill>
                  <a:schemeClr val="bg1"/>
                </a:solidFill>
                <a:latin typeface="Times New Roman"/>
                <a:ea typeface="DejaVu Sans"/>
              </a:rPr>
              <a:t>Float</a:t>
            </a:r>
            <a:endParaRPr lang="en-US" sz="3202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81" name="CustomShape 11"/>
          <p:cNvSpPr/>
          <p:nvPr/>
        </p:nvSpPr>
        <p:spPr>
          <a:xfrm>
            <a:off x="4762922" y="5472514"/>
            <a:ext cx="1654482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Character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82" name="CustomShape 12"/>
          <p:cNvSpPr/>
          <p:nvPr/>
        </p:nvSpPr>
        <p:spPr>
          <a:xfrm>
            <a:off x="6707412" y="5472514"/>
            <a:ext cx="1654482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Pointer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83" name="Line 13"/>
          <p:cNvSpPr/>
          <p:nvPr/>
        </p:nvSpPr>
        <p:spPr>
          <a:xfrm>
            <a:off x="4186498" y="4176949"/>
            <a:ext cx="0" cy="720774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84" name="Line 14"/>
          <p:cNvSpPr/>
          <p:nvPr/>
        </p:nvSpPr>
        <p:spPr>
          <a:xfrm>
            <a:off x="2457555" y="4897723"/>
            <a:ext cx="4968998" cy="0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85" name="Line 15"/>
          <p:cNvSpPr/>
          <p:nvPr/>
        </p:nvSpPr>
        <p:spPr>
          <a:xfrm>
            <a:off x="2457555" y="4897723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86" name="Line 16"/>
          <p:cNvSpPr/>
          <p:nvPr/>
        </p:nvSpPr>
        <p:spPr>
          <a:xfrm>
            <a:off x="3681597" y="4897723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87" name="Line 17"/>
          <p:cNvSpPr/>
          <p:nvPr/>
        </p:nvSpPr>
        <p:spPr>
          <a:xfrm>
            <a:off x="5554891" y="4897723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88" name="Line 18"/>
          <p:cNvSpPr/>
          <p:nvPr/>
        </p:nvSpPr>
        <p:spPr>
          <a:xfrm>
            <a:off x="7426553" y="4897723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89" name="Line 19"/>
          <p:cNvSpPr/>
          <p:nvPr/>
        </p:nvSpPr>
        <p:spPr>
          <a:xfrm>
            <a:off x="4186498" y="4176949"/>
            <a:ext cx="0" cy="720774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0" name="Line 20"/>
          <p:cNvSpPr/>
          <p:nvPr/>
        </p:nvSpPr>
        <p:spPr>
          <a:xfrm>
            <a:off x="2457555" y="4897723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1" name="Line 21"/>
          <p:cNvSpPr/>
          <p:nvPr/>
        </p:nvSpPr>
        <p:spPr>
          <a:xfrm>
            <a:off x="4186498" y="4176949"/>
            <a:ext cx="0" cy="720774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2" name="Line 22"/>
          <p:cNvSpPr/>
          <p:nvPr/>
        </p:nvSpPr>
        <p:spPr>
          <a:xfrm>
            <a:off x="3681597" y="4897723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3" name="Line 23"/>
          <p:cNvSpPr/>
          <p:nvPr/>
        </p:nvSpPr>
        <p:spPr>
          <a:xfrm>
            <a:off x="2457555" y="4897723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4" name="Line 24"/>
          <p:cNvSpPr/>
          <p:nvPr/>
        </p:nvSpPr>
        <p:spPr>
          <a:xfrm>
            <a:off x="4186498" y="4176949"/>
            <a:ext cx="0" cy="720774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5" name="CustomShape 25"/>
          <p:cNvSpPr/>
          <p:nvPr/>
        </p:nvSpPr>
        <p:spPr>
          <a:xfrm>
            <a:off x="3178656" y="5474147"/>
            <a:ext cx="1222736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2" spc="-1">
                <a:solidFill>
                  <a:schemeClr val="bg1"/>
                </a:solidFill>
                <a:latin typeface="Times New Roman"/>
                <a:ea typeface="DejaVu Sans"/>
              </a:rPr>
              <a:t>Float</a:t>
            </a:r>
            <a:endParaRPr lang="en-US" sz="3202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96" name="Line 26"/>
          <p:cNvSpPr/>
          <p:nvPr/>
        </p:nvSpPr>
        <p:spPr>
          <a:xfrm>
            <a:off x="3681597" y="4899356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7" name="Line 27"/>
          <p:cNvSpPr/>
          <p:nvPr/>
        </p:nvSpPr>
        <p:spPr>
          <a:xfrm>
            <a:off x="2457555" y="4899356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8" name="Line 28"/>
          <p:cNvSpPr/>
          <p:nvPr/>
        </p:nvSpPr>
        <p:spPr>
          <a:xfrm>
            <a:off x="4186498" y="4178582"/>
            <a:ext cx="0" cy="720774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199" name="CustomShape 29"/>
          <p:cNvSpPr/>
          <p:nvPr/>
        </p:nvSpPr>
        <p:spPr>
          <a:xfrm>
            <a:off x="1810262" y="5474147"/>
            <a:ext cx="1222736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Integer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00" name="CustomShape 30"/>
          <p:cNvSpPr/>
          <p:nvPr/>
        </p:nvSpPr>
        <p:spPr>
          <a:xfrm>
            <a:off x="3178656" y="5475780"/>
            <a:ext cx="1222736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Float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01" name="Line 31"/>
          <p:cNvSpPr/>
          <p:nvPr/>
        </p:nvSpPr>
        <p:spPr>
          <a:xfrm>
            <a:off x="3681597" y="4900989"/>
            <a:ext cx="0" cy="576097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02" name="Line 32"/>
          <p:cNvSpPr/>
          <p:nvPr/>
        </p:nvSpPr>
        <p:spPr>
          <a:xfrm>
            <a:off x="2457555" y="4900989"/>
            <a:ext cx="0" cy="576097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03" name="Line 33"/>
          <p:cNvSpPr/>
          <p:nvPr/>
        </p:nvSpPr>
        <p:spPr>
          <a:xfrm>
            <a:off x="4186498" y="4180215"/>
            <a:ext cx="0" cy="720774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1EAE725E-B028-8B70-5BB3-296B0BAA5085}"/>
              </a:ext>
            </a:extLst>
          </p:cNvPr>
          <p:cNvSpPr/>
          <p:nvPr/>
        </p:nvSpPr>
        <p:spPr>
          <a:xfrm>
            <a:off x="529380" y="627226"/>
            <a:ext cx="9543021" cy="1606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540" b="1" spc="-1" dirty="0">
                <a:solidFill>
                  <a:srgbClr val="C00000"/>
                </a:solidFill>
                <a:ea typeface="DejaVu Sans"/>
              </a:rPr>
              <a:t>Data structure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are normally divided into </a:t>
            </a:r>
            <a:r>
              <a:rPr lang="en-US" sz="2540" b="1" i="1" spc="-1" dirty="0">
                <a:solidFill>
                  <a:srgbClr val="000000"/>
                </a:solidFill>
                <a:ea typeface="DejaVu Sans"/>
              </a:rPr>
              <a:t>two main categories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:</a:t>
            </a:r>
            <a:endParaRPr lang="en-US" sz="2540" spc="-1" dirty="0"/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800" b="1" spc="-1" dirty="0">
                <a:solidFill>
                  <a:srgbClr val="002060"/>
                </a:solidFill>
                <a:ea typeface="DejaVu Sans"/>
              </a:rPr>
              <a:t>Primitive  </a:t>
            </a:r>
            <a:endParaRPr lang="en-US" sz="2800" spc="-1" dirty="0">
              <a:solidFill>
                <a:srgbClr val="00206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800" b="1" spc="-1" dirty="0">
                <a:solidFill>
                  <a:srgbClr val="002060"/>
                </a:solidFill>
                <a:ea typeface="DejaVu Sans"/>
              </a:rPr>
              <a:t>Non-Primitive </a:t>
            </a:r>
            <a:r>
              <a:rPr lang="en-US" sz="2800" b="1" spc="-1" dirty="0">
                <a:solidFill>
                  <a:srgbClr val="000000"/>
                </a:solidFill>
                <a:ea typeface="DejaVu Sans"/>
              </a:rPr>
              <a:t> </a:t>
            </a:r>
            <a:endParaRPr lang="en-US" sz="2800" spc="-1" dirty="0"/>
          </a:p>
          <a:p>
            <a:pPr>
              <a:lnSpc>
                <a:spcPct val="100000"/>
              </a:lnSpc>
            </a:pPr>
            <a:endParaRPr lang="en-US" sz="2903" spc="-1" dirty="0"/>
          </a:p>
          <a:p>
            <a:pPr marL="674086" indent="-258008">
              <a:spcAft>
                <a:spcPts val="1031"/>
              </a:spcAft>
            </a:pPr>
            <a:endParaRPr lang="en-US" sz="2903" spc="-1" dirty="0"/>
          </a:p>
        </p:txBody>
      </p:sp>
    </p:spTree>
    <p:extLst>
      <p:ext uri="{BB962C8B-B14F-4D97-AF65-F5344CB8AC3E}">
        <p14:creationId xmlns:p14="http://schemas.microsoft.com/office/powerpoint/2010/main" val="401699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1703469" y="-112509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Classification of Data Structure</a:t>
            </a:r>
          </a:p>
        </p:txBody>
      </p:sp>
      <p:sp>
        <p:nvSpPr>
          <p:cNvPr id="205" name="CustomShape 2"/>
          <p:cNvSpPr/>
          <p:nvPr/>
        </p:nvSpPr>
        <p:spPr>
          <a:xfrm>
            <a:off x="4582973" y="1355330"/>
            <a:ext cx="3094397" cy="575117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/>
            <a:r>
              <a:rPr lang="en-US" sz="3266" b="1" spc="-1" dirty="0">
                <a:solidFill>
                  <a:schemeClr val="bg1"/>
                </a:solidFill>
                <a:latin typeface="Times New Roman"/>
                <a:ea typeface="DejaVu Sans"/>
              </a:rPr>
              <a:t>Non-Primitive </a:t>
            </a:r>
          </a:p>
        </p:txBody>
      </p:sp>
      <p:sp>
        <p:nvSpPr>
          <p:cNvPr id="206" name="CustomShape 3"/>
          <p:cNvSpPr/>
          <p:nvPr/>
        </p:nvSpPr>
        <p:spPr>
          <a:xfrm>
            <a:off x="2640116" y="2723723"/>
            <a:ext cx="1870355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903" b="1" spc="-1">
                <a:solidFill>
                  <a:schemeClr val="bg1"/>
                </a:solidFill>
                <a:latin typeface="Times New Roman"/>
                <a:ea typeface="DejaVu Sans"/>
              </a:rPr>
              <a:t>Linear List</a:t>
            </a:r>
            <a:endParaRPr lang="en-US" sz="2903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07" name="CustomShape 4"/>
          <p:cNvSpPr/>
          <p:nvPr/>
        </p:nvSpPr>
        <p:spPr>
          <a:xfrm>
            <a:off x="6959535" y="2652201"/>
            <a:ext cx="2735480" cy="57348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903" b="1" spc="-1">
                <a:solidFill>
                  <a:schemeClr val="bg1"/>
                </a:solidFill>
                <a:latin typeface="Times New Roman"/>
                <a:ea typeface="DejaVu Sans"/>
              </a:rPr>
              <a:t>Non-Linear List</a:t>
            </a:r>
            <a:endParaRPr lang="en-US" sz="2903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08" name="Line 5"/>
          <p:cNvSpPr/>
          <p:nvPr/>
        </p:nvSpPr>
        <p:spPr>
          <a:xfrm>
            <a:off x="8543802" y="2291651"/>
            <a:ext cx="0" cy="360224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09" name="Line 6"/>
          <p:cNvSpPr/>
          <p:nvPr/>
        </p:nvSpPr>
        <p:spPr>
          <a:xfrm>
            <a:off x="3647959" y="2291651"/>
            <a:ext cx="0" cy="431746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10" name="Line 7"/>
          <p:cNvSpPr/>
          <p:nvPr/>
        </p:nvSpPr>
        <p:spPr>
          <a:xfrm>
            <a:off x="6095717" y="1931427"/>
            <a:ext cx="0" cy="360224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11" name="Line 8"/>
          <p:cNvSpPr/>
          <p:nvPr/>
        </p:nvSpPr>
        <p:spPr>
          <a:xfrm>
            <a:off x="3647959" y="2291651"/>
            <a:ext cx="4895843" cy="0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12" name="CustomShape 9"/>
          <p:cNvSpPr/>
          <p:nvPr/>
        </p:nvSpPr>
        <p:spPr>
          <a:xfrm>
            <a:off x="1703469" y="4452340"/>
            <a:ext cx="1078059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Array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13" name="CustomShape 10"/>
          <p:cNvSpPr/>
          <p:nvPr/>
        </p:nvSpPr>
        <p:spPr>
          <a:xfrm>
            <a:off x="2351088" y="5244636"/>
            <a:ext cx="1511438" cy="50196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Link List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14" name="CustomShape 11"/>
          <p:cNvSpPr/>
          <p:nvPr/>
        </p:nvSpPr>
        <p:spPr>
          <a:xfrm>
            <a:off x="4080031" y="5244636"/>
            <a:ext cx="1078059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Stack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15" name="CustomShape 12"/>
          <p:cNvSpPr/>
          <p:nvPr/>
        </p:nvSpPr>
        <p:spPr>
          <a:xfrm>
            <a:off x="5087874" y="4452340"/>
            <a:ext cx="1151214" cy="575117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Queue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16" name="Line 13"/>
          <p:cNvSpPr/>
          <p:nvPr/>
        </p:nvSpPr>
        <p:spPr>
          <a:xfrm>
            <a:off x="2208043" y="3875917"/>
            <a:ext cx="3383099" cy="0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17" name="Line 14"/>
          <p:cNvSpPr/>
          <p:nvPr/>
        </p:nvSpPr>
        <p:spPr>
          <a:xfrm>
            <a:off x="3647959" y="3299820"/>
            <a:ext cx="0" cy="576097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18" name="Line 15"/>
          <p:cNvSpPr/>
          <p:nvPr/>
        </p:nvSpPr>
        <p:spPr>
          <a:xfrm>
            <a:off x="3216213" y="3875917"/>
            <a:ext cx="0" cy="136839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19" name="Line 16"/>
          <p:cNvSpPr/>
          <p:nvPr/>
        </p:nvSpPr>
        <p:spPr>
          <a:xfrm>
            <a:off x="4656128" y="3875917"/>
            <a:ext cx="0" cy="136839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0" name="Line 17"/>
          <p:cNvSpPr/>
          <p:nvPr/>
        </p:nvSpPr>
        <p:spPr>
          <a:xfrm>
            <a:off x="2208044" y="3875917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1" name="Line 18"/>
          <p:cNvSpPr/>
          <p:nvPr/>
        </p:nvSpPr>
        <p:spPr>
          <a:xfrm>
            <a:off x="5591142" y="3875917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2" name="Line 19"/>
          <p:cNvSpPr/>
          <p:nvPr/>
        </p:nvSpPr>
        <p:spPr>
          <a:xfrm>
            <a:off x="2208043" y="3875917"/>
            <a:ext cx="3383099" cy="0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3" name="Line 20"/>
          <p:cNvSpPr/>
          <p:nvPr/>
        </p:nvSpPr>
        <p:spPr>
          <a:xfrm>
            <a:off x="3647959" y="3299820"/>
            <a:ext cx="0" cy="576097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4" name="Line 21"/>
          <p:cNvSpPr/>
          <p:nvPr/>
        </p:nvSpPr>
        <p:spPr>
          <a:xfrm>
            <a:off x="7464110" y="3803088"/>
            <a:ext cx="2160689" cy="0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5" name="Line 22"/>
          <p:cNvSpPr/>
          <p:nvPr/>
        </p:nvSpPr>
        <p:spPr>
          <a:xfrm>
            <a:off x="8543802" y="3226665"/>
            <a:ext cx="0" cy="576423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6" name="Line 23"/>
          <p:cNvSpPr/>
          <p:nvPr/>
        </p:nvSpPr>
        <p:spPr>
          <a:xfrm>
            <a:off x="7464110" y="3803088"/>
            <a:ext cx="0" cy="576097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7" name="Line 24"/>
          <p:cNvSpPr/>
          <p:nvPr/>
        </p:nvSpPr>
        <p:spPr>
          <a:xfrm>
            <a:off x="9624800" y="3803088"/>
            <a:ext cx="0" cy="576097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28" name="CustomShape 25"/>
          <p:cNvSpPr/>
          <p:nvPr/>
        </p:nvSpPr>
        <p:spPr>
          <a:xfrm>
            <a:off x="7032691" y="4379512"/>
            <a:ext cx="1151214" cy="575117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Graph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29" name="CustomShape 26"/>
          <p:cNvSpPr/>
          <p:nvPr/>
        </p:nvSpPr>
        <p:spPr>
          <a:xfrm>
            <a:off x="9048703" y="4379512"/>
            <a:ext cx="1151214" cy="575117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lIns="81646" tIns="40823" rIns="81646" bIns="408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40" b="1" spc="-1">
                <a:solidFill>
                  <a:schemeClr val="bg1"/>
                </a:solidFill>
                <a:latin typeface="Times New Roman"/>
                <a:ea typeface="DejaVu Sans"/>
              </a:rPr>
              <a:t>Trees</a:t>
            </a:r>
            <a:endParaRPr lang="en-US" sz="254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87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1773537" y="-68936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Abstract Data Types (ADTs)</a:t>
            </a:r>
          </a:p>
        </p:txBody>
      </p:sp>
      <p:sp>
        <p:nvSpPr>
          <p:cNvPr id="231" name="CustomShape 2"/>
          <p:cNvSpPr/>
          <p:nvPr/>
        </p:nvSpPr>
        <p:spPr>
          <a:xfrm>
            <a:off x="589786" y="1127258"/>
            <a:ext cx="11155680" cy="39765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 algn="just">
              <a:spcAft>
                <a:spcPts val="1281"/>
              </a:spcAft>
              <a:buClr>
                <a:srgbClr val="C00000"/>
              </a:buClr>
              <a:buFont typeface="Symbol"/>
              <a:buChar char=""/>
            </a:pPr>
            <a:r>
              <a:rPr lang="en-US" sz="2540" b="1" spc="-1" dirty="0">
                <a:solidFill>
                  <a:srgbClr val="C00000"/>
                </a:solidFill>
                <a:ea typeface="DejaVu Sans"/>
              </a:rPr>
              <a:t>ADT</a:t>
            </a:r>
            <a:r>
              <a:rPr lang="en-US" sz="2540" spc="-1" dirty="0">
                <a:solidFill>
                  <a:srgbClr val="FF0000"/>
                </a:solidFill>
                <a:ea typeface="DejaVu Sans"/>
              </a:rPr>
              <a:t>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is a type (or class) for objects </a:t>
            </a:r>
            <a:r>
              <a:rPr lang="en-US" sz="2540" b="1" spc="-1" dirty="0">
                <a:solidFill>
                  <a:srgbClr val="000000"/>
                </a:solidFill>
                <a:ea typeface="DejaVu Sans"/>
              </a:rPr>
              <a:t>whose behavior is defined by a set of values and a set of operations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.</a:t>
            </a:r>
          </a:p>
          <a:p>
            <a:pPr marL="311242" indent="-309936" algn="just">
              <a:spcAft>
                <a:spcPts val="1281"/>
              </a:spcAft>
              <a:buClr>
                <a:srgbClr val="C00000"/>
              </a:buClr>
              <a:buFont typeface="Symbol"/>
              <a:buChar char=""/>
            </a:pPr>
            <a:r>
              <a:rPr lang="en-US" sz="2540" spc="-1" dirty="0">
                <a:solidFill>
                  <a:srgbClr val="000000"/>
                </a:solidFill>
                <a:ea typeface="DejaVu Sans"/>
              </a:rPr>
              <a:t>It defines what the data structure can do (its operations) and what kind of data it holds (its values)</a:t>
            </a:r>
          </a:p>
          <a:p>
            <a:pPr marL="311242" indent="-309936" algn="just">
              <a:spcAft>
                <a:spcPts val="1281"/>
              </a:spcAft>
              <a:buClr>
                <a:srgbClr val="C00000"/>
              </a:buClr>
              <a:buFont typeface="Symbol"/>
              <a:buChar char=""/>
            </a:pPr>
            <a:r>
              <a:rPr lang="en-US" sz="2540" spc="-1" dirty="0">
                <a:solidFill>
                  <a:srgbClr val="000000"/>
                </a:solidFill>
                <a:ea typeface="DejaVu Sans"/>
              </a:rPr>
              <a:t>The definition of ADT </a:t>
            </a:r>
            <a:r>
              <a:rPr lang="en-US" sz="2540" b="1" spc="-1" dirty="0">
                <a:solidFill>
                  <a:srgbClr val="C00000"/>
                </a:solidFill>
                <a:ea typeface="DejaVu Sans"/>
              </a:rPr>
              <a:t>only</a:t>
            </a:r>
            <a:r>
              <a:rPr lang="en-US" sz="2540" spc="-1" dirty="0">
                <a:solidFill>
                  <a:srgbClr val="FF0000"/>
                </a:solidFill>
                <a:ea typeface="DejaVu Sans"/>
              </a:rPr>
              <a:t>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mentions </a:t>
            </a:r>
            <a:r>
              <a:rPr lang="en-US" sz="2540" u="sng" spc="-1" dirty="0">
                <a:solidFill>
                  <a:srgbClr val="000000"/>
                </a:solidFill>
                <a:ea typeface="DejaVu Sans"/>
              </a:rPr>
              <a:t>what operations are to be performed </a:t>
            </a:r>
            <a:r>
              <a:rPr lang="en-US" sz="2540" b="1" spc="-1" dirty="0">
                <a:solidFill>
                  <a:srgbClr val="C00000"/>
                </a:solidFill>
                <a:ea typeface="DejaVu Sans"/>
              </a:rPr>
              <a:t>but not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h</a:t>
            </a:r>
            <a:r>
              <a:rPr lang="en-US" sz="2540" u="sng" spc="-1" dirty="0">
                <a:solidFill>
                  <a:srgbClr val="000000"/>
                </a:solidFill>
                <a:ea typeface="DejaVu Sans"/>
              </a:rPr>
              <a:t>ow these operations will be </a:t>
            </a:r>
            <a:r>
              <a:rPr lang="en-US" sz="2540" b="1" u="sng" spc="-1" dirty="0">
                <a:solidFill>
                  <a:srgbClr val="C00000"/>
                </a:solidFill>
                <a:ea typeface="DejaVu Sans"/>
              </a:rPr>
              <a:t>implemented.</a:t>
            </a:r>
            <a:endParaRPr lang="en-US" sz="2540" b="1" spc="-1" dirty="0">
              <a:solidFill>
                <a:srgbClr val="C00000"/>
              </a:solidFill>
            </a:endParaRPr>
          </a:p>
          <a:p>
            <a:pPr marL="311242" indent="-309936" algn="just">
              <a:spcAft>
                <a:spcPts val="1281"/>
              </a:spcAft>
              <a:buClr>
                <a:srgbClr val="C00000"/>
              </a:buClr>
              <a:buFont typeface="Symbol"/>
              <a:buChar char=""/>
            </a:pPr>
            <a:r>
              <a:rPr lang="en-US" sz="2540" b="1" spc="-1" dirty="0">
                <a:solidFill>
                  <a:srgbClr val="C00000"/>
                </a:solidFill>
                <a:ea typeface="DejaVu Sans"/>
              </a:rPr>
              <a:t>ABSTRACTION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: it gives an </a:t>
            </a:r>
            <a:r>
              <a:rPr lang="en-US" sz="2540" b="1" i="1" spc="-1" dirty="0">
                <a:solidFill>
                  <a:srgbClr val="000000"/>
                </a:solidFill>
                <a:ea typeface="DejaVu Sans"/>
              </a:rPr>
              <a:t>implementation independent view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.</a:t>
            </a:r>
            <a:endParaRPr lang="en-US" sz="2540" spc="-1" dirty="0"/>
          </a:p>
          <a:p>
            <a:pPr marL="311242" indent="-309936" algn="just">
              <a:spcAft>
                <a:spcPts val="1281"/>
              </a:spcAft>
              <a:buClr>
                <a:srgbClr val="C00000"/>
              </a:buClr>
              <a:buFont typeface="Symbol"/>
              <a:buChar char=""/>
            </a:pPr>
            <a:r>
              <a:rPr lang="en-US" sz="2540" spc="-1" dirty="0">
                <a:solidFill>
                  <a:srgbClr val="000000"/>
                </a:solidFill>
                <a:ea typeface="DejaVu Sans"/>
              </a:rPr>
              <a:t>Separate the implementation of Abstract Data Type providing ONLY the interface (BEHAVIOR) to the ADT.</a:t>
            </a:r>
          </a:p>
          <a:p>
            <a:pPr marL="311242" indent="-309936" algn="just">
              <a:spcAft>
                <a:spcPts val="1281"/>
              </a:spcAft>
              <a:buClr>
                <a:srgbClr val="C00000"/>
              </a:buClr>
              <a:buFont typeface="Symbol"/>
              <a:buChar char=""/>
            </a:pPr>
            <a:r>
              <a:rPr lang="en-US" sz="2540" spc="-1" dirty="0">
                <a:solidFill>
                  <a:srgbClr val="000000"/>
                </a:solidFill>
                <a:ea typeface="DejaVu Sans"/>
              </a:rPr>
              <a:t>Implementation of ADT is </a:t>
            </a:r>
            <a:r>
              <a:rPr lang="en-US" sz="2540" b="1" spc="-1" dirty="0">
                <a:solidFill>
                  <a:srgbClr val="C00000"/>
                </a:solidFill>
                <a:ea typeface="DejaVu Sans"/>
              </a:rPr>
              <a:t>hidden</a:t>
            </a:r>
            <a:r>
              <a:rPr lang="en-US" sz="2540" spc="-1" dirty="0">
                <a:solidFill>
                  <a:srgbClr val="FF0000"/>
                </a:solidFill>
                <a:ea typeface="DejaVu Sans"/>
              </a:rPr>
              <a:t>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from user</a:t>
            </a:r>
            <a:endParaRPr lang="en-US" sz="2540" spc="-1" dirty="0"/>
          </a:p>
          <a:p>
            <a:pPr marL="311242" indent="-309936" algn="just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endParaRPr lang="en-US" sz="2540" spc="-1" dirty="0"/>
          </a:p>
          <a:p>
            <a:pPr algn="just">
              <a:spcAft>
                <a:spcPts val="1281"/>
              </a:spcAft>
            </a:pPr>
            <a:endParaRPr lang="en-US" sz="2540" spc="-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2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1"/>
          <p:cNvSpPr/>
          <p:nvPr/>
        </p:nvSpPr>
        <p:spPr>
          <a:xfrm>
            <a:off x="1880341" y="-70562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List ADT</a:t>
            </a:r>
          </a:p>
        </p:txBody>
      </p:sp>
      <p:sp>
        <p:nvSpPr>
          <p:cNvPr id="246" name="CustomShape 2"/>
          <p:cNvSpPr/>
          <p:nvPr/>
        </p:nvSpPr>
        <p:spPr>
          <a:xfrm>
            <a:off x="553720" y="557462"/>
            <a:ext cx="8922451" cy="39765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spc="-1" dirty="0">
                <a:solidFill>
                  <a:srgbClr val="000000"/>
                </a:solidFill>
                <a:ea typeface="DejaVu Sans"/>
              </a:rPr>
              <a:t>A list contains elements of the </a:t>
            </a:r>
            <a:r>
              <a:rPr lang="en-US" sz="2903" b="1" spc="-1" dirty="0">
                <a:solidFill>
                  <a:srgbClr val="C00000"/>
                </a:solidFill>
                <a:ea typeface="DejaVu Sans"/>
              </a:rPr>
              <a:t>same type </a:t>
            </a:r>
            <a:r>
              <a:rPr lang="en-US" sz="2903" spc="-1" dirty="0">
                <a:solidFill>
                  <a:srgbClr val="000000"/>
                </a:solidFill>
                <a:ea typeface="DejaVu Sans"/>
              </a:rPr>
              <a:t>arranged in </a:t>
            </a:r>
            <a:r>
              <a:rPr lang="en-US" sz="2903" b="1" spc="-1" dirty="0">
                <a:solidFill>
                  <a:srgbClr val="C00000"/>
                </a:solidFill>
                <a:ea typeface="DejaVu Sans"/>
              </a:rPr>
              <a:t>sequential order</a:t>
            </a:r>
            <a:r>
              <a:rPr lang="en-US" sz="2903" spc="-1" dirty="0">
                <a:solidFill>
                  <a:srgbClr val="C00000"/>
                </a:solidFill>
                <a:ea typeface="DejaVu Sans"/>
              </a:rPr>
              <a:t>.</a:t>
            </a:r>
          </a:p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C00000"/>
                </a:solidFill>
                <a:ea typeface="DejaVu Sans"/>
              </a:rPr>
              <a:t>Lists can be implemented using: </a:t>
            </a:r>
            <a:endParaRPr lang="en-US" sz="2903" b="1" spc="-1" dirty="0">
              <a:solidFill>
                <a:srgbClr val="C0000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b="1" spc="-1" dirty="0">
                <a:solidFill>
                  <a:srgbClr val="0070C0"/>
                </a:solidFill>
                <a:ea typeface="DejaVu Sans"/>
              </a:rPr>
              <a:t>Arrays</a:t>
            </a:r>
            <a:r>
              <a:rPr lang="en-US" sz="2540" spc="-1" dirty="0">
                <a:solidFill>
                  <a:srgbClr val="0070C0"/>
                </a:solidFill>
                <a:ea typeface="DejaVu Sans"/>
              </a:rPr>
              <a:t>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Data Structure</a:t>
            </a:r>
            <a:endParaRPr lang="en-US" sz="2540" spc="-1" dirty="0"/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b="1" spc="-1" dirty="0">
                <a:solidFill>
                  <a:srgbClr val="0070C0"/>
                </a:solidFill>
                <a:ea typeface="DejaVu Sans"/>
              </a:rPr>
              <a:t>Linked Lists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Data Structure</a:t>
            </a:r>
            <a:endParaRPr lang="en-US" sz="2903" spc="-1" dirty="0">
              <a:solidFill>
                <a:srgbClr val="C00000"/>
              </a:solidFill>
            </a:endParaRPr>
          </a:p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i="1" spc="-1" dirty="0">
                <a:solidFill>
                  <a:srgbClr val="C00000"/>
                </a:solidFill>
                <a:ea typeface="DejaVu Sans"/>
              </a:rPr>
              <a:t>Operations</a:t>
            </a:r>
            <a:r>
              <a:rPr lang="en-US" sz="2903" spc="-1" dirty="0">
                <a:solidFill>
                  <a:srgbClr val="000000"/>
                </a:solidFill>
                <a:ea typeface="DejaVu Sans"/>
              </a:rPr>
              <a:t> that can be performed on Lists are :</a:t>
            </a:r>
            <a:endParaRPr lang="en-US" sz="2903" spc="-1" dirty="0"/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spc="-1" dirty="0">
                <a:solidFill>
                  <a:srgbClr val="002060"/>
                </a:solidFill>
                <a:ea typeface="DejaVu Sans"/>
              </a:rPr>
              <a:t>Print List</a:t>
            </a:r>
            <a:endParaRPr lang="en-US" sz="2177" spc="-1" dirty="0">
              <a:solidFill>
                <a:srgbClr val="00206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spc="-1" dirty="0">
                <a:solidFill>
                  <a:srgbClr val="002060"/>
                </a:solidFill>
                <a:ea typeface="DejaVu Sans"/>
              </a:rPr>
              <a:t>Add new item (insert)</a:t>
            </a:r>
            <a:endParaRPr lang="en-US" sz="2177" spc="-1" dirty="0">
              <a:solidFill>
                <a:srgbClr val="00206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spc="-1" dirty="0">
                <a:solidFill>
                  <a:srgbClr val="002060"/>
                </a:solidFill>
                <a:ea typeface="DejaVu Sans"/>
              </a:rPr>
              <a:t>Remove item (delete)</a:t>
            </a:r>
            <a:endParaRPr lang="en-US" sz="2177" spc="-1" dirty="0">
              <a:solidFill>
                <a:srgbClr val="00206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spc="-1" dirty="0">
                <a:solidFill>
                  <a:srgbClr val="002060"/>
                </a:solidFill>
                <a:ea typeface="DejaVu Sans"/>
              </a:rPr>
              <a:t>Look at (get, Find) entry at given position on list.</a:t>
            </a:r>
            <a:endParaRPr lang="en-US" sz="2177" spc="-1" dirty="0">
              <a:solidFill>
                <a:srgbClr val="00206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spc="-1" dirty="0">
                <a:solidFill>
                  <a:srgbClr val="002060"/>
                </a:solidFill>
                <a:ea typeface="DejaVu Sans"/>
              </a:rPr>
              <a:t>Replace (set) entry at given position on list.</a:t>
            </a:r>
            <a:endParaRPr lang="en-US" sz="2177" spc="-1" dirty="0">
              <a:solidFill>
                <a:srgbClr val="00206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177" spc="-1" dirty="0">
                <a:solidFill>
                  <a:srgbClr val="002060"/>
                </a:solidFill>
                <a:ea typeface="DejaVu Sans"/>
              </a:rPr>
              <a:t>Is empty</a:t>
            </a:r>
            <a:endParaRPr lang="en-US" sz="2177" spc="-1" dirty="0">
              <a:solidFill>
                <a:srgbClr val="002060"/>
              </a:solidFill>
            </a:endParaRPr>
          </a:p>
          <a:p>
            <a:pPr marL="416078" lvl="1">
              <a:spcAft>
                <a:spcPts val="1031"/>
              </a:spcAft>
              <a:buClr>
                <a:srgbClr val="000000"/>
              </a:buClr>
            </a:pPr>
            <a:endParaRPr lang="en-US" sz="2177" spc="-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0C3088BF-5E66-65E0-D7C6-B331689DF223}"/>
              </a:ext>
            </a:extLst>
          </p:cNvPr>
          <p:cNvSpPr/>
          <p:nvPr/>
        </p:nvSpPr>
        <p:spPr>
          <a:xfrm>
            <a:off x="553720" y="4854755"/>
            <a:ext cx="8632307" cy="14457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endParaRPr lang="en-US" sz="2540" spc="-1" dirty="0"/>
          </a:p>
        </p:txBody>
      </p:sp>
    </p:spTree>
    <p:extLst>
      <p:ext uri="{BB962C8B-B14F-4D97-AF65-F5344CB8AC3E}">
        <p14:creationId xmlns:p14="http://schemas.microsoft.com/office/powerpoint/2010/main" val="176143875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2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2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2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2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1849289" y="-99618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Array Based Implementation</a:t>
            </a:r>
          </a:p>
        </p:txBody>
      </p:sp>
      <p:pic>
        <p:nvPicPr>
          <p:cNvPr id="258" name="Picture 5"/>
          <p:cNvPicPr/>
          <p:nvPr/>
        </p:nvPicPr>
        <p:blipFill>
          <a:blip r:embed="rId3"/>
          <a:stretch/>
        </p:blipFill>
        <p:spPr>
          <a:xfrm>
            <a:off x="589125" y="915120"/>
            <a:ext cx="8889167" cy="2347496"/>
          </a:xfrm>
          <a:prstGeom prst="rect">
            <a:avLst/>
          </a:prstGeom>
          <a:ln>
            <a:noFill/>
          </a:ln>
          <a:effectLst>
            <a:outerShdw blurRad="29210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365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2"/>
          <p:cNvPicPr/>
          <p:nvPr/>
        </p:nvPicPr>
        <p:blipFill>
          <a:blip r:embed="rId3"/>
          <a:stretch/>
        </p:blipFill>
        <p:spPr>
          <a:xfrm>
            <a:off x="1215582" y="950022"/>
            <a:ext cx="9035594" cy="4810277"/>
          </a:xfrm>
          <a:prstGeom prst="rect">
            <a:avLst/>
          </a:prstGeom>
          <a:ln>
            <a:noFill/>
          </a:ln>
          <a:effectLst>
            <a:outerShdw blurRad="29210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0" name="CustomShape 1"/>
          <p:cNvSpPr/>
          <p:nvPr/>
        </p:nvSpPr>
        <p:spPr>
          <a:xfrm>
            <a:off x="2128342" y="10762"/>
            <a:ext cx="8122834" cy="9392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Array Based Implementation (Insert)</a:t>
            </a:r>
          </a:p>
        </p:txBody>
      </p:sp>
      <p:sp>
        <p:nvSpPr>
          <p:cNvPr id="261" name="CustomShape 2"/>
          <p:cNvSpPr/>
          <p:nvPr/>
        </p:nvSpPr>
        <p:spPr>
          <a:xfrm>
            <a:off x="3785927" y="5854400"/>
            <a:ext cx="8228321" cy="6384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</a:pPr>
            <a:r>
              <a:rPr lang="en-US" sz="2903" spc="-1" dirty="0">
                <a:solidFill>
                  <a:srgbClr val="000000"/>
                </a:solidFill>
                <a:ea typeface="DejaVu Sans"/>
              </a:rPr>
              <a:t>Shifting items for insertion</a:t>
            </a:r>
            <a:endParaRPr lang="en-US" sz="2903" spc="-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3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1752456" y="29689"/>
            <a:ext cx="8685541" cy="9392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Array Based Implementation (Remove)</a:t>
            </a:r>
          </a:p>
        </p:txBody>
      </p:sp>
      <p:sp>
        <p:nvSpPr>
          <p:cNvPr id="264" name="CustomShape 2"/>
          <p:cNvSpPr/>
          <p:nvPr/>
        </p:nvSpPr>
        <p:spPr>
          <a:xfrm>
            <a:off x="1981065" y="5801709"/>
            <a:ext cx="8228321" cy="6384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 algn="ctr">
              <a:spcAft>
                <a:spcPts val="1281"/>
              </a:spcAft>
            </a:pPr>
            <a:r>
              <a:rPr lang="en-US" sz="2903" spc="-1" dirty="0">
                <a:solidFill>
                  <a:srgbClr val="000000"/>
                </a:solidFill>
                <a:ea typeface="DejaVu Sans"/>
              </a:rPr>
              <a:t>Shifting items for Deletion</a:t>
            </a:r>
            <a:endParaRPr lang="en-US" sz="2903" spc="-1" dirty="0"/>
          </a:p>
        </p:txBody>
      </p:sp>
      <p:pic>
        <p:nvPicPr>
          <p:cNvPr id="266" name="Picture 6"/>
          <p:cNvPicPr/>
          <p:nvPr/>
        </p:nvPicPr>
        <p:blipFill>
          <a:blip r:embed="rId3"/>
          <a:stretch/>
        </p:blipFill>
        <p:spPr>
          <a:xfrm>
            <a:off x="1576754" y="1084426"/>
            <a:ext cx="8944849" cy="4633595"/>
          </a:xfrm>
          <a:prstGeom prst="rect">
            <a:avLst/>
          </a:prstGeom>
          <a:ln>
            <a:noFill/>
          </a:ln>
          <a:effectLst>
            <a:outerShdw blurRad="29210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65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1814301" y="-50800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Array based Implementation </a:t>
            </a:r>
          </a:p>
        </p:txBody>
      </p:sp>
      <p:sp>
        <p:nvSpPr>
          <p:cNvPr id="279" name="CustomShape 2"/>
          <p:cNvSpPr/>
          <p:nvPr/>
        </p:nvSpPr>
        <p:spPr>
          <a:xfrm>
            <a:off x="520622" y="922630"/>
            <a:ext cx="10962640" cy="34823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u="sng" spc="-1" dirty="0">
                <a:solidFill>
                  <a:srgbClr val="000000"/>
                </a:solidFill>
                <a:ea typeface="DejaVu Sans"/>
              </a:rPr>
              <a:t>Disadvantages:</a:t>
            </a:r>
            <a:endParaRPr lang="en-US" sz="2903" u="sng" spc="-1" dirty="0"/>
          </a:p>
          <a:p>
            <a:pPr marL="674086" lvl="1" indent="-258008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ea typeface="DejaVu Sans"/>
              </a:rPr>
              <a:t>An </a:t>
            </a:r>
            <a:r>
              <a:rPr lang="en-US" sz="2540" b="1" spc="-1" dirty="0">
                <a:solidFill>
                  <a:srgbClr val="C00000"/>
                </a:solidFill>
                <a:ea typeface="DejaVu Sans"/>
              </a:rPr>
              <a:t>estimate of the maximum size of the list is required</a:t>
            </a:r>
            <a:r>
              <a:rPr lang="en-US" sz="2540" spc="-1" dirty="0">
                <a:solidFill>
                  <a:srgbClr val="C00000"/>
                </a:solidFill>
                <a:ea typeface="DejaVu Sans"/>
              </a:rPr>
              <a:t>,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even if the array is dynamically allocated. Usually this requires a high overestimate, which wastes considerable space.</a:t>
            </a:r>
            <a:endParaRPr lang="en-US" sz="2540" spc="-1" dirty="0"/>
          </a:p>
          <a:p>
            <a:pPr marL="674086" lvl="1" indent="-258008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b="1" spc="-1" dirty="0">
                <a:solidFill>
                  <a:srgbClr val="002060"/>
                </a:solidFill>
                <a:ea typeface="DejaVu Sans"/>
              </a:rPr>
              <a:t>Insertion and deletion 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are </a:t>
            </a:r>
            <a:r>
              <a:rPr lang="en-US" sz="2540" b="1" i="1" spc="-1" dirty="0">
                <a:solidFill>
                  <a:srgbClr val="C00000"/>
                </a:solidFill>
                <a:ea typeface="DejaVu Sans"/>
              </a:rPr>
              <a:t>expensive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. For example, </a:t>
            </a:r>
            <a:r>
              <a:rPr lang="en-US" sz="2540" b="1" i="1" spc="-1" dirty="0">
                <a:solidFill>
                  <a:srgbClr val="000000"/>
                </a:solidFill>
                <a:ea typeface="DejaVu Sans"/>
              </a:rPr>
              <a:t>inserting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 at </a:t>
            </a:r>
            <a:r>
              <a:rPr lang="en-US" sz="2540" b="1" i="1" spc="-1" dirty="0">
                <a:solidFill>
                  <a:srgbClr val="000000"/>
                </a:solidFill>
                <a:ea typeface="DejaVu Sans"/>
              </a:rPr>
              <a:t>position 0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 requires first pushing the entire array down one spot to make room. (</a:t>
            </a:r>
            <a:r>
              <a:rPr lang="en-US" sz="2540" b="1" i="1" spc="-1" dirty="0">
                <a:solidFill>
                  <a:srgbClr val="C00000"/>
                </a:solidFill>
                <a:ea typeface="DejaVu Sans"/>
              </a:rPr>
              <a:t>Array Shifting</a:t>
            </a:r>
            <a:r>
              <a:rPr lang="en-US" sz="2540" spc="-1" dirty="0">
                <a:solidFill>
                  <a:srgbClr val="000000"/>
                </a:solidFill>
                <a:ea typeface="DejaVu Sans"/>
              </a:rPr>
              <a:t>)</a:t>
            </a:r>
            <a:endParaRPr lang="en-US" sz="2540" spc="-1" dirty="0"/>
          </a:p>
        </p:txBody>
      </p:sp>
      <p:sp>
        <p:nvSpPr>
          <p:cNvPr id="280" name="CustomShape 3"/>
          <p:cNvSpPr/>
          <p:nvPr/>
        </p:nvSpPr>
        <p:spPr>
          <a:xfrm>
            <a:off x="706362" y="4648155"/>
            <a:ext cx="10776900" cy="80078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noAutofit/>
          </a:bodyPr>
          <a:lstStyle/>
          <a:p>
            <a:pPr marL="414772" indent="-414772" algn="just">
              <a:spcBef>
                <a:spcPts val="435"/>
              </a:spcBef>
              <a:buFont typeface="Wingdings" panose="05000000000000000000" pitchFamily="2" charset="2"/>
              <a:buChar char="§"/>
            </a:pPr>
            <a:r>
              <a:rPr lang="en-US" sz="2540" spc="-1" dirty="0">
                <a:solidFill>
                  <a:srgbClr val="002060"/>
                </a:solidFill>
                <a:ea typeface="DejaVu Sans"/>
              </a:rPr>
              <a:t>Because the </a:t>
            </a:r>
            <a:r>
              <a:rPr lang="en-US" sz="2540" spc="-1" dirty="0">
                <a:solidFill>
                  <a:srgbClr val="C00000"/>
                </a:solidFill>
                <a:ea typeface="DejaVu Sans"/>
              </a:rPr>
              <a:t>running time </a:t>
            </a:r>
            <a:r>
              <a:rPr lang="en-US" sz="2540" spc="-1" dirty="0">
                <a:solidFill>
                  <a:srgbClr val="002060"/>
                </a:solidFill>
                <a:ea typeface="DejaVu Sans"/>
              </a:rPr>
              <a:t>for </a:t>
            </a:r>
            <a:r>
              <a:rPr lang="en-US" sz="2540" spc="-1" dirty="0">
                <a:solidFill>
                  <a:srgbClr val="C00000"/>
                </a:solidFill>
                <a:ea typeface="DejaVu Sans"/>
              </a:rPr>
              <a:t>insertions and deletions </a:t>
            </a:r>
            <a:r>
              <a:rPr lang="en-US" sz="2540" spc="-1" dirty="0">
                <a:solidFill>
                  <a:srgbClr val="002060"/>
                </a:solidFill>
                <a:ea typeface="DejaVu Sans"/>
              </a:rPr>
              <a:t>is </a:t>
            </a:r>
            <a:r>
              <a:rPr lang="en-US" sz="2540" spc="-1" dirty="0">
                <a:solidFill>
                  <a:srgbClr val="C00000"/>
                </a:solidFill>
                <a:ea typeface="DejaVu Sans"/>
              </a:rPr>
              <a:t>so slow </a:t>
            </a:r>
            <a:r>
              <a:rPr lang="en-US" sz="2540" spc="-1" dirty="0">
                <a:solidFill>
                  <a:srgbClr val="002060"/>
                </a:solidFill>
                <a:ea typeface="DejaVu Sans"/>
              </a:rPr>
              <a:t>and the </a:t>
            </a:r>
            <a:r>
              <a:rPr lang="en-US" sz="2540" spc="-1" dirty="0">
                <a:solidFill>
                  <a:srgbClr val="C00000"/>
                </a:solidFill>
                <a:ea typeface="DejaVu Sans"/>
              </a:rPr>
              <a:t>list size must be known in advance, </a:t>
            </a:r>
            <a:r>
              <a:rPr lang="en-US" sz="2540" spc="-1" dirty="0">
                <a:solidFill>
                  <a:srgbClr val="002060"/>
                </a:solidFill>
                <a:ea typeface="DejaVu Sans"/>
              </a:rPr>
              <a:t>simple arrays are generally </a:t>
            </a:r>
            <a:r>
              <a:rPr lang="en-US" sz="2540" b="1" i="1" spc="-1" dirty="0">
                <a:solidFill>
                  <a:srgbClr val="002060"/>
                </a:solidFill>
                <a:ea typeface="DejaVu Sans"/>
              </a:rPr>
              <a:t>not good to implement lists.</a:t>
            </a:r>
            <a:endParaRPr lang="en-US" sz="2540" b="1" i="1" spc="-1" dirty="0">
              <a:solidFill>
                <a:srgbClr val="00206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24751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1703632" y="-58295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Lists</a:t>
            </a:r>
          </a:p>
        </p:txBody>
      </p:sp>
      <p:sp>
        <p:nvSpPr>
          <p:cNvPr id="282" name="CustomShape 2"/>
          <p:cNvSpPr/>
          <p:nvPr/>
        </p:nvSpPr>
        <p:spPr>
          <a:xfrm>
            <a:off x="624130" y="842621"/>
            <a:ext cx="11277597" cy="34278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spc="-1" dirty="0">
                <a:solidFill>
                  <a:srgbClr val="000000"/>
                </a:solidFill>
                <a:ea typeface="MS PGothic"/>
              </a:rPr>
              <a:t>Another way to organize data items </a:t>
            </a:r>
            <a:endParaRPr lang="en-US" sz="2903" spc="-1" dirty="0"/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ea typeface="MS PGothic"/>
              </a:rPr>
              <a:t>Place them within objects—usually called </a:t>
            </a:r>
            <a:r>
              <a:rPr lang="en-US" sz="2540" b="1" spc="-1" dirty="0">
                <a:solidFill>
                  <a:srgbClr val="C00000"/>
                </a:solidFill>
                <a:ea typeface="MS PGothic"/>
              </a:rPr>
              <a:t>nodes</a:t>
            </a:r>
            <a:endParaRPr lang="en-US" sz="2540" spc="-1" dirty="0">
              <a:solidFill>
                <a:srgbClr val="C00000"/>
              </a:solidFill>
            </a:endParaRPr>
          </a:p>
          <a:p>
            <a:pPr marL="674086" lvl="1" indent="-258008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ea typeface="MS PGothic"/>
              </a:rPr>
              <a:t>Linked together into a “chain,” one after the other</a:t>
            </a:r>
            <a:endParaRPr lang="en-US" sz="2540" spc="-1" dirty="0"/>
          </a:p>
          <a:p>
            <a:pPr marL="414772">
              <a:spcAft>
                <a:spcPts val="1031"/>
              </a:spcAft>
            </a:pPr>
            <a:endParaRPr lang="en-US" sz="2540" spc="-1" dirty="0"/>
          </a:p>
          <a:p>
            <a:pPr marL="829544" indent="-414772">
              <a:spcAft>
                <a:spcPts val="1031"/>
              </a:spcAft>
              <a:buFont typeface="Courier New" panose="02070309020205020404" pitchFamily="49" charset="0"/>
              <a:buChar char="o"/>
            </a:pPr>
            <a:r>
              <a:rPr lang="en-US" sz="2540" spc="-1" dirty="0">
                <a:solidFill>
                  <a:srgbClr val="000000"/>
                </a:solidFill>
                <a:ea typeface="MS PGothic"/>
              </a:rPr>
              <a:t>The </a:t>
            </a:r>
            <a:r>
              <a:rPr lang="en-US" sz="2540" b="1" spc="-1" dirty="0">
                <a:solidFill>
                  <a:srgbClr val="0070C0"/>
                </a:solidFill>
                <a:ea typeface="MS PGothic"/>
              </a:rPr>
              <a:t>linked list </a:t>
            </a:r>
            <a:r>
              <a:rPr lang="en-US" sz="2540" spc="-1" dirty="0">
                <a:solidFill>
                  <a:srgbClr val="000000"/>
                </a:solidFill>
                <a:ea typeface="MS PGothic"/>
              </a:rPr>
              <a:t>consists of a series of structures, which are </a:t>
            </a:r>
            <a:r>
              <a:rPr lang="en-US" sz="2540" b="1" spc="-1" dirty="0">
                <a:solidFill>
                  <a:srgbClr val="C00000"/>
                </a:solidFill>
                <a:ea typeface="MS PGothic"/>
              </a:rPr>
              <a:t>not necessarily adjacent in memory</a:t>
            </a:r>
            <a:r>
              <a:rPr lang="en-US" sz="2540" spc="-1" dirty="0">
                <a:solidFill>
                  <a:srgbClr val="000000"/>
                </a:solidFill>
                <a:ea typeface="MS PGothic"/>
              </a:rPr>
              <a:t>. </a:t>
            </a:r>
            <a:endParaRPr lang="en-US" sz="2540" spc="-1" dirty="0"/>
          </a:p>
          <a:p>
            <a:pPr marL="829544" indent="-414772">
              <a:spcAft>
                <a:spcPts val="1031"/>
              </a:spcAft>
              <a:buFont typeface="Courier New" panose="02070309020205020404" pitchFamily="49" charset="0"/>
              <a:buChar char="o"/>
            </a:pPr>
            <a:r>
              <a:rPr lang="en-US" sz="2540" spc="-1" dirty="0">
                <a:solidFill>
                  <a:srgbClr val="000000"/>
                </a:solidFill>
                <a:ea typeface="MS PGothic"/>
              </a:rPr>
              <a:t>Each data item needs a </a:t>
            </a:r>
            <a:r>
              <a:rPr lang="en-US" sz="2540" b="1" spc="-1" dirty="0">
                <a:solidFill>
                  <a:srgbClr val="C00000"/>
                </a:solidFill>
                <a:ea typeface="MS PGothic"/>
              </a:rPr>
              <a:t>pointer</a:t>
            </a:r>
            <a:r>
              <a:rPr lang="en-US" sz="2540" spc="-1" dirty="0">
                <a:solidFill>
                  <a:srgbClr val="C00000"/>
                </a:solidFill>
                <a:ea typeface="MS PGothic"/>
              </a:rPr>
              <a:t> </a:t>
            </a:r>
            <a:r>
              <a:rPr lang="en-US" sz="2540" spc="-1" dirty="0">
                <a:solidFill>
                  <a:srgbClr val="000000"/>
                </a:solidFill>
                <a:ea typeface="MS PGothic"/>
              </a:rPr>
              <a:t>to lead to the next data item(</a:t>
            </a:r>
            <a:r>
              <a:rPr lang="en-US" sz="2540" i="1" spc="-1" dirty="0">
                <a:solidFill>
                  <a:srgbClr val="C00000"/>
                </a:solidFill>
                <a:ea typeface="MS PGothic"/>
              </a:rPr>
              <a:t>next pointer</a:t>
            </a:r>
            <a:r>
              <a:rPr lang="en-US" sz="2540" spc="-1" dirty="0">
                <a:solidFill>
                  <a:srgbClr val="000000"/>
                </a:solidFill>
                <a:ea typeface="MS PGothic"/>
              </a:rPr>
              <a:t>).</a:t>
            </a:r>
            <a:endParaRPr lang="en-US" sz="2540" spc="-1" dirty="0"/>
          </a:p>
          <a:p>
            <a:pPr marL="414772"/>
            <a:endParaRPr lang="en-US" sz="2540" spc="-1" dirty="0"/>
          </a:p>
        </p:txBody>
      </p:sp>
      <p:sp>
        <p:nvSpPr>
          <p:cNvPr id="283" name="CustomShape 3"/>
          <p:cNvSpPr/>
          <p:nvPr/>
        </p:nvSpPr>
        <p:spPr>
          <a:xfrm>
            <a:off x="3044429" y="4927586"/>
            <a:ext cx="897457" cy="482693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84" name="Line 4"/>
          <p:cNvSpPr/>
          <p:nvPr/>
        </p:nvSpPr>
        <p:spPr>
          <a:xfrm>
            <a:off x="3666248" y="4927585"/>
            <a:ext cx="0" cy="483673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85" name="CustomShape 5"/>
          <p:cNvSpPr/>
          <p:nvPr/>
        </p:nvSpPr>
        <p:spPr>
          <a:xfrm>
            <a:off x="3113339" y="4996821"/>
            <a:ext cx="413457" cy="3337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>
              <a:spcBef>
                <a:spcPts val="545"/>
              </a:spcBef>
            </a:pPr>
            <a:r>
              <a:rPr lang="en-US" sz="1633" b="1" i="1" spc="-1" dirty="0">
                <a:solidFill>
                  <a:schemeClr val="bg1"/>
                </a:solidFill>
                <a:latin typeface="Calibri"/>
                <a:ea typeface="DejaVu Sans"/>
              </a:rPr>
              <a:t>A </a:t>
            </a:r>
            <a:r>
              <a:rPr lang="en-US" sz="1633" b="1" spc="-1" baseline="-25000" dirty="0">
                <a:solidFill>
                  <a:schemeClr val="bg1"/>
                </a:solidFill>
                <a:latin typeface="Calibri"/>
                <a:ea typeface="DejaVu Sans"/>
              </a:rPr>
              <a:t>1</a:t>
            </a:r>
            <a:endParaRPr lang="en-US" sz="1633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86" name="Line 6"/>
          <p:cNvSpPr/>
          <p:nvPr/>
        </p:nvSpPr>
        <p:spPr>
          <a:xfrm>
            <a:off x="3804720" y="5173831"/>
            <a:ext cx="483673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87" name="CustomShape 7"/>
          <p:cNvSpPr/>
          <p:nvPr/>
        </p:nvSpPr>
        <p:spPr>
          <a:xfrm>
            <a:off x="4275656" y="4927586"/>
            <a:ext cx="897457" cy="482693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88" name="Line 8"/>
          <p:cNvSpPr/>
          <p:nvPr/>
        </p:nvSpPr>
        <p:spPr>
          <a:xfrm>
            <a:off x="4897475" y="4927585"/>
            <a:ext cx="0" cy="483673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89" name="CustomShape 9"/>
          <p:cNvSpPr/>
          <p:nvPr/>
        </p:nvSpPr>
        <p:spPr>
          <a:xfrm>
            <a:off x="4344892" y="4996821"/>
            <a:ext cx="578711" cy="3337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spcBef>
                <a:spcPts val="545"/>
              </a:spcBef>
            </a:pPr>
            <a:r>
              <a:rPr lang="en-US" sz="1633" b="1" i="1" spc="-1" dirty="0">
                <a:solidFill>
                  <a:schemeClr val="bg1"/>
                </a:solidFill>
                <a:latin typeface="Calibri"/>
                <a:ea typeface="DejaVu Sans"/>
              </a:rPr>
              <a:t>A 2</a:t>
            </a:r>
          </a:p>
        </p:txBody>
      </p:sp>
      <p:sp>
        <p:nvSpPr>
          <p:cNvPr id="290" name="Line 10"/>
          <p:cNvSpPr/>
          <p:nvPr/>
        </p:nvSpPr>
        <p:spPr>
          <a:xfrm>
            <a:off x="5035947" y="5173831"/>
            <a:ext cx="483673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91" name="CustomShape 11"/>
          <p:cNvSpPr/>
          <p:nvPr/>
        </p:nvSpPr>
        <p:spPr>
          <a:xfrm>
            <a:off x="5502638" y="4927586"/>
            <a:ext cx="897457" cy="482693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92" name="Line 12"/>
          <p:cNvSpPr/>
          <p:nvPr/>
        </p:nvSpPr>
        <p:spPr>
          <a:xfrm>
            <a:off x="6124783" y="4927585"/>
            <a:ext cx="0" cy="483673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93" name="CustomShape 13"/>
          <p:cNvSpPr/>
          <p:nvPr/>
        </p:nvSpPr>
        <p:spPr>
          <a:xfrm>
            <a:off x="5571874" y="4996821"/>
            <a:ext cx="578711" cy="3337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spcBef>
                <a:spcPts val="545"/>
              </a:spcBef>
            </a:pPr>
            <a:r>
              <a:rPr lang="en-US" sz="1633" b="1" i="1" spc="-1" dirty="0">
                <a:solidFill>
                  <a:schemeClr val="bg1"/>
                </a:solidFill>
                <a:latin typeface="Calibri"/>
                <a:ea typeface="DejaVu Sans"/>
              </a:rPr>
              <a:t>A 3</a:t>
            </a:r>
          </a:p>
        </p:txBody>
      </p:sp>
      <p:sp>
        <p:nvSpPr>
          <p:cNvPr id="294" name="Line 14"/>
          <p:cNvSpPr/>
          <p:nvPr/>
        </p:nvSpPr>
        <p:spPr>
          <a:xfrm>
            <a:off x="6262929" y="5173831"/>
            <a:ext cx="484000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95" name="CustomShape 15"/>
          <p:cNvSpPr/>
          <p:nvPr/>
        </p:nvSpPr>
        <p:spPr>
          <a:xfrm>
            <a:off x="6751174" y="4927586"/>
            <a:ext cx="897457" cy="482693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296" name="Line 16"/>
          <p:cNvSpPr/>
          <p:nvPr/>
        </p:nvSpPr>
        <p:spPr>
          <a:xfrm>
            <a:off x="7373319" y="4927585"/>
            <a:ext cx="0" cy="483673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97" name="CustomShape 17"/>
          <p:cNvSpPr/>
          <p:nvPr/>
        </p:nvSpPr>
        <p:spPr>
          <a:xfrm>
            <a:off x="6820410" y="4996821"/>
            <a:ext cx="500982" cy="3337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spcBef>
                <a:spcPts val="545"/>
              </a:spcBef>
            </a:pPr>
            <a:r>
              <a:rPr lang="en-US" sz="1633" b="1" i="1" spc="-1" dirty="0">
                <a:solidFill>
                  <a:schemeClr val="bg1"/>
                </a:solidFill>
                <a:latin typeface="Calibri"/>
                <a:ea typeface="DejaVu Sans"/>
              </a:rPr>
              <a:t>A 4</a:t>
            </a:r>
          </a:p>
        </p:txBody>
      </p:sp>
      <p:sp>
        <p:nvSpPr>
          <p:cNvPr id="298" name="Line 18"/>
          <p:cNvSpPr/>
          <p:nvPr/>
        </p:nvSpPr>
        <p:spPr>
          <a:xfrm>
            <a:off x="7511465" y="5173831"/>
            <a:ext cx="484000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99" name="CustomShape 19"/>
          <p:cNvSpPr/>
          <p:nvPr/>
        </p:nvSpPr>
        <p:spPr>
          <a:xfrm>
            <a:off x="7978156" y="4927586"/>
            <a:ext cx="897457" cy="482693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sz="1633">
              <a:solidFill>
                <a:schemeClr val="bg1"/>
              </a:solidFill>
            </a:endParaRPr>
          </a:p>
        </p:txBody>
      </p:sp>
      <p:sp>
        <p:nvSpPr>
          <p:cNvPr id="300" name="Line 20"/>
          <p:cNvSpPr/>
          <p:nvPr/>
        </p:nvSpPr>
        <p:spPr>
          <a:xfrm>
            <a:off x="8600301" y="4927585"/>
            <a:ext cx="0" cy="483673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01" name="CustomShape 21"/>
          <p:cNvSpPr/>
          <p:nvPr/>
        </p:nvSpPr>
        <p:spPr>
          <a:xfrm>
            <a:off x="8047392" y="4996821"/>
            <a:ext cx="552908" cy="3337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spcBef>
                <a:spcPts val="545"/>
              </a:spcBef>
            </a:pPr>
            <a:r>
              <a:rPr lang="en-US" sz="1633" b="1" i="1" spc="-1" dirty="0">
                <a:solidFill>
                  <a:schemeClr val="bg1"/>
                </a:solidFill>
                <a:latin typeface="Calibri"/>
                <a:ea typeface="DejaVu Sans"/>
              </a:rPr>
              <a:t>A 5</a:t>
            </a:r>
          </a:p>
        </p:txBody>
      </p:sp>
      <p:sp>
        <p:nvSpPr>
          <p:cNvPr id="302" name="Line 22"/>
          <p:cNvSpPr/>
          <p:nvPr/>
        </p:nvSpPr>
        <p:spPr>
          <a:xfrm>
            <a:off x="8712646" y="5173831"/>
            <a:ext cx="552909" cy="0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03" name="Line 23"/>
          <p:cNvSpPr/>
          <p:nvPr/>
        </p:nvSpPr>
        <p:spPr>
          <a:xfrm>
            <a:off x="9265556" y="5160767"/>
            <a:ext cx="0" cy="207382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04" name="Line 24"/>
          <p:cNvSpPr/>
          <p:nvPr/>
        </p:nvSpPr>
        <p:spPr>
          <a:xfrm>
            <a:off x="9101283" y="5385458"/>
            <a:ext cx="345854" cy="0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05" name="Line 25"/>
          <p:cNvSpPr/>
          <p:nvPr/>
        </p:nvSpPr>
        <p:spPr>
          <a:xfrm>
            <a:off x="9170519" y="5471677"/>
            <a:ext cx="207382" cy="0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06" name="CustomShape 26"/>
          <p:cNvSpPr/>
          <p:nvPr/>
        </p:nvSpPr>
        <p:spPr>
          <a:xfrm>
            <a:off x="4506508" y="5720590"/>
            <a:ext cx="2814884" cy="5133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 algn="ctr">
              <a:spcBef>
                <a:spcPts val="908"/>
              </a:spcBef>
            </a:pPr>
            <a:r>
              <a:rPr lang="en-US" sz="2800" b="1" spc="-1" dirty="0">
                <a:solidFill>
                  <a:srgbClr val="0070C0"/>
                </a:solidFill>
                <a:latin typeface="Calibri"/>
                <a:ea typeface="DejaVu Sans"/>
              </a:rPr>
              <a:t>A linked list</a:t>
            </a:r>
            <a:endParaRPr lang="en-US" sz="2800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7DECEF43-7878-044E-8599-C01B22DC3F71}"/>
              </a:ext>
            </a:extLst>
          </p:cNvPr>
          <p:cNvSpPr/>
          <p:nvPr/>
        </p:nvSpPr>
        <p:spPr>
          <a:xfrm>
            <a:off x="2560756" y="5160767"/>
            <a:ext cx="483673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A570F100-9C37-18B2-6AA3-4441D3A868AF}"/>
              </a:ext>
            </a:extLst>
          </p:cNvPr>
          <p:cNvSpPr/>
          <p:nvPr/>
        </p:nvSpPr>
        <p:spPr>
          <a:xfrm>
            <a:off x="1905790" y="5007819"/>
            <a:ext cx="712609" cy="3337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spcBef>
                <a:spcPts val="545"/>
              </a:spcBef>
            </a:pPr>
            <a:r>
              <a:rPr lang="en-US" sz="1633" b="1" i="1" spc="-1" dirty="0">
                <a:solidFill>
                  <a:srgbClr val="002060"/>
                </a:solidFill>
                <a:latin typeface="Calibri"/>
                <a:ea typeface="DejaVu Sans"/>
              </a:rPr>
              <a:t>head</a:t>
            </a:r>
            <a:endParaRPr lang="en-US" sz="1633" spc="-1" dirty="0">
              <a:solidFill>
                <a:srgbClr val="00206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62467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0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928384" y="5607101"/>
            <a:ext cx="548700" cy="39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eaLnBrk="0" hangingPunct="0"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557213" indent="-214313" eaLnBrk="0" hangingPunct="0"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8B140A2-C633-4B88-AB7F-D6E491060AE7}" type="slidenum">
              <a:rPr lang="en-US" sz="1050">
                <a:solidFill>
                  <a:schemeClr val="tx2"/>
                </a:solidFill>
              </a:rPr>
              <a:pPr eaLnBrk="1" hangingPunct="1"/>
              <a:t>13</a:t>
            </a:fld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4" name="Google Shape;150;p21"/>
          <p:cNvSpPr txBox="1">
            <a:spLocks/>
          </p:cNvSpPr>
          <p:nvPr/>
        </p:nvSpPr>
        <p:spPr>
          <a:xfrm>
            <a:off x="2814320" y="96521"/>
            <a:ext cx="7662764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000"/>
            </a:pPr>
            <a:r>
              <a:rPr lang="en-US" sz="3200" b="1" cap="all" spc="-10" dirty="0">
                <a:solidFill>
                  <a:srgbClr val="0070C0"/>
                </a:solidFill>
                <a:ea typeface="+mj-ea"/>
              </a:rPr>
              <a:t>Features of the linked list 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24840" y="970281"/>
            <a:ext cx="11140440" cy="33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The consecutive elements are connected by pointers.</a:t>
            </a: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The size of a linked list is not fixed.</a:t>
            </a: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The last node of the linked list points to null.</a:t>
            </a: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Memory is not wasted but extra memory is consumed as it also uses pointers to keep track of the next successive node.</a:t>
            </a: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The entry point of a linked list is known as the head. </a:t>
            </a:r>
            <a:endParaRPr lang="en-US" sz="2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7" name="CustomShape 26">
            <a:extLst>
              <a:ext uri="{FF2B5EF4-FFF2-40B4-BE49-F238E27FC236}">
                <a16:creationId xmlns:a16="http://schemas.microsoft.com/office/drawing/2014/main" id="{8E6E0418-CDC8-8016-0083-A23D2816E665}"/>
              </a:ext>
            </a:extLst>
          </p:cNvPr>
          <p:cNvSpPr/>
          <p:nvPr/>
        </p:nvSpPr>
        <p:spPr>
          <a:xfrm>
            <a:off x="4689388" y="5720590"/>
            <a:ext cx="2814884" cy="51333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 algn="ctr">
              <a:spcBef>
                <a:spcPts val="908"/>
              </a:spcBef>
            </a:pPr>
            <a:r>
              <a:rPr lang="en-US" sz="2800" b="1" spc="-1" dirty="0">
                <a:solidFill>
                  <a:srgbClr val="0070C0"/>
                </a:solidFill>
                <a:latin typeface="Calibri"/>
                <a:ea typeface="DejaVu Sans"/>
              </a:rPr>
              <a:t>A linked list</a:t>
            </a:r>
            <a:endParaRPr lang="en-US" sz="2800" spc="-1" dirty="0">
              <a:solidFill>
                <a:srgbClr val="0070C0"/>
              </a:solidFill>
              <a:latin typeface="Arial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AE226F-5DB3-DD83-E6FC-A4B008C596A3}"/>
              </a:ext>
            </a:extLst>
          </p:cNvPr>
          <p:cNvGrpSpPr/>
          <p:nvPr/>
        </p:nvGrpSpPr>
        <p:grpSpPr>
          <a:xfrm>
            <a:off x="2088670" y="4927585"/>
            <a:ext cx="7541347" cy="544092"/>
            <a:chOff x="2088670" y="4927585"/>
            <a:chExt cx="7541347" cy="544092"/>
          </a:xfrm>
        </p:grpSpPr>
        <p:sp>
          <p:nvSpPr>
            <p:cNvPr id="2" name="CustomShape 3">
              <a:extLst>
                <a:ext uri="{FF2B5EF4-FFF2-40B4-BE49-F238E27FC236}">
                  <a16:creationId xmlns:a16="http://schemas.microsoft.com/office/drawing/2014/main" id="{66E9DDB2-71B1-075D-9DD0-769DB618D044}"/>
                </a:ext>
              </a:extLst>
            </p:cNvPr>
            <p:cNvSpPr/>
            <p:nvPr/>
          </p:nvSpPr>
          <p:spPr>
            <a:xfrm>
              <a:off x="3227309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CC29A0BD-FE85-DA75-48DF-390B9D0E5B43}"/>
                </a:ext>
              </a:extLst>
            </p:cNvPr>
            <p:cNvSpPr/>
            <p:nvPr/>
          </p:nvSpPr>
          <p:spPr>
            <a:xfrm>
              <a:off x="3849128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5" name="CustomShape 5">
              <a:extLst>
                <a:ext uri="{FF2B5EF4-FFF2-40B4-BE49-F238E27FC236}">
                  <a16:creationId xmlns:a16="http://schemas.microsoft.com/office/drawing/2014/main" id="{0A0B6500-01D4-DF1B-9BF5-854CD8C55269}"/>
                </a:ext>
              </a:extLst>
            </p:cNvPr>
            <p:cNvSpPr/>
            <p:nvPr/>
          </p:nvSpPr>
          <p:spPr>
            <a:xfrm>
              <a:off x="3296219" y="4996821"/>
              <a:ext cx="413457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</a:t>
              </a:r>
              <a:r>
                <a:rPr lang="en-US" sz="1633" b="1" spc="-1" baseline="-25000" dirty="0">
                  <a:solidFill>
                    <a:schemeClr val="bg1"/>
                  </a:solidFill>
                  <a:latin typeface="Calibri"/>
                  <a:ea typeface="DejaVu Sans"/>
                </a:rPr>
                <a:t>1</a:t>
              </a:r>
              <a:endParaRPr lang="en-US" sz="1633" spc="-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3D8641D5-0C48-161F-F70F-D6061790DC29}"/>
                </a:ext>
              </a:extLst>
            </p:cNvPr>
            <p:cNvSpPr/>
            <p:nvPr/>
          </p:nvSpPr>
          <p:spPr>
            <a:xfrm>
              <a:off x="3987600" y="5173831"/>
              <a:ext cx="483673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8" name="CustomShape 7">
              <a:extLst>
                <a:ext uri="{FF2B5EF4-FFF2-40B4-BE49-F238E27FC236}">
                  <a16:creationId xmlns:a16="http://schemas.microsoft.com/office/drawing/2014/main" id="{24FB7BF3-D96D-CB80-5CEB-0BDE8F3F60C8}"/>
                </a:ext>
              </a:extLst>
            </p:cNvPr>
            <p:cNvSpPr/>
            <p:nvPr/>
          </p:nvSpPr>
          <p:spPr>
            <a:xfrm>
              <a:off x="4458536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E5CBFC89-F608-AB7C-F27D-5CE9FD505A23}"/>
                </a:ext>
              </a:extLst>
            </p:cNvPr>
            <p:cNvSpPr/>
            <p:nvPr/>
          </p:nvSpPr>
          <p:spPr>
            <a:xfrm>
              <a:off x="5080355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0" name="CustomShape 9">
              <a:extLst>
                <a:ext uri="{FF2B5EF4-FFF2-40B4-BE49-F238E27FC236}">
                  <a16:creationId xmlns:a16="http://schemas.microsoft.com/office/drawing/2014/main" id="{85705BFE-4F69-2593-5C51-0C9E2296B7E9}"/>
                </a:ext>
              </a:extLst>
            </p:cNvPr>
            <p:cNvSpPr/>
            <p:nvPr/>
          </p:nvSpPr>
          <p:spPr>
            <a:xfrm>
              <a:off x="4527772" y="4996821"/>
              <a:ext cx="578711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2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570E1286-9C8D-C16E-8FA1-D0D2D681A6A2}"/>
                </a:ext>
              </a:extLst>
            </p:cNvPr>
            <p:cNvSpPr/>
            <p:nvPr/>
          </p:nvSpPr>
          <p:spPr>
            <a:xfrm>
              <a:off x="5218827" y="5173831"/>
              <a:ext cx="483673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2" name="CustomShape 11">
              <a:extLst>
                <a:ext uri="{FF2B5EF4-FFF2-40B4-BE49-F238E27FC236}">
                  <a16:creationId xmlns:a16="http://schemas.microsoft.com/office/drawing/2014/main" id="{A8D0D999-9E00-8937-9205-3F82B92BF18C}"/>
                </a:ext>
              </a:extLst>
            </p:cNvPr>
            <p:cNvSpPr/>
            <p:nvPr/>
          </p:nvSpPr>
          <p:spPr>
            <a:xfrm>
              <a:off x="5685518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9B982841-95AD-9DAE-321B-06F26932499C}"/>
                </a:ext>
              </a:extLst>
            </p:cNvPr>
            <p:cNvSpPr/>
            <p:nvPr/>
          </p:nvSpPr>
          <p:spPr>
            <a:xfrm>
              <a:off x="6307663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4" name="CustomShape 13">
              <a:extLst>
                <a:ext uri="{FF2B5EF4-FFF2-40B4-BE49-F238E27FC236}">
                  <a16:creationId xmlns:a16="http://schemas.microsoft.com/office/drawing/2014/main" id="{4AF966AD-94B8-381F-7EE9-F17C21BA3A82}"/>
                </a:ext>
              </a:extLst>
            </p:cNvPr>
            <p:cNvSpPr/>
            <p:nvPr/>
          </p:nvSpPr>
          <p:spPr>
            <a:xfrm>
              <a:off x="5754754" y="4996821"/>
              <a:ext cx="578711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3</a:t>
              </a: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0CA23C82-390D-5C22-804A-DE0905F52C5F}"/>
                </a:ext>
              </a:extLst>
            </p:cNvPr>
            <p:cNvSpPr/>
            <p:nvPr/>
          </p:nvSpPr>
          <p:spPr>
            <a:xfrm>
              <a:off x="6445809" y="5173831"/>
              <a:ext cx="484000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6" name="CustomShape 15">
              <a:extLst>
                <a:ext uri="{FF2B5EF4-FFF2-40B4-BE49-F238E27FC236}">
                  <a16:creationId xmlns:a16="http://schemas.microsoft.com/office/drawing/2014/main" id="{64BF3EA5-A60F-43BF-E9AD-0628FD425ADF}"/>
                </a:ext>
              </a:extLst>
            </p:cNvPr>
            <p:cNvSpPr/>
            <p:nvPr/>
          </p:nvSpPr>
          <p:spPr>
            <a:xfrm>
              <a:off x="6934054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4A8242FD-6FDA-C14B-A1D5-E35F97F80BD8}"/>
                </a:ext>
              </a:extLst>
            </p:cNvPr>
            <p:cNvSpPr/>
            <p:nvPr/>
          </p:nvSpPr>
          <p:spPr>
            <a:xfrm>
              <a:off x="7556199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8" name="CustomShape 17">
              <a:extLst>
                <a:ext uri="{FF2B5EF4-FFF2-40B4-BE49-F238E27FC236}">
                  <a16:creationId xmlns:a16="http://schemas.microsoft.com/office/drawing/2014/main" id="{5D399030-0938-0649-F2CA-758FFE0D0EBF}"/>
                </a:ext>
              </a:extLst>
            </p:cNvPr>
            <p:cNvSpPr/>
            <p:nvPr/>
          </p:nvSpPr>
          <p:spPr>
            <a:xfrm>
              <a:off x="7003290" y="4996821"/>
              <a:ext cx="500982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4</a:t>
              </a: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402EA552-5BC2-084B-B993-0CDF2E5C2087}"/>
                </a:ext>
              </a:extLst>
            </p:cNvPr>
            <p:cNvSpPr/>
            <p:nvPr/>
          </p:nvSpPr>
          <p:spPr>
            <a:xfrm>
              <a:off x="7694345" y="5173831"/>
              <a:ext cx="484000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0" name="CustomShape 19">
              <a:extLst>
                <a:ext uri="{FF2B5EF4-FFF2-40B4-BE49-F238E27FC236}">
                  <a16:creationId xmlns:a16="http://schemas.microsoft.com/office/drawing/2014/main" id="{B9607584-D721-8BEB-4068-8262D8F4856F}"/>
                </a:ext>
              </a:extLst>
            </p:cNvPr>
            <p:cNvSpPr/>
            <p:nvPr/>
          </p:nvSpPr>
          <p:spPr>
            <a:xfrm>
              <a:off x="8161036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C128C01B-17AE-056C-9890-AC9B4B3EF48E}"/>
                </a:ext>
              </a:extLst>
            </p:cNvPr>
            <p:cNvSpPr/>
            <p:nvPr/>
          </p:nvSpPr>
          <p:spPr>
            <a:xfrm>
              <a:off x="8783181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2" name="CustomShape 21">
              <a:extLst>
                <a:ext uri="{FF2B5EF4-FFF2-40B4-BE49-F238E27FC236}">
                  <a16:creationId xmlns:a16="http://schemas.microsoft.com/office/drawing/2014/main" id="{EA345C31-EF00-6686-E536-0B6DB30ACEAC}"/>
                </a:ext>
              </a:extLst>
            </p:cNvPr>
            <p:cNvSpPr/>
            <p:nvPr/>
          </p:nvSpPr>
          <p:spPr>
            <a:xfrm>
              <a:off x="8230272" y="4996821"/>
              <a:ext cx="552908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5</a:t>
              </a: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BE9275C2-2F9B-ED33-7833-5CBB68B685F7}"/>
                </a:ext>
              </a:extLst>
            </p:cNvPr>
            <p:cNvSpPr/>
            <p:nvPr/>
          </p:nvSpPr>
          <p:spPr>
            <a:xfrm>
              <a:off x="8895526" y="5173831"/>
              <a:ext cx="552909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D51169D8-54B9-6345-7E75-F370FBFF80E7}"/>
                </a:ext>
              </a:extLst>
            </p:cNvPr>
            <p:cNvSpPr/>
            <p:nvPr/>
          </p:nvSpPr>
          <p:spPr>
            <a:xfrm>
              <a:off x="9448436" y="5160767"/>
              <a:ext cx="0" cy="207382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C6E31159-62AE-B222-7A44-CDE70B8BF96B}"/>
                </a:ext>
              </a:extLst>
            </p:cNvPr>
            <p:cNvSpPr/>
            <p:nvPr/>
          </p:nvSpPr>
          <p:spPr>
            <a:xfrm>
              <a:off x="9284163" y="5385458"/>
              <a:ext cx="345854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2251CCC3-0D03-5C9A-A6D6-7BF908455DE2}"/>
                </a:ext>
              </a:extLst>
            </p:cNvPr>
            <p:cNvSpPr/>
            <p:nvPr/>
          </p:nvSpPr>
          <p:spPr>
            <a:xfrm>
              <a:off x="9353399" y="5471677"/>
              <a:ext cx="207382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E1364C1A-26BE-4DD0-BC2D-4C0881900B82}"/>
                </a:ext>
              </a:extLst>
            </p:cNvPr>
            <p:cNvSpPr/>
            <p:nvPr/>
          </p:nvSpPr>
          <p:spPr>
            <a:xfrm>
              <a:off x="2743636" y="5160767"/>
              <a:ext cx="483673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9" name="CustomShape 5">
              <a:extLst>
                <a:ext uri="{FF2B5EF4-FFF2-40B4-BE49-F238E27FC236}">
                  <a16:creationId xmlns:a16="http://schemas.microsoft.com/office/drawing/2014/main" id="{44E6065A-BF54-C821-886B-04AF01D072A0}"/>
                </a:ext>
              </a:extLst>
            </p:cNvPr>
            <p:cNvSpPr/>
            <p:nvPr/>
          </p:nvSpPr>
          <p:spPr>
            <a:xfrm>
              <a:off x="2088670" y="5007819"/>
              <a:ext cx="712609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rgbClr val="002060"/>
                  </a:solidFill>
                  <a:latin typeface="Calibri"/>
                  <a:ea typeface="DejaVu Sans"/>
                </a:rPr>
                <a:t>head</a:t>
              </a:r>
              <a:endParaRPr lang="en-US" sz="1633" spc="-1" dirty="0">
                <a:solidFill>
                  <a:srgbClr val="00206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64100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CustomShape 1"/>
          <p:cNvSpPr/>
          <p:nvPr/>
        </p:nvSpPr>
        <p:spPr>
          <a:xfrm>
            <a:off x="1808629" y="-100098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Lists</a:t>
            </a:r>
          </a:p>
        </p:txBody>
      </p:sp>
      <p:sp>
        <p:nvSpPr>
          <p:cNvPr id="308" name="CustomShape 2"/>
          <p:cNvSpPr/>
          <p:nvPr/>
        </p:nvSpPr>
        <p:spPr>
          <a:xfrm>
            <a:off x="612836" y="858298"/>
            <a:ext cx="9150924" cy="34278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spc="-1" dirty="0">
                <a:solidFill>
                  <a:srgbClr val="000000"/>
                </a:solidFill>
                <a:ea typeface="MS PGothic"/>
              </a:rPr>
              <a:t>Each data item needs a </a:t>
            </a:r>
            <a:r>
              <a:rPr lang="en-US" sz="2903" b="1" spc="-1" dirty="0">
                <a:solidFill>
                  <a:srgbClr val="FF0000"/>
                </a:solidFill>
                <a:ea typeface="MS PGothic"/>
              </a:rPr>
              <a:t>pointer</a:t>
            </a:r>
            <a:r>
              <a:rPr lang="en-US" sz="2903" spc="-1" dirty="0">
                <a:solidFill>
                  <a:srgbClr val="FF0000"/>
                </a:solidFill>
                <a:ea typeface="MS PGothic"/>
              </a:rPr>
              <a:t> </a:t>
            </a:r>
            <a:r>
              <a:rPr lang="en-US" sz="2903" spc="-1" dirty="0">
                <a:solidFill>
                  <a:srgbClr val="000000"/>
                </a:solidFill>
                <a:ea typeface="MS PGothic"/>
              </a:rPr>
              <a:t>to lead to the next data item(</a:t>
            </a:r>
            <a:r>
              <a:rPr lang="en-US" sz="2903" i="1" spc="-1" dirty="0">
                <a:solidFill>
                  <a:srgbClr val="FF0000"/>
                </a:solidFill>
                <a:ea typeface="MS PGothic"/>
              </a:rPr>
              <a:t>next pointer</a:t>
            </a:r>
            <a:r>
              <a:rPr lang="en-US" sz="2903" spc="-1" dirty="0">
                <a:solidFill>
                  <a:srgbClr val="000000"/>
                </a:solidFill>
                <a:ea typeface="MS PGothic"/>
              </a:rPr>
              <a:t>).</a:t>
            </a:r>
            <a:endParaRPr lang="en-US" sz="2903" spc="-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98E1-9FCB-9D13-144E-6DF87686BEE8}"/>
              </a:ext>
            </a:extLst>
          </p:cNvPr>
          <p:cNvGrpSpPr/>
          <p:nvPr/>
        </p:nvGrpSpPr>
        <p:grpSpPr>
          <a:xfrm>
            <a:off x="4554664" y="1784316"/>
            <a:ext cx="2673102" cy="1644684"/>
            <a:chOff x="4432744" y="2461149"/>
            <a:chExt cx="2673102" cy="1644684"/>
          </a:xfrm>
        </p:grpSpPr>
        <p:pic>
          <p:nvPicPr>
            <p:cNvPr id="309" name="Picture 2"/>
            <p:cNvPicPr/>
            <p:nvPr/>
          </p:nvPicPr>
          <p:blipFill>
            <a:blip r:embed="rId2"/>
            <a:stretch/>
          </p:blipFill>
          <p:spPr>
            <a:xfrm>
              <a:off x="4432744" y="2461149"/>
              <a:ext cx="2673102" cy="1644684"/>
            </a:xfrm>
            <a:prstGeom prst="rect">
              <a:avLst/>
            </a:prstGeom>
            <a:ln>
              <a:noFill/>
            </a:ln>
          </p:spPr>
        </p:pic>
        <p:sp>
          <p:nvSpPr>
            <p:cNvPr id="311" name="CustomShape 4"/>
            <p:cNvSpPr/>
            <p:nvPr/>
          </p:nvSpPr>
          <p:spPr>
            <a:xfrm>
              <a:off x="4764881" y="2913470"/>
              <a:ext cx="797522" cy="417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177" b="1" spc="-1">
                  <a:solidFill>
                    <a:srgbClr val="000000"/>
                  </a:solidFill>
                  <a:latin typeface="Calibri"/>
                  <a:ea typeface="DejaVu Sans"/>
                </a:rPr>
                <a:t>Data</a:t>
              </a:r>
              <a:endParaRPr lang="en-US" sz="2177" spc="-1">
                <a:latin typeface="Arial"/>
              </a:endParaRPr>
            </a:p>
          </p:txBody>
        </p:sp>
      </p:grpSp>
      <p:sp>
        <p:nvSpPr>
          <p:cNvPr id="312" name="CustomShape 5"/>
          <p:cNvSpPr/>
          <p:nvPr/>
        </p:nvSpPr>
        <p:spPr>
          <a:xfrm>
            <a:off x="2153921" y="4088837"/>
            <a:ext cx="2732880" cy="1559771"/>
          </a:xfrm>
          <a:prstGeom prst="rect">
            <a:avLst/>
          </a:prstGeom>
          <a:noFill/>
          <a:ln w="633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spc="-1" dirty="0">
                <a:solidFill>
                  <a:srgbClr val="0070C0"/>
                </a:solidFill>
                <a:ea typeface="DejaVu Sans"/>
              </a:rPr>
              <a:t>struct</a:t>
            </a:r>
            <a:r>
              <a:rPr lang="en-US" sz="2400" spc="-1" dirty="0">
                <a:solidFill>
                  <a:srgbClr val="000000"/>
                </a:solidFill>
                <a:ea typeface="DejaVu Sans"/>
              </a:rPr>
              <a:t> Node</a:t>
            </a:r>
            <a:endParaRPr lang="en-US" sz="2400" spc="-1" dirty="0"/>
          </a:p>
          <a:p>
            <a:pPr>
              <a:lnSpc>
                <a:spcPct val="100000"/>
              </a:lnSpc>
            </a:pPr>
            <a:r>
              <a:rPr lang="en-US" sz="2400" spc="-1" dirty="0">
                <a:solidFill>
                  <a:srgbClr val="000000"/>
                </a:solidFill>
                <a:ea typeface="DejaVu Sans"/>
              </a:rPr>
              <a:t>  { int data;</a:t>
            </a:r>
            <a:endParaRPr lang="en-US" sz="2400" spc="-1" dirty="0"/>
          </a:p>
          <a:p>
            <a:pPr>
              <a:lnSpc>
                <a:spcPct val="100000"/>
              </a:lnSpc>
            </a:pPr>
            <a:r>
              <a:rPr lang="en-US" sz="2400" spc="-1" dirty="0">
                <a:solidFill>
                  <a:srgbClr val="000000"/>
                </a:solidFill>
                <a:ea typeface="DejaVu Sans"/>
              </a:rPr>
              <a:t>     Node*  next;</a:t>
            </a:r>
            <a:endParaRPr lang="en-US" sz="2400" spc="-1" dirty="0"/>
          </a:p>
          <a:p>
            <a:pPr>
              <a:lnSpc>
                <a:spcPct val="100000"/>
              </a:lnSpc>
            </a:pPr>
            <a:r>
              <a:rPr lang="en-US" sz="2400" spc="-1" dirty="0">
                <a:solidFill>
                  <a:srgbClr val="000000"/>
                </a:solidFill>
                <a:ea typeface="DejaVu Sans"/>
              </a:rPr>
              <a:t>   };</a:t>
            </a:r>
            <a:endParaRPr lang="en-US" sz="2400" spc="-1" dirty="0"/>
          </a:p>
        </p:txBody>
      </p:sp>
      <p:sp>
        <p:nvSpPr>
          <p:cNvPr id="313" name="CustomShape 6"/>
          <p:cNvSpPr/>
          <p:nvPr/>
        </p:nvSpPr>
        <p:spPr>
          <a:xfrm>
            <a:off x="6366718" y="4088837"/>
            <a:ext cx="3671361" cy="2298435"/>
          </a:xfrm>
          <a:prstGeom prst="rect">
            <a:avLst/>
          </a:prstGeom>
          <a:noFill/>
          <a:ln w="633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spc="-1">
                <a:solidFill>
                  <a:srgbClr val="FF0000"/>
                </a:solidFill>
                <a:ea typeface="DejaVu Sans"/>
              </a:rPr>
              <a:t>class</a:t>
            </a:r>
            <a:r>
              <a:rPr lang="en-US" sz="2400" spc="-1">
                <a:solidFill>
                  <a:srgbClr val="000000"/>
                </a:solidFill>
                <a:ea typeface="DejaVu Sans"/>
              </a:rPr>
              <a:t> Node</a:t>
            </a:r>
            <a:endParaRPr lang="en-US" sz="2400" spc="-1"/>
          </a:p>
          <a:p>
            <a:pPr>
              <a:lnSpc>
                <a:spcPct val="100000"/>
              </a:lnSpc>
            </a:pPr>
            <a:r>
              <a:rPr lang="en-US" sz="2400" spc="-1">
                <a:solidFill>
                  <a:srgbClr val="000000"/>
                </a:solidFill>
                <a:ea typeface="DejaVu Sans"/>
              </a:rPr>
              <a:t>  { int data;</a:t>
            </a:r>
            <a:endParaRPr lang="en-US" sz="2400" spc="-1"/>
          </a:p>
          <a:p>
            <a:pPr>
              <a:lnSpc>
                <a:spcPct val="100000"/>
              </a:lnSpc>
            </a:pPr>
            <a:r>
              <a:rPr lang="en-US" sz="2400" spc="-1">
                <a:solidFill>
                  <a:srgbClr val="000000"/>
                </a:solidFill>
                <a:ea typeface="DejaVu Sans"/>
              </a:rPr>
              <a:t>     Node*  next;</a:t>
            </a:r>
            <a:endParaRPr lang="en-US" sz="2400" spc="-1"/>
          </a:p>
          <a:p>
            <a:pPr>
              <a:lnSpc>
                <a:spcPct val="100000"/>
              </a:lnSpc>
            </a:pPr>
            <a:r>
              <a:rPr lang="en-US" sz="2400" spc="-1">
                <a:solidFill>
                  <a:srgbClr val="000000"/>
                </a:solidFill>
                <a:ea typeface="DejaVu Sans"/>
              </a:rPr>
              <a:t>  public:</a:t>
            </a:r>
            <a:endParaRPr lang="en-US" sz="2400" spc="-1"/>
          </a:p>
          <a:p>
            <a:pPr>
              <a:lnSpc>
                <a:spcPct val="100000"/>
              </a:lnSpc>
            </a:pPr>
            <a:r>
              <a:rPr lang="en-US" sz="2400" spc="-1">
                <a:solidFill>
                  <a:srgbClr val="000000"/>
                </a:solidFill>
                <a:ea typeface="DejaVu Sans"/>
              </a:rPr>
              <a:t>     ………..</a:t>
            </a:r>
            <a:endParaRPr lang="en-US" sz="2400" spc="-1"/>
          </a:p>
          <a:p>
            <a:pPr>
              <a:lnSpc>
                <a:spcPct val="100000"/>
              </a:lnSpc>
            </a:pPr>
            <a:r>
              <a:rPr lang="en-US" sz="2400" spc="-1">
                <a:solidFill>
                  <a:srgbClr val="000000"/>
                </a:solidFill>
                <a:ea typeface="DejaVu Sans"/>
              </a:rPr>
              <a:t>// set and get functions   };</a:t>
            </a:r>
            <a:endParaRPr lang="en-US" sz="2400" spc="-1"/>
          </a:p>
        </p:txBody>
      </p:sp>
      <p:sp>
        <p:nvSpPr>
          <p:cNvPr id="314" name="CustomShape 7"/>
          <p:cNvSpPr/>
          <p:nvPr/>
        </p:nvSpPr>
        <p:spPr>
          <a:xfrm>
            <a:off x="612836" y="3502253"/>
            <a:ext cx="8714044" cy="513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46" tIns="40823" rIns="81646" bIns="40823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chemeClr val="tx1">
                    <a:lumMod val="75000"/>
                    <a:lumOff val="25000"/>
                  </a:schemeClr>
                </a:solidFill>
                <a:ea typeface="DejaVu Sans"/>
              </a:rPr>
              <a:t>A node is implemented as a </a:t>
            </a:r>
            <a:r>
              <a:rPr lang="en-US" sz="2800" b="1" spc="-1" dirty="0">
                <a:solidFill>
                  <a:srgbClr val="0070C0"/>
                </a:solidFill>
                <a:ea typeface="DejaVu Sans"/>
              </a:rPr>
              <a:t>structure</a:t>
            </a:r>
            <a:r>
              <a:rPr lang="en-US" sz="2800" b="1" spc="-1" dirty="0">
                <a:solidFill>
                  <a:srgbClr val="FF0000"/>
                </a:solidFill>
                <a:ea typeface="DejaVu Sans"/>
              </a:rPr>
              <a:t> </a:t>
            </a:r>
            <a:r>
              <a:rPr lang="en-US" sz="2800" b="1" spc="-1" dirty="0">
                <a:solidFill>
                  <a:schemeClr val="tx1">
                    <a:lumMod val="75000"/>
                    <a:lumOff val="25000"/>
                  </a:schemeClr>
                </a:solidFill>
                <a:ea typeface="DejaVu Sans"/>
              </a:rPr>
              <a:t>OR a</a:t>
            </a:r>
            <a:r>
              <a:rPr lang="en-US" sz="2800" b="1" spc="-1" dirty="0">
                <a:solidFill>
                  <a:srgbClr val="FF0000"/>
                </a:solidFill>
                <a:ea typeface="DejaVu Sans"/>
              </a:rPr>
              <a:t> class</a:t>
            </a:r>
            <a:endParaRPr lang="en-US" sz="2800" spc="-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3523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7" dur="5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Picture 11" descr="Fig05-04"/>
          <p:cNvPicPr/>
          <p:nvPr/>
        </p:nvPicPr>
        <p:blipFill rotWithShape="1">
          <a:blip r:embed="rId3"/>
          <a:srcRect l="14988"/>
          <a:stretch/>
        </p:blipFill>
        <p:spPr>
          <a:xfrm>
            <a:off x="2236533" y="711721"/>
            <a:ext cx="7225797" cy="2520353"/>
          </a:xfrm>
          <a:prstGeom prst="rect">
            <a:avLst/>
          </a:prstGeom>
          <a:ln>
            <a:noFill/>
          </a:ln>
        </p:spPr>
      </p:pic>
      <p:sp>
        <p:nvSpPr>
          <p:cNvPr id="316" name="CustomShape 1"/>
          <p:cNvSpPr/>
          <p:nvPr/>
        </p:nvSpPr>
        <p:spPr>
          <a:xfrm>
            <a:off x="2730764" y="-50800"/>
            <a:ext cx="8914150" cy="57488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</p:txBody>
      </p:sp>
      <p:sp>
        <p:nvSpPr>
          <p:cNvPr id="320" name="CustomShape 5"/>
          <p:cNvSpPr/>
          <p:nvPr/>
        </p:nvSpPr>
        <p:spPr>
          <a:xfrm>
            <a:off x="1938284" y="4622818"/>
            <a:ext cx="4994472" cy="51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22" name="CustomShape 7"/>
          <p:cNvSpPr/>
          <p:nvPr/>
        </p:nvSpPr>
        <p:spPr>
          <a:xfrm>
            <a:off x="2458768" y="3801089"/>
            <a:ext cx="2589496" cy="2211424"/>
          </a:xfrm>
          <a:prstGeom prst="rect">
            <a:avLst/>
          </a:prstGeom>
          <a:solidFill>
            <a:schemeClr val="bg1"/>
          </a:solidFill>
          <a:ln w="6336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endParaRPr lang="en-US" sz="1633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lang="en-US" sz="2404" b="1" spc="-1" dirty="0">
                <a:solidFill>
                  <a:srgbClr val="000000"/>
                </a:solidFill>
                <a:latin typeface="Arial"/>
                <a:ea typeface="DejaVu Sans"/>
              </a:rPr>
              <a:t>class </a:t>
            </a:r>
            <a:r>
              <a:rPr lang="en-US" sz="2404" b="1" spc="-1" dirty="0" err="1">
                <a:solidFill>
                  <a:srgbClr val="000000"/>
                </a:solidFill>
                <a:latin typeface="Arial"/>
                <a:ea typeface="DejaVu Sans"/>
              </a:rPr>
              <a:t>L_List</a:t>
            </a:r>
            <a:r>
              <a:rPr lang="en-US" sz="2404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2404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	{</a:t>
            </a:r>
            <a:endParaRPr lang="en-US" sz="1633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	   Node*  </a:t>
            </a:r>
            <a:r>
              <a:rPr lang="en-US" sz="1633" b="1" spc="-1" dirty="0">
                <a:solidFill>
                  <a:srgbClr val="FF0000"/>
                </a:solidFill>
                <a:latin typeface="Arial"/>
                <a:ea typeface="DejaVu Sans"/>
              </a:rPr>
              <a:t>head</a:t>
            </a: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lang="en-US" sz="1633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	   </a:t>
            </a:r>
            <a:r>
              <a:rPr lang="en-US" sz="1633" spc="-1" dirty="0" err="1">
                <a:solidFill>
                  <a:srgbClr val="000000"/>
                </a:solidFill>
                <a:latin typeface="Arial"/>
                <a:ea typeface="DejaVu Sans"/>
              </a:rPr>
              <a:t>int</a:t>
            </a: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1633" spc="-1" dirty="0" err="1">
                <a:solidFill>
                  <a:srgbClr val="000000"/>
                </a:solidFill>
                <a:latin typeface="Arial"/>
                <a:ea typeface="DejaVu Sans"/>
              </a:rPr>
              <a:t>itemCount</a:t>
            </a: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lang="en-US" sz="1633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	};</a:t>
            </a:r>
            <a:endParaRPr lang="en-US" sz="1633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33" spc="-1" dirty="0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endParaRPr lang="en-US" sz="1633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33" spc="-1" dirty="0"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44735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/>
          <p:cNvSpPr/>
          <p:nvPr/>
        </p:nvSpPr>
        <p:spPr>
          <a:xfrm>
            <a:off x="2903484" y="-30480"/>
            <a:ext cx="8914150" cy="57488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19" t="17621" r="44409" b="64414"/>
          <a:stretch>
            <a:fillRect/>
          </a:stretch>
        </p:blipFill>
        <p:spPr>
          <a:xfrm>
            <a:off x="7892660" y="1997304"/>
            <a:ext cx="1046480" cy="88983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EFCAE-06F7-4D56-3C04-AD7E2B129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09" y="1288238"/>
            <a:ext cx="6154009" cy="263879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804EE67-1CA8-B75F-3E53-E873D2E9A18C}"/>
              </a:ext>
            </a:extLst>
          </p:cNvPr>
          <p:cNvGrpSpPr/>
          <p:nvPr/>
        </p:nvGrpSpPr>
        <p:grpSpPr>
          <a:xfrm>
            <a:off x="1982125" y="4130210"/>
            <a:ext cx="8227749" cy="679781"/>
            <a:chOff x="2088670" y="4927585"/>
            <a:chExt cx="7541347" cy="544092"/>
          </a:xfrm>
        </p:grpSpPr>
        <p:sp>
          <p:nvSpPr>
            <p:cNvPr id="10" name="CustomShape 3">
              <a:extLst>
                <a:ext uri="{FF2B5EF4-FFF2-40B4-BE49-F238E27FC236}">
                  <a16:creationId xmlns:a16="http://schemas.microsoft.com/office/drawing/2014/main" id="{D836B746-3FCB-9C38-20CD-2DF4F60E98B4}"/>
                </a:ext>
              </a:extLst>
            </p:cNvPr>
            <p:cNvSpPr/>
            <p:nvPr/>
          </p:nvSpPr>
          <p:spPr>
            <a:xfrm>
              <a:off x="3227309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C5D8804F-306A-BA40-F5D3-B579D8DE7555}"/>
                </a:ext>
              </a:extLst>
            </p:cNvPr>
            <p:cNvSpPr/>
            <p:nvPr/>
          </p:nvSpPr>
          <p:spPr>
            <a:xfrm>
              <a:off x="3849128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2" name="CustomShape 5">
              <a:extLst>
                <a:ext uri="{FF2B5EF4-FFF2-40B4-BE49-F238E27FC236}">
                  <a16:creationId xmlns:a16="http://schemas.microsoft.com/office/drawing/2014/main" id="{60900532-B49B-A15E-B0C9-597374E47093}"/>
                </a:ext>
              </a:extLst>
            </p:cNvPr>
            <p:cNvSpPr/>
            <p:nvPr/>
          </p:nvSpPr>
          <p:spPr>
            <a:xfrm>
              <a:off x="3296219" y="4996821"/>
              <a:ext cx="413457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</a:t>
              </a:r>
              <a:r>
                <a:rPr lang="en-US" sz="1633" b="1" spc="-1" baseline="-25000" dirty="0">
                  <a:solidFill>
                    <a:schemeClr val="bg1"/>
                  </a:solidFill>
                  <a:latin typeface="Calibri"/>
                  <a:ea typeface="DejaVu Sans"/>
                </a:rPr>
                <a:t>1</a:t>
              </a:r>
              <a:endParaRPr lang="en-US" sz="1633" spc="-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549C9B2F-286B-7DA8-A4E5-FFD73935AAB5}"/>
                </a:ext>
              </a:extLst>
            </p:cNvPr>
            <p:cNvSpPr/>
            <p:nvPr/>
          </p:nvSpPr>
          <p:spPr>
            <a:xfrm>
              <a:off x="3987600" y="5173831"/>
              <a:ext cx="483673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4" name="CustomShape 7">
              <a:extLst>
                <a:ext uri="{FF2B5EF4-FFF2-40B4-BE49-F238E27FC236}">
                  <a16:creationId xmlns:a16="http://schemas.microsoft.com/office/drawing/2014/main" id="{7E19FA29-F061-C093-946C-EE0AA28B4089}"/>
                </a:ext>
              </a:extLst>
            </p:cNvPr>
            <p:cNvSpPr/>
            <p:nvPr/>
          </p:nvSpPr>
          <p:spPr>
            <a:xfrm>
              <a:off x="4458536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AA0385B9-9538-0533-D708-78BE033A0361}"/>
                </a:ext>
              </a:extLst>
            </p:cNvPr>
            <p:cNvSpPr/>
            <p:nvPr/>
          </p:nvSpPr>
          <p:spPr>
            <a:xfrm>
              <a:off x="5080355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6" name="CustomShape 9">
              <a:extLst>
                <a:ext uri="{FF2B5EF4-FFF2-40B4-BE49-F238E27FC236}">
                  <a16:creationId xmlns:a16="http://schemas.microsoft.com/office/drawing/2014/main" id="{E02866D2-5FD4-17EB-C4D0-D70A9C9502FC}"/>
                </a:ext>
              </a:extLst>
            </p:cNvPr>
            <p:cNvSpPr/>
            <p:nvPr/>
          </p:nvSpPr>
          <p:spPr>
            <a:xfrm>
              <a:off x="4527772" y="4996821"/>
              <a:ext cx="578711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2</a:t>
              </a:r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6674408D-2C5C-9DA6-BCE5-CFCF90D4B1DD}"/>
                </a:ext>
              </a:extLst>
            </p:cNvPr>
            <p:cNvSpPr/>
            <p:nvPr/>
          </p:nvSpPr>
          <p:spPr>
            <a:xfrm>
              <a:off x="5218827" y="5173831"/>
              <a:ext cx="483673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8" name="CustomShape 11">
              <a:extLst>
                <a:ext uri="{FF2B5EF4-FFF2-40B4-BE49-F238E27FC236}">
                  <a16:creationId xmlns:a16="http://schemas.microsoft.com/office/drawing/2014/main" id="{B01CAC13-48E0-0708-8A54-88C6F96B3F0F}"/>
                </a:ext>
              </a:extLst>
            </p:cNvPr>
            <p:cNvSpPr/>
            <p:nvPr/>
          </p:nvSpPr>
          <p:spPr>
            <a:xfrm>
              <a:off x="5685518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CE85A22C-B3D3-C9DF-6897-0C859D5B1B98}"/>
                </a:ext>
              </a:extLst>
            </p:cNvPr>
            <p:cNvSpPr/>
            <p:nvPr/>
          </p:nvSpPr>
          <p:spPr>
            <a:xfrm>
              <a:off x="6307663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0" name="CustomShape 13">
              <a:extLst>
                <a:ext uri="{FF2B5EF4-FFF2-40B4-BE49-F238E27FC236}">
                  <a16:creationId xmlns:a16="http://schemas.microsoft.com/office/drawing/2014/main" id="{1B05E020-6C07-96B0-8342-26DA81D4FFC9}"/>
                </a:ext>
              </a:extLst>
            </p:cNvPr>
            <p:cNvSpPr/>
            <p:nvPr/>
          </p:nvSpPr>
          <p:spPr>
            <a:xfrm>
              <a:off x="5754754" y="4996821"/>
              <a:ext cx="578711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3</a:t>
              </a:r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A3C771B5-7528-102C-4C42-F1D755051408}"/>
                </a:ext>
              </a:extLst>
            </p:cNvPr>
            <p:cNvSpPr/>
            <p:nvPr/>
          </p:nvSpPr>
          <p:spPr>
            <a:xfrm>
              <a:off x="6445809" y="5173831"/>
              <a:ext cx="484000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2" name="CustomShape 15">
              <a:extLst>
                <a:ext uri="{FF2B5EF4-FFF2-40B4-BE49-F238E27FC236}">
                  <a16:creationId xmlns:a16="http://schemas.microsoft.com/office/drawing/2014/main" id="{4966EB75-B189-01A1-E6CE-7821272AEB93}"/>
                </a:ext>
              </a:extLst>
            </p:cNvPr>
            <p:cNvSpPr/>
            <p:nvPr/>
          </p:nvSpPr>
          <p:spPr>
            <a:xfrm>
              <a:off x="6934054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774C0C09-A8AF-BAC7-B3A4-639355860CA1}"/>
                </a:ext>
              </a:extLst>
            </p:cNvPr>
            <p:cNvSpPr/>
            <p:nvPr/>
          </p:nvSpPr>
          <p:spPr>
            <a:xfrm>
              <a:off x="7556199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4" name="CustomShape 17">
              <a:extLst>
                <a:ext uri="{FF2B5EF4-FFF2-40B4-BE49-F238E27FC236}">
                  <a16:creationId xmlns:a16="http://schemas.microsoft.com/office/drawing/2014/main" id="{686CAE4B-C9BB-CC0E-0583-E1EC54D0507C}"/>
                </a:ext>
              </a:extLst>
            </p:cNvPr>
            <p:cNvSpPr/>
            <p:nvPr/>
          </p:nvSpPr>
          <p:spPr>
            <a:xfrm>
              <a:off x="7003290" y="4996821"/>
              <a:ext cx="500982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4</a:t>
              </a:r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3DEB9CA7-D80A-74D6-A4A7-6E97CC7892E4}"/>
                </a:ext>
              </a:extLst>
            </p:cNvPr>
            <p:cNvSpPr/>
            <p:nvPr/>
          </p:nvSpPr>
          <p:spPr>
            <a:xfrm>
              <a:off x="7694345" y="5173831"/>
              <a:ext cx="484000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6" name="CustomShape 19">
              <a:extLst>
                <a:ext uri="{FF2B5EF4-FFF2-40B4-BE49-F238E27FC236}">
                  <a16:creationId xmlns:a16="http://schemas.microsoft.com/office/drawing/2014/main" id="{344BCD77-C663-7A3E-8BA6-DC8BB43D10A0}"/>
                </a:ext>
              </a:extLst>
            </p:cNvPr>
            <p:cNvSpPr/>
            <p:nvPr/>
          </p:nvSpPr>
          <p:spPr>
            <a:xfrm>
              <a:off x="8161036" y="4927586"/>
              <a:ext cx="897457" cy="4826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633">
                <a:solidFill>
                  <a:schemeClr val="bg1"/>
                </a:solidFill>
              </a:endParaRPr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38FC985D-52DB-ED9C-7FCA-987DC187D3BC}"/>
                </a:ext>
              </a:extLst>
            </p:cNvPr>
            <p:cNvSpPr/>
            <p:nvPr/>
          </p:nvSpPr>
          <p:spPr>
            <a:xfrm>
              <a:off x="8783181" y="4927585"/>
              <a:ext cx="0" cy="483673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8" name="CustomShape 21">
              <a:extLst>
                <a:ext uri="{FF2B5EF4-FFF2-40B4-BE49-F238E27FC236}">
                  <a16:creationId xmlns:a16="http://schemas.microsoft.com/office/drawing/2014/main" id="{0D65FEC4-BF98-E131-804F-FEE28622EAC2}"/>
                </a:ext>
              </a:extLst>
            </p:cNvPr>
            <p:cNvSpPr/>
            <p:nvPr/>
          </p:nvSpPr>
          <p:spPr>
            <a:xfrm>
              <a:off x="8230272" y="4996821"/>
              <a:ext cx="552908" cy="333731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b="1" i="1" spc="-1" dirty="0">
                  <a:solidFill>
                    <a:schemeClr val="bg1"/>
                  </a:solidFill>
                  <a:latin typeface="Calibri"/>
                  <a:ea typeface="DejaVu Sans"/>
                </a:rPr>
                <a:t>A 5</a:t>
              </a:r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387B5B1F-36C2-0175-6817-684DF5453DAA}"/>
                </a:ext>
              </a:extLst>
            </p:cNvPr>
            <p:cNvSpPr/>
            <p:nvPr/>
          </p:nvSpPr>
          <p:spPr>
            <a:xfrm>
              <a:off x="8895526" y="5173831"/>
              <a:ext cx="552909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696F0BE1-DC57-BE95-2CB1-48156E2F9A09}"/>
                </a:ext>
              </a:extLst>
            </p:cNvPr>
            <p:cNvSpPr/>
            <p:nvPr/>
          </p:nvSpPr>
          <p:spPr>
            <a:xfrm>
              <a:off x="9448436" y="5160767"/>
              <a:ext cx="0" cy="207382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C9796F33-6D63-C225-F2B2-75B5976FE780}"/>
                </a:ext>
              </a:extLst>
            </p:cNvPr>
            <p:cNvSpPr/>
            <p:nvPr/>
          </p:nvSpPr>
          <p:spPr>
            <a:xfrm>
              <a:off x="9284163" y="5385458"/>
              <a:ext cx="345854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32" name="Line 25">
              <a:extLst>
                <a:ext uri="{FF2B5EF4-FFF2-40B4-BE49-F238E27FC236}">
                  <a16:creationId xmlns:a16="http://schemas.microsoft.com/office/drawing/2014/main" id="{C5F3A4F6-EDB9-4057-319A-5553E591D4FA}"/>
                </a:ext>
              </a:extLst>
            </p:cNvPr>
            <p:cNvSpPr/>
            <p:nvPr/>
          </p:nvSpPr>
          <p:spPr>
            <a:xfrm>
              <a:off x="9353399" y="5471677"/>
              <a:ext cx="207382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33" name="Line 6">
              <a:extLst>
                <a:ext uri="{FF2B5EF4-FFF2-40B4-BE49-F238E27FC236}">
                  <a16:creationId xmlns:a16="http://schemas.microsoft.com/office/drawing/2014/main" id="{44A1DEC6-2FA5-2F33-FDCE-7E12A255E6C0}"/>
                </a:ext>
              </a:extLst>
            </p:cNvPr>
            <p:cNvSpPr/>
            <p:nvPr/>
          </p:nvSpPr>
          <p:spPr>
            <a:xfrm>
              <a:off x="2743636" y="5160767"/>
              <a:ext cx="483673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  <a:tailEnd type="stealth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34" name="CustomShape 5">
              <a:extLst>
                <a:ext uri="{FF2B5EF4-FFF2-40B4-BE49-F238E27FC236}">
                  <a16:creationId xmlns:a16="http://schemas.microsoft.com/office/drawing/2014/main" id="{D587A28D-0322-8878-81BB-0730EE38AA64}"/>
                </a:ext>
              </a:extLst>
            </p:cNvPr>
            <p:cNvSpPr/>
            <p:nvPr/>
          </p:nvSpPr>
          <p:spPr>
            <a:xfrm>
              <a:off x="2088670" y="5007819"/>
              <a:ext cx="712609" cy="312329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2000" b="1" i="1" spc="-1" dirty="0">
                  <a:solidFill>
                    <a:srgbClr val="002060"/>
                  </a:solidFill>
                  <a:ea typeface="DejaVu Sans"/>
                </a:rPr>
                <a:t>head</a:t>
              </a:r>
              <a:endParaRPr lang="en-US" sz="2000" spc="-1" dirty="0">
                <a:solidFill>
                  <a:srgbClr val="002060"/>
                </a:solidFill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AA4EAB49-1855-1001-C024-D69EDCC4A5E5}"/>
              </a:ext>
            </a:extLst>
          </p:cNvPr>
          <p:cNvSpPr/>
          <p:nvPr/>
        </p:nvSpPr>
        <p:spPr>
          <a:xfrm>
            <a:off x="771188" y="602643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2CFCA0-467C-7E42-E40B-5AA56EEBBFF4}"/>
              </a:ext>
            </a:extLst>
          </p:cNvPr>
          <p:cNvSpPr/>
          <p:nvPr/>
        </p:nvSpPr>
        <p:spPr>
          <a:xfrm>
            <a:off x="8045504" y="1089661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817C48E-0598-B126-2068-13A27B22A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062" y="4840477"/>
            <a:ext cx="9413040" cy="18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/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Insert a node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20" name="CustomShape 5"/>
          <p:cNvSpPr/>
          <p:nvPr/>
        </p:nvSpPr>
        <p:spPr>
          <a:xfrm>
            <a:off x="1938284" y="4622818"/>
            <a:ext cx="4994472" cy="51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0EA8F-71B8-7091-19A8-A063BCFC1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24" y="3166198"/>
            <a:ext cx="6963747" cy="3267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480B72-9DEE-5E60-D0C2-B6CD67DF8373}"/>
              </a:ext>
            </a:extLst>
          </p:cNvPr>
          <p:cNvSpPr txBox="1"/>
          <p:nvPr/>
        </p:nvSpPr>
        <p:spPr>
          <a:xfrm>
            <a:off x="548640" y="1101251"/>
            <a:ext cx="10363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There are </a:t>
            </a:r>
            <a:r>
              <a:rPr lang="en-US" sz="2000" b="1" i="1" dirty="0">
                <a:solidFill>
                  <a:srgbClr val="C00000"/>
                </a:solidFill>
              </a:rPr>
              <a:t>three positions </a:t>
            </a:r>
            <a:r>
              <a:rPr lang="en-US" sz="2000" b="1" dirty="0">
                <a:solidFill>
                  <a:srgbClr val="002060"/>
                </a:solidFill>
              </a:rPr>
              <a:t>in the linked list where a data item can be added: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	1) At the </a:t>
            </a:r>
            <a:r>
              <a:rPr lang="en-US" sz="2000" b="1" dirty="0">
                <a:solidFill>
                  <a:srgbClr val="C00000"/>
                </a:solidFill>
              </a:rPr>
              <a:t>beginning</a:t>
            </a:r>
            <a:r>
              <a:rPr lang="en-US" sz="2000" b="1" dirty="0">
                <a:solidFill>
                  <a:srgbClr val="002060"/>
                </a:solidFill>
              </a:rPr>
              <a:t> of the linked list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	2) After the </a:t>
            </a:r>
            <a:r>
              <a:rPr lang="en-US" sz="2000" b="1" dirty="0">
                <a:solidFill>
                  <a:srgbClr val="C00000"/>
                </a:solidFill>
              </a:rPr>
              <a:t>given Node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	3) At the </a:t>
            </a:r>
            <a:r>
              <a:rPr lang="en-US" sz="2000" b="1" dirty="0">
                <a:solidFill>
                  <a:srgbClr val="C00000"/>
                </a:solidFill>
              </a:rPr>
              <a:t>end </a:t>
            </a:r>
            <a:r>
              <a:rPr lang="en-US" sz="2000" b="1" dirty="0">
                <a:solidFill>
                  <a:srgbClr val="002060"/>
                </a:solidFill>
              </a:rPr>
              <a:t>of the Linked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A74C46-958B-7524-89E4-67400FE62050}"/>
              </a:ext>
            </a:extLst>
          </p:cNvPr>
          <p:cNvSpPr/>
          <p:nvPr/>
        </p:nvSpPr>
        <p:spPr>
          <a:xfrm>
            <a:off x="3556000" y="554173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49DB8-74AE-F564-F499-942B71D21597}"/>
              </a:ext>
            </a:extLst>
          </p:cNvPr>
          <p:cNvSpPr txBox="1"/>
          <p:nvPr/>
        </p:nvSpPr>
        <p:spPr>
          <a:xfrm>
            <a:off x="326724" y="2517908"/>
            <a:ext cx="6458551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1) At the </a:t>
            </a:r>
            <a:r>
              <a:rPr lang="en-US" sz="2400" b="1" dirty="0">
                <a:solidFill>
                  <a:schemeClr val="bg1"/>
                </a:solidFill>
              </a:rPr>
              <a:t>beginning </a:t>
            </a:r>
            <a:r>
              <a:rPr lang="en-US" sz="2400" b="1" dirty="0">
                <a:solidFill>
                  <a:srgbClr val="002060"/>
                </a:solidFill>
              </a:rPr>
              <a:t>of the linked list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0ECD91-15A6-B69E-63B0-5CF468688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017" y="3793690"/>
            <a:ext cx="4433231" cy="16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6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65F3-7901-DBBD-77A2-9AA99B63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>
            <a:extLst>
              <a:ext uri="{FF2B5EF4-FFF2-40B4-BE49-F238E27FC236}">
                <a16:creationId xmlns:a16="http://schemas.microsoft.com/office/drawing/2014/main" id="{CC5EA83B-3BD5-52F5-0620-D44AA34753CB}"/>
              </a:ext>
            </a:extLst>
          </p:cNvPr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Insert a node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20" name="CustomShape 5">
            <a:extLst>
              <a:ext uri="{FF2B5EF4-FFF2-40B4-BE49-F238E27FC236}">
                <a16:creationId xmlns:a16="http://schemas.microsoft.com/office/drawing/2014/main" id="{99AA48E6-8120-2AF3-9EAE-AD5FF3056807}"/>
              </a:ext>
            </a:extLst>
          </p:cNvPr>
          <p:cNvSpPr/>
          <p:nvPr/>
        </p:nvSpPr>
        <p:spPr>
          <a:xfrm>
            <a:off x="1938284" y="4622818"/>
            <a:ext cx="4994472" cy="51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524A72-61A1-1F67-102F-29FC9654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896D1A-E35B-ED44-521E-B3EDEDEA0E68}"/>
              </a:ext>
            </a:extLst>
          </p:cNvPr>
          <p:cNvSpPr/>
          <p:nvPr/>
        </p:nvSpPr>
        <p:spPr>
          <a:xfrm>
            <a:off x="3556000" y="554173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EC152-436B-1372-1720-3AFFAB7ADABE}"/>
              </a:ext>
            </a:extLst>
          </p:cNvPr>
          <p:cNvSpPr txBox="1"/>
          <p:nvPr/>
        </p:nvSpPr>
        <p:spPr>
          <a:xfrm>
            <a:off x="474205" y="1130435"/>
            <a:ext cx="6458551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2) After the </a:t>
            </a:r>
            <a:r>
              <a:rPr lang="en-US" sz="2400" b="1" dirty="0">
                <a:solidFill>
                  <a:schemeClr val="bg1"/>
                </a:solidFill>
              </a:rPr>
              <a:t>given Node </a:t>
            </a:r>
            <a:r>
              <a:rPr lang="en-US" sz="2400" b="1" dirty="0">
                <a:solidFill>
                  <a:srgbClr val="002060"/>
                </a:solidFill>
              </a:rPr>
              <a:t>of the linked list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9D1B4B-B707-794D-1689-E72A14863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5" y="1694768"/>
            <a:ext cx="9070414" cy="4228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EF2AE7-5077-8DEA-E649-FD09E6770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3309539"/>
            <a:ext cx="5918248" cy="135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9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4C51-D6DB-D502-7097-FD9F3AF8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>
            <a:extLst>
              <a:ext uri="{FF2B5EF4-FFF2-40B4-BE49-F238E27FC236}">
                <a16:creationId xmlns:a16="http://schemas.microsoft.com/office/drawing/2014/main" id="{6E22C236-CC9D-0AF7-7F98-D28785BE196B}"/>
              </a:ext>
            </a:extLst>
          </p:cNvPr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Insert a node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20" name="CustomShape 5">
            <a:extLst>
              <a:ext uri="{FF2B5EF4-FFF2-40B4-BE49-F238E27FC236}">
                <a16:creationId xmlns:a16="http://schemas.microsoft.com/office/drawing/2014/main" id="{1DEB7F79-3F78-6081-EB45-1459A22C89B8}"/>
              </a:ext>
            </a:extLst>
          </p:cNvPr>
          <p:cNvSpPr/>
          <p:nvPr/>
        </p:nvSpPr>
        <p:spPr>
          <a:xfrm>
            <a:off x="1938284" y="4622818"/>
            <a:ext cx="4994472" cy="51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90294-A806-A290-58C7-00768AA5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2F07AC-F10E-D793-178A-19AA79AA2B11}"/>
              </a:ext>
            </a:extLst>
          </p:cNvPr>
          <p:cNvSpPr/>
          <p:nvPr/>
        </p:nvSpPr>
        <p:spPr>
          <a:xfrm>
            <a:off x="3556000" y="554173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DD1A84-8DC5-390F-876C-5BB9381ECDDF}"/>
              </a:ext>
            </a:extLst>
          </p:cNvPr>
          <p:cNvSpPr txBox="1"/>
          <p:nvPr/>
        </p:nvSpPr>
        <p:spPr>
          <a:xfrm>
            <a:off x="326001" y="1279269"/>
            <a:ext cx="3589795" cy="8309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3) At the </a:t>
            </a:r>
            <a:r>
              <a:rPr lang="en-US" sz="2400" b="1" dirty="0">
                <a:solidFill>
                  <a:schemeClr val="bg1"/>
                </a:solidFill>
              </a:rPr>
              <a:t>end</a:t>
            </a:r>
            <a:r>
              <a:rPr lang="en-US" sz="2400" b="1" dirty="0">
                <a:solidFill>
                  <a:srgbClr val="002060"/>
                </a:solidFill>
              </a:rPr>
              <a:t> of the linked list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635F1-0A0D-4CFE-0320-514F2A666B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721" r="14359"/>
          <a:stretch>
            <a:fillRect/>
          </a:stretch>
        </p:blipFill>
        <p:spPr>
          <a:xfrm>
            <a:off x="6762555" y="2277909"/>
            <a:ext cx="5357444" cy="193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27AEC3-19C3-97B1-DF87-81E97DBC6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880"/>
          <a:stretch>
            <a:fillRect/>
          </a:stretch>
        </p:blipFill>
        <p:spPr>
          <a:xfrm>
            <a:off x="122801" y="2259100"/>
            <a:ext cx="6588954" cy="379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1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D02E-706B-7DE2-6703-D26D4613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>
            <a:extLst>
              <a:ext uri="{FF2B5EF4-FFF2-40B4-BE49-F238E27FC236}">
                <a16:creationId xmlns:a16="http://schemas.microsoft.com/office/drawing/2014/main" id="{38C540BC-E722-211C-B69C-027001B38047}"/>
              </a:ext>
            </a:extLst>
          </p:cNvPr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Insert a node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20" name="CustomShape 5">
            <a:extLst>
              <a:ext uri="{FF2B5EF4-FFF2-40B4-BE49-F238E27FC236}">
                <a16:creationId xmlns:a16="http://schemas.microsoft.com/office/drawing/2014/main" id="{64285570-FEE0-AE57-BEBD-B699EDC671DA}"/>
              </a:ext>
            </a:extLst>
          </p:cNvPr>
          <p:cNvSpPr/>
          <p:nvPr/>
        </p:nvSpPr>
        <p:spPr>
          <a:xfrm>
            <a:off x="1938284" y="4622818"/>
            <a:ext cx="4994472" cy="51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598E8-C90D-0A92-2BAA-A8DF0EDA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897E1A-3F39-B50D-8305-C0BF5116E192}"/>
              </a:ext>
            </a:extLst>
          </p:cNvPr>
          <p:cNvSpPr/>
          <p:nvPr/>
        </p:nvSpPr>
        <p:spPr>
          <a:xfrm>
            <a:off x="3556000" y="554173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181F2B9-39F1-98FE-789A-0CA1CF80DA24}"/>
              </a:ext>
            </a:extLst>
          </p:cNvPr>
          <p:cNvPicPr/>
          <p:nvPr/>
        </p:nvPicPr>
        <p:blipFill>
          <a:blip r:embed="rId3"/>
          <a:srcRect r="28055"/>
          <a:stretch>
            <a:fillRect/>
          </a:stretch>
        </p:blipFill>
        <p:spPr>
          <a:xfrm>
            <a:off x="702942" y="1694768"/>
            <a:ext cx="5287053" cy="2260491"/>
          </a:xfrm>
          <a:prstGeom prst="rect">
            <a:avLst/>
          </a:prstGeom>
          <a:ln>
            <a:noFill/>
          </a:ln>
          <a:effectLst>
            <a:outerShdw blurRad="29210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81B8B13-F60C-C390-A8E2-D7E0C809CD67}"/>
              </a:ext>
            </a:extLst>
          </p:cNvPr>
          <p:cNvPicPr/>
          <p:nvPr/>
        </p:nvPicPr>
        <p:blipFill>
          <a:blip r:embed="rId4"/>
          <a:srcRect r="28055"/>
          <a:stretch>
            <a:fillRect/>
          </a:stretch>
        </p:blipFill>
        <p:spPr>
          <a:xfrm>
            <a:off x="702942" y="4016219"/>
            <a:ext cx="5287053" cy="2348568"/>
          </a:xfrm>
          <a:prstGeom prst="rect">
            <a:avLst/>
          </a:prstGeom>
          <a:ln>
            <a:noFill/>
          </a:ln>
          <a:effectLst>
            <a:outerShdw blurRad="29210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E0FD2C7-8461-2B8D-F3C8-C83EA75F3471}"/>
              </a:ext>
            </a:extLst>
          </p:cNvPr>
          <p:cNvPicPr/>
          <p:nvPr/>
        </p:nvPicPr>
        <p:blipFill>
          <a:blip r:embed="rId5"/>
          <a:srcRect r="30196"/>
          <a:stretch>
            <a:fillRect/>
          </a:stretch>
        </p:blipFill>
        <p:spPr>
          <a:xfrm>
            <a:off x="6458413" y="2677583"/>
            <a:ext cx="5287053" cy="3049982"/>
          </a:xfrm>
          <a:prstGeom prst="rect">
            <a:avLst/>
          </a:prstGeom>
          <a:ln>
            <a:noFill/>
          </a:ln>
          <a:effectLst>
            <a:outerShdw blurRad="292100" dist="138479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4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6CBD-B522-5E23-025F-F8A33F14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>
            <a:extLst>
              <a:ext uri="{FF2B5EF4-FFF2-40B4-BE49-F238E27FC236}">
                <a16:creationId xmlns:a16="http://schemas.microsoft.com/office/drawing/2014/main" id="{6F9D8F4B-935C-EF2F-7103-4C7DC9D21FCA}"/>
              </a:ext>
            </a:extLst>
          </p:cNvPr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Delete  a node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20" name="CustomShape 5">
            <a:extLst>
              <a:ext uri="{FF2B5EF4-FFF2-40B4-BE49-F238E27FC236}">
                <a16:creationId xmlns:a16="http://schemas.microsoft.com/office/drawing/2014/main" id="{87D4EE94-0386-AF01-0035-550EECD6BB85}"/>
              </a:ext>
            </a:extLst>
          </p:cNvPr>
          <p:cNvSpPr/>
          <p:nvPr/>
        </p:nvSpPr>
        <p:spPr>
          <a:xfrm>
            <a:off x="1938284" y="4622818"/>
            <a:ext cx="4994472" cy="51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75A80-67DB-F534-5A3D-251DE69D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39F487-D567-CEAE-91BB-7B43F7BA65DA}"/>
              </a:ext>
            </a:extLst>
          </p:cNvPr>
          <p:cNvSpPr/>
          <p:nvPr/>
        </p:nvSpPr>
        <p:spPr>
          <a:xfrm>
            <a:off x="3444239" y="565401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59CFC-5A94-46FE-74CC-4CDCF8E9BC99}"/>
              </a:ext>
            </a:extLst>
          </p:cNvPr>
          <p:cNvSpPr txBox="1"/>
          <p:nvPr/>
        </p:nvSpPr>
        <p:spPr>
          <a:xfrm>
            <a:off x="214964" y="1172143"/>
            <a:ext cx="6458551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1) At the </a:t>
            </a:r>
            <a:r>
              <a:rPr lang="en-US" sz="2400" b="1" dirty="0">
                <a:solidFill>
                  <a:schemeClr val="bg1"/>
                </a:solidFill>
              </a:rPr>
              <a:t>beginning </a:t>
            </a:r>
            <a:r>
              <a:rPr lang="en-US" sz="2400" b="1" dirty="0">
                <a:solidFill>
                  <a:srgbClr val="002060"/>
                </a:solidFill>
              </a:rPr>
              <a:t>of the linked list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4C7EC9-AC48-98AF-7BC4-49C78BD5E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89" y="1911039"/>
            <a:ext cx="8459381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084C-19EB-E5F9-6394-62FEBA3C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>
            <a:extLst>
              <a:ext uri="{FF2B5EF4-FFF2-40B4-BE49-F238E27FC236}">
                <a16:creationId xmlns:a16="http://schemas.microsoft.com/office/drawing/2014/main" id="{2C6BC1DC-5C47-C513-BD92-3C7AB138FBFD}"/>
              </a:ext>
            </a:extLst>
          </p:cNvPr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Delete  a node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20" name="CustomShape 5">
            <a:extLst>
              <a:ext uri="{FF2B5EF4-FFF2-40B4-BE49-F238E27FC236}">
                <a16:creationId xmlns:a16="http://schemas.microsoft.com/office/drawing/2014/main" id="{BDEA36E9-9635-CFF3-22C9-9FEC640F5920}"/>
              </a:ext>
            </a:extLst>
          </p:cNvPr>
          <p:cNvSpPr/>
          <p:nvPr/>
        </p:nvSpPr>
        <p:spPr>
          <a:xfrm>
            <a:off x="1938284" y="4622818"/>
            <a:ext cx="4994472" cy="51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D5278B-C477-C9FE-51D9-F86C20184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4A39B6-034D-AA95-79E1-E940F3377FB3}"/>
              </a:ext>
            </a:extLst>
          </p:cNvPr>
          <p:cNvSpPr/>
          <p:nvPr/>
        </p:nvSpPr>
        <p:spPr>
          <a:xfrm>
            <a:off x="3444239" y="565401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FF0C4-BFBB-CE91-7151-33AA05011008}"/>
              </a:ext>
            </a:extLst>
          </p:cNvPr>
          <p:cNvSpPr txBox="1"/>
          <p:nvPr/>
        </p:nvSpPr>
        <p:spPr>
          <a:xfrm>
            <a:off x="214964" y="1172143"/>
            <a:ext cx="6458551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2) After </a:t>
            </a:r>
            <a:r>
              <a:rPr lang="en-US" sz="2400" b="1" dirty="0">
                <a:solidFill>
                  <a:schemeClr val="bg1"/>
                </a:solidFill>
              </a:rPr>
              <a:t>a given Node </a:t>
            </a:r>
            <a:r>
              <a:rPr lang="en-US" sz="2400" b="1" dirty="0">
                <a:solidFill>
                  <a:srgbClr val="002060"/>
                </a:solidFill>
              </a:rPr>
              <a:t>of the linked list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7F7C6-214B-01FE-38FC-D0772FA7A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12" y="1748783"/>
            <a:ext cx="1067901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5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8D97-18CE-D463-70EC-AD8944ED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>
            <a:extLst>
              <a:ext uri="{FF2B5EF4-FFF2-40B4-BE49-F238E27FC236}">
                <a16:creationId xmlns:a16="http://schemas.microsoft.com/office/drawing/2014/main" id="{7DFF273A-AD19-ED45-B2C7-C52D47EC583A}"/>
              </a:ext>
            </a:extLst>
          </p:cNvPr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Delete  a node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06A2E9-8D01-210A-5D22-2B6E7195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1828E4-CD46-1350-7490-0DA493A49D69}"/>
              </a:ext>
            </a:extLst>
          </p:cNvPr>
          <p:cNvSpPr/>
          <p:nvPr/>
        </p:nvSpPr>
        <p:spPr>
          <a:xfrm>
            <a:off x="3444239" y="565401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079EB-2EB5-9531-2C3A-C9AA6F7D9FBC}"/>
              </a:ext>
            </a:extLst>
          </p:cNvPr>
          <p:cNvSpPr txBox="1"/>
          <p:nvPr/>
        </p:nvSpPr>
        <p:spPr>
          <a:xfrm>
            <a:off x="326001" y="1197989"/>
            <a:ext cx="4703199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3) At the </a:t>
            </a:r>
            <a:r>
              <a:rPr lang="en-US" sz="2400" b="1" dirty="0">
                <a:solidFill>
                  <a:schemeClr val="bg1"/>
                </a:solidFill>
              </a:rPr>
              <a:t>end</a:t>
            </a:r>
            <a:r>
              <a:rPr lang="en-US" sz="2400" b="1" dirty="0">
                <a:solidFill>
                  <a:srgbClr val="002060"/>
                </a:solidFill>
              </a:rPr>
              <a:t> of the linked list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14367-A9DF-2861-D414-66A93A727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668" y="1647984"/>
            <a:ext cx="7150331" cy="484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BE95-FCBD-5C40-17E0-534880443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>
            <a:extLst>
              <a:ext uri="{FF2B5EF4-FFF2-40B4-BE49-F238E27FC236}">
                <a16:creationId xmlns:a16="http://schemas.microsoft.com/office/drawing/2014/main" id="{DC088C83-FEA1-2867-E10E-4CFD1410845A}"/>
              </a:ext>
            </a:extLst>
          </p:cNvPr>
          <p:cNvSpPr/>
          <p:nvPr/>
        </p:nvSpPr>
        <p:spPr>
          <a:xfrm>
            <a:off x="1638925" y="-10160"/>
            <a:ext cx="8914150" cy="106732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Linked List  Implementation</a:t>
            </a:r>
          </a:p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(</a:t>
            </a:r>
            <a:r>
              <a:rPr lang="en-US" sz="3200" b="1" u="sng" cap="all" spc="-10" dirty="0">
                <a:solidFill>
                  <a:srgbClr val="C00000"/>
                </a:solidFill>
                <a:latin typeface="Arial"/>
                <a:ea typeface="+mj-ea"/>
                <a:cs typeface="Arial"/>
              </a:rPr>
              <a:t>Main</a:t>
            </a: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8BA858-945C-6DF2-AF05-07B99B65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7429D5-D817-1FD5-A498-49B22E84DA61}"/>
              </a:ext>
            </a:extLst>
          </p:cNvPr>
          <p:cNvSpPr/>
          <p:nvPr/>
        </p:nvSpPr>
        <p:spPr>
          <a:xfrm>
            <a:off x="3444239" y="565401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FD8F7F-3E55-0536-397A-B28A5011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087" y="1187383"/>
            <a:ext cx="7575193" cy="521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1"/>
          <p:cNvSpPr/>
          <p:nvPr/>
        </p:nvSpPr>
        <p:spPr>
          <a:xfrm>
            <a:off x="741680" y="1770094"/>
            <a:ext cx="10861038" cy="2934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404" spc="-1" dirty="0">
                <a:solidFill>
                  <a:srgbClr val="000000"/>
                </a:solidFill>
                <a:ea typeface="DejaVu Sans"/>
              </a:rPr>
              <a:t>Sometimes it is convenient to </a:t>
            </a:r>
            <a:r>
              <a:rPr lang="en-US" sz="2404" spc="-1" dirty="0">
                <a:solidFill>
                  <a:srgbClr val="0070C0"/>
                </a:solidFill>
                <a:ea typeface="DejaVu Sans"/>
              </a:rPr>
              <a:t>traverse lists backwards</a:t>
            </a:r>
            <a:r>
              <a:rPr lang="en-US" sz="2404" spc="-1" dirty="0">
                <a:solidFill>
                  <a:srgbClr val="000000"/>
                </a:solidFill>
                <a:ea typeface="DejaVu Sans"/>
              </a:rPr>
              <a:t>. </a:t>
            </a:r>
            <a:endParaRPr lang="en-US" sz="2404" spc="-1" dirty="0"/>
          </a:p>
          <a:p>
            <a:pPr marL="311242" indent="-309936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404" spc="-1" dirty="0">
                <a:solidFill>
                  <a:srgbClr val="000000"/>
                </a:solidFill>
                <a:ea typeface="DejaVu Sans"/>
              </a:rPr>
              <a:t>The solution is simple. Merely </a:t>
            </a:r>
            <a:r>
              <a:rPr lang="en-US" sz="2404" b="1" spc="-1" dirty="0">
                <a:solidFill>
                  <a:srgbClr val="000000"/>
                </a:solidFill>
                <a:ea typeface="DejaVu Sans"/>
              </a:rPr>
              <a:t>add an extra field to the data structure, containing a pointer to the previous cell</a:t>
            </a:r>
            <a:r>
              <a:rPr lang="en-US" sz="2404" spc="-1" dirty="0">
                <a:solidFill>
                  <a:srgbClr val="000000"/>
                </a:solidFill>
                <a:ea typeface="DejaVu Sans"/>
              </a:rPr>
              <a:t>. The cost of this is an extra link, which adds to the space requirement and also doubles the cost of insertions and deletions because there are more pointers to fix.</a:t>
            </a:r>
            <a:endParaRPr lang="en-US" sz="2404" spc="-1" dirty="0"/>
          </a:p>
        </p:txBody>
      </p:sp>
      <p:sp>
        <p:nvSpPr>
          <p:cNvPr id="398" name="CustomShape 2"/>
          <p:cNvSpPr/>
          <p:nvPr/>
        </p:nvSpPr>
        <p:spPr>
          <a:xfrm>
            <a:off x="1701338" y="579527"/>
            <a:ext cx="8563398" cy="6280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Doubly Linked Lists</a:t>
            </a:r>
          </a:p>
        </p:txBody>
      </p:sp>
      <p:sp>
        <p:nvSpPr>
          <p:cNvPr id="399" name="Line 3"/>
          <p:cNvSpPr/>
          <p:nvPr/>
        </p:nvSpPr>
        <p:spPr>
          <a:xfrm>
            <a:off x="2362192" y="5119554"/>
            <a:ext cx="609408" cy="0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00" name="Line 4"/>
          <p:cNvSpPr/>
          <p:nvPr/>
        </p:nvSpPr>
        <p:spPr>
          <a:xfrm>
            <a:off x="2342923" y="5100612"/>
            <a:ext cx="0" cy="228610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01" name="Line 5"/>
          <p:cNvSpPr/>
          <p:nvPr/>
        </p:nvSpPr>
        <p:spPr>
          <a:xfrm>
            <a:off x="2161995" y="5348164"/>
            <a:ext cx="381125" cy="0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02" name="Line 6"/>
          <p:cNvSpPr/>
          <p:nvPr/>
        </p:nvSpPr>
        <p:spPr>
          <a:xfrm>
            <a:off x="2238089" y="5443527"/>
            <a:ext cx="228610" cy="0"/>
          </a:xfrm>
          <a:prstGeom prst="line">
            <a:avLst/>
          </a:prstGeom>
          <a:ln w="1908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03" name="CustomShape 7"/>
          <p:cNvSpPr/>
          <p:nvPr/>
        </p:nvSpPr>
        <p:spPr>
          <a:xfrm>
            <a:off x="4495775" y="5410216"/>
            <a:ext cx="3170492" cy="39098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spAutoFit/>
          </a:bodyPr>
          <a:lstStyle/>
          <a:p>
            <a:pPr algn="ctr">
              <a:spcBef>
                <a:spcPts val="1001"/>
              </a:spcBef>
            </a:pPr>
            <a:r>
              <a:rPr lang="en-US" sz="2005" spc="-1">
                <a:solidFill>
                  <a:srgbClr val="000000"/>
                </a:solidFill>
                <a:latin typeface="Calibri"/>
                <a:ea typeface="DejaVu Sans"/>
              </a:rPr>
              <a:t>A doubly linked list</a:t>
            </a:r>
            <a:endParaRPr lang="en-US" sz="2005" spc="-1">
              <a:latin typeface="Arial"/>
            </a:endParaRPr>
          </a:p>
        </p:txBody>
      </p:sp>
      <p:grpSp>
        <p:nvGrpSpPr>
          <p:cNvPr id="404" name="Group 8"/>
          <p:cNvGrpSpPr/>
          <p:nvPr/>
        </p:nvGrpSpPr>
        <p:grpSpPr>
          <a:xfrm>
            <a:off x="2819412" y="4952996"/>
            <a:ext cx="913133" cy="395168"/>
            <a:chOff x="1428480" y="5459760"/>
            <a:chExt cx="1006560" cy="435600"/>
          </a:xfrm>
        </p:grpSpPr>
        <p:sp>
          <p:nvSpPr>
            <p:cNvPr id="405" name="CustomShape 9"/>
            <p:cNvSpPr/>
            <p:nvPr/>
          </p:nvSpPr>
          <p:spPr>
            <a:xfrm>
              <a:off x="1428480" y="5475600"/>
              <a:ext cx="1006560" cy="418680"/>
            </a:xfrm>
            <a:prstGeom prst="rect">
              <a:avLst/>
            </a:prstGeom>
            <a:noFill/>
            <a:ln w="936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06" name="Line 10"/>
            <p:cNvSpPr/>
            <p:nvPr/>
          </p:nvSpPr>
          <p:spPr>
            <a:xfrm>
              <a:off x="218412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07" name="Line 11"/>
            <p:cNvSpPr/>
            <p:nvPr/>
          </p:nvSpPr>
          <p:spPr>
            <a:xfrm>
              <a:off x="167976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08" name="CustomShape 12"/>
            <p:cNvSpPr/>
            <p:nvPr/>
          </p:nvSpPr>
          <p:spPr>
            <a:xfrm>
              <a:off x="1680480" y="5459760"/>
              <a:ext cx="502560" cy="367877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i="1" spc="-1">
                  <a:solidFill>
                    <a:srgbClr val="000000"/>
                  </a:solidFill>
                  <a:latin typeface="Calibri"/>
                  <a:ea typeface="DejaVu Sans"/>
                </a:rPr>
                <a:t>A</a:t>
              </a:r>
              <a:r>
                <a:rPr lang="en-US" sz="1633" spc="-1" baseline="-25000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US" sz="1633" spc="-1">
                <a:latin typeface="Arial"/>
              </a:endParaRPr>
            </a:p>
          </p:txBody>
        </p:sp>
      </p:grpSp>
      <p:grpSp>
        <p:nvGrpSpPr>
          <p:cNvPr id="409" name="Group 13"/>
          <p:cNvGrpSpPr/>
          <p:nvPr/>
        </p:nvGrpSpPr>
        <p:grpSpPr>
          <a:xfrm>
            <a:off x="4267165" y="4952996"/>
            <a:ext cx="913133" cy="395168"/>
            <a:chOff x="3024360" y="5459760"/>
            <a:chExt cx="1006560" cy="435600"/>
          </a:xfrm>
        </p:grpSpPr>
        <p:sp>
          <p:nvSpPr>
            <p:cNvPr id="410" name="CustomShape 14"/>
            <p:cNvSpPr/>
            <p:nvPr/>
          </p:nvSpPr>
          <p:spPr>
            <a:xfrm>
              <a:off x="3024360" y="5475600"/>
              <a:ext cx="1006560" cy="418680"/>
            </a:xfrm>
            <a:prstGeom prst="rect">
              <a:avLst/>
            </a:prstGeom>
            <a:noFill/>
            <a:ln w="936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11" name="Line 15"/>
            <p:cNvSpPr/>
            <p:nvPr/>
          </p:nvSpPr>
          <p:spPr>
            <a:xfrm>
              <a:off x="378036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12" name="Line 16"/>
            <p:cNvSpPr/>
            <p:nvPr/>
          </p:nvSpPr>
          <p:spPr>
            <a:xfrm>
              <a:off x="327636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13" name="CustomShape 17"/>
            <p:cNvSpPr/>
            <p:nvPr/>
          </p:nvSpPr>
          <p:spPr>
            <a:xfrm>
              <a:off x="3276360" y="5459760"/>
              <a:ext cx="502560" cy="367877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i="1" spc="-1">
                  <a:solidFill>
                    <a:srgbClr val="000000"/>
                  </a:solidFill>
                  <a:latin typeface="Calibri"/>
                  <a:ea typeface="DejaVu Sans"/>
                </a:rPr>
                <a:t>A</a:t>
              </a:r>
              <a:r>
                <a:rPr lang="en-US" sz="1633" spc="-1" baseline="-25000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US" sz="1633" spc="-1">
                <a:latin typeface="Arial"/>
              </a:endParaRPr>
            </a:p>
          </p:txBody>
        </p:sp>
      </p:grpSp>
      <p:grpSp>
        <p:nvGrpSpPr>
          <p:cNvPr id="414" name="Group 18"/>
          <p:cNvGrpSpPr/>
          <p:nvPr/>
        </p:nvGrpSpPr>
        <p:grpSpPr>
          <a:xfrm>
            <a:off x="5714918" y="4952996"/>
            <a:ext cx="913133" cy="395168"/>
            <a:chOff x="4620240" y="5459760"/>
            <a:chExt cx="1006560" cy="435600"/>
          </a:xfrm>
        </p:grpSpPr>
        <p:sp>
          <p:nvSpPr>
            <p:cNvPr id="415" name="CustomShape 19"/>
            <p:cNvSpPr/>
            <p:nvPr/>
          </p:nvSpPr>
          <p:spPr>
            <a:xfrm>
              <a:off x="4620240" y="5475600"/>
              <a:ext cx="1006560" cy="418680"/>
            </a:xfrm>
            <a:prstGeom prst="rect">
              <a:avLst/>
            </a:prstGeom>
            <a:noFill/>
            <a:ln w="936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16" name="Line 20"/>
            <p:cNvSpPr/>
            <p:nvPr/>
          </p:nvSpPr>
          <p:spPr>
            <a:xfrm>
              <a:off x="537624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17" name="Line 21"/>
            <p:cNvSpPr/>
            <p:nvPr/>
          </p:nvSpPr>
          <p:spPr>
            <a:xfrm>
              <a:off x="487224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18" name="CustomShape 22"/>
            <p:cNvSpPr/>
            <p:nvPr/>
          </p:nvSpPr>
          <p:spPr>
            <a:xfrm>
              <a:off x="4872240" y="5459760"/>
              <a:ext cx="502560" cy="367877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i="1" spc="-1">
                  <a:solidFill>
                    <a:srgbClr val="000000"/>
                  </a:solidFill>
                  <a:latin typeface="Calibri"/>
                  <a:ea typeface="DejaVu Sans"/>
                </a:rPr>
                <a:t>A</a:t>
              </a:r>
              <a:r>
                <a:rPr lang="en-US" sz="1633" spc="-1" baseline="-25000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US" sz="1633" spc="-1">
                <a:latin typeface="Arial"/>
              </a:endParaRPr>
            </a:p>
          </p:txBody>
        </p:sp>
      </p:grpSp>
      <p:grpSp>
        <p:nvGrpSpPr>
          <p:cNvPr id="419" name="Group 23"/>
          <p:cNvGrpSpPr/>
          <p:nvPr/>
        </p:nvGrpSpPr>
        <p:grpSpPr>
          <a:xfrm>
            <a:off x="7239093" y="4952996"/>
            <a:ext cx="913133" cy="395168"/>
            <a:chOff x="6300360" y="5459760"/>
            <a:chExt cx="1006560" cy="435600"/>
          </a:xfrm>
        </p:grpSpPr>
        <p:sp>
          <p:nvSpPr>
            <p:cNvPr id="420" name="CustomShape 24"/>
            <p:cNvSpPr/>
            <p:nvPr/>
          </p:nvSpPr>
          <p:spPr>
            <a:xfrm>
              <a:off x="6300360" y="5475600"/>
              <a:ext cx="1006560" cy="418680"/>
            </a:xfrm>
            <a:prstGeom prst="rect">
              <a:avLst/>
            </a:prstGeom>
            <a:noFill/>
            <a:ln w="936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21" name="Line 25"/>
            <p:cNvSpPr/>
            <p:nvPr/>
          </p:nvSpPr>
          <p:spPr>
            <a:xfrm>
              <a:off x="705564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22" name="Line 26"/>
            <p:cNvSpPr/>
            <p:nvPr/>
          </p:nvSpPr>
          <p:spPr>
            <a:xfrm>
              <a:off x="655164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23" name="CustomShape 27"/>
            <p:cNvSpPr/>
            <p:nvPr/>
          </p:nvSpPr>
          <p:spPr>
            <a:xfrm>
              <a:off x="6552360" y="5459760"/>
              <a:ext cx="502560" cy="367877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i="1" spc="-1">
                  <a:solidFill>
                    <a:srgbClr val="000000"/>
                  </a:solidFill>
                  <a:latin typeface="Calibri"/>
                  <a:ea typeface="DejaVu Sans"/>
                </a:rPr>
                <a:t>A</a:t>
              </a:r>
              <a:r>
                <a:rPr lang="en-US" sz="1633" spc="-1" baseline="-25000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US" sz="1633" spc="-1">
                <a:latin typeface="Arial"/>
              </a:endParaRPr>
            </a:p>
          </p:txBody>
        </p:sp>
      </p:grpSp>
      <p:grpSp>
        <p:nvGrpSpPr>
          <p:cNvPr id="424" name="Group 28"/>
          <p:cNvGrpSpPr/>
          <p:nvPr/>
        </p:nvGrpSpPr>
        <p:grpSpPr>
          <a:xfrm>
            <a:off x="8686846" y="4952996"/>
            <a:ext cx="913133" cy="395168"/>
            <a:chOff x="7896240" y="5459760"/>
            <a:chExt cx="1006560" cy="435600"/>
          </a:xfrm>
        </p:grpSpPr>
        <p:sp>
          <p:nvSpPr>
            <p:cNvPr id="425" name="CustomShape 29"/>
            <p:cNvSpPr/>
            <p:nvPr/>
          </p:nvSpPr>
          <p:spPr>
            <a:xfrm>
              <a:off x="7896240" y="5475600"/>
              <a:ext cx="1006560" cy="418680"/>
            </a:xfrm>
            <a:prstGeom prst="rect">
              <a:avLst/>
            </a:prstGeom>
            <a:noFill/>
            <a:ln w="936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26" name="Line 30"/>
            <p:cNvSpPr/>
            <p:nvPr/>
          </p:nvSpPr>
          <p:spPr>
            <a:xfrm>
              <a:off x="865188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27" name="Line 31"/>
            <p:cNvSpPr/>
            <p:nvPr/>
          </p:nvSpPr>
          <p:spPr>
            <a:xfrm>
              <a:off x="8147880" y="5475240"/>
              <a:ext cx="0" cy="42012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28" name="CustomShape 32"/>
            <p:cNvSpPr/>
            <p:nvPr/>
          </p:nvSpPr>
          <p:spPr>
            <a:xfrm>
              <a:off x="8148240" y="5459760"/>
              <a:ext cx="502560" cy="367877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545"/>
                </a:spcBef>
              </a:pPr>
              <a:r>
                <a:rPr lang="en-US" sz="1633" i="1" spc="-1">
                  <a:solidFill>
                    <a:srgbClr val="000000"/>
                  </a:solidFill>
                  <a:latin typeface="Calibri"/>
                  <a:ea typeface="DejaVu Sans"/>
                </a:rPr>
                <a:t>A</a:t>
              </a:r>
              <a:r>
                <a:rPr lang="en-US" sz="1633" spc="-1" baseline="-25000">
                  <a:solidFill>
                    <a:srgbClr val="000000"/>
                  </a:solidFill>
                  <a:latin typeface="Calibri"/>
                  <a:ea typeface="DejaVu Sans"/>
                </a:rPr>
                <a:t>5</a:t>
              </a:r>
              <a:endParaRPr lang="en-US" sz="1633" spc="-1">
                <a:latin typeface="Arial"/>
              </a:endParaRPr>
            </a:p>
          </p:txBody>
        </p:sp>
      </p:grpSp>
      <p:sp>
        <p:nvSpPr>
          <p:cNvPr id="429" name="Line 33"/>
          <p:cNvSpPr/>
          <p:nvPr/>
        </p:nvSpPr>
        <p:spPr>
          <a:xfrm>
            <a:off x="3581336" y="5090815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30" name="Line 34"/>
          <p:cNvSpPr/>
          <p:nvPr/>
        </p:nvSpPr>
        <p:spPr>
          <a:xfrm flipH="1">
            <a:off x="3733525" y="5243330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31" name="Line 35"/>
          <p:cNvSpPr/>
          <p:nvPr/>
        </p:nvSpPr>
        <p:spPr>
          <a:xfrm>
            <a:off x="5029089" y="5086243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32" name="Line 36"/>
          <p:cNvSpPr/>
          <p:nvPr/>
        </p:nvSpPr>
        <p:spPr>
          <a:xfrm flipH="1">
            <a:off x="5181278" y="5238431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33" name="Line 37"/>
          <p:cNvSpPr/>
          <p:nvPr/>
        </p:nvSpPr>
        <p:spPr>
          <a:xfrm>
            <a:off x="6510154" y="5086243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34" name="Line 38"/>
          <p:cNvSpPr/>
          <p:nvPr/>
        </p:nvSpPr>
        <p:spPr>
          <a:xfrm flipH="1">
            <a:off x="6662670" y="5238431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35" name="Line 39"/>
          <p:cNvSpPr/>
          <p:nvPr/>
        </p:nvSpPr>
        <p:spPr>
          <a:xfrm>
            <a:off x="8000690" y="5090815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436" name="Line 40"/>
          <p:cNvSpPr/>
          <p:nvPr/>
        </p:nvSpPr>
        <p:spPr>
          <a:xfrm flipH="1">
            <a:off x="8153206" y="5243330"/>
            <a:ext cx="685829" cy="0"/>
          </a:xfrm>
          <a:prstGeom prst="line">
            <a:avLst/>
          </a:prstGeom>
          <a:ln w="19080">
            <a:solidFill>
              <a:schemeClr val="tx1"/>
            </a:solidFill>
            <a:round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grpSp>
        <p:nvGrpSpPr>
          <p:cNvPr id="437" name="Group 41"/>
          <p:cNvGrpSpPr/>
          <p:nvPr/>
        </p:nvGrpSpPr>
        <p:grpSpPr>
          <a:xfrm>
            <a:off x="9467712" y="5129025"/>
            <a:ext cx="809605" cy="342915"/>
            <a:chOff x="8757000" y="5653800"/>
            <a:chExt cx="892440" cy="378000"/>
          </a:xfrm>
        </p:grpSpPr>
        <p:sp>
          <p:nvSpPr>
            <p:cNvPr id="438" name="Line 42"/>
            <p:cNvSpPr/>
            <p:nvPr/>
          </p:nvSpPr>
          <p:spPr>
            <a:xfrm>
              <a:off x="8757000" y="5669640"/>
              <a:ext cx="672120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39" name="Line 43"/>
            <p:cNvSpPr/>
            <p:nvPr/>
          </p:nvSpPr>
          <p:spPr>
            <a:xfrm>
              <a:off x="9429120" y="5653800"/>
              <a:ext cx="0" cy="25200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40" name="Line 44"/>
            <p:cNvSpPr/>
            <p:nvPr/>
          </p:nvSpPr>
          <p:spPr>
            <a:xfrm>
              <a:off x="9229320" y="5926680"/>
              <a:ext cx="420120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441" name="Line 45"/>
            <p:cNvSpPr/>
            <p:nvPr/>
          </p:nvSpPr>
          <p:spPr>
            <a:xfrm>
              <a:off x="9313560" y="6031800"/>
              <a:ext cx="252000" cy="0"/>
            </a:xfrm>
            <a:prstGeom prst="line">
              <a:avLst/>
            </a:prstGeom>
            <a:ln w="1908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398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3688050" y="106681"/>
            <a:ext cx="6514684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000"/>
            </a:pPr>
            <a:r>
              <a:rPr lang="en-US" sz="3200" b="1" cap="all" spc="-10" dirty="0">
                <a:solidFill>
                  <a:srgbClr val="0070C0"/>
                </a:solidFill>
                <a:ea typeface="+mj-ea"/>
              </a:rPr>
              <a:t>Array vs. Linked List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074852"/>
              </p:ext>
            </p:extLst>
          </p:nvPr>
        </p:nvGraphicFramePr>
        <p:xfrm>
          <a:off x="985520" y="1023727"/>
          <a:ext cx="10556240" cy="473621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Array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Linked List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dirty="0"/>
                        <a:t>Arrays are a linear data structure that store data items in contiguous locations.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dirty="0"/>
                        <a:t>Linked Lists are a linear data structure that does not store data items in contiguous memory locations.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Arrays have fixed size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Linked list size is dynamic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Insertion of new element is expensive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Insertion/deletion is easier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Random access is allowed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Random access not possible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Elements are at contiguous location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Elements have non-contiguous location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No extra space is required for the next pointer.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Extra memory space required for next pointer.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9577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2891998" y="233681"/>
            <a:ext cx="6590884" cy="856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accent1"/>
              </a:buClr>
              <a:buSzPts val="2000"/>
            </a:pPr>
            <a:r>
              <a:rPr lang="en-US" sz="3200" b="1" cap="all" spc="-10" dirty="0">
                <a:solidFill>
                  <a:srgbClr val="0070C0"/>
                </a:solidFill>
                <a:ea typeface="+mj-ea"/>
              </a:rPr>
              <a:t> Applications of Linked Lists in real world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11480" y="1580672"/>
            <a:ext cx="11038840" cy="279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n-lt"/>
              </a:rPr>
              <a:t>The list of songs in the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music player </a:t>
            </a:r>
            <a:r>
              <a:rPr lang="en-US" sz="2400" dirty="0">
                <a:latin typeface="+mn-lt"/>
              </a:rPr>
              <a:t>are linked to the previous and next songs. </a:t>
            </a: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n-lt"/>
              </a:rPr>
              <a:t>In a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web browser</a:t>
            </a:r>
            <a:r>
              <a:rPr lang="en-US" sz="2400" dirty="0">
                <a:latin typeface="+mn-lt"/>
              </a:rPr>
              <a:t>, previous and next web page URLs are linked through the previous and next buttons.</a:t>
            </a: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+mn-lt"/>
              </a:rPr>
              <a:t>In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image viewer</a:t>
            </a:r>
            <a:r>
              <a:rPr lang="en-US" sz="2400" dirty="0">
                <a:latin typeface="+mn-lt"/>
              </a:rPr>
              <a:t>, the previous and next images are linked with the help of the previous and next buttons.</a:t>
            </a:r>
          </a:p>
        </p:txBody>
      </p:sp>
    </p:spTree>
    <p:extLst>
      <p:ext uri="{BB962C8B-B14F-4D97-AF65-F5344CB8AC3E}">
        <p14:creationId xmlns:p14="http://schemas.microsoft.com/office/powerpoint/2010/main" val="13397483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79263" cy="5676901"/>
          </a:xfrm>
          <a:prstGeom prst="rect">
            <a:avLst/>
          </a:prstGeom>
        </p:spPr>
      </p:pic>
      <p:pic>
        <p:nvPicPr>
          <p:cNvPr id="6" name="Picture 5" descr="&lt;strong&gt;Thank you PNG&lt;/strong&gt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73" y="3928010"/>
            <a:ext cx="3543824" cy="8859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B2DC1F-F7EA-6225-D949-BFC44BE51E8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290" y="1005839"/>
            <a:ext cx="2713990" cy="978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5C8BF1-B0E4-49A1-808F-40F2AD30E743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1294</TotalTime>
  <Words>1666</Words>
  <Application>Microsoft Office PowerPoint</Application>
  <PresentationFormat>Widescreen</PresentationFormat>
  <Paragraphs>278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MS PGothic</vt:lpstr>
      <vt:lpstr>Arial</vt:lpstr>
      <vt:lpstr>Calibri</vt:lpstr>
      <vt:lpstr>Consolas</vt:lpstr>
      <vt:lpstr>Courier New</vt:lpstr>
      <vt:lpstr>DejaVu Sans</vt:lpstr>
      <vt:lpstr>Gill Sans MT</vt:lpstr>
      <vt:lpstr>StarSymbol</vt:lpstr>
      <vt:lpstr>Symbol</vt:lpstr>
      <vt:lpstr>Times New Roman</vt:lpstr>
      <vt:lpstr>Wingdings</vt:lpstr>
      <vt:lpstr>Wingdings 2</vt:lpstr>
      <vt:lpstr>Dividend</vt:lpstr>
      <vt:lpstr>Lecture 5     Lists &amp; Linked Lists </vt:lpstr>
      <vt:lpstr>Course 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DR-Yasser Elawady</dc:creator>
  <cp:lastModifiedBy>Yasser Hamed Ahmed El-Awady</cp:lastModifiedBy>
  <cp:revision>25</cp:revision>
  <dcterms:created xsi:type="dcterms:W3CDTF">2020-10-08T13:37:14Z</dcterms:created>
  <dcterms:modified xsi:type="dcterms:W3CDTF">2025-10-27T22:01:26Z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