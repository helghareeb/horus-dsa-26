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36"/>
  </p:notesMasterIdLst>
  <p:handoutMasterIdLst>
    <p:handoutMasterId r:id="rId37"/>
  </p:handoutMasterIdLst>
  <p:sldIdLst>
    <p:sldId id="841" r:id="rId5"/>
    <p:sldId id="838" r:id="rId6"/>
    <p:sldId id="257" r:id="rId7"/>
    <p:sldId id="258" r:id="rId8"/>
    <p:sldId id="259" r:id="rId9"/>
    <p:sldId id="906" r:id="rId10"/>
    <p:sldId id="264" r:id="rId11"/>
    <p:sldId id="265" r:id="rId12"/>
    <p:sldId id="266" r:id="rId13"/>
    <p:sldId id="267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95" r:id="rId28"/>
    <p:sldId id="296" r:id="rId29"/>
    <p:sldId id="303" r:id="rId30"/>
    <p:sldId id="298" r:id="rId31"/>
    <p:sldId id="299" r:id="rId32"/>
    <p:sldId id="300" r:id="rId33"/>
    <p:sldId id="301" r:id="rId34"/>
    <p:sldId id="26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D950-34DE-4DEA-8DA7-BD7E7C1DCC03}">
          <p14:sldIdLst>
            <p14:sldId id="841"/>
            <p14:sldId id="838"/>
          </p14:sldIdLst>
        </p14:section>
        <p14:section name="Default Section" id="{072ABBF4-93B1-44E9-AA79-C9E5443176EE}">
          <p14:sldIdLst>
            <p14:sldId id="257"/>
            <p14:sldId id="258"/>
            <p14:sldId id="259"/>
            <p14:sldId id="906"/>
            <p14:sldId id="264"/>
            <p14:sldId id="265"/>
            <p14:sldId id="266"/>
            <p14:sldId id="267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95"/>
            <p14:sldId id="296"/>
            <p14:sldId id="303"/>
            <p14:sldId id="298"/>
            <p14:sldId id="299"/>
            <p14:sldId id="300"/>
            <p14:sldId id="30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700" y="44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ist_of_prime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en.wikipedia.org/wiki/Square_root" TargetMode="External"/><Relationship Id="rId4" Type="http://schemas.openxmlformats.org/officeDocument/2006/relationships/hyperlink" Target="http://en.wikipedia.org/wiki/Trial_division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F15BC-4AA1-41C4-8C26-91A7E3BB93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 YASSER ELAWADY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628D-2237-D3B6-E939-D4BC22E6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476A574-E3F6-17D1-D59F-42063AC0C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43F5238-3F15-0260-6701-2F9AD3DF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13E203C9-F044-449B-9AAC-5CC572BA283F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4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D018018-2E38-4549-B522-27629DC09255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360"/>
              </a:spcBef>
            </a:pPr>
            <a:r>
              <a:rPr lang="en-US" sz="2000" b="0" strike="noStrike" spc="-1" dirty="0">
                <a:latin typeface="Times New Roman"/>
              </a:rPr>
              <a:t>In other words, a data structure is a way of organizing all data items that considers not only the elements stored but also their relationship to each other.</a:t>
            </a:r>
            <a:endParaRPr lang="en-US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</a:pPr>
            <a:r>
              <a:rPr lang="en-US" sz="2000" b="0" strike="noStrike" spc="-1" dirty="0">
                <a:latin typeface="Times New Roman"/>
              </a:rPr>
              <a:t>Data structure affects the design of both structural &amp; functional aspects of a program.</a:t>
            </a:r>
            <a:endParaRPr lang="en-US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348" name="CustomShape 3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5E52583-029B-48C3-848F-61A5BCCB8684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5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ADEBF669-7051-4495-B8EA-6D59049D8B0C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5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0" strike="noStrike" spc="-1" dirty="0">
                <a:latin typeface="Arial"/>
              </a:rPr>
              <a:t>Basic operation : the operation contributing most of the running time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3AD532F2-80BD-43D1-849E-5C8D357312F5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6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Check if a number is prime or not :</a:t>
            </a:r>
          </a:p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- In practice, one often wants to check whether a given number is prime, rather than generate a </a:t>
            </a:r>
            <a:r>
              <a:rPr lang="en-US" sz="2000" b="0" u="sng" strike="noStrike" spc="-1">
                <a:solidFill>
                  <a:srgbClr val="000000"/>
                </a:solidFill>
                <a:uFillTx/>
                <a:latin typeface="Arial"/>
                <a:hlinkClick r:id="rId3"/>
              </a:rPr>
              <a:t>list of primes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as the two mentioned sieve algorithms do. </a:t>
            </a: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- The most basic method to do this, known as </a:t>
            </a:r>
            <a:r>
              <a:rPr lang="en-US" sz="2000" b="0" u="sng" strike="noStrike" spc="-1">
                <a:solidFill>
                  <a:srgbClr val="000000"/>
                </a:solidFill>
                <a:uFillTx/>
                <a:latin typeface="Arial"/>
                <a:hlinkClick r:id="rId4"/>
              </a:rPr>
              <a:t>trial division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works as follows: given a number </a:t>
            </a: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one divides </a:t>
            </a: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by all numbers </a:t>
            </a: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m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less than or equal to the </a:t>
            </a:r>
            <a:r>
              <a:rPr lang="en-US" sz="2000" b="0" u="sng" strike="noStrike" spc="-1">
                <a:solidFill>
                  <a:srgbClr val="000000"/>
                </a:solidFill>
                <a:uFillTx/>
                <a:latin typeface="Arial"/>
                <a:hlinkClick r:id="rId5"/>
              </a:rPr>
              <a:t>square root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of that number. If any of the divisions come out as an integer, then the original number is not a prime. Otherwise, it is a prime.</a:t>
            </a: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366" name="CustomShape 3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EBCD1FA7-5018-473F-9624-AA384D3D3A18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7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7560" cy="4525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B5730EF-4080-4EBE-AF2D-C777B8D73152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7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Example: </a:t>
            </a:r>
            <a:r>
              <a:rPr lang="en-US" sz="2000" b="0" i="1" strike="noStrike" spc="-1">
                <a:latin typeface="Arial"/>
              </a:rPr>
              <a:t>cn</a:t>
            </a:r>
            <a:r>
              <a:rPr lang="en-US" sz="2000" b="0" i="1" strike="noStrike" spc="-1" baseline="30000">
                <a:latin typeface="Arial"/>
              </a:rPr>
              <a:t>2</a:t>
            </a: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 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faster on twice as fast computer? (2)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longer for 2</a:t>
            </a:r>
            <a:r>
              <a:rPr lang="en-US" sz="2000" b="0" i="1" strike="noStrike" spc="-1">
                <a:latin typeface="Arial"/>
              </a:rPr>
              <a:t>n</a:t>
            </a:r>
            <a:r>
              <a:rPr lang="en-US" sz="2000" b="0" strike="noStrike" spc="-1">
                <a:latin typeface="Arial"/>
              </a:rPr>
              <a:t>? (4)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1B96B0F6-9075-42B8-99EA-90D40516D5CC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8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Example: </a:t>
            </a:r>
            <a:r>
              <a:rPr lang="en-US" sz="2000" b="0" i="1" strike="noStrike" spc="-1">
                <a:latin typeface="Arial"/>
              </a:rPr>
              <a:t>cn</a:t>
            </a:r>
            <a:r>
              <a:rPr lang="en-US" sz="2000" b="0" i="1" strike="noStrike" spc="-1" baseline="30000">
                <a:latin typeface="Arial"/>
              </a:rPr>
              <a:t>2</a:t>
            </a: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 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faster on twice as fast computer? (2)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longer for 2</a:t>
            </a:r>
            <a:r>
              <a:rPr lang="en-US" sz="2000" b="0" i="1" strike="noStrike" spc="-1">
                <a:latin typeface="Arial"/>
              </a:rPr>
              <a:t>n</a:t>
            </a:r>
            <a:r>
              <a:rPr lang="en-US" sz="2000" b="0" strike="noStrike" spc="-1">
                <a:latin typeface="Arial"/>
              </a:rPr>
              <a:t>? (4)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7E21773-65B5-4DAB-A2E8-7CAC17C15B81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8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84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DBCAD983-408D-460F-AF46-F83E2871BBCF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8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87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Example: </a:t>
            </a:r>
            <a:r>
              <a:rPr lang="en-US" sz="2000" b="0" i="1" strike="noStrike" spc="-1">
                <a:latin typeface="Arial"/>
              </a:rPr>
              <a:t>cn</a:t>
            </a:r>
            <a:r>
              <a:rPr lang="en-US" sz="2000" b="0" i="1" strike="noStrike" spc="-1" baseline="30000">
                <a:latin typeface="Arial"/>
              </a:rPr>
              <a:t>2</a:t>
            </a:r>
            <a:endParaRPr lang="en-US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</a:pPr>
            <a:r>
              <a:rPr lang="en-US" sz="2000" b="0" strike="noStrike" spc="-1">
                <a:latin typeface="Arial"/>
              </a:rPr>
              <a:t> 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faster on twice as fast computer? (2)</a:t>
            </a: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ymbol"/>
              <a:buChar char="Þ"/>
            </a:pPr>
            <a:r>
              <a:rPr lang="en-US" sz="2000" b="0" strike="noStrike" spc="-1">
                <a:latin typeface="Arial"/>
              </a:rPr>
              <a:t> how much longer for 2</a:t>
            </a:r>
            <a:r>
              <a:rPr lang="en-US" sz="2000" b="0" i="1" strike="noStrike" spc="-1">
                <a:latin typeface="Arial"/>
              </a:rPr>
              <a:t>n</a:t>
            </a:r>
            <a:r>
              <a:rPr lang="en-US" sz="2000" b="0" strike="noStrike" spc="-1">
                <a:latin typeface="Arial"/>
              </a:rPr>
              <a:t>? (4)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DB12461E-80EC-44D8-927E-7EC856E407F6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8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390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6018E0CF-B204-4885-9F82-9CFB4F493565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9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B6051EA-07CA-4B34-ABBE-BAA8A39152E4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18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9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Upper bound: </a:t>
            </a:r>
            <a:r>
              <a:rPr lang="en-US" sz="2000" b="0" strike="noStrike" spc="-1">
                <a:latin typeface="Arial"/>
              </a:rPr>
              <a:t>it bounds the growth of the running time from above for large enough input sizes.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C312120-DF0B-4FD5-90EF-1945C53AD97F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9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399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7560" cy="4525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653E531-4421-46CB-88C3-BCB82B28A3ED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20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0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402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Lower bound </a:t>
            </a:r>
            <a:r>
              <a:rPr lang="en-US" sz="2000" b="0" strike="noStrike" spc="-1">
                <a:latin typeface="Arial"/>
              </a:rPr>
              <a:t>: it bounds the growth of the running time from below for large enough input sizes.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B493C556-AE22-40B5-9B1A-14AE6A2C02AF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21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0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7560" cy="4525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562A22F-5AA2-48F6-B0A0-6AD3ED43E412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22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0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</a:pPr>
            <a:r>
              <a:rPr lang="en-US" sz="2000" b="1" strike="noStrike" spc="-1">
                <a:latin typeface="Arial"/>
              </a:rPr>
              <a:t>Tight bound 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34B70DF-D245-43CE-BBF0-0EA8DD06110B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24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1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98379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B67AE05B-32E6-4323-B3BC-2398D2774456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25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16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</p:spPr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1036800" y="4777920"/>
            <a:ext cx="5698080" cy="4526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285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4398840" y="9555120"/>
            <a:ext cx="3372840" cy="502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F5379CD-8D07-437A-9862-13AC270D161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26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41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</p:spPr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5760" cy="4525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5868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7AFCF-E54D-E5CE-C191-CEF19C709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3402" y="556293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0701" y="1569250"/>
            <a:ext cx="3789679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B91A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65164" y="2338093"/>
            <a:ext cx="4423409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4521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-25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62954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76684" y="6492875"/>
            <a:ext cx="537564" cy="365125"/>
          </a:xfrm>
        </p:spPr>
        <p:txBody>
          <a:bodyPr/>
          <a:lstStyle>
            <a:lvl1pPr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C5AE351-457C-4431-A86D-BC5A5A7DDEB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14FCA-D669-9944-0F24-CD07B13AAA05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3542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161BB-3643-412C-94A5-FD7AAC805E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66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e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574955"/>
            <a:ext cx="10993549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 4</a:t>
            </a:r>
            <a:r>
              <a:rPr lang="en-US" sz="3600" b="1" dirty="0">
                <a:solidFill>
                  <a:srgbClr val="FFFFCC"/>
                </a:solidFill>
              </a:rPr>
              <a:t>     Complexity </a:t>
            </a:r>
            <a:endParaRPr lang="en-US" sz="36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17374"/>
            <a:ext cx="10993546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1668" y="3704630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177219" y="1250874"/>
            <a:ext cx="721665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DATA STRUCTURE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AND ALGORITHMS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(CS 201)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FD11D-F602-7311-57A0-93A5ECB1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12" y="1005840"/>
            <a:ext cx="3097122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F78-3EA1-A340-B6D7-BDACE2A7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EF8D09-CAA0-3ED5-B328-07E1BFE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53CC887-3396-2A92-1AB4-962382049A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F170-D78D-368F-7E16-E01A0E7AF129}"/>
              </a:ext>
            </a:extLst>
          </p:cNvPr>
          <p:cNvSpPr txBox="1"/>
          <p:nvPr/>
        </p:nvSpPr>
        <p:spPr>
          <a:xfrm>
            <a:off x="416027" y="2036790"/>
            <a:ext cx="11359946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linear data structures</a:t>
            </a:r>
            <a:r>
              <a:rPr lang="en-US" dirty="0">
                <a:solidFill>
                  <a:srgbClr val="002060"/>
                </a:solidFill>
              </a:rPr>
              <a:t> such as arrays and linked lists, performing fundamental operations including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and implement special linear data structures</a:t>
            </a:r>
            <a:r>
              <a:rPr lang="en-US" dirty="0">
                <a:solidFill>
                  <a:srgbClr val="002060"/>
                </a:solidFill>
              </a:rPr>
              <a:t> such as stacks and queues, utilizing their core operations (push, pop, enqueue, and dequeue).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Design and implement basic sorting algorithms</a:t>
            </a:r>
            <a:r>
              <a:rPr lang="en-US" dirty="0">
                <a:solidFill>
                  <a:srgbClr val="002060"/>
                </a:solidFill>
              </a:rPr>
              <a:t> to organize data efficiently.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searching algorithms</a:t>
            </a:r>
            <a:r>
              <a:rPr lang="en-US" dirty="0">
                <a:solidFill>
                  <a:srgbClr val="002060"/>
                </a:solidFill>
              </a:rPr>
              <a:t>, including sequential search, binary search, and hashing techniques.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non-linear data structures</a:t>
            </a:r>
            <a:r>
              <a:rPr lang="en-US" dirty="0">
                <a:solidFill>
                  <a:srgbClr val="002060"/>
                </a:solidFill>
              </a:rPr>
              <a:t>, particularly binary trees and binary search trees, performing key operations such as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Utilize graph data structures</a:t>
            </a:r>
            <a:r>
              <a:rPr lang="en-US" dirty="0">
                <a:solidFill>
                  <a:srgbClr val="002060"/>
                </a:solidFill>
              </a:rPr>
              <a:t> and apply fundamental graph algorithms for problem-solving.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Demonstrate effective teamwork skills</a:t>
            </a:r>
            <a:r>
              <a:rPr lang="en-US" dirty="0">
                <a:solidFill>
                  <a:srgbClr val="002060"/>
                </a:solidFill>
              </a:rPr>
              <a:t> by collaborating within groups to develop algorithmic solutions.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67B8A-EC7B-F750-FF17-513A5853E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1802829" y="469911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Agenda</a:t>
            </a:r>
          </a:p>
        </p:txBody>
      </p:sp>
      <p:sp>
        <p:nvSpPr>
          <p:cNvPr id="161" name="CustomShape 2"/>
          <p:cNvSpPr/>
          <p:nvPr/>
        </p:nvSpPr>
        <p:spPr>
          <a:xfrm>
            <a:off x="8438968" y="6656466"/>
            <a:ext cx="2129337" cy="22109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0" b="1" spc="-1">
                <a:solidFill>
                  <a:srgbClr val="008080"/>
                </a:solidFill>
                <a:latin typeface="Times New Roman"/>
              </a:rPr>
              <a:t>1-</a:t>
            </a:r>
            <a:fld id="{A8627073-73E3-41CD-BF62-1810A7607702}" type="slidenum">
              <a:rPr lang="en-US" sz="1270" b="1" spc="-1">
                <a:solidFill>
                  <a:srgbClr val="008080"/>
                </a:solidFill>
                <a:latin typeface="Times New Roman"/>
              </a:rPr>
              <a:t>3</a:t>
            </a:fld>
            <a:endParaRPr lang="en-US" sz="1270" spc="-1"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2285444" y="1493476"/>
            <a:ext cx="8382469" cy="40375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What is an Algorithm?</a:t>
            </a:r>
            <a:endParaRPr lang="en-US" sz="2903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Data Structures Definition </a:t>
            </a:r>
            <a:endParaRPr lang="en-US" sz="2903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The analysis framework</a:t>
            </a:r>
            <a:endParaRPr lang="en-US" sz="2903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Order of growth </a:t>
            </a:r>
            <a:endParaRPr lang="en-US" sz="2540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Worst case, best case and average case efficiencies </a:t>
            </a:r>
            <a:endParaRPr lang="en-US" sz="2540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Importance of analysis </a:t>
            </a:r>
            <a:endParaRPr lang="en-US" sz="2540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Asymptotic notations and basic efficiency classes </a:t>
            </a:r>
            <a:endParaRPr lang="en-US" sz="2903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1813038" y="479785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What is an Algorithm?</a:t>
            </a:r>
          </a:p>
        </p:txBody>
      </p:sp>
      <p:sp>
        <p:nvSpPr>
          <p:cNvPr id="164" name="CustomShape 2"/>
          <p:cNvSpPr/>
          <p:nvPr/>
        </p:nvSpPr>
        <p:spPr>
          <a:xfrm>
            <a:off x="1778584" y="1327897"/>
            <a:ext cx="8366094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An </a:t>
            </a:r>
            <a:r>
              <a:rPr lang="en-US" sz="2604" b="1" u="sng" spc="-1" dirty="0">
                <a:solidFill>
                  <a:srgbClr val="FF0000"/>
                </a:solidFill>
                <a:latin typeface="Times New Roman"/>
              </a:rPr>
              <a:t>Algorithm</a:t>
            </a:r>
            <a:r>
              <a:rPr lang="en-US" sz="2604" spc="-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is:</a:t>
            </a:r>
            <a:endParaRPr lang="en-US" sz="2604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A sequence of </a:t>
            </a:r>
            <a:r>
              <a:rPr lang="en-US" sz="2604" b="1" u="sng" spc="-1" dirty="0">
                <a:solidFill>
                  <a:srgbClr val="FF0000"/>
                </a:solidFill>
                <a:latin typeface="Times New Roman"/>
              </a:rPr>
              <a:t>well-defined instructions</a:t>
            </a:r>
            <a:r>
              <a:rPr lang="en-US" sz="2604" b="1" u="sng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for solving a problem.</a:t>
            </a:r>
            <a:endParaRPr lang="en-US" sz="2604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A computational procedure that takes some values as input and produces some values as output.</a:t>
            </a:r>
            <a:endParaRPr lang="en-US" sz="2604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A procedure for getting answers to a specific problem </a:t>
            </a:r>
            <a:endParaRPr lang="en-US" sz="2604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604" spc="-1" dirty="0">
                <a:solidFill>
                  <a:srgbClr val="000000"/>
                </a:solidFill>
                <a:latin typeface="Times New Roman"/>
              </a:rPr>
              <a:t>A problem solving strategy even if computers are not involved.</a:t>
            </a:r>
            <a:endParaRPr lang="en-US" sz="2604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4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604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752457" y="274659"/>
            <a:ext cx="8457584" cy="114239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Why do you need to study algorithms?</a:t>
            </a:r>
          </a:p>
        </p:txBody>
      </p:sp>
      <p:sp>
        <p:nvSpPr>
          <p:cNvPr id="166" name="CustomShape 2"/>
          <p:cNvSpPr/>
          <p:nvPr/>
        </p:nvSpPr>
        <p:spPr>
          <a:xfrm>
            <a:off x="1778583" y="1653786"/>
            <a:ext cx="8583414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7000"/>
          </a:bodyPr>
          <a:lstStyle/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C00000"/>
                </a:solidFill>
                <a:latin typeface="Times New Roman"/>
              </a:rPr>
              <a:t>Practical reasons</a:t>
            </a:r>
            <a:endParaRPr lang="en-US" sz="2903" spc="-1" dirty="0">
              <a:solidFill>
                <a:srgbClr val="C00000"/>
              </a:solidFill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Know a standard set of important algorithms from different areas of computing.</a:t>
            </a:r>
            <a:endParaRPr lang="en-US" sz="2540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Be able to design new algorithms and analyze their efficiency.</a:t>
            </a:r>
            <a:endParaRPr lang="en-US" sz="2540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C00000"/>
                </a:solidFill>
                <a:latin typeface="Times New Roman"/>
              </a:rPr>
              <a:t>Theoretical reasons </a:t>
            </a:r>
            <a:endParaRPr lang="en-US" sz="2903" spc="-1" dirty="0">
              <a:solidFill>
                <a:srgbClr val="C00000"/>
              </a:solidFill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The study of algorithms was recognized as the cornerstone of computer science. </a:t>
            </a:r>
            <a:endParaRPr lang="en-US" sz="2540" spc="-1" dirty="0">
              <a:latin typeface="Arial"/>
            </a:endParaRPr>
          </a:p>
          <a:p>
            <a:pPr marL="674086" lvl="1" indent="-258661" algn="just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Studying algorithms helps in developing analytical skills. </a:t>
            </a:r>
            <a:endParaRPr lang="en-US" sz="2540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1828714" y="509411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Data Structure Definition</a:t>
            </a:r>
          </a:p>
        </p:txBody>
      </p:sp>
      <p:sp>
        <p:nvSpPr>
          <p:cNvPr id="168" name="CustomShape 2"/>
          <p:cNvSpPr/>
          <p:nvPr/>
        </p:nvSpPr>
        <p:spPr>
          <a:xfrm>
            <a:off x="2116926" y="1562712"/>
            <a:ext cx="7987627" cy="4113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Data structure is </a:t>
            </a: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representation of the logical relationship</a:t>
            </a: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 existing between individual elements of data.</a:t>
            </a:r>
          </a:p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i="1" spc="-1" dirty="0">
                <a:solidFill>
                  <a:srgbClr val="000000"/>
                </a:solidFill>
                <a:latin typeface="Times New Roman"/>
              </a:rPr>
              <a:t>In other words</a:t>
            </a: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, a data structure is </a:t>
            </a:r>
            <a:r>
              <a:rPr lang="en-US" sz="2903" b="1" i="1" spc="-1" dirty="0">
                <a:solidFill>
                  <a:srgbClr val="000000"/>
                </a:solidFill>
                <a:latin typeface="Times New Roman"/>
              </a:rPr>
              <a:t>a way of organizing all data items</a:t>
            </a: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 that considers not only the elements stored but also their relationship to each other.</a:t>
            </a:r>
            <a:endParaRPr lang="en-US" sz="2903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903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903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903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1792953" y="519287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Analysis of Algorithms</a:t>
            </a:r>
          </a:p>
        </p:txBody>
      </p:sp>
      <p:sp>
        <p:nvSpPr>
          <p:cNvPr id="186" name="CustomShape 3"/>
          <p:cNvSpPr/>
          <p:nvPr/>
        </p:nvSpPr>
        <p:spPr>
          <a:xfrm>
            <a:off x="2285444" y="1493476"/>
            <a:ext cx="8382469" cy="40375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How good is the algorithm?</a:t>
            </a:r>
            <a:endParaRPr lang="en-US" sz="2903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</a:rPr>
              <a:t>Efficiency </a:t>
            </a:r>
            <a:endParaRPr lang="en-US" sz="2540" spc="-1" dirty="0">
              <a:solidFill>
                <a:srgbClr val="0070C0"/>
              </a:solidFill>
              <a:latin typeface="Arial"/>
            </a:endParaRPr>
          </a:p>
          <a:p>
            <a:pPr marL="1036930" lvl="2" indent="-206733">
              <a:spcAft>
                <a:spcPts val="77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177" spc="-1" dirty="0">
                <a:solidFill>
                  <a:srgbClr val="000000"/>
                </a:solidFill>
                <a:latin typeface="Times New Roman"/>
              </a:rPr>
              <a:t>Time efficiency</a:t>
            </a:r>
            <a:endParaRPr lang="en-US" sz="2177" spc="-1" dirty="0">
              <a:latin typeface="Arial"/>
            </a:endParaRPr>
          </a:p>
          <a:p>
            <a:pPr marL="1036930" lvl="2" indent="-206733">
              <a:spcAft>
                <a:spcPts val="77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177" spc="-1" dirty="0">
                <a:solidFill>
                  <a:srgbClr val="000000"/>
                </a:solidFill>
                <a:latin typeface="Times New Roman"/>
              </a:rPr>
              <a:t>Space efficiency</a:t>
            </a:r>
            <a:endParaRPr lang="en-US" sz="2177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1857617" y="440284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Analysis Framework</a:t>
            </a:r>
          </a:p>
        </p:txBody>
      </p:sp>
      <p:sp>
        <p:nvSpPr>
          <p:cNvPr id="189" name="CustomShape 3"/>
          <p:cNvSpPr/>
          <p:nvPr/>
        </p:nvSpPr>
        <p:spPr>
          <a:xfrm>
            <a:off x="1948408" y="1216858"/>
            <a:ext cx="8382469" cy="40375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Measuring an </a:t>
            </a:r>
            <a:r>
              <a:rPr lang="en-US" sz="2903" b="1" spc="-1" dirty="0">
                <a:solidFill>
                  <a:srgbClr val="C00000"/>
                </a:solidFill>
                <a:latin typeface="Times New Roman"/>
              </a:rPr>
              <a:t>input’s size </a:t>
            </a:r>
            <a:endParaRPr lang="en-US" sz="2903" spc="-1" dirty="0">
              <a:solidFill>
                <a:srgbClr val="C00000"/>
              </a:solidFill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All algorithms run longer on larger input </a:t>
            </a:r>
            <a:endParaRPr lang="en-US" sz="2540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An algorithm’s efficiency is a function of “n” which is the algorithm’s input size</a:t>
            </a:r>
            <a:endParaRPr lang="en-US" sz="2540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Example:</a:t>
            </a:r>
            <a:endParaRPr lang="en-US" sz="2540" spc="-1" dirty="0">
              <a:latin typeface="Arial"/>
            </a:endParaRPr>
          </a:p>
          <a:p>
            <a:pPr marL="1036930" lvl="2" indent="-206733">
              <a:spcAft>
                <a:spcPts val="77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177" spc="-1" dirty="0">
                <a:solidFill>
                  <a:srgbClr val="000000"/>
                </a:solidFill>
                <a:latin typeface="Times New Roman"/>
              </a:rPr>
              <a:t>Sorting an array : the input size is the array length </a:t>
            </a:r>
            <a:endParaRPr lang="en-US" sz="2177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</a:rPr>
              <a:t>Measuring </a:t>
            </a:r>
            <a:r>
              <a:rPr lang="en-US" sz="2903" b="1" spc="-1" dirty="0">
                <a:solidFill>
                  <a:srgbClr val="C00000"/>
                </a:solidFill>
                <a:latin typeface="Times New Roman"/>
              </a:rPr>
              <a:t>running time </a:t>
            </a:r>
            <a:endParaRPr lang="en-US" sz="2903" spc="-1" dirty="0">
              <a:solidFill>
                <a:srgbClr val="C00000"/>
              </a:solidFill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00000"/>
              </a:buClr>
              <a:buFont typeface="Symbol"/>
              <a:buChar char="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Counting the number of times the algorithm’s “</a:t>
            </a:r>
            <a:r>
              <a:rPr lang="en-US" sz="2540" b="1" spc="-1" dirty="0">
                <a:solidFill>
                  <a:srgbClr val="C00000"/>
                </a:solidFill>
                <a:latin typeface="Times New Roman"/>
              </a:rPr>
              <a:t>basic operation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” is executed on inputs of size “n”</a:t>
            </a:r>
            <a:endParaRPr lang="en-US" sz="2540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1800138" y="449055"/>
            <a:ext cx="8564051" cy="62867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Analysis Framework</a:t>
            </a:r>
          </a:p>
        </p:txBody>
      </p:sp>
      <p:sp>
        <p:nvSpPr>
          <p:cNvPr id="191" name="CustomShape 2"/>
          <p:cNvSpPr/>
          <p:nvPr/>
        </p:nvSpPr>
        <p:spPr>
          <a:xfrm>
            <a:off x="1800138" y="1589818"/>
            <a:ext cx="8581360" cy="4534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  <a:ea typeface="DejaVu Sans"/>
              </a:rPr>
              <a:t>Time efficiency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is analyzed by determining the number of repetitions of the </a:t>
            </a:r>
            <a:r>
              <a:rPr lang="en-US" sz="2540" b="1" i="1" u="sng" spc="-1" dirty="0">
                <a:solidFill>
                  <a:srgbClr val="FF0000"/>
                </a:solidFill>
                <a:latin typeface="Times New Roman"/>
                <a:ea typeface="DejaVu Sans"/>
              </a:rPr>
              <a:t>basic operation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as a function of </a:t>
            </a:r>
            <a:r>
              <a:rPr lang="en-US" sz="2540" b="1" i="1" u="sng" spc="-1" dirty="0">
                <a:solidFill>
                  <a:srgbClr val="FF0000"/>
                </a:solidFill>
                <a:latin typeface="Times New Roman"/>
                <a:ea typeface="DejaVu Sans"/>
              </a:rPr>
              <a:t>input size</a:t>
            </a:r>
            <a:endParaRPr lang="en-US" sz="2540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endParaRPr lang="en-US" sz="2540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FF0000"/>
              </a:buClr>
              <a:buFont typeface="Monotype Sorts" charset="2"/>
              <a:buChar char=""/>
            </a:pPr>
            <a:r>
              <a:rPr lang="en-US" sz="2540" b="1" i="1" u="sng" spc="-1" dirty="0">
                <a:solidFill>
                  <a:srgbClr val="FF0000"/>
                </a:solidFill>
                <a:latin typeface="Times New Roman"/>
                <a:ea typeface="DejaVu Sans"/>
              </a:rPr>
              <a:t>Basic operation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: the operation that contributes the most towards the running time of the algorithm</a:t>
            </a:r>
            <a:endParaRPr lang="en-US" sz="2540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540" spc="-1" dirty="0">
              <a:latin typeface="Arial"/>
            </a:endParaRPr>
          </a:p>
          <a:p>
            <a:pPr>
              <a:spcAft>
                <a:spcPts val="1281"/>
              </a:spcAft>
            </a:pPr>
            <a:endParaRPr lang="en-US" sz="2540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                       T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) ≈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c</a:t>
            </a:r>
            <a:r>
              <a:rPr lang="en-US" sz="2540" i="1" spc="-1" baseline="-25000" dirty="0">
                <a:solidFill>
                  <a:srgbClr val="000000"/>
                </a:solidFill>
                <a:latin typeface="Times New Roman"/>
                <a:ea typeface="DejaVu Sans"/>
              </a:rPr>
              <a:t>op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C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)</a:t>
            </a:r>
            <a:endParaRPr lang="en-US" sz="2540" spc="-1" dirty="0">
              <a:latin typeface="Arial"/>
            </a:endParaRPr>
          </a:p>
        </p:txBody>
      </p:sp>
      <p:grpSp>
        <p:nvGrpSpPr>
          <p:cNvPr id="192" name="Group 3"/>
          <p:cNvGrpSpPr/>
          <p:nvPr/>
        </p:nvGrpSpPr>
        <p:grpSpPr>
          <a:xfrm>
            <a:off x="2092432" y="4313214"/>
            <a:ext cx="5610085" cy="2467951"/>
            <a:chOff x="627120" y="4754520"/>
            <a:chExt cx="6184080" cy="2720459"/>
          </a:xfrm>
        </p:grpSpPr>
        <p:sp>
          <p:nvSpPr>
            <p:cNvPr id="193" name="CustomShape 4"/>
            <p:cNvSpPr/>
            <p:nvPr/>
          </p:nvSpPr>
          <p:spPr>
            <a:xfrm>
              <a:off x="627120" y="6202440"/>
              <a:ext cx="1556566" cy="398621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81646" tIns="40823" rIns="81646" bIns="40823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14" b="1" spc="-1">
                  <a:solidFill>
                    <a:srgbClr val="000000"/>
                  </a:solidFill>
                  <a:latin typeface="Calibri"/>
                  <a:ea typeface="DejaVu Sans"/>
                </a:rPr>
                <a:t>running time</a:t>
              </a:r>
              <a:endParaRPr lang="en-US" sz="1814" spc="-1">
                <a:latin typeface="Arial"/>
              </a:endParaRPr>
            </a:p>
          </p:txBody>
        </p:sp>
        <p:sp>
          <p:nvSpPr>
            <p:cNvPr id="194" name="CustomShape 5"/>
            <p:cNvSpPr/>
            <p:nvPr/>
          </p:nvSpPr>
          <p:spPr>
            <a:xfrm>
              <a:off x="2231280" y="6409032"/>
              <a:ext cx="2185057" cy="101410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81646" tIns="40823" rIns="81646" bIns="40823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14" b="1" spc="-1" dirty="0">
                  <a:solidFill>
                    <a:srgbClr val="000000"/>
                  </a:solidFill>
                  <a:latin typeface="Calibri"/>
                  <a:ea typeface="DejaVu Sans"/>
                </a:rPr>
                <a:t>execution time</a:t>
              </a:r>
              <a:endParaRPr lang="en-US" sz="1814" spc="-1" dirty="0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14" b="1" spc="-1" dirty="0">
                  <a:solidFill>
                    <a:srgbClr val="000000"/>
                  </a:solidFill>
                  <a:latin typeface="Calibri"/>
                  <a:ea typeface="DejaVu Sans"/>
                </a:rPr>
                <a:t>for basic operation</a:t>
              </a:r>
              <a:endParaRPr lang="en-US" sz="1814" spc="-1" dirty="0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14" b="1" spc="-1" dirty="0">
                  <a:solidFill>
                    <a:srgbClr val="000000"/>
                  </a:solidFill>
                  <a:latin typeface="Calibri"/>
                  <a:ea typeface="DejaVu Sans"/>
                </a:rPr>
                <a:t>or </a:t>
              </a:r>
              <a:r>
                <a:rPr lang="en-US" sz="1814" b="1" spc="-1" dirty="0">
                  <a:solidFill>
                    <a:srgbClr val="FF6600"/>
                  </a:solidFill>
                  <a:latin typeface="Calibri"/>
                  <a:ea typeface="DejaVu Sans"/>
                </a:rPr>
                <a:t>cost</a:t>
              </a:r>
              <a:endParaRPr lang="en-US" sz="1814" spc="-1" dirty="0">
                <a:latin typeface="Arial"/>
              </a:endParaRPr>
            </a:p>
          </p:txBody>
        </p:sp>
        <p:sp>
          <p:nvSpPr>
            <p:cNvPr id="195" name="CustomShape 6"/>
            <p:cNvSpPr/>
            <p:nvPr/>
          </p:nvSpPr>
          <p:spPr>
            <a:xfrm>
              <a:off x="4508280" y="6460872"/>
              <a:ext cx="2302920" cy="1014107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14" b="1" spc="-1" dirty="0">
                  <a:solidFill>
                    <a:srgbClr val="000000"/>
                  </a:solidFill>
                  <a:latin typeface="Calibri"/>
                  <a:ea typeface="DejaVu Sans"/>
                </a:rPr>
                <a:t>Number of times basic operation is executed</a:t>
              </a:r>
              <a:endParaRPr lang="en-US" sz="1814" spc="-1" dirty="0">
                <a:latin typeface="Arial"/>
              </a:endParaRPr>
            </a:p>
          </p:txBody>
        </p:sp>
        <p:sp>
          <p:nvSpPr>
            <p:cNvPr id="196" name="Line 7"/>
            <p:cNvSpPr/>
            <p:nvPr/>
          </p:nvSpPr>
          <p:spPr>
            <a:xfrm flipV="1">
              <a:off x="1384200" y="5897520"/>
              <a:ext cx="914400" cy="228600"/>
            </a:xfrm>
            <a:prstGeom prst="line">
              <a:avLst/>
            </a:prstGeom>
            <a:ln w="38160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97" name="Line 8"/>
            <p:cNvSpPr/>
            <p:nvPr/>
          </p:nvSpPr>
          <p:spPr>
            <a:xfrm flipV="1">
              <a:off x="3109423" y="6126120"/>
              <a:ext cx="381240" cy="304920"/>
            </a:xfrm>
            <a:prstGeom prst="line">
              <a:avLst/>
            </a:prstGeom>
            <a:ln w="38160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98" name="Line 9"/>
            <p:cNvSpPr/>
            <p:nvPr/>
          </p:nvSpPr>
          <p:spPr>
            <a:xfrm flipH="1" flipV="1">
              <a:off x="3958200" y="6112817"/>
              <a:ext cx="533520" cy="381240"/>
            </a:xfrm>
            <a:prstGeom prst="line">
              <a:avLst/>
            </a:prstGeom>
            <a:ln w="38160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199" name="CustomShape 10"/>
            <p:cNvSpPr/>
            <p:nvPr/>
          </p:nvSpPr>
          <p:spPr>
            <a:xfrm>
              <a:off x="3521520" y="4754520"/>
              <a:ext cx="1196942" cy="398621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81646" tIns="40823" rIns="81646" bIns="40823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14" b="1" spc="-1">
                  <a:solidFill>
                    <a:srgbClr val="000000"/>
                  </a:solidFill>
                  <a:latin typeface="Calibri"/>
                  <a:ea typeface="DejaVu Sans"/>
                </a:rPr>
                <a:t>input size</a:t>
              </a:r>
              <a:endParaRPr lang="en-US" sz="1814" spc="-1">
                <a:latin typeface="Arial"/>
              </a:endParaRPr>
            </a:p>
          </p:txBody>
        </p:sp>
        <p:sp>
          <p:nvSpPr>
            <p:cNvPr id="200" name="Line 11"/>
            <p:cNvSpPr/>
            <p:nvPr/>
          </p:nvSpPr>
          <p:spPr>
            <a:xfrm>
              <a:off x="3974760" y="5211720"/>
              <a:ext cx="335983" cy="534240"/>
            </a:xfrm>
            <a:prstGeom prst="line">
              <a:avLst/>
            </a:prstGeom>
            <a:ln w="38160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  <p:sp>
          <p:nvSpPr>
            <p:cNvPr id="201" name="Line 12"/>
            <p:cNvSpPr/>
            <p:nvPr/>
          </p:nvSpPr>
          <p:spPr>
            <a:xfrm flipH="1">
              <a:off x="2775857" y="5135400"/>
              <a:ext cx="894343" cy="610560"/>
            </a:xfrm>
            <a:prstGeom prst="line">
              <a:avLst/>
            </a:prstGeom>
            <a:ln w="38160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sz="1633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2086880" y="475227"/>
            <a:ext cx="7810618" cy="103625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Example</a:t>
            </a:r>
          </a:p>
        </p:txBody>
      </p:sp>
      <p:graphicFrame>
        <p:nvGraphicFramePr>
          <p:cNvPr id="203" name="Table 2"/>
          <p:cNvGraphicFramePr/>
          <p:nvPr/>
        </p:nvGraphicFramePr>
        <p:xfrm>
          <a:off x="2017644" y="2172573"/>
          <a:ext cx="8018327" cy="2407883"/>
        </p:xfrm>
        <a:graphic>
          <a:graphicData uri="http://schemas.openxmlformats.org/drawingml/2006/table">
            <a:tbl>
              <a:tblPr/>
              <a:tblGrid>
                <a:gridCol w="2648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800" b="1" i="1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Problem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6748" marR="76748" marT="41476" marB="41476" anchor="ctr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800" b="1" i="1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Input size measure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6748" marR="76748" marT="41476" marB="41476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800" b="1" i="1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Basic operation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6748" marR="76748" marT="41476" marB="41476" anchor="ctr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7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Searching for key in a list of </a:t>
                      </a:r>
                      <a:r>
                        <a:rPr lang="en-US" sz="2200" b="0" i="1" strike="noStrike" spc="-1" dirty="0">
                          <a:solidFill>
                            <a:srgbClr val="C00000"/>
                          </a:solidFill>
                          <a:latin typeface="Times New Roman"/>
                        </a:rPr>
                        <a:t>n</a:t>
                      </a: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 items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76748" marR="76748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Number of list’s items,  i.e. </a:t>
                      </a:r>
                      <a:r>
                        <a:rPr lang="en-US" sz="1600" b="0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76748" marR="76748" marT="41476" marB="41476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Key comparison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76748" marR="76748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Multiplication of </a:t>
                      </a:r>
                      <a:r>
                        <a:rPr lang="en-US" sz="2200" b="0" strike="noStrike" spc="-1" dirty="0">
                          <a:solidFill>
                            <a:srgbClr val="C00000"/>
                          </a:solidFill>
                          <a:latin typeface="Times New Roman"/>
                        </a:rPr>
                        <a:t>two matrices</a:t>
                      </a:r>
                      <a:endParaRPr lang="en-US" sz="2200" b="0" strike="noStrike" spc="-1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 marL="76748" marR="76748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Matrix dimensions or total number of elements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76748" marR="76748" marT="41476" marB="41476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</a:rPr>
                        <a:t>Multiplication of two numbers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76748" marR="76748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CustomShape 3"/>
          <p:cNvSpPr/>
          <p:nvPr/>
        </p:nvSpPr>
        <p:spPr>
          <a:xfrm>
            <a:off x="4713607" y="2849669"/>
            <a:ext cx="2557164" cy="621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05" name="CustomShape 4"/>
          <p:cNvSpPr/>
          <p:nvPr/>
        </p:nvSpPr>
        <p:spPr>
          <a:xfrm>
            <a:off x="7685861" y="2833418"/>
            <a:ext cx="2142401" cy="621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06" name="CustomShape 5"/>
          <p:cNvSpPr/>
          <p:nvPr/>
        </p:nvSpPr>
        <p:spPr>
          <a:xfrm>
            <a:off x="7685861" y="3737819"/>
            <a:ext cx="2142401" cy="621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08" name="CustomShape 7"/>
          <p:cNvSpPr/>
          <p:nvPr/>
        </p:nvSpPr>
        <p:spPr>
          <a:xfrm>
            <a:off x="4748225" y="3737819"/>
            <a:ext cx="2557164" cy="621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2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8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24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1778584" y="430409"/>
            <a:ext cx="8564051" cy="62998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5271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Importance of analysis </a:t>
            </a:r>
          </a:p>
        </p:txBody>
      </p:sp>
      <p:sp>
        <p:nvSpPr>
          <p:cNvPr id="215" name="CustomShape 2"/>
          <p:cNvSpPr/>
          <p:nvPr/>
        </p:nvSpPr>
        <p:spPr>
          <a:xfrm>
            <a:off x="1778584" y="1327897"/>
            <a:ext cx="8634593" cy="39771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91584" indent="-293280">
              <a:spcAft>
                <a:spcPts val="1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Assume:</a:t>
            </a:r>
            <a:endParaRPr lang="en-US" sz="2903" spc="-1" dirty="0">
              <a:latin typeface="Arial"/>
            </a:endParaRPr>
          </a:p>
          <a:p>
            <a:pPr marL="783494" lvl="1" indent="-293280">
              <a:spcAft>
                <a:spcPts val="1031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540" spc="-1" dirty="0">
                <a:solidFill>
                  <a:srgbClr val="C00000"/>
                </a:solidFill>
                <a:latin typeface="Times New Roman"/>
              </a:rPr>
              <a:t>Algorithm X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 takes time 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</a:rPr>
              <a:t>2n</a:t>
            </a:r>
            <a:r>
              <a:rPr lang="en-US" sz="2540" b="1" i="1" spc="-1" baseline="33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540" spc="-1" baseline="33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(written by best programmer) running on machine with 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1000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 MIPS </a:t>
            </a:r>
            <a:r>
              <a:rPr lang="en-US" sz="1361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1361" dirty="0"/>
              <a:t>Million instructions per second)</a:t>
            </a:r>
            <a:endParaRPr lang="en-US" sz="1361" spc="-1" dirty="0">
              <a:latin typeface="Arial"/>
            </a:endParaRPr>
          </a:p>
          <a:p>
            <a:pPr marL="783494" lvl="1" indent="-293280">
              <a:spcAft>
                <a:spcPts val="1031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540" spc="-1" dirty="0">
                <a:solidFill>
                  <a:srgbClr val="C00000"/>
                </a:solidFill>
                <a:latin typeface="Times New Roman"/>
              </a:rPr>
              <a:t>Algorithm Y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 takes time 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50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 lg 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(written by worst programmer) running on machine with 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 MIPS</a:t>
            </a:r>
            <a:endParaRPr lang="en-US" sz="2540" spc="-1" dirty="0">
              <a:latin typeface="Arial"/>
            </a:endParaRPr>
          </a:p>
          <a:p>
            <a:pPr marL="391584" indent="-293280">
              <a:spcAft>
                <a:spcPts val="128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Running time for 10</a:t>
            </a:r>
            <a:r>
              <a:rPr lang="en-US" sz="2903" spc="-1" baseline="33000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 numbers </a:t>
            </a:r>
            <a:endParaRPr lang="en-US" sz="2903" spc="-1" dirty="0">
              <a:latin typeface="Arial"/>
            </a:endParaRPr>
          </a:p>
          <a:p>
            <a:pPr marL="783494" lvl="1" indent="-293280">
              <a:spcAft>
                <a:spcPts val="1031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540" spc="-1" dirty="0">
                <a:solidFill>
                  <a:srgbClr val="C00000"/>
                </a:solidFill>
                <a:latin typeface="Times New Roman"/>
              </a:rPr>
              <a:t>Algorithm X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takes 2000 seconds</a:t>
            </a:r>
            <a:endParaRPr lang="en-US" sz="2540" spc="-1" dirty="0">
              <a:latin typeface="Arial"/>
            </a:endParaRPr>
          </a:p>
          <a:p>
            <a:pPr marL="783494" lvl="1" indent="-293280">
              <a:spcAft>
                <a:spcPts val="1031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540" spc="-1" dirty="0">
                <a:solidFill>
                  <a:srgbClr val="C00000"/>
                </a:solidFill>
                <a:latin typeface="Times New Roman"/>
              </a:rPr>
              <a:t>Algorithm Y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</a:rPr>
              <a:t> takes 30 seconds</a:t>
            </a:r>
            <a:endParaRPr lang="en-US" sz="2540" spc="-1" dirty="0"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3005068" y="5500903"/>
            <a:ext cx="4671152" cy="62018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81646" tIns="61725" rIns="81646" bIns="40823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903" b="1" spc="-1" dirty="0">
                <a:solidFill>
                  <a:srgbClr val="0070C0"/>
                </a:solidFill>
                <a:latin typeface="Times New Roman"/>
                <a:ea typeface="DejaVu Sans"/>
              </a:rPr>
              <a:t>Complexity makes a huge difference!</a:t>
            </a:r>
            <a:endParaRPr lang="en-US" sz="2903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2"/>
          <p:cNvSpPr/>
          <p:nvPr/>
        </p:nvSpPr>
        <p:spPr>
          <a:xfrm>
            <a:off x="1810263" y="1752784"/>
            <a:ext cx="8533678" cy="49046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C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C00000"/>
                </a:solidFill>
                <a:latin typeface="Times New Roman"/>
              </a:rPr>
              <a:t>The </a:t>
            </a:r>
            <a:r>
              <a:rPr lang="en-US" sz="2903" b="1" u="sng" spc="-1" dirty="0">
                <a:solidFill>
                  <a:srgbClr val="C00000"/>
                </a:solidFill>
                <a:latin typeface="Times New Roman"/>
              </a:rPr>
              <a:t>rate of increase in operations </a:t>
            </a:r>
            <a:r>
              <a:rPr lang="en-US" sz="2903" spc="-1" dirty="0">
                <a:solidFill>
                  <a:srgbClr val="C00000"/>
                </a:solidFill>
                <a:latin typeface="Times New Roman"/>
              </a:rPr>
              <a:t>for an algorithm to solve a problem as </a:t>
            </a:r>
            <a:r>
              <a:rPr lang="en-US" sz="2903" b="1" u="sng" spc="-1" dirty="0">
                <a:solidFill>
                  <a:srgbClr val="C00000"/>
                </a:solidFill>
                <a:latin typeface="Times New Roman"/>
              </a:rPr>
              <a:t>the size of the problem increases</a:t>
            </a: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903" spc="-1" dirty="0">
              <a:latin typeface="Arial"/>
            </a:endParaRPr>
          </a:p>
          <a:p>
            <a:pPr algn="just">
              <a:spcAft>
                <a:spcPts val="1281"/>
              </a:spcAft>
            </a:pPr>
            <a:endParaRPr lang="en-US" sz="1452" spc="-1" dirty="0">
              <a:latin typeface="Arial"/>
            </a:endParaRPr>
          </a:p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903" spc="-1" dirty="0">
                <a:solidFill>
                  <a:srgbClr val="000000"/>
                </a:solidFill>
                <a:latin typeface="Times New Roman"/>
              </a:rPr>
              <a:t>This is referred to as the rate of </a:t>
            </a:r>
            <a:r>
              <a:rPr lang="en-US" sz="2903" spc="-1" dirty="0">
                <a:solidFill>
                  <a:srgbClr val="C00000"/>
                </a:solidFill>
                <a:latin typeface="Times New Roman"/>
              </a:rPr>
              <a:t>growth of the algorithm.</a:t>
            </a:r>
            <a:r>
              <a:rPr lang="en-US" sz="3200" b="1" spc="-1" dirty="0">
                <a:solidFill>
                  <a:srgbClr val="0070C0"/>
                </a:solidFill>
                <a:latin typeface="Times New Roman"/>
                <a:ea typeface="DejaVu Sans"/>
              </a:rPr>
              <a:t> </a:t>
            </a:r>
          </a:p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1" spc="-1" dirty="0">
                <a:solidFill>
                  <a:srgbClr val="0070C0"/>
                </a:solidFill>
                <a:latin typeface="Times New Roman"/>
                <a:ea typeface="DejaVu Sans"/>
              </a:rPr>
              <a:t>Increasing input size increases the complexity</a:t>
            </a:r>
            <a:endParaRPr lang="en-US" sz="2800" spc="-1" dirty="0">
              <a:solidFill>
                <a:srgbClr val="0070C0"/>
              </a:solidFill>
              <a:latin typeface="Arial"/>
            </a:endParaRPr>
          </a:p>
          <a:p>
            <a:pPr marL="311242" indent="-310589" algn="just">
              <a:lnSpc>
                <a:spcPct val="150000"/>
              </a:lnSpc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endParaRPr lang="en-US" sz="2903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endParaRPr lang="en-US" sz="2903" spc="-1" dirty="0">
              <a:latin typeface="Arial"/>
            </a:endParaRPr>
          </a:p>
        </p:txBody>
      </p:sp>
      <p:sp>
        <p:nvSpPr>
          <p:cNvPr id="220" name="CustomShape 1"/>
          <p:cNvSpPr/>
          <p:nvPr/>
        </p:nvSpPr>
        <p:spPr>
          <a:xfrm>
            <a:off x="2269442" y="456567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Order of growth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2086554" y="31842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Order of growth </a:t>
            </a:r>
          </a:p>
        </p:txBody>
      </p:sp>
      <p:sp>
        <p:nvSpPr>
          <p:cNvPr id="223" name="CustomShape 2"/>
          <p:cNvSpPr/>
          <p:nvPr/>
        </p:nvSpPr>
        <p:spPr>
          <a:xfrm>
            <a:off x="1705102" y="1424239"/>
            <a:ext cx="4113997" cy="49046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1996" spc="-1">
                <a:solidFill>
                  <a:srgbClr val="000000"/>
                </a:solidFill>
                <a:latin typeface="Times New Roman"/>
              </a:rPr>
              <a:t>The function </a:t>
            </a:r>
            <a:r>
              <a:rPr lang="en-US" sz="1996" spc="-1">
                <a:solidFill>
                  <a:srgbClr val="C00000"/>
                </a:solidFill>
                <a:latin typeface="Times New Roman"/>
              </a:rPr>
              <a:t>based on </a:t>
            </a:r>
            <a:r>
              <a:rPr lang="en-US" sz="1996" i="1" spc="-1">
                <a:solidFill>
                  <a:srgbClr val="C00000"/>
                </a:solidFill>
                <a:latin typeface="Times New Roman"/>
              </a:rPr>
              <a:t>x</a:t>
            </a:r>
            <a:r>
              <a:rPr lang="en-US" sz="1996" i="1" spc="-1" baseline="30000">
                <a:solidFill>
                  <a:srgbClr val="C00000"/>
                </a:solidFill>
                <a:latin typeface="Times New Roman"/>
              </a:rPr>
              <a:t>2</a:t>
            </a:r>
            <a:r>
              <a:rPr lang="en-US" sz="1996" i="1" spc="-1">
                <a:solidFill>
                  <a:srgbClr val="C00000"/>
                </a:solidFill>
                <a:latin typeface="Times New Roman"/>
              </a:rPr>
              <a:t> </a:t>
            </a:r>
            <a:r>
              <a:rPr lang="en-US" sz="1996" i="1" spc="-1">
                <a:solidFill>
                  <a:srgbClr val="000000"/>
                </a:solidFill>
                <a:latin typeface="Times New Roman"/>
              </a:rPr>
              <a:t>increases slowly at </a:t>
            </a:r>
            <a:r>
              <a:rPr lang="en-US" sz="1996" spc="-1">
                <a:solidFill>
                  <a:srgbClr val="000000"/>
                </a:solidFill>
                <a:latin typeface="Times New Roman"/>
              </a:rPr>
              <a:t>first, but as the problem size gets larger, it begins to grow at a rapid rate.</a:t>
            </a:r>
            <a:endParaRPr lang="en-US" sz="1996" spc="-1">
              <a:latin typeface="Arial"/>
            </a:endParaRPr>
          </a:p>
          <a:p>
            <a:pPr algn="just">
              <a:spcAft>
                <a:spcPts val="1281"/>
              </a:spcAft>
            </a:pPr>
            <a:endParaRPr lang="en-US" sz="1996" spc="-1">
              <a:latin typeface="Arial"/>
            </a:endParaRP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1996" spc="-1">
                <a:solidFill>
                  <a:srgbClr val="000000"/>
                </a:solidFill>
                <a:latin typeface="Times New Roman"/>
              </a:rPr>
              <a:t>The functions that are </a:t>
            </a:r>
            <a:r>
              <a:rPr lang="en-US" sz="1996" spc="-1">
                <a:solidFill>
                  <a:srgbClr val="C00000"/>
                </a:solidFill>
                <a:latin typeface="Times New Roman"/>
              </a:rPr>
              <a:t>based on x </a:t>
            </a:r>
            <a:r>
              <a:rPr lang="en-US" sz="1996" spc="-1">
                <a:solidFill>
                  <a:srgbClr val="000000"/>
                </a:solidFill>
                <a:latin typeface="Times New Roman"/>
              </a:rPr>
              <a:t>both grow at a steady rate for the entire length of the graph. </a:t>
            </a:r>
            <a:endParaRPr lang="en-US" sz="1996" spc="-1">
              <a:latin typeface="Arial"/>
            </a:endParaRPr>
          </a:p>
          <a:p>
            <a:pPr algn="just">
              <a:spcAft>
                <a:spcPts val="1281"/>
              </a:spcAft>
            </a:pPr>
            <a:endParaRPr lang="en-US" sz="1996" spc="-1">
              <a:latin typeface="Arial"/>
            </a:endParaRP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Symbol"/>
              <a:buChar char=""/>
            </a:pPr>
            <a:r>
              <a:rPr lang="en-US" sz="1996" spc="-1">
                <a:solidFill>
                  <a:srgbClr val="000000"/>
                </a:solidFill>
                <a:latin typeface="Times New Roman"/>
              </a:rPr>
              <a:t>The function </a:t>
            </a:r>
            <a:r>
              <a:rPr lang="en-US" sz="1996" spc="-1">
                <a:solidFill>
                  <a:srgbClr val="C00000"/>
                </a:solidFill>
                <a:latin typeface="Times New Roman"/>
              </a:rPr>
              <a:t>based on log x </a:t>
            </a:r>
            <a:r>
              <a:rPr lang="en-US" sz="1996" spc="-1">
                <a:solidFill>
                  <a:srgbClr val="000000"/>
                </a:solidFill>
                <a:latin typeface="Times New Roman"/>
              </a:rPr>
              <a:t>seems to not grow at all, but this is because it is actually growing at a very slow rate</a:t>
            </a:r>
            <a:r>
              <a:rPr lang="en-US" sz="1996" spc="-1">
                <a:solidFill>
                  <a:srgbClr val="000000"/>
                </a:solidFill>
                <a:latin typeface="Arial"/>
              </a:rPr>
              <a:t>.</a:t>
            </a:r>
            <a:endParaRPr lang="en-US" sz="1996" spc="-1"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3"/>
          <a:stretch/>
        </p:blipFill>
        <p:spPr>
          <a:xfrm>
            <a:off x="5853391" y="1286094"/>
            <a:ext cx="4814523" cy="5042806"/>
          </a:xfrm>
          <a:prstGeom prst="rect">
            <a:avLst/>
          </a:prstGeom>
          <a:ln w="9360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2017971" y="387331"/>
            <a:ext cx="8088869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Values of some important functions as  n </a:t>
            </a:r>
            <a:r>
              <a:rPr lang="en-US" sz="3266" b="1" spc="-1" dirty="0">
                <a:solidFill>
                  <a:srgbClr val="000000"/>
                </a:solidFill>
                <a:latin typeface="Symbol"/>
              </a:rPr>
              <a:t></a:t>
            </a:r>
            <a:r>
              <a:rPr lang="en-US" sz="3266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3266" b="1" spc="-1" dirty="0">
                <a:solidFill>
                  <a:srgbClr val="000000"/>
                </a:solidFill>
                <a:latin typeface="Symbol"/>
              </a:rPr>
              <a:t></a:t>
            </a:r>
            <a:endParaRPr lang="en-US" sz="3266" spc="-1" dirty="0">
              <a:latin typeface="Arial"/>
            </a:endParaRPr>
          </a:p>
        </p:txBody>
      </p:sp>
      <p:pic>
        <p:nvPicPr>
          <p:cNvPr id="226" name="Picture 4"/>
          <p:cNvPicPr/>
          <p:nvPr/>
        </p:nvPicPr>
        <p:blipFill>
          <a:blip r:embed="rId3"/>
          <a:stretch/>
        </p:blipFill>
        <p:spPr>
          <a:xfrm>
            <a:off x="1904646" y="1752458"/>
            <a:ext cx="8315519" cy="4495122"/>
          </a:xfrm>
          <a:prstGeom prst="rect">
            <a:avLst/>
          </a:prstGeom>
          <a:ln w="9360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2225026" y="38733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Order of growth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CustomShape 2"/>
              <p:cNvSpPr/>
              <p:nvPr/>
            </p:nvSpPr>
            <p:spPr>
              <a:xfrm>
                <a:off x="1868161" y="1752784"/>
                <a:ext cx="8533678" cy="49046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>
                <a:noAutofit/>
              </a:bodyPr>
              <a:lstStyle/>
              <a:p>
                <a:pPr marL="311242" indent="-310589">
                  <a:spcAft>
                    <a:spcPts val="1281"/>
                  </a:spcAft>
                  <a:buClr>
                    <a:srgbClr val="000000"/>
                  </a:buClr>
                  <a:buFont typeface="Monotype Sorts" charset="2"/>
                  <a:buChar char=""/>
                </a:pPr>
                <a:r>
                  <a:rPr lang="en-US" sz="2359" spc="-1" dirty="0">
                    <a:solidFill>
                      <a:srgbClr val="000000"/>
                    </a:solidFill>
                    <a:latin typeface="Times New Roman"/>
                  </a:rPr>
                  <a:t>if we determine that an algorithm’s complexity is a combination of two of these classes, we will frequently ignore all but the fastest growing of these terms.</a:t>
                </a:r>
                <a:endParaRPr lang="en-US" sz="2359" spc="-1" dirty="0">
                  <a:latin typeface="Arial"/>
                </a:endParaRPr>
              </a:p>
              <a:p>
                <a:pPr>
                  <a:spcAft>
                    <a:spcPts val="1281"/>
                  </a:spcAft>
                </a:pPr>
                <a:endParaRPr lang="en-US" sz="2359" spc="-1" dirty="0">
                  <a:latin typeface="Arial"/>
                </a:endParaRPr>
              </a:p>
              <a:p>
                <a:pPr marL="311242" indent="-310589">
                  <a:spcAft>
                    <a:spcPts val="1281"/>
                  </a:spcAft>
                  <a:buClr>
                    <a:srgbClr val="000000"/>
                  </a:buClr>
                  <a:buFont typeface="Monotype Sorts" charset="2"/>
                  <a:buChar char=""/>
                </a:pPr>
                <a:r>
                  <a:rPr lang="en-US" sz="2812" b="1" spc="-1" dirty="0">
                    <a:solidFill>
                      <a:srgbClr val="000000"/>
                    </a:solidFill>
                    <a:latin typeface="Times New Roman"/>
                  </a:rPr>
                  <a:t>Example</a:t>
                </a:r>
                <a:r>
                  <a:rPr lang="en-US" sz="2812" spc="-1" dirty="0">
                    <a:solidFill>
                      <a:srgbClr val="000000"/>
                    </a:solidFill>
                    <a:latin typeface="Times New Roman"/>
                  </a:rPr>
                  <a:t> : if the complexity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12" b="1" i="1" spc="-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12" b="1" i="1" spc="-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12" b="1" i="1" spc="-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812" b="1" i="1" spc="-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12" b="1" i="1" spc="-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sz="2812" b="1" i="1" spc="-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812" b="1" spc="-1" dirty="0">
                  <a:latin typeface="Arial"/>
                </a:endParaRPr>
              </a:p>
              <a:p>
                <a:pPr marL="311242" indent="-310589" algn="ctr">
                  <a:spcAft>
                    <a:spcPts val="1281"/>
                  </a:spcAft>
                </a:pPr>
                <a:r>
                  <a:rPr lang="en-US" sz="2812" spc="-1" dirty="0">
                    <a:solidFill>
                      <a:srgbClr val="000000"/>
                    </a:solidFill>
                    <a:latin typeface="Times New Roman"/>
                  </a:rPr>
                  <a:t> we tend to </a:t>
                </a:r>
                <a:r>
                  <a:rPr lang="en-US" sz="2812" b="1" spc="-1" dirty="0">
                    <a:solidFill>
                      <a:srgbClr val="000000"/>
                    </a:solidFill>
                    <a:latin typeface="Times New Roman"/>
                  </a:rPr>
                  <a:t>ignore </a:t>
                </a:r>
                <a14:m>
                  <m:oMath xmlns:m="http://schemas.openxmlformats.org/officeDocument/2006/math">
                    <m:r>
                      <a:rPr lang="en-US" sz="2812" b="1" i="1" spc="-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sz="2812" b="1" i="1" spc="-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12" b="1" spc="-1" dirty="0">
                    <a:solidFill>
                      <a:srgbClr val="000000"/>
                    </a:solidFill>
                    <a:latin typeface="Times New Roman"/>
                  </a:rPr>
                  <a:t> term </a:t>
                </a:r>
                <a:endParaRPr lang="en-US" sz="2812" spc="-1" dirty="0">
                  <a:latin typeface="Arial"/>
                </a:endParaRPr>
              </a:p>
              <a:p>
                <a:pPr marL="311242" indent="-310589">
                  <a:spcAft>
                    <a:spcPts val="1281"/>
                  </a:spcAft>
                </a:pPr>
                <a:endParaRPr lang="en-US" sz="2812" spc="-1" dirty="0">
                  <a:latin typeface="Arial"/>
                </a:endParaRPr>
              </a:p>
            </p:txBody>
          </p:sp>
        </mc:Choice>
        <mc:Fallback>
          <p:sp>
            <p:nvSpPr>
              <p:cNvPr id="228" name="Custom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161" y="1752784"/>
                <a:ext cx="8533678" cy="4904661"/>
              </a:xfrm>
              <a:prstGeom prst="rect">
                <a:avLst/>
              </a:prstGeom>
              <a:blipFill>
                <a:blip r:embed="rId3"/>
                <a:stretch>
                  <a:fillRect l="-2857" t="-2861" r="-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2600288" y="160307"/>
            <a:ext cx="6981091" cy="103625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br>
              <a:rPr sz="1633" dirty="0"/>
            </a:b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Kinds of analysis</a:t>
            </a:r>
          </a:p>
        </p:txBody>
      </p:sp>
      <p:sp>
        <p:nvSpPr>
          <p:cNvPr id="231" name="CustomShape 2"/>
          <p:cNvSpPr/>
          <p:nvPr/>
        </p:nvSpPr>
        <p:spPr>
          <a:xfrm>
            <a:off x="2047216" y="1453865"/>
            <a:ext cx="8087236" cy="40088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</a:pP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For some algorithms, efficiency depends on form of input:</a:t>
            </a:r>
          </a:p>
          <a:p>
            <a:pPr marL="311242" indent="-310589">
              <a:spcAft>
                <a:spcPts val="1281"/>
              </a:spcAft>
            </a:pPr>
            <a:endParaRPr lang="en-US" sz="2177" spc="-1" dirty="0">
              <a:latin typeface="Arial"/>
            </a:endParaRP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Monotype Sorts" charset="2"/>
              <a:buChar char="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Worst case</a:t>
            </a:r>
            <a:r>
              <a:rPr lang="en-US" sz="2540" spc="-1" dirty="0">
                <a:solidFill>
                  <a:srgbClr val="0070C0"/>
                </a:solidFill>
                <a:latin typeface="Times New Roman"/>
                <a:ea typeface="DejaVu Sans"/>
              </a:rPr>
              <a:t>: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lang="en-US" sz="2540" spc="-1" dirty="0" err="1">
                <a:solidFill>
                  <a:srgbClr val="000000"/>
                </a:solidFill>
                <a:latin typeface="Times New Roman"/>
                <a:ea typeface="DejaVu Sans"/>
              </a:rPr>
              <a:t>C</a:t>
            </a:r>
            <a:r>
              <a:rPr lang="en-US" sz="2540" spc="-1" baseline="-25000" dirty="0" err="1">
                <a:solidFill>
                  <a:srgbClr val="000000"/>
                </a:solidFill>
                <a:latin typeface="Times New Roman"/>
                <a:ea typeface="DejaVu Sans"/>
              </a:rPr>
              <a:t>worst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) – 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maximum time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 of algorithm over inputs of size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Monotype Sorts" charset="2"/>
              <a:buChar char=""/>
            </a:pPr>
            <a:endParaRPr lang="en-US" sz="2540" spc="-1" dirty="0">
              <a:latin typeface="Arial"/>
            </a:endParaRP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Monotype Sorts" charset="2"/>
              <a:buChar char="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Best case:</a:t>
            </a:r>
            <a:r>
              <a:rPr lang="en-US" sz="2540" spc="-1" dirty="0">
                <a:solidFill>
                  <a:srgbClr val="0070C0"/>
                </a:solidFill>
                <a:latin typeface="Times New Roman"/>
                <a:ea typeface="DejaVu Sans"/>
              </a:rPr>
              <a:t>        </a:t>
            </a:r>
            <a:r>
              <a:rPr lang="en-US" sz="2540" spc="-1" dirty="0" err="1">
                <a:solidFill>
                  <a:srgbClr val="000000"/>
                </a:solidFill>
                <a:latin typeface="Times New Roman"/>
                <a:ea typeface="DejaVu Sans"/>
              </a:rPr>
              <a:t>C</a:t>
            </a:r>
            <a:r>
              <a:rPr lang="en-US" sz="2540" spc="-1" baseline="-25000" dirty="0" err="1">
                <a:solidFill>
                  <a:srgbClr val="000000"/>
                </a:solidFill>
                <a:latin typeface="Times New Roman"/>
                <a:ea typeface="DejaVu Sans"/>
              </a:rPr>
              <a:t>best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) –  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minimum time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of algorithm over inputs of size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Monotype Sorts" charset="2"/>
              <a:buChar char=""/>
            </a:pPr>
            <a:endParaRPr lang="en-US" sz="2540" spc="-1" dirty="0">
              <a:latin typeface="Arial"/>
            </a:endParaRPr>
          </a:p>
          <a:p>
            <a:pPr marL="311242" indent="-310589" algn="just">
              <a:spcAft>
                <a:spcPts val="1281"/>
              </a:spcAft>
              <a:buClr>
                <a:srgbClr val="000000"/>
              </a:buClr>
              <a:buFont typeface="Monotype Sorts" charset="2"/>
              <a:buChar char="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Average</a:t>
            </a:r>
            <a:r>
              <a:rPr lang="en-US" sz="2540" spc="-1" dirty="0">
                <a:solidFill>
                  <a:srgbClr val="0070C0"/>
                </a:solidFill>
                <a:latin typeface="Times New Roman"/>
                <a:ea typeface="DejaVu Sans"/>
              </a:rPr>
              <a:t> </a:t>
            </a: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case:  </a:t>
            </a:r>
            <a:r>
              <a:rPr lang="en-US" sz="2540" spc="-1" dirty="0" err="1">
                <a:solidFill>
                  <a:srgbClr val="000000"/>
                </a:solidFill>
                <a:latin typeface="Times New Roman"/>
                <a:ea typeface="DejaVu Sans"/>
              </a:rPr>
              <a:t>C</a:t>
            </a:r>
            <a:r>
              <a:rPr lang="en-US" sz="2540" spc="-1" baseline="-25000" dirty="0" err="1">
                <a:solidFill>
                  <a:srgbClr val="000000"/>
                </a:solidFill>
                <a:latin typeface="Times New Roman"/>
                <a:ea typeface="DejaVu Sans"/>
              </a:rPr>
              <a:t>avg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) – </a:t>
            </a:r>
            <a:r>
              <a:rPr lang="en-US" sz="2540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“average”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over inputs of size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endParaRPr lang="en-US" sz="2540" spc="-1" dirty="0">
              <a:latin typeface="Arial"/>
            </a:endParaRPr>
          </a:p>
          <a:p>
            <a:pPr>
              <a:spcAft>
                <a:spcPts val="1031"/>
              </a:spcAft>
            </a:pPr>
            <a:endParaRPr lang="en-US" sz="1814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2363172" y="-165579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br>
              <a:rPr sz="1633" dirty="0"/>
            </a:b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Classification of Growth</a:t>
            </a:r>
            <a:br>
              <a:rPr sz="1633" dirty="0"/>
            </a:br>
            <a:r>
              <a:rPr lang="en-US" sz="3992" b="1" spc="-1" dirty="0">
                <a:solidFill>
                  <a:srgbClr val="C00000"/>
                </a:solidFill>
                <a:latin typeface="Times New Roman"/>
              </a:rPr>
              <a:t>Asymptotic order of growth</a:t>
            </a:r>
            <a:endParaRPr lang="en-US" sz="3992" spc="-1" dirty="0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1966386" y="2224143"/>
            <a:ext cx="8306048" cy="49046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  <a:buClr>
                <a:srgbClr val="0E1D8C"/>
              </a:buClr>
              <a:buFont typeface="Monotype Sorts" charset="2"/>
              <a:buChar char=""/>
            </a:pP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O(g(n)):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 class of functions f(n) that grow </a:t>
            </a:r>
            <a:r>
              <a:rPr lang="en-US" sz="2359" b="1" u="sng" spc="-1" dirty="0">
                <a:solidFill>
                  <a:srgbClr val="0E1D8C"/>
                </a:solidFill>
                <a:latin typeface="Times New Roman"/>
              </a:rPr>
              <a:t>no faster</a:t>
            </a: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 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than g(n)</a:t>
            </a:r>
            <a:endParaRPr lang="en-US" sz="2359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E1D8C"/>
              </a:buClr>
              <a:buFont typeface="Symbol"/>
              <a:buChar char=""/>
            </a:pPr>
            <a:r>
              <a:rPr lang="en-US" sz="1905" spc="-1" dirty="0">
                <a:solidFill>
                  <a:srgbClr val="C00000"/>
                </a:solidFill>
                <a:latin typeface="Times New Roman"/>
              </a:rPr>
              <a:t>All functions with smaller or the same order of growth as </a:t>
            </a:r>
            <a:r>
              <a:rPr lang="en-US" sz="1996" i="1" spc="-1" dirty="0">
                <a:solidFill>
                  <a:srgbClr val="C00000"/>
                </a:solidFill>
                <a:latin typeface="Times New Roman"/>
              </a:rPr>
              <a:t>g</a:t>
            </a:r>
            <a:r>
              <a:rPr lang="en-US" sz="1996" spc="-1" dirty="0">
                <a:solidFill>
                  <a:srgbClr val="C00000"/>
                </a:solidFill>
                <a:latin typeface="Times New Roman"/>
              </a:rPr>
              <a:t>(</a:t>
            </a:r>
            <a:r>
              <a:rPr lang="en-US" sz="1996" i="1" spc="-1" dirty="0">
                <a:solidFill>
                  <a:srgbClr val="C00000"/>
                </a:solidFill>
                <a:latin typeface="Times New Roman"/>
              </a:rPr>
              <a:t>n</a:t>
            </a:r>
            <a:r>
              <a:rPr lang="en-US" sz="1996" spc="-1" dirty="0">
                <a:solidFill>
                  <a:srgbClr val="C00000"/>
                </a:solidFill>
                <a:latin typeface="Times New Roman"/>
              </a:rPr>
              <a:t>)</a:t>
            </a:r>
            <a:endParaRPr lang="en-US" sz="1996" spc="-1" dirty="0">
              <a:solidFill>
                <a:srgbClr val="C00000"/>
              </a:solidFill>
              <a:latin typeface="Arial"/>
            </a:endParaRPr>
          </a:p>
          <a:p>
            <a:pPr>
              <a:spcAft>
                <a:spcPts val="1281"/>
              </a:spcAft>
            </a:pPr>
            <a:endParaRPr lang="en-US" sz="1996" spc="-1" dirty="0"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E1D8C"/>
              </a:buClr>
              <a:buFont typeface="Monotype Sorts" charset="2"/>
              <a:buChar char=""/>
            </a:pP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Ω(g(n)): 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class of functions f(n) that grow </a:t>
            </a:r>
            <a:r>
              <a:rPr lang="en-US" sz="2359" b="1" u="sng" spc="-1" dirty="0">
                <a:solidFill>
                  <a:srgbClr val="0E1D8C"/>
                </a:solidFill>
                <a:latin typeface="Times New Roman"/>
              </a:rPr>
              <a:t>at least as fast</a:t>
            </a: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 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as g(n)</a:t>
            </a:r>
            <a:endParaRPr lang="en-US" sz="2359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E1D8C"/>
              </a:buClr>
              <a:buFont typeface="Symbol"/>
              <a:buChar char=""/>
            </a:pPr>
            <a:r>
              <a:rPr lang="en-US" sz="1905" spc="-1" dirty="0">
                <a:solidFill>
                  <a:srgbClr val="C00000"/>
                </a:solidFill>
                <a:latin typeface="Times New Roman"/>
              </a:rPr>
              <a:t>All functions that are larger or have the same order of growth as </a:t>
            </a:r>
            <a:r>
              <a:rPr lang="en-US" sz="1905" i="1" spc="-1" dirty="0">
                <a:solidFill>
                  <a:srgbClr val="C00000"/>
                </a:solidFill>
                <a:latin typeface="Times New Roman"/>
              </a:rPr>
              <a:t>g</a:t>
            </a:r>
            <a:r>
              <a:rPr lang="en-US" sz="1905" spc="-1" dirty="0">
                <a:solidFill>
                  <a:srgbClr val="C00000"/>
                </a:solidFill>
                <a:latin typeface="Times New Roman"/>
              </a:rPr>
              <a:t>(</a:t>
            </a:r>
            <a:r>
              <a:rPr lang="en-US" sz="1905" i="1" spc="-1" dirty="0">
                <a:solidFill>
                  <a:srgbClr val="C00000"/>
                </a:solidFill>
                <a:latin typeface="Times New Roman"/>
              </a:rPr>
              <a:t>n</a:t>
            </a:r>
            <a:r>
              <a:rPr lang="en-US" sz="1905" spc="-1" dirty="0">
                <a:solidFill>
                  <a:srgbClr val="C00000"/>
                </a:solidFill>
                <a:latin typeface="Times New Roman"/>
              </a:rPr>
              <a:t>)</a:t>
            </a:r>
            <a:endParaRPr lang="en-US" sz="1905" spc="-1" dirty="0">
              <a:solidFill>
                <a:srgbClr val="C00000"/>
              </a:solidFill>
              <a:latin typeface="Arial"/>
            </a:endParaRPr>
          </a:p>
          <a:p>
            <a:pPr marL="311242" indent="-310589">
              <a:spcAft>
                <a:spcPts val="1281"/>
              </a:spcAft>
              <a:buClr>
                <a:srgbClr val="0E1D8C"/>
              </a:buClr>
              <a:buFont typeface="Monotype Sorts" charset="2"/>
              <a:buChar char=""/>
            </a:pPr>
            <a:endParaRPr lang="en-US" sz="2359" b="1" spc="-1" dirty="0">
              <a:solidFill>
                <a:srgbClr val="0E1D8C"/>
              </a:solidFill>
              <a:latin typeface="Times New Roman"/>
            </a:endParaRPr>
          </a:p>
          <a:p>
            <a:pPr marL="311242" indent="-310589">
              <a:spcAft>
                <a:spcPts val="1281"/>
              </a:spcAft>
              <a:buClr>
                <a:srgbClr val="0E1D8C"/>
              </a:buClr>
              <a:buFont typeface="Monotype Sorts" charset="2"/>
              <a:buChar char=""/>
            </a:pP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Θ(g(n)): 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class of functions f(n) that grow </a:t>
            </a:r>
            <a:r>
              <a:rPr lang="en-US" sz="2359" b="1" u="sng" spc="-1" dirty="0">
                <a:solidFill>
                  <a:srgbClr val="0E1D8C"/>
                </a:solidFill>
                <a:latin typeface="Times New Roman"/>
              </a:rPr>
              <a:t>at same rate</a:t>
            </a:r>
            <a:r>
              <a:rPr lang="en-US" sz="2359" b="1" spc="-1" dirty="0">
                <a:solidFill>
                  <a:srgbClr val="0E1D8C"/>
                </a:solidFill>
                <a:latin typeface="Times New Roman"/>
              </a:rPr>
              <a:t> </a:t>
            </a:r>
            <a:r>
              <a:rPr lang="en-US" sz="2359" spc="-1" dirty="0">
                <a:solidFill>
                  <a:srgbClr val="0E1D8C"/>
                </a:solidFill>
                <a:latin typeface="Times New Roman"/>
              </a:rPr>
              <a:t>as g(n)</a:t>
            </a:r>
            <a:endParaRPr lang="en-US" sz="2359" spc="-1" dirty="0">
              <a:latin typeface="Arial"/>
            </a:endParaRPr>
          </a:p>
          <a:p>
            <a:pPr marL="674086" lvl="1" indent="-258661">
              <a:spcAft>
                <a:spcPts val="1031"/>
              </a:spcAft>
              <a:buClr>
                <a:srgbClr val="0E1D8C"/>
              </a:buClr>
              <a:buFont typeface="Symbol"/>
              <a:buChar char=""/>
            </a:pPr>
            <a:r>
              <a:rPr lang="en-US" sz="1905" spc="-1" dirty="0">
                <a:solidFill>
                  <a:srgbClr val="C00000"/>
                </a:solidFill>
                <a:latin typeface="Times New Roman"/>
              </a:rPr>
              <a:t>Set of functions that have the same order of growth as </a:t>
            </a:r>
            <a:r>
              <a:rPr lang="en-US" sz="1996" i="1" spc="-1" dirty="0">
                <a:solidFill>
                  <a:srgbClr val="C00000"/>
                </a:solidFill>
                <a:latin typeface="Times New Roman"/>
              </a:rPr>
              <a:t>g</a:t>
            </a:r>
            <a:r>
              <a:rPr lang="en-US" sz="1996" spc="-1" dirty="0">
                <a:solidFill>
                  <a:srgbClr val="C00000"/>
                </a:solidFill>
                <a:latin typeface="Times New Roman"/>
              </a:rPr>
              <a:t>(</a:t>
            </a:r>
            <a:r>
              <a:rPr lang="en-US" sz="1996" i="1" spc="-1" dirty="0">
                <a:solidFill>
                  <a:srgbClr val="C00000"/>
                </a:solidFill>
                <a:latin typeface="Times New Roman"/>
              </a:rPr>
              <a:t>n</a:t>
            </a:r>
            <a:r>
              <a:rPr lang="en-US" sz="1996" spc="-1" dirty="0">
                <a:solidFill>
                  <a:srgbClr val="C00000"/>
                </a:solidFill>
                <a:latin typeface="Times New Roman"/>
              </a:rPr>
              <a:t>)</a:t>
            </a:r>
            <a:endParaRPr lang="en-US" sz="1996" spc="-1" dirty="0">
              <a:solidFill>
                <a:srgbClr val="C00000"/>
              </a:solidFill>
              <a:latin typeface="Arial"/>
            </a:endParaRPr>
          </a:p>
          <a:p>
            <a:pPr>
              <a:spcAft>
                <a:spcPts val="1281"/>
              </a:spcAft>
            </a:pPr>
            <a:endParaRPr lang="en-US" sz="1996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endParaRPr lang="en-US" sz="1996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endParaRPr lang="en-US" sz="1996" spc="-1" dirty="0">
              <a:latin typeface="Arial"/>
            </a:endParaRPr>
          </a:p>
        </p:txBody>
      </p:sp>
      <p:pic>
        <p:nvPicPr>
          <p:cNvPr id="234" name="Picture 233"/>
          <p:cNvPicPr/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2591828" y="3191394"/>
            <a:ext cx="6555224" cy="379819"/>
          </a:xfrm>
          <a:prstGeom prst="rect">
            <a:avLst/>
          </a:prstGeom>
          <a:ln>
            <a:noFill/>
          </a:ln>
        </p:spPr>
      </p:pic>
      <p:pic>
        <p:nvPicPr>
          <p:cNvPr id="235" name="Picture 234"/>
          <p:cNvPicPr/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3190950" y="4628302"/>
            <a:ext cx="5356981" cy="379819"/>
          </a:xfrm>
          <a:prstGeom prst="rect">
            <a:avLst/>
          </a:prstGeom>
          <a:ln>
            <a:noFill/>
          </a:ln>
        </p:spPr>
      </p:pic>
      <p:pic>
        <p:nvPicPr>
          <p:cNvPr id="236" name="Picture 235"/>
          <p:cNvPicPr/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4907646" y="6001164"/>
            <a:ext cx="1923588" cy="379819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067768" y="1190529"/>
            <a:ext cx="7909262" cy="7623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11242" indent="-310589" algn="ctr">
              <a:spcAft>
                <a:spcPts val="1281"/>
              </a:spcAft>
            </a:pPr>
            <a:r>
              <a:rPr lang="en-US" sz="2177" b="1" u="sng" spc="-1" dirty="0">
                <a:solidFill>
                  <a:schemeClr val="accent3">
                    <a:lumMod val="75000"/>
                  </a:schemeClr>
                </a:solidFill>
                <a:latin typeface="Times New Roman"/>
              </a:rPr>
              <a:t>A way of comparing functions that </a:t>
            </a:r>
            <a:r>
              <a:rPr lang="en-US" sz="2177" b="1" u="sng" spc="-1" dirty="0">
                <a:solidFill>
                  <a:srgbClr val="002060"/>
                </a:solidFill>
                <a:latin typeface="Times New Roman"/>
              </a:rPr>
              <a:t>ignores constant factors</a:t>
            </a:r>
            <a:r>
              <a:rPr lang="en-US" sz="2177" b="1" u="sng" spc="-1" dirty="0">
                <a:solidFill>
                  <a:schemeClr val="accent3">
                    <a:lumMod val="75000"/>
                  </a:schemeClr>
                </a:solidFill>
                <a:latin typeface="Times New Roman"/>
              </a:rPr>
              <a:t> and </a:t>
            </a:r>
            <a:r>
              <a:rPr lang="en-US" sz="2177" b="1" u="sng" spc="-1" dirty="0">
                <a:solidFill>
                  <a:srgbClr val="002060"/>
                </a:solidFill>
                <a:latin typeface="Times New Roman"/>
              </a:rPr>
              <a:t>small input sizes</a:t>
            </a:r>
            <a:r>
              <a:rPr lang="en-US" sz="2177" b="1" u="sng" spc="-1" dirty="0">
                <a:solidFill>
                  <a:schemeClr val="accent3">
                    <a:lumMod val="75000"/>
                  </a:schemeClr>
                </a:solidFill>
                <a:latin typeface="Times New Roman"/>
              </a:rPr>
              <a:t>.</a:t>
            </a:r>
            <a:endParaRPr lang="en-US" sz="2177" spc="-1" dirty="0">
              <a:solidFill>
                <a:schemeClr val="accent3">
                  <a:lumMod val="75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2200532" y="31842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Big-oh</a:t>
            </a:r>
          </a:p>
        </p:txBody>
      </p:sp>
      <p:sp>
        <p:nvSpPr>
          <p:cNvPr id="239" name="CustomShape 2"/>
          <p:cNvSpPr/>
          <p:nvPr/>
        </p:nvSpPr>
        <p:spPr>
          <a:xfrm>
            <a:off x="1873589" y="1365861"/>
            <a:ext cx="8627011" cy="126496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4" tIns="45722" rIns="91444" bIns="45722">
            <a:spAutoFit/>
          </a:bodyPr>
          <a:lstStyle/>
          <a:p>
            <a:pPr marL="195955" indent="-195629">
              <a:buClr>
                <a:srgbClr val="0E1D8C"/>
              </a:buClr>
              <a:buFont typeface="Arial"/>
              <a:buChar char="•"/>
            </a:pP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O(g(n)): class of functions f(n) that grow </a:t>
            </a:r>
            <a:r>
              <a:rPr lang="en-US" sz="2177" u="sng" spc="-1" dirty="0">
                <a:solidFill>
                  <a:srgbClr val="0E1D8C"/>
                </a:solidFill>
                <a:latin typeface="Times New Roman"/>
                <a:ea typeface="DejaVu Sans"/>
              </a:rPr>
              <a:t>no faster</a:t>
            </a: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 than g(n)</a:t>
            </a:r>
            <a:endParaRPr lang="en-US" sz="2177" spc="-1" dirty="0">
              <a:latin typeface="Arial"/>
            </a:endParaRPr>
          </a:p>
          <a:p>
            <a:pPr marL="195955" indent="-195629">
              <a:buClr>
                <a:srgbClr val="0E1D8C"/>
              </a:buClr>
              <a:buFont typeface="Arial"/>
              <a:buChar char="•"/>
            </a:pP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 if there exist some positive constant c and some nonnegative n</a:t>
            </a:r>
            <a:r>
              <a:rPr lang="en-US" sz="1452" spc="-1" dirty="0">
                <a:solidFill>
                  <a:srgbClr val="0E1D8C"/>
                </a:solidFill>
                <a:latin typeface="Times New Roman"/>
                <a:ea typeface="DejaVu Sans"/>
              </a:rPr>
              <a:t>0 </a:t>
            </a: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such that </a:t>
            </a:r>
            <a:endParaRPr lang="en-US" sz="2177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33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33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058" y="2926207"/>
            <a:ext cx="6653914" cy="38059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768" y="2377864"/>
            <a:ext cx="4330495" cy="5483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1"/>
          <p:cNvPicPr/>
          <p:nvPr/>
        </p:nvPicPr>
        <p:blipFill>
          <a:blip r:embed="rId3"/>
          <a:stretch/>
        </p:blipFill>
        <p:spPr>
          <a:xfrm>
            <a:off x="1849764" y="703339"/>
            <a:ext cx="8417087" cy="49533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2" name="Picture 3"/>
          <p:cNvPicPr/>
          <p:nvPr/>
        </p:nvPicPr>
        <p:blipFill>
          <a:blip r:embed="rId4"/>
          <a:srcRect r="36020"/>
          <a:stretch/>
        </p:blipFill>
        <p:spPr>
          <a:xfrm>
            <a:off x="3440718" y="5886013"/>
            <a:ext cx="5064361" cy="748207"/>
          </a:xfrm>
          <a:prstGeom prst="rect">
            <a:avLst/>
          </a:prstGeom>
          <a:ln w="9360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2269442" y="38733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Big-omega</a:t>
            </a:r>
          </a:p>
        </p:txBody>
      </p:sp>
      <p:sp>
        <p:nvSpPr>
          <p:cNvPr id="245" name="CustomShape 2"/>
          <p:cNvSpPr/>
          <p:nvPr/>
        </p:nvSpPr>
        <p:spPr>
          <a:xfrm>
            <a:off x="2315653" y="1530053"/>
            <a:ext cx="7604543" cy="4273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Ω(g(n)): class of functions f(n) that grow </a:t>
            </a:r>
            <a:r>
              <a:rPr lang="en-US" sz="2177" u="sng" spc="-1" dirty="0">
                <a:solidFill>
                  <a:srgbClr val="0E1D8C"/>
                </a:solidFill>
                <a:latin typeface="Times New Roman"/>
                <a:ea typeface="DejaVu Sans"/>
              </a:rPr>
              <a:t>at least as fast</a:t>
            </a: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 as g(n)</a:t>
            </a:r>
            <a:endParaRPr lang="en-US" sz="2177" spc="-1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442" y="2838583"/>
            <a:ext cx="6621821" cy="38434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975" y="2207708"/>
            <a:ext cx="4493899" cy="6308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1"/>
          <p:cNvPicPr/>
          <p:nvPr/>
        </p:nvPicPr>
        <p:blipFill>
          <a:blip r:embed="rId3"/>
          <a:stretch/>
        </p:blipFill>
        <p:spPr>
          <a:xfrm>
            <a:off x="2445865" y="938156"/>
            <a:ext cx="7461595" cy="479864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9" name="Picture 3"/>
          <p:cNvPicPr/>
          <p:nvPr/>
        </p:nvPicPr>
        <p:blipFill>
          <a:blip r:embed="rId4"/>
          <a:srcRect r="37780"/>
          <a:stretch/>
        </p:blipFill>
        <p:spPr>
          <a:xfrm>
            <a:off x="3523467" y="6003091"/>
            <a:ext cx="5011127" cy="678971"/>
          </a:xfrm>
          <a:prstGeom prst="rect">
            <a:avLst/>
          </a:prstGeom>
          <a:ln w="9360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2225026" y="456567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Big-theta</a:t>
            </a:r>
          </a:p>
        </p:txBody>
      </p:sp>
      <p:sp>
        <p:nvSpPr>
          <p:cNvPr id="252" name="CustomShape 2"/>
          <p:cNvSpPr/>
          <p:nvPr/>
        </p:nvSpPr>
        <p:spPr>
          <a:xfrm>
            <a:off x="1980740" y="1553190"/>
            <a:ext cx="7543798" cy="4273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4" tIns="45722" rIns="91444" bIns="45722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Θ(g(n)): class of functions f(n) that grow </a:t>
            </a:r>
            <a:r>
              <a:rPr lang="en-US" sz="2177" u="sng" spc="-1" dirty="0">
                <a:solidFill>
                  <a:srgbClr val="0E1D8C"/>
                </a:solidFill>
                <a:latin typeface="Times New Roman"/>
                <a:ea typeface="DejaVu Sans"/>
              </a:rPr>
              <a:t>at same rate</a:t>
            </a:r>
            <a:r>
              <a:rPr lang="en-US" sz="2177" spc="-1" dirty="0">
                <a:solidFill>
                  <a:srgbClr val="0E1D8C"/>
                </a:solidFill>
                <a:latin typeface="Times New Roman"/>
                <a:ea typeface="DejaVu Sans"/>
              </a:rPr>
              <a:t> as g(n)</a:t>
            </a:r>
            <a:endParaRPr lang="en-US" sz="2177" spc="-1" dirty="0">
              <a:latin typeface="Arial"/>
            </a:endParaRPr>
          </a:p>
        </p:txBody>
      </p:sp>
      <p:pic>
        <p:nvPicPr>
          <p:cNvPr id="253" name="Picture 252"/>
          <p:cNvPicPr/>
          <p:nvPr/>
        </p:nvPicPr>
        <p:blipFill>
          <a:blip r:embed="rId3"/>
          <a:stretch/>
        </p:blipFill>
        <p:spPr>
          <a:xfrm>
            <a:off x="2225026" y="2146417"/>
            <a:ext cx="5714266" cy="564340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298" y="2846614"/>
            <a:ext cx="6528422" cy="38354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027" y="2144045"/>
            <a:ext cx="3540363" cy="5391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2726988" y="1828879"/>
            <a:ext cx="1142396" cy="2437634"/>
          </a:xfrm>
          <a:prstGeom prst="ellipse">
            <a:avLst/>
          </a:prstGeom>
          <a:noFill/>
          <a:ln w="28440">
            <a:solidFill>
              <a:schemeClr val="hlink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55" name="CustomShape 2"/>
          <p:cNvSpPr/>
          <p:nvPr/>
        </p:nvSpPr>
        <p:spPr>
          <a:xfrm>
            <a:off x="2803082" y="3352727"/>
            <a:ext cx="1142396" cy="2437634"/>
          </a:xfrm>
          <a:prstGeom prst="ellipse">
            <a:avLst/>
          </a:prstGeom>
          <a:noFill/>
          <a:ln w="28440">
            <a:solidFill>
              <a:schemeClr val="folHlink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56" name="CustomShape 3"/>
          <p:cNvSpPr/>
          <p:nvPr/>
        </p:nvSpPr>
        <p:spPr>
          <a:xfrm>
            <a:off x="4831831" y="2362193"/>
            <a:ext cx="5030809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FF"/>
                </a:solidFill>
                <a:latin typeface="Symbol"/>
                <a:ea typeface="DejaVu Sans"/>
              </a:rPr>
              <a:t></a:t>
            </a:r>
            <a:r>
              <a:rPr lang="en-US" sz="1633" spc="-1">
                <a:solidFill>
                  <a:srgbClr val="0000FF"/>
                </a:solidFill>
                <a:latin typeface="Tahoma"/>
                <a:ea typeface="DejaVu Sans"/>
              </a:rPr>
              <a:t>(g(n)),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 functions that grow </a:t>
            </a:r>
            <a:r>
              <a:rPr lang="en-US" sz="1633" u="sng" spc="-1">
                <a:solidFill>
                  <a:srgbClr val="000000"/>
                </a:solidFill>
                <a:latin typeface="Tahoma"/>
                <a:ea typeface="DejaVu Sans"/>
              </a:rPr>
              <a:t>at least as fast as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 g(n) </a:t>
            </a:r>
            <a:endParaRPr lang="en-US" sz="1633" spc="-1">
              <a:latin typeface="Arial"/>
            </a:endParaRPr>
          </a:p>
        </p:txBody>
      </p:sp>
      <p:sp>
        <p:nvSpPr>
          <p:cNvPr id="257" name="Line 4"/>
          <p:cNvSpPr/>
          <p:nvPr/>
        </p:nvSpPr>
        <p:spPr>
          <a:xfrm>
            <a:off x="3646326" y="2579699"/>
            <a:ext cx="1066955" cy="0"/>
          </a:xfrm>
          <a:prstGeom prst="line">
            <a:avLst/>
          </a:prstGeom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58" name="CustomShape 5"/>
          <p:cNvSpPr/>
          <p:nvPr/>
        </p:nvSpPr>
        <p:spPr>
          <a:xfrm>
            <a:off x="4678989" y="3352727"/>
            <a:ext cx="5202907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00"/>
                </a:solidFill>
                <a:latin typeface="Symbol"/>
                <a:ea typeface="DejaVu Sans"/>
              </a:rPr>
              <a:t>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(g(n)), functions that grow </a:t>
            </a:r>
            <a:r>
              <a:rPr lang="en-US" sz="1633" u="sng" spc="-1">
                <a:solidFill>
                  <a:srgbClr val="000000"/>
                </a:solidFill>
                <a:latin typeface="Tahoma"/>
                <a:ea typeface="DejaVu Sans"/>
              </a:rPr>
              <a:t>at the same rate as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 g(n) </a:t>
            </a:r>
            <a:endParaRPr lang="en-US" sz="1633" spc="-1">
              <a:latin typeface="Arial"/>
            </a:endParaRPr>
          </a:p>
        </p:txBody>
      </p:sp>
      <p:sp>
        <p:nvSpPr>
          <p:cNvPr id="259" name="Line 6"/>
          <p:cNvSpPr/>
          <p:nvPr/>
        </p:nvSpPr>
        <p:spPr>
          <a:xfrm>
            <a:off x="3657103" y="3690090"/>
            <a:ext cx="1066955" cy="0"/>
          </a:xfrm>
          <a:prstGeom prst="line">
            <a:avLst/>
          </a:prstGeom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60" name="CustomShape 7"/>
          <p:cNvSpPr/>
          <p:nvPr/>
        </p:nvSpPr>
        <p:spPr>
          <a:xfrm>
            <a:off x="4847834" y="4799174"/>
            <a:ext cx="4698025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800080"/>
                </a:solidFill>
                <a:latin typeface="Tahoma"/>
                <a:ea typeface="DejaVu Sans"/>
              </a:rPr>
              <a:t>O(g(n)),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 functions that grow </a:t>
            </a:r>
            <a:r>
              <a:rPr lang="en-US" sz="1633" u="sng" spc="-1">
                <a:solidFill>
                  <a:srgbClr val="000000"/>
                </a:solidFill>
                <a:latin typeface="Tahoma"/>
                <a:ea typeface="DejaVu Sans"/>
              </a:rPr>
              <a:t>no faster than</a:t>
            </a: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 g(n) </a:t>
            </a:r>
            <a:endParaRPr lang="en-US" sz="1633" spc="-1">
              <a:latin typeface="Arial"/>
            </a:endParaRPr>
          </a:p>
        </p:txBody>
      </p:sp>
      <p:sp>
        <p:nvSpPr>
          <p:cNvPr id="261" name="Line 8"/>
          <p:cNvSpPr/>
          <p:nvPr/>
        </p:nvSpPr>
        <p:spPr>
          <a:xfrm>
            <a:off x="3711643" y="4952996"/>
            <a:ext cx="1066955" cy="0"/>
          </a:xfrm>
          <a:prstGeom prst="line">
            <a:avLst/>
          </a:prstGeom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62" name="CustomShape 9"/>
          <p:cNvSpPr/>
          <p:nvPr/>
        </p:nvSpPr>
        <p:spPr>
          <a:xfrm>
            <a:off x="3032019" y="3657757"/>
            <a:ext cx="576897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g(n)</a:t>
            </a:r>
            <a:endParaRPr lang="en-US" sz="1633" spc="-1">
              <a:latin typeface="Arial"/>
            </a:endParaRPr>
          </a:p>
        </p:txBody>
      </p:sp>
      <p:sp>
        <p:nvSpPr>
          <p:cNvPr id="263" name="CustomShape 10"/>
          <p:cNvSpPr/>
          <p:nvPr/>
        </p:nvSpPr>
        <p:spPr>
          <a:xfrm>
            <a:off x="6973906" y="1938285"/>
            <a:ext cx="488988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&gt;=</a:t>
            </a:r>
            <a:endParaRPr lang="en-US" sz="1633" spc="-1">
              <a:latin typeface="Arial"/>
            </a:endParaRPr>
          </a:p>
        </p:txBody>
      </p:sp>
      <p:sp>
        <p:nvSpPr>
          <p:cNvPr id="264" name="CustomShape 11"/>
          <p:cNvSpPr/>
          <p:nvPr/>
        </p:nvSpPr>
        <p:spPr>
          <a:xfrm>
            <a:off x="7066003" y="4343260"/>
            <a:ext cx="488988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&lt;=</a:t>
            </a:r>
            <a:endParaRPr lang="en-US" sz="1633" spc="-1">
              <a:latin typeface="Arial"/>
            </a:endParaRPr>
          </a:p>
        </p:txBody>
      </p:sp>
      <p:sp>
        <p:nvSpPr>
          <p:cNvPr id="265" name="CustomShape 12"/>
          <p:cNvSpPr/>
          <p:nvPr/>
        </p:nvSpPr>
        <p:spPr>
          <a:xfrm>
            <a:off x="7076780" y="2971928"/>
            <a:ext cx="336832" cy="34362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4" tIns="45722" rIns="91444" bIns="4572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33" spc="-1">
                <a:solidFill>
                  <a:srgbClr val="000000"/>
                </a:solidFill>
                <a:latin typeface="Tahoma"/>
                <a:ea typeface="DejaVu Sans"/>
              </a:rPr>
              <a:t>=</a:t>
            </a:r>
            <a:endParaRPr lang="en-US" sz="1633" spc="-1">
              <a:latin typeface="Arial"/>
            </a:endParaRPr>
          </a:p>
        </p:txBody>
      </p:sp>
      <p:sp>
        <p:nvSpPr>
          <p:cNvPr id="266" name="CustomShape 13"/>
          <p:cNvSpPr/>
          <p:nvPr/>
        </p:nvSpPr>
        <p:spPr>
          <a:xfrm>
            <a:off x="2293936" y="38733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Summary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2269442" y="38733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Basic asymptotic efficiency classes</a:t>
            </a:r>
          </a:p>
        </p:txBody>
      </p:sp>
      <p:graphicFrame>
        <p:nvGraphicFramePr>
          <p:cNvPr id="270" name="Table 2"/>
          <p:cNvGraphicFramePr/>
          <p:nvPr/>
        </p:nvGraphicFramePr>
        <p:xfrm>
          <a:off x="2437960" y="1752458"/>
          <a:ext cx="7011136" cy="4760307"/>
        </p:xfrm>
        <a:graphic>
          <a:graphicData uri="http://schemas.openxmlformats.org/drawingml/2006/table">
            <a:tbl>
              <a:tblPr/>
              <a:tblGrid>
                <a:gridCol w="350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5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constant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log </a:t>
                      </a: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logarithmic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linear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 </a:t>
                      </a: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log </a:t>
                      </a: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n-</a:t>
                      </a: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log</a:t>
                      </a: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-n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r>
                        <a:rPr lang="en-US" sz="2200" b="1" strike="noStrike" spc="-1" baseline="30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quadratic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r>
                        <a:rPr lang="en-US" sz="2200" b="1" strike="noStrike" spc="-1" baseline="300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cubic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8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2200" b="1" i="1" strike="noStrike" spc="-1" baseline="30000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exponential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i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!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9"/>
                        </a:spcBef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factorial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91444" marR="91444" marT="41476" marB="41476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1" name="Line 3"/>
          <p:cNvSpPr/>
          <p:nvPr/>
        </p:nvSpPr>
        <p:spPr>
          <a:xfrm>
            <a:off x="2514054" y="5257700"/>
            <a:ext cx="7011137" cy="0"/>
          </a:xfrm>
          <a:prstGeom prst="line">
            <a:avLst/>
          </a:prstGeom>
          <a:ln w="2844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33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87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2076430" y="-333459"/>
            <a:ext cx="8156472" cy="103625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Analysis of Non recursive Algorithms </a:t>
            </a:r>
          </a:p>
        </p:txBody>
      </p:sp>
      <p:sp>
        <p:nvSpPr>
          <p:cNvPr id="273" name="CustomShape 2"/>
          <p:cNvSpPr/>
          <p:nvPr/>
        </p:nvSpPr>
        <p:spPr>
          <a:xfrm>
            <a:off x="2125426" y="1048978"/>
            <a:ext cx="7930373" cy="38703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46" tIns="40823" rIns="81646" bIns="40823">
            <a:noAutofit/>
          </a:bodyPr>
          <a:lstStyle/>
          <a:p>
            <a:pPr marL="311242" indent="-310589" algn="ctr">
              <a:lnSpc>
                <a:spcPct val="80000"/>
              </a:lnSpc>
              <a:spcBef>
                <a:spcPts val="509"/>
              </a:spcBef>
            </a:pPr>
            <a:r>
              <a:rPr lang="en-US" sz="2903" b="1" spc="-1" dirty="0">
                <a:solidFill>
                  <a:srgbClr val="000000"/>
                </a:solidFill>
                <a:latin typeface="Times New Roman"/>
                <a:ea typeface="DejaVu Sans"/>
              </a:rPr>
              <a:t>General Plan for Analysis</a:t>
            </a:r>
            <a:endParaRPr lang="en-US" sz="2903" spc="-1" dirty="0">
              <a:latin typeface="Arial"/>
            </a:endParaRPr>
          </a:p>
          <a:p>
            <a:pPr marL="311242" indent="-310589">
              <a:lnSpc>
                <a:spcPct val="80000"/>
              </a:lnSpc>
              <a:spcBef>
                <a:spcPts val="509"/>
              </a:spcBef>
            </a:pP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n-US" sz="2540" spc="-1" dirty="0">
              <a:latin typeface="Arial"/>
            </a:endParaRPr>
          </a:p>
          <a:p>
            <a:pPr marL="311242" indent="-310589" algn="just">
              <a:lnSpc>
                <a:spcPct val="80000"/>
              </a:lnSpc>
              <a:spcBef>
                <a:spcPts val="50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Decide on parameter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 indicating </a:t>
            </a:r>
            <a:r>
              <a:rPr lang="en-US" sz="2540" b="1" i="1" u="sng" spc="-1" dirty="0">
                <a:solidFill>
                  <a:srgbClr val="0070C0"/>
                </a:solidFill>
                <a:latin typeface="Times New Roman"/>
                <a:ea typeface="DejaVu Sans"/>
              </a:rPr>
              <a:t>input size.</a:t>
            </a:r>
            <a:endParaRPr lang="en-US" sz="2540" spc="-1" dirty="0">
              <a:solidFill>
                <a:srgbClr val="0070C0"/>
              </a:solidFill>
              <a:latin typeface="Arial"/>
            </a:endParaRPr>
          </a:p>
          <a:p>
            <a:pPr algn="just">
              <a:lnSpc>
                <a:spcPct val="80000"/>
              </a:lnSpc>
              <a:spcBef>
                <a:spcPts val="509"/>
              </a:spcBef>
            </a:pPr>
            <a:endParaRPr lang="en-US" sz="2540" spc="-1" dirty="0">
              <a:latin typeface="Arial"/>
            </a:endParaRPr>
          </a:p>
          <a:p>
            <a:pPr marL="311242" indent="-310589" algn="just">
              <a:lnSpc>
                <a:spcPct val="80000"/>
              </a:lnSpc>
              <a:spcBef>
                <a:spcPts val="50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Identify algorithm’s </a:t>
            </a:r>
            <a:r>
              <a:rPr lang="en-US" sz="2540" b="1" i="1" u="sng" spc="-1" dirty="0">
                <a:solidFill>
                  <a:srgbClr val="0070C0"/>
                </a:solidFill>
                <a:latin typeface="Times New Roman"/>
                <a:ea typeface="DejaVu Sans"/>
              </a:rPr>
              <a:t>basic operation.</a:t>
            </a:r>
            <a:endParaRPr lang="en-US" sz="2540" spc="-1" dirty="0">
              <a:solidFill>
                <a:srgbClr val="0070C0"/>
              </a:solidFill>
              <a:latin typeface="Arial"/>
            </a:endParaRPr>
          </a:p>
          <a:p>
            <a:pPr algn="just">
              <a:lnSpc>
                <a:spcPct val="80000"/>
              </a:lnSpc>
              <a:spcBef>
                <a:spcPts val="509"/>
              </a:spcBef>
            </a:pPr>
            <a:endParaRPr lang="en-US" sz="2540" spc="-1" dirty="0">
              <a:latin typeface="Arial"/>
            </a:endParaRPr>
          </a:p>
          <a:p>
            <a:pPr marL="311242" indent="-310589" algn="just">
              <a:lnSpc>
                <a:spcPct val="80000"/>
              </a:lnSpc>
              <a:spcBef>
                <a:spcPts val="50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Determine </a:t>
            </a:r>
            <a:r>
              <a:rPr lang="en-US" sz="2540" b="1" i="1" u="sng" spc="-1" dirty="0">
                <a:solidFill>
                  <a:srgbClr val="0070C0"/>
                </a:solidFill>
                <a:latin typeface="Times New Roman"/>
                <a:ea typeface="DejaVu Sans"/>
              </a:rPr>
              <a:t>worst</a:t>
            </a:r>
            <a:r>
              <a:rPr lang="en-US" sz="2540" spc="-1" dirty="0">
                <a:solidFill>
                  <a:srgbClr val="0070C0"/>
                </a:solidFill>
                <a:latin typeface="Times New Roman"/>
                <a:ea typeface="DejaVu Sans"/>
              </a:rPr>
              <a:t>, </a:t>
            </a:r>
            <a:r>
              <a:rPr lang="en-US" sz="2540" b="1" i="1" u="sng" spc="-1" dirty="0">
                <a:solidFill>
                  <a:srgbClr val="0070C0"/>
                </a:solidFill>
                <a:latin typeface="Times New Roman"/>
                <a:ea typeface="DejaVu Sans"/>
              </a:rPr>
              <a:t>average</a:t>
            </a:r>
            <a:r>
              <a:rPr lang="en-US" sz="2540" b="1" spc="-1" dirty="0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 and </a:t>
            </a:r>
            <a:r>
              <a:rPr lang="en-US" sz="2540" b="1" i="1" u="sng" spc="-1" dirty="0">
                <a:solidFill>
                  <a:srgbClr val="0070C0"/>
                </a:solidFill>
                <a:latin typeface="Times New Roman"/>
                <a:ea typeface="DejaVu Sans"/>
              </a:rPr>
              <a:t>best</a:t>
            </a:r>
            <a:r>
              <a:rPr lang="en-US" sz="2540" spc="-1" dirty="0">
                <a:solidFill>
                  <a:srgbClr val="0070C0"/>
                </a:solidFill>
                <a:latin typeface="Times New Roman"/>
                <a:ea typeface="DejaVu Sans"/>
              </a:rPr>
              <a:t> 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ejaVu Sans"/>
              </a:rPr>
              <a:t>cases for input of size </a:t>
            </a:r>
            <a:r>
              <a:rPr lang="en-US" sz="2540" i="1" spc="-1" dirty="0">
                <a:solidFill>
                  <a:srgbClr val="000000"/>
                </a:solidFill>
                <a:latin typeface="Times New Roman"/>
                <a:ea typeface="DejaVu Sans"/>
              </a:rPr>
              <a:t>n.</a:t>
            </a:r>
            <a:endParaRPr lang="en-US" sz="2540" spc="-1" dirty="0">
              <a:latin typeface="Arial"/>
            </a:endParaRPr>
          </a:p>
          <a:p>
            <a:pPr algn="just">
              <a:lnSpc>
                <a:spcPct val="80000"/>
              </a:lnSpc>
              <a:spcBef>
                <a:spcPts val="509"/>
              </a:spcBef>
            </a:pPr>
            <a:endParaRPr lang="en-US" sz="2540" spc="-1" dirty="0">
              <a:latin typeface="Arial"/>
            </a:endParaRPr>
          </a:p>
          <a:p>
            <a:pPr marL="311242" indent="-310589" algn="just">
              <a:lnSpc>
                <a:spcPct val="80000"/>
              </a:lnSpc>
              <a:spcBef>
                <a:spcPts val="50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Set up a sum for the number of times the basic operation is executed.</a:t>
            </a:r>
            <a:endParaRPr lang="en-US" sz="2540" spc="-1" dirty="0">
              <a:solidFill>
                <a:srgbClr val="0070C0"/>
              </a:solidFill>
              <a:latin typeface="Arial"/>
            </a:endParaRPr>
          </a:p>
          <a:p>
            <a:pPr algn="just">
              <a:lnSpc>
                <a:spcPct val="80000"/>
              </a:lnSpc>
              <a:spcBef>
                <a:spcPts val="509"/>
              </a:spcBef>
            </a:pPr>
            <a:endParaRPr lang="en-US" sz="2540" spc="-1" dirty="0">
              <a:latin typeface="Arial"/>
            </a:endParaRPr>
          </a:p>
          <a:p>
            <a:pPr marL="311242" indent="-310589" algn="just">
              <a:lnSpc>
                <a:spcPct val="80000"/>
              </a:lnSpc>
              <a:spcBef>
                <a:spcPts val="50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540" b="1" spc="-1" dirty="0">
                <a:solidFill>
                  <a:srgbClr val="0070C0"/>
                </a:solidFill>
                <a:latin typeface="Times New Roman"/>
                <a:ea typeface="DejaVu Sans"/>
              </a:rPr>
              <a:t>Simplify the sum using standard formulas and rules.</a:t>
            </a:r>
            <a:endParaRPr lang="en-US" sz="2540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649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2"/>
          <p:cNvSpPr/>
          <p:nvPr/>
        </p:nvSpPr>
        <p:spPr>
          <a:xfrm>
            <a:off x="8438968" y="6656466"/>
            <a:ext cx="2129337" cy="22109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EE310CFD-59BB-4DE6-8674-90810CC073B3}" type="slidenum">
              <a:rPr lang="en-US" sz="1270" b="1" spc="-1">
                <a:solidFill>
                  <a:srgbClr val="008080"/>
                </a:solidFill>
                <a:latin typeface="Times New Roman"/>
              </a:rPr>
              <a:t>26</a:t>
            </a:fld>
            <a:endParaRPr lang="en-US" sz="1270" spc="-1"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1790201" y="-113668"/>
            <a:ext cx="8610752" cy="60908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Useful summation formulas and rules</a:t>
            </a:r>
          </a:p>
        </p:txBody>
      </p:sp>
      <p:sp>
        <p:nvSpPr>
          <p:cNvPr id="277" name="CustomShape 4"/>
          <p:cNvSpPr/>
          <p:nvPr/>
        </p:nvSpPr>
        <p:spPr>
          <a:xfrm>
            <a:off x="2057728" y="900509"/>
            <a:ext cx="8610752" cy="57142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l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u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1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= 1+1+ ⋯ +1 = u - l + 1</a:t>
            </a: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	    In particular,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l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1 = n - 1 + 1 = n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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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(n)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</a:t>
            </a: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1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n </a:t>
            </a:r>
            <a:r>
              <a:rPr lang="en-US" sz="2177" b="1" spc="-1" dirty="0" err="1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= 1+2+ ⋯ +n = n(n+1)/2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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 n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/2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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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(n</a:t>
            </a:r>
            <a:r>
              <a:rPr lang="en-US" sz="2177" b="1" spc="-1" baseline="30000" dirty="0">
                <a:solidFill>
                  <a:srgbClr val="C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) </a:t>
            </a:r>
          </a:p>
          <a:p>
            <a:pPr marL="311242" indent="-310589">
              <a:spcAft>
                <a:spcPts val="1281"/>
              </a:spcAft>
            </a:pP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1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n 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30000" dirty="0">
                <a:solidFill>
                  <a:srgbClr val="C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= 1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⋯ +n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n(n+1)(2n+1)/6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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n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/3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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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(n</a:t>
            </a:r>
            <a:r>
              <a:rPr lang="en-US" sz="2177" b="1" spc="-1" baseline="30000" dirty="0">
                <a:solidFill>
                  <a:srgbClr val="C00000"/>
                </a:solidFill>
                <a:latin typeface="Arial"/>
              </a:rPr>
              <a:t>3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) </a:t>
            </a:r>
          </a:p>
          <a:p>
            <a:pPr marL="311242" indent="-310589">
              <a:spcAft>
                <a:spcPts val="1281"/>
              </a:spcAft>
            </a:pP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0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C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C00000"/>
                </a:solidFill>
                <a:latin typeface="Arial"/>
              </a:rPr>
              <a:t>n </a:t>
            </a:r>
            <a:r>
              <a:rPr lang="en-US" sz="2177" b="1" spc="-1" dirty="0" err="1">
                <a:solidFill>
                  <a:srgbClr val="C00000"/>
                </a:solidFill>
                <a:latin typeface="Arial"/>
              </a:rPr>
              <a:t>a</a:t>
            </a:r>
            <a:r>
              <a:rPr lang="en-US" sz="2177" b="1" spc="-1" baseline="30000" dirty="0" err="1">
                <a:solidFill>
                  <a:srgbClr val="C00000"/>
                </a:solidFill>
                <a:latin typeface="Arial"/>
              </a:rPr>
              <a:t>i</a:t>
            </a:r>
            <a:r>
              <a:rPr lang="en-US" sz="2177" b="1" spc="-1" baseline="30000" dirty="0">
                <a:solidFill>
                  <a:srgbClr val="C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= 1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a 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⋯ + a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n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(a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n+1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- 1)/(a - 1)  for any a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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1</a:t>
            </a:r>
            <a:endParaRPr lang="en-US" sz="2177" b="1" spc="-1" dirty="0"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        In particular,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0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n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i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0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1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⋯ + 2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n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2</a:t>
            </a:r>
            <a:r>
              <a:rPr lang="en-US" sz="2177" b="1" spc="-1" baseline="30000" dirty="0">
                <a:solidFill>
                  <a:srgbClr val="000000"/>
                </a:solidFill>
                <a:latin typeface="Arial"/>
              </a:rPr>
              <a:t>n+1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- 1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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C00000"/>
                </a:solidFill>
                <a:latin typeface="Symbol"/>
              </a:rPr>
              <a:t>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(2</a:t>
            </a:r>
            <a:r>
              <a:rPr lang="en-US" sz="2177" b="1" spc="-1" baseline="30000" dirty="0">
                <a:solidFill>
                  <a:srgbClr val="C00000"/>
                </a:solidFill>
                <a:latin typeface="Arial"/>
              </a:rPr>
              <a:t>n </a:t>
            </a:r>
            <a:r>
              <a:rPr lang="en-US" sz="2177" b="1" spc="-1" dirty="0">
                <a:solidFill>
                  <a:srgbClr val="C00000"/>
                </a:solidFill>
                <a:latin typeface="Arial"/>
              </a:rPr>
              <a:t>) </a:t>
            </a:r>
            <a:br>
              <a:rPr sz="1633" b="1" dirty="0">
                <a:solidFill>
                  <a:srgbClr val="C00000"/>
                </a:solidFill>
              </a:rPr>
            </a:br>
            <a:endParaRPr lang="en-US" sz="2177" b="1" spc="-1" dirty="0">
              <a:solidFill>
                <a:srgbClr val="C00000"/>
              </a:solidFill>
              <a:latin typeface="Arial"/>
            </a:endParaRPr>
          </a:p>
          <a:p>
            <a:pPr marL="311242" indent="-310589">
              <a:spcAft>
                <a:spcPts val="1281"/>
              </a:spcAft>
            </a:pP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± b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) =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±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        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ca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c</a:t>
            </a:r>
            <a:r>
              <a:rPr lang="en-US" sz="2177" b="1" spc="-1" dirty="0" err="1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l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u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 =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l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m</a:t>
            </a:r>
            <a:r>
              <a:rPr lang="en-US" sz="2177" b="1" spc="-1" dirty="0" err="1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+ </a:t>
            </a:r>
            <a:r>
              <a:rPr lang="en-US" sz="2177" b="1" spc="-1" dirty="0">
                <a:solidFill>
                  <a:srgbClr val="000000"/>
                </a:solidFill>
                <a:latin typeface="Symbol"/>
              </a:rPr>
              <a:t>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m+1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2177" b="1" spc="-1" baseline="-25000" dirty="0">
                <a:solidFill>
                  <a:srgbClr val="000000"/>
                </a:solidFill>
                <a:latin typeface="Symbol"/>
              </a:rPr>
              <a:t>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2177" b="1" spc="-1" dirty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2177" b="1" spc="-1" baseline="-25000" dirty="0">
                <a:solidFill>
                  <a:srgbClr val="000000"/>
                </a:solidFill>
                <a:latin typeface="Arial"/>
              </a:rPr>
              <a:t>i </a:t>
            </a:r>
            <a:endParaRPr lang="en-US" sz="2177" b="1" spc="-1" dirty="0"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49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2017644" y="533315"/>
            <a:ext cx="8225382" cy="11423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4" tIns="45722" rIns="91444" bIns="45722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Example 1: The Largest Element</a:t>
            </a:r>
          </a:p>
        </p:txBody>
      </p:sp>
      <p:pic>
        <p:nvPicPr>
          <p:cNvPr id="279" name="Picture 4" descr="2_3a"/>
          <p:cNvPicPr/>
          <p:nvPr/>
        </p:nvPicPr>
        <p:blipFill>
          <a:blip r:embed="rId2"/>
          <a:stretch/>
        </p:blipFill>
        <p:spPr>
          <a:xfrm>
            <a:off x="2285444" y="1904973"/>
            <a:ext cx="7600950" cy="3180616"/>
          </a:xfrm>
          <a:prstGeom prst="rect">
            <a:avLst/>
          </a:prstGeom>
          <a:ln>
            <a:noFill/>
          </a:ln>
        </p:spPr>
      </p:pic>
      <p:sp>
        <p:nvSpPr>
          <p:cNvPr id="280" name="CustomShape 2"/>
          <p:cNvSpPr/>
          <p:nvPr/>
        </p:nvSpPr>
        <p:spPr>
          <a:xfrm>
            <a:off x="2133255" y="5486310"/>
            <a:ext cx="8001344" cy="42736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4" tIns="45722" rIns="91444" bIns="45722">
            <a:spAutoFit/>
          </a:bodyPr>
          <a:lstStyle/>
          <a:p>
            <a:pPr>
              <a:spcBef>
                <a:spcPts val="1088"/>
              </a:spcBef>
            </a:pPr>
            <a:r>
              <a:rPr lang="en-US" sz="2177" spc="-1" dirty="0">
                <a:solidFill>
                  <a:srgbClr val="000000"/>
                </a:solidFill>
                <a:latin typeface="Times New Roman"/>
                <a:ea typeface="DejaVu Sans"/>
              </a:rPr>
              <a:t>T(n) = </a:t>
            </a:r>
            <a:r>
              <a:rPr lang="en-US" sz="2177" b="1" spc="-1" dirty="0">
                <a:solidFill>
                  <a:srgbClr val="000000"/>
                </a:solidFill>
                <a:latin typeface="Symbol"/>
                <a:ea typeface="DejaVu Sans"/>
              </a:rPr>
              <a:t></a:t>
            </a:r>
            <a:r>
              <a:rPr lang="en-US" sz="2177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r>
              <a:rPr lang="en-US" sz="2177" b="1" spc="-1" dirty="0">
                <a:solidFill>
                  <a:srgbClr val="000000"/>
                </a:solidFill>
                <a:latin typeface="Symbol"/>
                <a:ea typeface="DejaVu Sans"/>
              </a:rPr>
              <a:t></a:t>
            </a:r>
            <a:r>
              <a:rPr lang="en-US" sz="2177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i</a:t>
            </a:r>
            <a:r>
              <a:rPr lang="en-US" sz="2177" b="1" spc="-1" dirty="0">
                <a:solidFill>
                  <a:srgbClr val="000000"/>
                </a:solidFill>
                <a:latin typeface="Symbol"/>
                <a:ea typeface="DejaVu Sans"/>
              </a:rPr>
              <a:t></a:t>
            </a:r>
            <a:r>
              <a:rPr lang="en-US" sz="2177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n-1 (1) = n-1 = </a:t>
            </a:r>
            <a:r>
              <a:rPr lang="en-US" sz="2177" b="1" spc="-1" dirty="0">
                <a:solidFill>
                  <a:srgbClr val="000000"/>
                </a:solidFill>
                <a:latin typeface="Symbol"/>
                <a:ea typeface="DejaVu Sans"/>
              </a:rPr>
              <a:t>O</a:t>
            </a:r>
            <a:r>
              <a:rPr lang="en-US" sz="2177" b="1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en-US" sz="2177" b="1" i="1" spc="-1" dirty="0">
                <a:solidFill>
                  <a:srgbClr val="000000"/>
                </a:solidFill>
                <a:latin typeface="Times New Roman"/>
                <a:ea typeface="DejaVu Sans"/>
              </a:rPr>
              <a:t>n</a:t>
            </a:r>
            <a:r>
              <a:rPr lang="en-US" sz="2177" b="1" spc="-1" dirty="0">
                <a:solidFill>
                  <a:srgbClr val="000000"/>
                </a:solidFill>
                <a:latin typeface="Times New Roman"/>
                <a:ea typeface="DejaVu Sans"/>
              </a:rPr>
              <a:t>)</a:t>
            </a:r>
            <a:r>
              <a:rPr lang="en-US" sz="2177" spc="-1" dirty="0">
                <a:solidFill>
                  <a:srgbClr val="000000"/>
                </a:solidFill>
                <a:latin typeface="Times New Roman"/>
                <a:ea typeface="DejaVu Sans"/>
              </a:rPr>
              <a:t>  comparisons</a:t>
            </a:r>
            <a:endParaRPr lang="en-US" sz="2177" spc="-1" dirty="0"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7900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2285444" y="533315"/>
            <a:ext cx="7696313" cy="114239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Example 2</a:t>
            </a:r>
            <a:br>
              <a:rPr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</a:b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Element uniqueness problem</a:t>
            </a:r>
          </a:p>
        </p:txBody>
      </p:sp>
      <p:pic>
        <p:nvPicPr>
          <p:cNvPr id="282" name="Picture 4" descr="2_3b"/>
          <p:cNvPicPr/>
          <p:nvPr/>
        </p:nvPicPr>
        <p:blipFill>
          <a:blip r:embed="rId2"/>
          <a:stretch/>
        </p:blipFill>
        <p:spPr>
          <a:xfrm>
            <a:off x="2285444" y="1711635"/>
            <a:ext cx="7696313" cy="3074476"/>
          </a:xfrm>
          <a:prstGeom prst="rect">
            <a:avLst/>
          </a:prstGeom>
          <a:ln>
            <a:noFill/>
          </a:ln>
        </p:spPr>
      </p:pic>
      <p:pic>
        <p:nvPicPr>
          <p:cNvPr id="283" name="Picture 6"/>
          <p:cNvPicPr/>
          <p:nvPr/>
        </p:nvPicPr>
        <p:blipFill>
          <a:blip r:embed="rId3"/>
          <a:stretch/>
        </p:blipFill>
        <p:spPr>
          <a:xfrm>
            <a:off x="2651624" y="5776644"/>
            <a:ext cx="4543130" cy="808952"/>
          </a:xfrm>
          <a:prstGeom prst="rect">
            <a:avLst/>
          </a:prstGeom>
          <a:ln w="9360">
            <a:noFill/>
          </a:ln>
        </p:spPr>
      </p:pic>
      <p:pic>
        <p:nvPicPr>
          <p:cNvPr id="284" name="Picture 7"/>
          <p:cNvPicPr/>
          <p:nvPr/>
        </p:nvPicPr>
        <p:blipFill>
          <a:blip r:embed="rId4"/>
          <a:stretch/>
        </p:blipFill>
        <p:spPr>
          <a:xfrm>
            <a:off x="2651624" y="4876901"/>
            <a:ext cx="5457896" cy="808952"/>
          </a:xfrm>
          <a:prstGeom prst="rect">
            <a:avLst/>
          </a:prstGeom>
          <a:ln w="9360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stomShape 3"/>
              <p:cNvSpPr/>
              <p:nvPr/>
            </p:nvSpPr>
            <p:spPr>
              <a:xfrm>
                <a:off x="7570015" y="5972373"/>
                <a:ext cx="1764884" cy="417471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81646" tIns="40823" rIns="81646" bIns="40823">
                <a:spAutoFit/>
              </a:bodyPr>
              <a:lstStyle/>
              <a:p>
                <a:pPr>
                  <a:spcBef>
                    <a:spcPts val="1088"/>
                  </a:spcBef>
                </a:pPr>
                <a:r>
                  <a:rPr lang="en-US" sz="2177" spc="-1" dirty="0">
                    <a:solidFill>
                      <a:srgbClr val="330492"/>
                    </a:solidFill>
                    <a:latin typeface="Times New Roman"/>
                    <a:ea typeface="DejaVu Sans"/>
                  </a:rPr>
                  <a:t>  = </a:t>
                </a:r>
                <a:r>
                  <a:rPr lang="en-US" sz="2177" b="1" spc="-1" dirty="0">
                    <a:solidFill>
                      <a:srgbClr val="330492"/>
                    </a:solidFill>
                    <a:latin typeface="Symbol"/>
                    <a:ea typeface="DejaVu Sans"/>
                  </a:rPr>
                  <a:t>O</a:t>
                </a:r>
                <a:r>
                  <a:rPr lang="en-US" sz="2177" b="1" spc="-1" dirty="0">
                    <a:solidFill>
                      <a:srgbClr val="330492"/>
                    </a:solidFill>
                    <a:latin typeface="Times New Roman"/>
                    <a:ea typeface="DejaVu Sans"/>
                  </a:rPr>
                  <a:t>(</a:t>
                </a:r>
                <a:r>
                  <a:rPr lang="en-US" sz="2177" spc="-1" dirty="0">
                    <a:solidFill>
                      <a:srgbClr val="330492"/>
                    </a:solidFill>
                    <a:latin typeface="Times New Roman"/>
                    <a:ea typeface="DejaVu Sans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77" i="1" spc="-1" dirty="0">
                            <a:solidFill>
                              <a:srgbClr val="33049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77" i="1" spc="-1" dirty="0">
                            <a:solidFill>
                              <a:srgbClr val="33049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177" i="1" spc="-1" dirty="0">
                            <a:solidFill>
                              <a:srgbClr val="33049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177" spc="-1" dirty="0">
                    <a:solidFill>
                      <a:srgbClr val="330492"/>
                    </a:solidFill>
                    <a:latin typeface="Times New Roman"/>
                    <a:ea typeface="DejaVu Sans"/>
                  </a:rPr>
                  <a:t>   </a:t>
                </a:r>
                <a:r>
                  <a:rPr lang="en-US" sz="2177" b="1" spc="-1" dirty="0">
                    <a:solidFill>
                      <a:srgbClr val="330492"/>
                    </a:solidFill>
                    <a:latin typeface="Times New Roman"/>
                    <a:ea typeface="DejaVu Sans"/>
                  </a:rPr>
                  <a:t>)</a:t>
                </a:r>
                <a:endParaRPr lang="en-US" sz="2177" spc="-1" dirty="0">
                  <a:latin typeface="Arial"/>
                </a:endParaRPr>
              </a:p>
            </p:txBody>
          </p:sp>
        </mc:Choice>
        <mc:Fallback>
          <p:sp>
            <p:nvSpPr>
              <p:cNvPr id="6" name="CustomShap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015" y="5972373"/>
                <a:ext cx="1764884" cy="417471"/>
              </a:xfrm>
              <a:prstGeom prst="rect">
                <a:avLst/>
              </a:prstGeom>
              <a:blipFill>
                <a:blip r:embed="rId5"/>
                <a:stretch>
                  <a:fillRect t="-11765" b="-30882"/>
                </a:stretch>
              </a:blipFill>
              <a:ln w="126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2003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2275570" y="480898"/>
            <a:ext cx="7696313" cy="114239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Example 3</a:t>
            </a:r>
            <a:br>
              <a:rPr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</a:br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Matrix multiplication</a:t>
            </a:r>
          </a:p>
        </p:txBody>
      </p:sp>
      <p:pic>
        <p:nvPicPr>
          <p:cNvPr id="286" name="Picture 4" descr="2_3c"/>
          <p:cNvPicPr/>
          <p:nvPr/>
        </p:nvPicPr>
        <p:blipFill>
          <a:blip r:embed="rId2"/>
          <a:stretch/>
        </p:blipFill>
        <p:spPr>
          <a:xfrm>
            <a:off x="2361865" y="1752458"/>
            <a:ext cx="7696313" cy="30124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87" name="Group 2"/>
          <p:cNvGrpSpPr/>
          <p:nvPr/>
        </p:nvGrpSpPr>
        <p:grpSpPr>
          <a:xfrm>
            <a:off x="2620101" y="5023212"/>
            <a:ext cx="8306048" cy="2321839"/>
            <a:chOff x="1208777" y="5537160"/>
            <a:chExt cx="9155880" cy="2559398"/>
          </a:xfrm>
        </p:grpSpPr>
        <p:sp>
          <p:nvSpPr>
            <p:cNvPr id="288" name="CustomShape 3"/>
            <p:cNvSpPr/>
            <p:nvPr/>
          </p:nvSpPr>
          <p:spPr>
            <a:xfrm>
              <a:off x="1208777" y="5537160"/>
              <a:ext cx="9155880" cy="2559398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1646" tIns="40823" rIns="81646" bIns="40823">
              <a:spAutoFit/>
            </a:bodyPr>
            <a:lstStyle/>
            <a:p>
              <a:pPr>
                <a:spcBef>
                  <a:spcPts val="1088"/>
                </a:spcBef>
              </a:pPr>
              <a:r>
                <a:rPr lang="en-US" sz="2177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T(n) =                            =   </a:t>
              </a:r>
              <a:r>
                <a:rPr lang="en-US" sz="2177" b="1" spc="-1" dirty="0">
                  <a:solidFill>
                    <a:srgbClr val="330492"/>
                  </a:solidFill>
                  <a:latin typeface="Symbol"/>
                  <a:ea typeface="DejaVu Sans"/>
                </a:rPr>
                <a:t>O</a:t>
              </a:r>
              <a:r>
                <a:rPr lang="en-US" sz="2177" b="1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(</a:t>
              </a:r>
              <a:r>
                <a:rPr lang="en-US" sz="2177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      </a:t>
              </a:r>
              <a:r>
                <a:rPr lang="en-US" sz="2177" b="1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)   </a:t>
              </a:r>
              <a:r>
                <a:rPr lang="en-US" sz="2177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multiplications</a:t>
              </a:r>
              <a:endParaRPr lang="en-US" sz="2177" spc="-1" dirty="0">
                <a:latin typeface="Arial"/>
              </a:endParaRPr>
            </a:p>
            <a:p>
              <a:pPr>
                <a:spcBef>
                  <a:spcPts val="1088"/>
                </a:spcBef>
              </a:pPr>
              <a:endParaRPr lang="en-US" sz="2177" spc="-1" dirty="0">
                <a:latin typeface="Arial"/>
              </a:endParaRPr>
            </a:p>
            <a:p>
              <a:pPr>
                <a:spcBef>
                  <a:spcPts val="1088"/>
                </a:spcBef>
              </a:pPr>
              <a:r>
                <a:rPr lang="en-US" sz="2177" spc="-1" dirty="0">
                  <a:solidFill>
                    <a:srgbClr val="330492"/>
                  </a:solidFill>
                  <a:latin typeface="Times New Roman"/>
                  <a:ea typeface="DejaVu Sans"/>
                </a:rPr>
                <a:t>Ignored addition for simplicity</a:t>
              </a:r>
              <a:endParaRPr lang="en-US" sz="2177" spc="-1" dirty="0">
                <a:latin typeface="Arial"/>
              </a:endParaRPr>
            </a:p>
            <a:p>
              <a:pPr>
                <a:spcBef>
                  <a:spcPts val="1088"/>
                </a:spcBef>
              </a:pPr>
              <a:endParaRPr lang="en-US" sz="2177" spc="-1" dirty="0">
                <a:latin typeface="Arial"/>
              </a:endParaRPr>
            </a:p>
            <a:p>
              <a:pPr>
                <a:spcBef>
                  <a:spcPts val="1088"/>
                </a:spcBef>
              </a:pPr>
              <a:endParaRPr lang="en-US" sz="2177" spc="-1" dirty="0">
                <a:latin typeface="Arial"/>
              </a:endParaRPr>
            </a:p>
          </p:txBody>
        </p:sp>
      </p:grpSp>
      <p:pic>
        <p:nvPicPr>
          <p:cNvPr id="289" name="Picture 288"/>
          <p:cNvPicPr/>
          <p:nvPr/>
        </p:nvPicPr>
        <p:blipFill>
          <a:blip r:embed="rId3"/>
          <a:stretch/>
        </p:blipFill>
        <p:spPr>
          <a:xfrm>
            <a:off x="6051301" y="5023212"/>
            <a:ext cx="414437" cy="471916"/>
          </a:xfrm>
          <a:prstGeom prst="rect">
            <a:avLst/>
          </a:prstGeom>
          <a:ln>
            <a:noFill/>
          </a:ln>
        </p:spPr>
      </p:pic>
      <p:pic>
        <p:nvPicPr>
          <p:cNvPr id="290" name="Picture 289"/>
          <p:cNvPicPr/>
          <p:nvPr/>
        </p:nvPicPr>
        <p:blipFill>
          <a:blip r:embed="rId4"/>
          <a:stretch/>
        </p:blipFill>
        <p:spPr>
          <a:xfrm>
            <a:off x="3560597" y="4764883"/>
            <a:ext cx="1520582" cy="1036582"/>
          </a:xfrm>
          <a:prstGeom prst="rect">
            <a:avLst/>
          </a:prstGeom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62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59" y="1101336"/>
            <a:ext cx="8339639" cy="5245763"/>
          </a:xfrm>
          <a:prstGeom prst="rect">
            <a:avLst/>
          </a:prstGeom>
        </p:spPr>
      </p:pic>
      <p:sp>
        <p:nvSpPr>
          <p:cNvPr id="11" name="CustomShape 1"/>
          <p:cNvSpPr/>
          <p:nvPr/>
        </p:nvSpPr>
        <p:spPr>
          <a:xfrm>
            <a:off x="2200532" y="176181"/>
            <a:ext cx="7696966" cy="114272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3200" b="1" cap="all" spc="-10" dirty="0">
                <a:solidFill>
                  <a:srgbClr val="0070C0"/>
                </a:solidFill>
                <a:latin typeface="Arial"/>
                <a:ea typeface="+mj-ea"/>
                <a:cs typeface="Arial"/>
              </a:rPr>
              <a:t>Big-oh (summary)</a:t>
            </a:r>
          </a:p>
        </p:txBody>
      </p:sp>
    </p:spTree>
    <p:extLst>
      <p:ext uri="{BB962C8B-B14F-4D97-AF65-F5344CB8AC3E}">
        <p14:creationId xmlns:p14="http://schemas.microsoft.com/office/powerpoint/2010/main" val="796299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1167</TotalTime>
  <Words>1835</Words>
  <Application>Microsoft Office PowerPoint</Application>
  <PresentationFormat>Widescreen</PresentationFormat>
  <Paragraphs>263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Calibri</vt:lpstr>
      <vt:lpstr>Cambria Math</vt:lpstr>
      <vt:lpstr>Consolas</vt:lpstr>
      <vt:lpstr>Gill Sans MT</vt:lpstr>
      <vt:lpstr>Monotype Sorts</vt:lpstr>
      <vt:lpstr>Symbol</vt:lpstr>
      <vt:lpstr>Tahoma</vt:lpstr>
      <vt:lpstr>Times New Roman</vt:lpstr>
      <vt:lpstr>Wingdings</vt:lpstr>
      <vt:lpstr>Wingdings 2</vt:lpstr>
      <vt:lpstr>Dividend</vt:lpstr>
      <vt:lpstr>Lecture 4     Complexity </vt:lpstr>
      <vt:lpstr>Course 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Yasser Hamed Ahmed El-Awady</cp:lastModifiedBy>
  <cp:revision>22</cp:revision>
  <dcterms:created xsi:type="dcterms:W3CDTF">2020-10-08T13:37:14Z</dcterms:created>
  <dcterms:modified xsi:type="dcterms:W3CDTF">2025-10-14T17:17:01Z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