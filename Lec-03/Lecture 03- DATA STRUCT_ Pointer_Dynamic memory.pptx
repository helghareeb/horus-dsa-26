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41"/>
  </p:notesMasterIdLst>
  <p:handoutMasterIdLst>
    <p:handoutMasterId r:id="rId42"/>
  </p:handoutMasterIdLst>
  <p:sldIdLst>
    <p:sldId id="841" r:id="rId5"/>
    <p:sldId id="838" r:id="rId6"/>
    <p:sldId id="885" r:id="rId7"/>
    <p:sldId id="886" r:id="rId8"/>
    <p:sldId id="887" r:id="rId9"/>
    <p:sldId id="836" r:id="rId10"/>
    <p:sldId id="837" r:id="rId11"/>
    <p:sldId id="903" r:id="rId12"/>
    <p:sldId id="839" r:id="rId13"/>
    <p:sldId id="904" r:id="rId14"/>
    <p:sldId id="905" r:id="rId15"/>
    <p:sldId id="842" r:id="rId16"/>
    <p:sldId id="843" r:id="rId17"/>
    <p:sldId id="844" r:id="rId18"/>
    <p:sldId id="845" r:id="rId19"/>
    <p:sldId id="846" r:id="rId20"/>
    <p:sldId id="847" r:id="rId21"/>
    <p:sldId id="848" r:id="rId22"/>
    <p:sldId id="849" r:id="rId23"/>
    <p:sldId id="850" r:id="rId24"/>
    <p:sldId id="851" r:id="rId25"/>
    <p:sldId id="852" r:id="rId26"/>
    <p:sldId id="853" r:id="rId27"/>
    <p:sldId id="854" r:id="rId28"/>
    <p:sldId id="881" r:id="rId29"/>
    <p:sldId id="882" r:id="rId30"/>
    <p:sldId id="883" r:id="rId31"/>
    <p:sldId id="884" r:id="rId32"/>
    <p:sldId id="855" r:id="rId33"/>
    <p:sldId id="856" r:id="rId34"/>
    <p:sldId id="857" r:id="rId35"/>
    <p:sldId id="858" r:id="rId36"/>
    <p:sldId id="890" r:id="rId37"/>
    <p:sldId id="859" r:id="rId38"/>
    <p:sldId id="863" r:id="rId39"/>
    <p:sldId id="26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84D950-34DE-4DEA-8DA7-BD7E7C1DCC03}">
          <p14:sldIdLst>
            <p14:sldId id="841"/>
            <p14:sldId id="838"/>
          </p14:sldIdLst>
        </p14:section>
        <p14:section name="Default Section" id="{072ABBF4-93B1-44E9-AA79-C9E5443176EE}">
          <p14:sldIdLst>
            <p14:sldId id="885"/>
            <p14:sldId id="886"/>
            <p14:sldId id="887"/>
            <p14:sldId id="836"/>
            <p14:sldId id="837"/>
            <p14:sldId id="903"/>
            <p14:sldId id="839"/>
            <p14:sldId id="904"/>
            <p14:sldId id="905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81"/>
            <p14:sldId id="882"/>
            <p14:sldId id="883"/>
            <p14:sldId id="884"/>
            <p14:sldId id="855"/>
            <p14:sldId id="856"/>
            <p14:sldId id="857"/>
            <p14:sldId id="858"/>
            <p14:sldId id="890"/>
            <p14:sldId id="859"/>
            <p14:sldId id="863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4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876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364" autoAdjust="0"/>
  </p:normalViewPr>
  <p:slideViewPr>
    <p:cSldViewPr snapToGrid="0">
      <p:cViewPr varScale="1">
        <p:scale>
          <a:sx n="63" d="100"/>
          <a:sy n="63" d="100"/>
        </p:scale>
        <p:origin x="700" y="56"/>
      </p:cViewPr>
      <p:guideLst>
        <p:guide orient="horz" pos="3048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0456"/>
    </p:cViewPr>
  </p:sorter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C4E2E-64C6-46E6-9EEF-ED611B6593D1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890AD-4ACA-408F-94CA-F364FF72F1B8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F15BC-4AA1-41C4-8C26-91A7E3BB93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 YASSER ELAWADY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628D-2237-D3B6-E939-D4BC22E6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476A574-E3F6-17D1-D59F-42063AC0C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E43F5238-3F15-0260-6701-2F9AD3DFC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2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Dereferencing a non initialized pointer may cause fatal runtime </a:t>
            </a:r>
            <a:r>
              <a:rPr lang="en-US" altLang="en-US" sz="1200" dirty="0">
                <a:solidFill>
                  <a:srgbClr val="FF0000"/>
                </a:solidFill>
              </a:rPr>
              <a:t>error</a:t>
            </a:r>
            <a:r>
              <a:rPr lang="en-US" altLang="en-US" sz="1200" dirty="0"/>
              <a:t> or </a:t>
            </a:r>
            <a:r>
              <a:rPr lang="en-US" altLang="en-US" sz="1200" dirty="0">
                <a:solidFill>
                  <a:srgbClr val="FF0000"/>
                </a:solidFill>
              </a:rPr>
              <a:t>modify</a:t>
            </a:r>
            <a:r>
              <a:rPr lang="en-US" altLang="en-US" sz="1200" dirty="0"/>
              <a:t> important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14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5667" rIns="95667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225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5667" rIns="95667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308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7AFCF-E54D-E5CE-C191-CEF19C7097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3402" y="556293"/>
            <a:ext cx="1975275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44536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0701" y="1569250"/>
            <a:ext cx="3789679" cy="412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B91AE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65164" y="2338093"/>
            <a:ext cx="4423409" cy="352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4521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-25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62954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76684" y="6492875"/>
            <a:ext cx="537564" cy="365125"/>
          </a:xfrm>
        </p:spPr>
        <p:txBody>
          <a:bodyPr/>
          <a:lstStyle>
            <a:lvl1pPr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C5AE351-457C-4431-A86D-BC5A5A7DDEB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114FCA-D669-9944-0F24-CD07B13AAA05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6" y="169227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3542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161BB-3643-412C-94A5-FD7AAC805E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66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/>
          <p:nvPr userDrawn="1"/>
        </p:nvCxnSpPr>
        <p:spPr>
          <a:xfrm flipH="1">
            <a:off x="446534" y="6492873"/>
            <a:ext cx="11298934" cy="2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9" r:id="rId12"/>
    <p:sldLayoutId id="2147483690" r:id="rId13"/>
    <p:sldLayoutId id="2147483691" r:id="rId1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jpe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81191" y="4574955"/>
            <a:ext cx="10993549" cy="1372887"/>
          </a:xfrm>
        </p:spPr>
        <p:txBody>
          <a:bodyPr>
            <a:noAutofit/>
          </a:bodyPr>
          <a:lstStyle/>
          <a:p>
            <a:pPr marL="76200">
              <a:lnSpc>
                <a:spcPct val="150000"/>
              </a:lnSpc>
            </a:pPr>
            <a:r>
              <a:rPr lang="en-US" sz="3600" b="1" u="sng" dirty="0">
                <a:solidFill>
                  <a:srgbClr val="FFFFCC"/>
                </a:solidFill>
              </a:rPr>
              <a:t>Lecture 3</a:t>
            </a:r>
            <a:r>
              <a:rPr lang="en-US" sz="3600" b="1" dirty="0">
                <a:solidFill>
                  <a:srgbClr val="FFFFCC"/>
                </a:solidFill>
              </a:rPr>
              <a:t>     pointer</a:t>
            </a:r>
            <a:br>
              <a:rPr lang="en-US" sz="3600" b="1" dirty="0">
                <a:solidFill>
                  <a:srgbClr val="FFFFCC"/>
                </a:solidFill>
              </a:rPr>
            </a:br>
            <a:r>
              <a:rPr lang="en-US" sz="3600" b="1" dirty="0">
                <a:solidFill>
                  <a:srgbClr val="FFFFCC"/>
                </a:solidFill>
              </a:rPr>
              <a:t>                         Dynamic memory</a:t>
            </a:r>
            <a:endParaRPr lang="en-US" sz="3600" dirty="0">
              <a:solidFill>
                <a:srgbClr val="FFFFC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17374"/>
            <a:ext cx="10993546" cy="484822"/>
          </a:xfrm>
        </p:spPr>
        <p:txBody>
          <a:bodyPr>
            <a:normAutofit/>
          </a:bodyPr>
          <a:lstStyle/>
          <a:p>
            <a:pPr algn="r"/>
            <a:r>
              <a:rPr lang="en-US" sz="1800" b="1" dirty="0">
                <a:solidFill>
                  <a:srgbClr val="FFFFCC"/>
                </a:solidFill>
              </a:rPr>
              <a:t>Fall (2025-2026)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61668" y="3704630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B89D2-1F78-CF8D-0CB0-7B85B5DC8A50}"/>
              </a:ext>
            </a:extLst>
          </p:cNvPr>
          <p:cNvSpPr/>
          <p:nvPr/>
        </p:nvSpPr>
        <p:spPr>
          <a:xfrm>
            <a:off x="177219" y="1250874"/>
            <a:ext cx="7216656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DATA STRUCTURE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AND ALGORITHMS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(CS 201)</a:t>
            </a:r>
          </a:p>
        </p:txBody>
      </p:sp>
      <p:sp>
        <p:nvSpPr>
          <p:cNvPr id="9" name="AutoShape 2" descr="Coding Clipart Guy In Glasses Computer Tech Cartoon Vector ...">
            <a:extLst>
              <a:ext uri="{FF2B5EF4-FFF2-40B4-BE49-F238E27FC236}">
                <a16:creationId xmlns:a16="http://schemas.microsoft.com/office/drawing/2014/main" id="{999E07D1-2798-6AFF-8297-F8D1DCEAE0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090039-68EA-49BB-C111-B123F2C7348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6" y="169227"/>
            <a:ext cx="1973580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3FD11D-F602-7311-57A0-93A5ECB1B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12" y="1005840"/>
            <a:ext cx="3097122" cy="342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04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4F78-3EA1-A340-B6D7-BDACE2A7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EF8D09-CAA0-3ED5-B328-07E1BFEE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34" y="949120"/>
            <a:ext cx="8272462" cy="760810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Course Learning Objectives</a:t>
            </a: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253CC887-3396-2A92-1AB4-962382049A1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041443" y="6425275"/>
            <a:ext cx="770468" cy="365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417905" indent="-160733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642929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900101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1157273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1500168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1843064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2185960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2528855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8BF91E0-0E5B-4EFC-98D2-085973D90B5B}" type="slidenum">
              <a:rPr lang="en-US" altLang="en-US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en-US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AF170-D78D-368F-7E16-E01A0E7AF129}"/>
              </a:ext>
            </a:extLst>
          </p:cNvPr>
          <p:cNvSpPr txBox="1"/>
          <p:nvPr/>
        </p:nvSpPr>
        <p:spPr>
          <a:xfrm>
            <a:off x="416027" y="2036790"/>
            <a:ext cx="11359946" cy="419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linear data structures</a:t>
            </a:r>
            <a:r>
              <a:rPr lang="en-US" dirty="0">
                <a:solidFill>
                  <a:srgbClr val="002060"/>
                </a:solidFill>
              </a:rPr>
              <a:t> such as arrays and linked lists, performing fundamental operations including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and implement special linear data structures</a:t>
            </a:r>
            <a:r>
              <a:rPr lang="en-US" dirty="0">
                <a:solidFill>
                  <a:srgbClr val="002060"/>
                </a:solidFill>
              </a:rPr>
              <a:t> such as stacks and queues, utilizing their core operations (push, pop, enqueue, and dequeue).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Design and implement basic sorting algorithms</a:t>
            </a:r>
            <a:r>
              <a:rPr lang="en-US" dirty="0">
                <a:solidFill>
                  <a:srgbClr val="002060"/>
                </a:solidFill>
              </a:rPr>
              <a:t> to organize data efficiently.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searching algorithms</a:t>
            </a:r>
            <a:r>
              <a:rPr lang="en-US" dirty="0">
                <a:solidFill>
                  <a:srgbClr val="002060"/>
                </a:solidFill>
              </a:rPr>
              <a:t>, including sequential search, binary search, and hashing techniques.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non-linear data structures</a:t>
            </a:r>
            <a:r>
              <a:rPr lang="en-US" dirty="0">
                <a:solidFill>
                  <a:srgbClr val="002060"/>
                </a:solidFill>
              </a:rPr>
              <a:t>, particularly binary trees and binary search trees, performing key operations such as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Utilize graph data structures</a:t>
            </a:r>
            <a:r>
              <a:rPr lang="en-US" dirty="0">
                <a:solidFill>
                  <a:srgbClr val="002060"/>
                </a:solidFill>
              </a:rPr>
              <a:t> and apply fundamental graph algorithms for problem-solving.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Demonstrate effective teamwork skills</a:t>
            </a:r>
            <a:r>
              <a:rPr lang="en-US" dirty="0">
                <a:solidFill>
                  <a:srgbClr val="002060"/>
                </a:solidFill>
              </a:rPr>
              <a:t> by collaborating within groups to develop algorithmic solutions.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67B8A-EC7B-F750-FF17-513A5853E0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86" y="83215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3CD6E-91DA-4A71-908D-72900128A804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68960" y="2410003"/>
            <a:ext cx="11623040" cy="10189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20000"/>
              </a:lnSpc>
              <a:spcBef>
                <a:spcPts val="100"/>
              </a:spcBef>
            </a:pPr>
            <a:r>
              <a:rPr sz="6000" b="1" spc="-10" dirty="0">
                <a:solidFill>
                  <a:srgbClr val="0091AC"/>
                </a:solidFill>
                <a:latin typeface="Arial"/>
                <a:cs typeface="Arial"/>
              </a:rPr>
              <a:t>Abstract </a:t>
            </a:r>
            <a:r>
              <a:rPr sz="6000" b="1" dirty="0">
                <a:solidFill>
                  <a:srgbClr val="0091AC"/>
                </a:solidFill>
                <a:latin typeface="Arial"/>
                <a:cs typeface="Arial"/>
              </a:rPr>
              <a:t>Data</a:t>
            </a:r>
            <a:r>
              <a:rPr sz="6000" b="1" spc="-150" dirty="0">
                <a:solidFill>
                  <a:srgbClr val="0091AC"/>
                </a:solidFill>
                <a:latin typeface="Arial"/>
                <a:cs typeface="Arial"/>
              </a:rPr>
              <a:t> </a:t>
            </a:r>
            <a:r>
              <a:rPr sz="6000" b="1" spc="-75" dirty="0">
                <a:solidFill>
                  <a:srgbClr val="0091AC"/>
                </a:solidFill>
                <a:latin typeface="Arial"/>
                <a:cs typeface="Arial"/>
              </a:rPr>
              <a:t>Types</a:t>
            </a:r>
            <a:endParaRPr sz="6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9753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930400" y="455295"/>
            <a:ext cx="1026160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070C0"/>
                </a:solidFill>
                <a:latin typeface="Arial"/>
                <a:cs typeface="Arial"/>
              </a:rPr>
              <a:t>Abstract Data Types (ADT)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2634" y="1653581"/>
            <a:ext cx="10530840" cy="30078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15"/>
              </a:spcBef>
              <a:buFont typeface="Wingdings" panose="05000000000000000000" pitchFamily="2" charset="2"/>
              <a:buChar char="§"/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2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data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type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Arial"/>
                <a:cs typeface="Arial"/>
              </a:rPr>
              <a:t>created</a:t>
            </a:r>
            <a:r>
              <a:rPr sz="3200" b="1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Arial"/>
                <a:cs typeface="Arial"/>
              </a:rPr>
              <a:t>by</a:t>
            </a:r>
            <a:r>
              <a:rPr sz="3200" b="1" i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Arial"/>
                <a:cs typeface="Arial"/>
              </a:rPr>
              <a:t>programmers</a:t>
            </a:r>
            <a:r>
              <a:rPr sz="3200" b="1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that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specifies</a:t>
            </a:r>
            <a:endParaRPr sz="3200" dirty="0">
              <a:latin typeface="Arial"/>
              <a:cs typeface="Arial"/>
            </a:endParaRPr>
          </a:p>
          <a:p>
            <a:pPr marL="583564" indent="-457200">
              <a:lnSpc>
                <a:spcPct val="100000"/>
              </a:lnSpc>
              <a:spcBef>
                <a:spcPts val="355"/>
              </a:spcBef>
              <a:buClr>
                <a:srgbClr val="000000"/>
              </a:buClr>
              <a:buFont typeface="Courier New" panose="02070309020205020404" pitchFamily="49" charset="0"/>
              <a:buChar char="o"/>
              <a:tabLst>
                <a:tab pos="41402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values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stored</a:t>
            </a:r>
            <a:endParaRPr sz="2800" dirty="0">
              <a:latin typeface="Arial"/>
              <a:cs typeface="Arial"/>
            </a:endParaRPr>
          </a:p>
          <a:p>
            <a:pPr marL="583564" indent="-457200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Font typeface="Courier New" panose="02070309020205020404" pitchFamily="49" charset="0"/>
              <a:buChar char="o"/>
              <a:tabLst>
                <a:tab pos="41402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operations</a:t>
            </a:r>
            <a:r>
              <a:rPr sz="28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done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values</a:t>
            </a:r>
            <a:endParaRPr sz="2800" dirty="0">
              <a:latin typeface="Arial"/>
              <a:cs typeface="Arial"/>
            </a:endParaRPr>
          </a:p>
          <a:p>
            <a:pPr marL="571500" indent="-571500">
              <a:lnSpc>
                <a:spcPct val="100000"/>
              </a:lnSpc>
              <a:spcBef>
                <a:spcPts val="10"/>
              </a:spcBef>
              <a:buFont typeface="Wingdings" panose="05000000000000000000" pitchFamily="2" charset="2"/>
              <a:buChar char="§"/>
            </a:pPr>
            <a:endParaRPr sz="3900" dirty="0">
              <a:latin typeface="Arial"/>
              <a:cs typeface="Arial"/>
            </a:endParaRPr>
          </a:p>
          <a:p>
            <a:pPr marL="469900" marR="5080" indent="-457200">
              <a:lnSpc>
                <a:spcPts val="3460"/>
              </a:lnSpc>
              <a:spcBef>
                <a:spcPts val="5"/>
              </a:spcBef>
              <a:buFont typeface="Wingdings" panose="05000000000000000000" pitchFamily="2" charset="2"/>
              <a:buChar char="§"/>
            </a:pPr>
            <a:r>
              <a:rPr sz="3200" dirty="0">
                <a:latin typeface="Arial"/>
                <a:cs typeface="Arial"/>
              </a:rPr>
              <a:t>User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</a:t>
            </a:r>
            <a:r>
              <a:rPr sz="3200" spc="-20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ADT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does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not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need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know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implementation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data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type</a:t>
            </a:r>
            <a:endParaRPr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971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62987" y="-90774"/>
            <a:ext cx="1461770" cy="624840"/>
          </a:xfrm>
          <a:custGeom>
            <a:avLst/>
            <a:gdLst/>
            <a:ahLst/>
            <a:cxnLst/>
            <a:rect l="l" t="t" r="r" b="b"/>
            <a:pathLst>
              <a:path w="1461770" h="624840">
                <a:moveTo>
                  <a:pt x="1461516" y="0"/>
                </a:moveTo>
                <a:lnTo>
                  <a:pt x="0" y="0"/>
                </a:lnTo>
                <a:lnTo>
                  <a:pt x="0" y="624839"/>
                </a:lnTo>
                <a:lnTo>
                  <a:pt x="1461516" y="624839"/>
                </a:lnTo>
                <a:lnTo>
                  <a:pt x="146151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2125344" y="-127304"/>
            <a:ext cx="864616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070C0"/>
                </a:solidFill>
                <a:latin typeface="Arial"/>
                <a:cs typeface="Arial"/>
              </a:rPr>
              <a:t>Enumerated Data Type</a:t>
            </a:r>
          </a:p>
        </p:txBody>
      </p:sp>
      <p:sp>
        <p:nvSpPr>
          <p:cNvPr id="4" name="object 4"/>
          <p:cNvSpPr/>
          <p:nvPr/>
        </p:nvSpPr>
        <p:spPr>
          <a:xfrm>
            <a:off x="10142093" y="2026666"/>
            <a:ext cx="169545" cy="356870"/>
          </a:xfrm>
          <a:custGeom>
            <a:avLst/>
            <a:gdLst/>
            <a:ahLst/>
            <a:cxnLst/>
            <a:rect l="l" t="t" r="r" b="b"/>
            <a:pathLst>
              <a:path w="169545" h="356869">
                <a:moveTo>
                  <a:pt x="169164" y="0"/>
                </a:moveTo>
                <a:lnTo>
                  <a:pt x="0" y="0"/>
                </a:lnTo>
                <a:lnTo>
                  <a:pt x="0" y="356615"/>
                </a:lnTo>
                <a:lnTo>
                  <a:pt x="169164" y="356615"/>
                </a:lnTo>
                <a:lnTo>
                  <a:pt x="1691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125686"/>
            <a:ext cx="11296325" cy="21121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990"/>
              </a:lnSpc>
              <a:spcBef>
                <a:spcPts val="13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Arial"/>
                <a:cs typeface="Arial"/>
              </a:rPr>
              <a:t>programmer-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defined</a:t>
            </a:r>
            <a:r>
              <a:rPr sz="2400" b="1" i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sz="2400" b="1" i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type</a:t>
            </a:r>
            <a:r>
              <a:rPr sz="2400" b="1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consists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500" b="1" i="1" spc="-35" dirty="0">
                <a:solidFill>
                  <a:srgbClr val="C00000"/>
                </a:solidFill>
                <a:latin typeface="Arial"/>
                <a:cs typeface="Arial"/>
              </a:rPr>
              <a:t>enumerators</a:t>
            </a:r>
            <a:r>
              <a:rPr sz="2400" b="1" spc="-35" dirty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endParaRPr sz="2400" b="1" dirty="0">
              <a:solidFill>
                <a:srgbClr val="C00000"/>
              </a:solidFill>
              <a:latin typeface="Arial"/>
              <a:cs typeface="Arial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Arial"/>
                <a:cs typeface="Arial"/>
              </a:rPr>
              <a:t>which represent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constants.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enum</a:t>
            </a:r>
            <a:r>
              <a:rPr sz="2400" spc="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2B91AE"/>
                </a:solidFill>
                <a:latin typeface="Consolas"/>
                <a:cs typeface="Consolas"/>
              </a:rPr>
              <a:t>Day</a:t>
            </a:r>
            <a:r>
              <a:rPr sz="2400" spc="5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{</a:t>
            </a:r>
            <a:r>
              <a:rPr sz="2400" spc="20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2E4F4F"/>
                </a:solidFill>
                <a:latin typeface="Consolas"/>
                <a:cs typeface="Consolas"/>
              </a:rPr>
              <a:t>SUNDAY</a:t>
            </a:r>
            <a:r>
              <a:rPr sz="2400" dirty="0">
                <a:latin typeface="Consolas"/>
                <a:cs typeface="Consolas"/>
              </a:rPr>
              <a:t>,</a:t>
            </a:r>
            <a:r>
              <a:rPr sz="2400" spc="3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2E4F4F"/>
                </a:solidFill>
                <a:latin typeface="Consolas"/>
                <a:cs typeface="Consolas"/>
              </a:rPr>
              <a:t>MONDAY</a:t>
            </a:r>
            <a:r>
              <a:rPr sz="2400" dirty="0">
                <a:latin typeface="Consolas"/>
                <a:cs typeface="Consolas"/>
              </a:rPr>
              <a:t>,</a:t>
            </a:r>
            <a:r>
              <a:rPr sz="2400" spc="4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2E4F4F"/>
                </a:solidFill>
                <a:latin typeface="Consolas"/>
                <a:cs typeface="Consolas"/>
              </a:rPr>
              <a:t>TUESDAY</a:t>
            </a:r>
            <a:r>
              <a:rPr sz="2400" dirty="0">
                <a:latin typeface="Consolas"/>
                <a:cs typeface="Consolas"/>
              </a:rPr>
              <a:t>,</a:t>
            </a:r>
            <a:r>
              <a:rPr sz="2400" spc="40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2E4F4F"/>
                </a:solidFill>
                <a:latin typeface="Consolas"/>
                <a:cs typeface="Consolas"/>
              </a:rPr>
              <a:t>WEDNESDAY</a:t>
            </a:r>
            <a:r>
              <a:rPr sz="2400" dirty="0">
                <a:latin typeface="Consolas"/>
                <a:cs typeface="Consolas"/>
              </a:rPr>
              <a:t>,</a:t>
            </a:r>
            <a:r>
              <a:rPr sz="2400" spc="2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2E4F4F"/>
                </a:solidFill>
                <a:latin typeface="Consolas"/>
                <a:cs typeface="Consolas"/>
              </a:rPr>
              <a:t>THURSDAY</a:t>
            </a:r>
            <a:r>
              <a:rPr sz="2400" spc="35" dirty="0">
                <a:solidFill>
                  <a:srgbClr val="2E4F4F"/>
                </a:solidFill>
                <a:latin typeface="Consolas"/>
                <a:cs typeface="Consolas"/>
              </a:rPr>
              <a:t> </a:t>
            </a:r>
            <a:r>
              <a:rPr sz="2400" spc="-25" dirty="0">
                <a:latin typeface="Consolas"/>
                <a:cs typeface="Consolas"/>
              </a:rPr>
              <a:t>};</a:t>
            </a:r>
            <a:endParaRPr sz="2400" dirty="0">
              <a:latin typeface="Consolas"/>
              <a:cs typeface="Consolas"/>
            </a:endParaRPr>
          </a:p>
          <a:p>
            <a:pPr marL="103505">
              <a:lnSpc>
                <a:spcPct val="100000"/>
              </a:lnSpc>
              <a:spcBef>
                <a:spcPts val="930"/>
              </a:spcBef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40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main()</a:t>
            </a:r>
            <a:endParaRPr sz="2400" dirty="0">
              <a:latin typeface="Consolas"/>
              <a:cs typeface="Consolas"/>
            </a:endParaRPr>
          </a:p>
          <a:p>
            <a:pPr marL="103505">
              <a:lnSpc>
                <a:spcPct val="100000"/>
              </a:lnSpc>
            </a:pPr>
            <a:r>
              <a:rPr sz="2400" dirty="0">
                <a:latin typeface="Consolas"/>
                <a:cs typeface="Consolas"/>
              </a:rPr>
              <a:t>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272" y="4666564"/>
            <a:ext cx="20434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olas"/>
                <a:cs typeface="Consolas"/>
              </a:rPr>
              <a:t>cin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&gt;&gt;</a:t>
            </a:r>
            <a:r>
              <a:rPr sz="2400" spc="5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spc="-20" dirty="0">
                <a:latin typeface="Consolas"/>
                <a:cs typeface="Consolas"/>
              </a:rPr>
              <a:t>day2;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5398719"/>
            <a:ext cx="8176378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6415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B91AE"/>
                </a:solidFill>
                <a:latin typeface="Consolas"/>
                <a:cs typeface="Consolas"/>
              </a:rPr>
              <a:t>Day</a:t>
            </a:r>
            <a:r>
              <a:rPr sz="2400" spc="2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day3</a:t>
            </a:r>
            <a:r>
              <a:rPr sz="2400" spc="35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=</a:t>
            </a:r>
            <a:r>
              <a:rPr sz="2400" spc="1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2E4F4F"/>
                </a:solidFill>
                <a:latin typeface="Consolas"/>
                <a:cs typeface="Consolas"/>
              </a:rPr>
              <a:t>WEDNESDAY</a:t>
            </a:r>
            <a:r>
              <a:rPr sz="2400" dirty="0">
                <a:latin typeface="Consolas"/>
                <a:cs typeface="Consolas"/>
              </a:rPr>
              <a:t>;</a:t>
            </a:r>
            <a:r>
              <a:rPr sz="2400" spc="2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2400" spc="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Declare</a:t>
            </a:r>
            <a:r>
              <a:rPr sz="2400" spc="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sz="2400" spc="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Consolas"/>
                <a:cs typeface="Consolas"/>
              </a:rPr>
              <a:t>Assign </a:t>
            </a:r>
            <a:r>
              <a:rPr sz="2400" dirty="0">
                <a:latin typeface="Consolas"/>
                <a:cs typeface="Consolas"/>
              </a:rPr>
              <a:t>if</a:t>
            </a:r>
            <a:r>
              <a:rPr sz="2400" spc="1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(day3</a:t>
            </a:r>
            <a:r>
              <a:rPr sz="2400" spc="25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&gt; </a:t>
            </a:r>
            <a:r>
              <a:rPr sz="2400" dirty="0">
                <a:solidFill>
                  <a:srgbClr val="2E4F4F"/>
                </a:solidFill>
                <a:latin typeface="Consolas"/>
                <a:cs typeface="Consolas"/>
              </a:rPr>
              <a:t>MONDAY</a:t>
            </a:r>
            <a:r>
              <a:rPr sz="2400" dirty="0">
                <a:latin typeface="Consolas"/>
                <a:cs typeface="Consolas"/>
              </a:rPr>
              <a:t>)</a:t>
            </a:r>
            <a:r>
              <a:rPr sz="2400" spc="1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{</a:t>
            </a:r>
            <a:r>
              <a:rPr sz="2400" spc="15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… </a:t>
            </a:r>
            <a:r>
              <a:rPr sz="2400" spc="-50" dirty="0">
                <a:latin typeface="Consolas"/>
                <a:cs typeface="Consolas"/>
              </a:rPr>
              <a:t>}</a:t>
            </a: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03307" y="3163823"/>
            <a:ext cx="1940560" cy="2062480"/>
          </a:xfrm>
          <a:prstGeom prst="rect">
            <a:avLst/>
          </a:prstGeom>
          <a:ln w="9525">
            <a:solidFill>
              <a:srgbClr val="3333C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710" marR="199390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compiler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sees:</a:t>
            </a:r>
            <a:endParaRPr sz="2000">
              <a:latin typeface="Arial"/>
              <a:cs typeface="Arial"/>
            </a:endParaRPr>
          </a:p>
          <a:p>
            <a:pPr marL="325755">
              <a:lnSpc>
                <a:spcPct val="100000"/>
              </a:lnSpc>
              <a:spcBef>
                <a:spcPts val="925"/>
              </a:spcBef>
            </a:pPr>
            <a:r>
              <a:rPr sz="1600" dirty="0">
                <a:solidFill>
                  <a:srgbClr val="2E4F4F"/>
                </a:solidFill>
                <a:latin typeface="Consolas"/>
                <a:cs typeface="Consolas"/>
              </a:rPr>
              <a:t>SUNDAY</a:t>
            </a:r>
            <a:r>
              <a:rPr sz="1600" spc="-65" dirty="0">
                <a:solidFill>
                  <a:srgbClr val="2E4F4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0</a:t>
            </a:r>
            <a:endParaRPr sz="1600">
              <a:latin typeface="Consolas"/>
              <a:cs typeface="Consolas"/>
            </a:endParaRPr>
          </a:p>
          <a:p>
            <a:pPr marL="32575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E4F4F"/>
                </a:solidFill>
                <a:latin typeface="Consolas"/>
                <a:cs typeface="Consolas"/>
              </a:rPr>
              <a:t>MONDAY</a:t>
            </a:r>
            <a:r>
              <a:rPr sz="1600" spc="-55" dirty="0">
                <a:solidFill>
                  <a:srgbClr val="2E4F4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325755">
              <a:lnSpc>
                <a:spcPct val="100000"/>
              </a:lnSpc>
            </a:pPr>
            <a:r>
              <a:rPr sz="1600" dirty="0">
                <a:solidFill>
                  <a:srgbClr val="2E4F4F"/>
                </a:solidFill>
                <a:latin typeface="Consolas"/>
                <a:cs typeface="Consolas"/>
              </a:rPr>
              <a:t>TUESDAY</a:t>
            </a:r>
            <a:r>
              <a:rPr sz="1600" spc="-55" dirty="0">
                <a:solidFill>
                  <a:srgbClr val="2E4F4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0" dirty="0">
                <a:latin typeface="Consolas"/>
                <a:cs typeface="Consolas"/>
              </a:rPr>
              <a:t> 2</a:t>
            </a:r>
            <a:endParaRPr sz="1600">
              <a:latin typeface="Consolas"/>
              <a:cs typeface="Consolas"/>
            </a:endParaRPr>
          </a:p>
          <a:p>
            <a:pPr marL="325755">
              <a:lnSpc>
                <a:spcPct val="100000"/>
              </a:lnSpc>
            </a:pPr>
            <a:r>
              <a:rPr sz="1600" dirty="0">
                <a:solidFill>
                  <a:srgbClr val="2E4F4F"/>
                </a:solidFill>
                <a:latin typeface="Consolas"/>
                <a:cs typeface="Consolas"/>
              </a:rPr>
              <a:t>WEDNESDAY</a:t>
            </a:r>
            <a:r>
              <a:rPr sz="1600" spc="-70" dirty="0">
                <a:solidFill>
                  <a:srgbClr val="2E4F4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3</a:t>
            </a:r>
            <a:endParaRPr sz="1600">
              <a:latin typeface="Consolas"/>
              <a:cs typeface="Consolas"/>
            </a:endParaRPr>
          </a:p>
          <a:p>
            <a:pPr marL="325755">
              <a:lnSpc>
                <a:spcPct val="100000"/>
              </a:lnSpc>
            </a:pPr>
            <a:r>
              <a:rPr sz="1600" dirty="0">
                <a:solidFill>
                  <a:srgbClr val="2E4F4F"/>
                </a:solidFill>
                <a:latin typeface="Consolas"/>
                <a:cs typeface="Consolas"/>
              </a:rPr>
              <a:t>THURSDAY</a:t>
            </a:r>
            <a:r>
              <a:rPr sz="1600" spc="-60" dirty="0">
                <a:solidFill>
                  <a:srgbClr val="2E4F4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0" dirty="0">
                <a:latin typeface="Consolas"/>
                <a:cs typeface="Consolas"/>
              </a:rPr>
              <a:t> 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41491" y="4415762"/>
            <a:ext cx="3333115" cy="55816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41491" y="3928083"/>
            <a:ext cx="3333115" cy="487680"/>
            <a:chOff x="5841491" y="4151376"/>
            <a:chExt cx="3333115" cy="4876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4283" y="4151376"/>
              <a:ext cx="2330196" cy="4876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1491" y="4151376"/>
              <a:ext cx="2045208" cy="48768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41271" y="3203270"/>
            <a:ext cx="7837627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B91AE"/>
                </a:solidFill>
                <a:latin typeface="Consolas"/>
                <a:cs typeface="Consolas"/>
              </a:rPr>
              <a:t>Day </a:t>
            </a:r>
            <a:r>
              <a:rPr sz="2400" dirty="0">
                <a:latin typeface="Consolas"/>
                <a:cs typeface="Consolas"/>
              </a:rPr>
              <a:t>day1,</a:t>
            </a:r>
            <a:r>
              <a:rPr sz="2400" spc="1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day2;</a:t>
            </a:r>
            <a:r>
              <a:rPr sz="2400" spc="1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2400" spc="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Consolas"/>
                <a:cs typeface="Consolas"/>
              </a:rPr>
              <a:t>Declare</a:t>
            </a:r>
            <a:endParaRPr sz="2400" dirty="0">
              <a:latin typeface="Consolas"/>
              <a:cs typeface="Consolas"/>
            </a:endParaRPr>
          </a:p>
          <a:p>
            <a:pPr marL="12700" marR="5080">
              <a:lnSpc>
                <a:spcPts val="2910"/>
              </a:lnSpc>
              <a:spcBef>
                <a:spcPts val="75"/>
              </a:spcBef>
              <a:tabLst>
                <a:tab pos="2622550" algn="l"/>
              </a:tabLst>
            </a:pPr>
            <a:r>
              <a:rPr sz="2400" dirty="0">
                <a:latin typeface="Consolas"/>
                <a:cs typeface="Consolas"/>
              </a:rPr>
              <a:t>day1</a:t>
            </a:r>
            <a:r>
              <a:rPr sz="2400" spc="1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=</a:t>
            </a:r>
            <a:r>
              <a:rPr sz="2400" spc="20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2E4F4F"/>
                </a:solidFill>
                <a:latin typeface="Consolas"/>
                <a:cs typeface="Consolas"/>
              </a:rPr>
              <a:t>MONDAY</a:t>
            </a:r>
            <a:r>
              <a:rPr sz="2400" dirty="0">
                <a:latin typeface="Consolas"/>
                <a:cs typeface="Consolas"/>
              </a:rPr>
              <a:t>;</a:t>
            </a:r>
            <a:r>
              <a:rPr sz="2400" spc="2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2400" spc="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Assign</a:t>
            </a:r>
            <a:r>
              <a:rPr sz="2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sz="2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one</a:t>
            </a:r>
            <a:r>
              <a:rPr sz="24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sz="2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sz="2400" spc="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Consolas"/>
                <a:cs typeface="Consolas"/>
              </a:rPr>
              <a:t>values </a:t>
            </a:r>
            <a:r>
              <a:rPr sz="3600" baseline="1157" dirty="0">
                <a:latin typeface="Consolas"/>
                <a:cs typeface="Consolas"/>
              </a:rPr>
              <a:t>cout</a:t>
            </a:r>
            <a:r>
              <a:rPr sz="3600" spc="15" baseline="1157" dirty="0">
                <a:latin typeface="Consolas"/>
                <a:cs typeface="Consolas"/>
              </a:rPr>
              <a:t> </a:t>
            </a:r>
            <a:r>
              <a:rPr sz="3600" baseline="1157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3600" spc="30" baseline="1157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3600" spc="-15" baseline="1157" dirty="0">
                <a:latin typeface="Consolas"/>
                <a:cs typeface="Consolas"/>
              </a:rPr>
              <a:t>day1;</a:t>
            </a:r>
            <a:r>
              <a:rPr sz="3600" baseline="1157" dirty="0">
                <a:latin typeface="Consolas"/>
                <a:cs typeface="Consolas"/>
              </a:rPr>
              <a:t>	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2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Prints</a:t>
            </a:r>
            <a:r>
              <a:rPr sz="2400" spc="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spc="-50" dirty="0">
                <a:solidFill>
                  <a:srgbClr val="008000"/>
                </a:solidFill>
                <a:latin typeface="Consolas"/>
                <a:cs typeface="Consolas"/>
              </a:rPr>
              <a:t>1</a:t>
            </a:r>
            <a:endParaRPr sz="2400" dirty="0">
              <a:latin typeface="Consolas"/>
              <a:cs typeface="Consola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30778" y="4512309"/>
            <a:ext cx="831850" cy="831215"/>
            <a:chOff x="3430778" y="4512309"/>
            <a:chExt cx="831850" cy="831215"/>
          </a:xfrm>
        </p:grpSpPr>
        <p:sp>
          <p:nvSpPr>
            <p:cNvPr id="15" name="object 15"/>
            <p:cNvSpPr/>
            <p:nvPr/>
          </p:nvSpPr>
          <p:spPr>
            <a:xfrm>
              <a:off x="3437128" y="4518659"/>
              <a:ext cx="819150" cy="818515"/>
            </a:xfrm>
            <a:custGeom>
              <a:avLst/>
              <a:gdLst/>
              <a:ahLst/>
              <a:cxnLst/>
              <a:rect l="l" t="t" r="r" b="b"/>
              <a:pathLst>
                <a:path w="819150" h="818514">
                  <a:moveTo>
                    <a:pt x="684276" y="0"/>
                  </a:moveTo>
                  <a:lnTo>
                    <a:pt x="409448" y="274573"/>
                  </a:lnTo>
                  <a:lnTo>
                    <a:pt x="134620" y="0"/>
                  </a:lnTo>
                  <a:lnTo>
                    <a:pt x="0" y="134873"/>
                  </a:lnTo>
                  <a:lnTo>
                    <a:pt x="274574" y="409194"/>
                  </a:lnTo>
                  <a:lnTo>
                    <a:pt x="0" y="683513"/>
                  </a:lnTo>
                  <a:lnTo>
                    <a:pt x="134620" y="818387"/>
                  </a:lnTo>
                  <a:lnTo>
                    <a:pt x="409448" y="543813"/>
                  </a:lnTo>
                  <a:lnTo>
                    <a:pt x="684276" y="818387"/>
                  </a:lnTo>
                  <a:lnTo>
                    <a:pt x="818896" y="683513"/>
                  </a:lnTo>
                  <a:lnTo>
                    <a:pt x="544322" y="409194"/>
                  </a:lnTo>
                  <a:lnTo>
                    <a:pt x="818896" y="134873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37128" y="4518659"/>
              <a:ext cx="819150" cy="818515"/>
            </a:xfrm>
            <a:custGeom>
              <a:avLst/>
              <a:gdLst/>
              <a:ahLst/>
              <a:cxnLst/>
              <a:rect l="l" t="t" r="r" b="b"/>
              <a:pathLst>
                <a:path w="819150" h="818514">
                  <a:moveTo>
                    <a:pt x="0" y="134873"/>
                  </a:moveTo>
                  <a:lnTo>
                    <a:pt x="134620" y="0"/>
                  </a:lnTo>
                  <a:lnTo>
                    <a:pt x="409448" y="274573"/>
                  </a:lnTo>
                  <a:lnTo>
                    <a:pt x="684276" y="0"/>
                  </a:lnTo>
                  <a:lnTo>
                    <a:pt x="818896" y="134873"/>
                  </a:lnTo>
                  <a:lnTo>
                    <a:pt x="544322" y="409194"/>
                  </a:lnTo>
                  <a:lnTo>
                    <a:pt x="818896" y="683513"/>
                  </a:lnTo>
                  <a:lnTo>
                    <a:pt x="684276" y="818387"/>
                  </a:lnTo>
                  <a:lnTo>
                    <a:pt x="409448" y="543813"/>
                  </a:lnTo>
                  <a:lnTo>
                    <a:pt x="134620" y="818387"/>
                  </a:lnTo>
                  <a:lnTo>
                    <a:pt x="0" y="683513"/>
                  </a:lnTo>
                  <a:lnTo>
                    <a:pt x="274574" y="409194"/>
                  </a:lnTo>
                  <a:lnTo>
                    <a:pt x="0" y="134873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215389" y="5110734"/>
            <a:ext cx="1819910" cy="0"/>
          </a:xfrm>
          <a:custGeom>
            <a:avLst/>
            <a:gdLst/>
            <a:ahLst/>
            <a:cxnLst/>
            <a:rect l="l" t="t" r="r" b="b"/>
            <a:pathLst>
              <a:path w="1819910">
                <a:moveTo>
                  <a:pt x="0" y="0"/>
                </a:moveTo>
                <a:lnTo>
                  <a:pt x="1819655" y="0"/>
                </a:lnTo>
              </a:path>
            </a:pathLst>
          </a:custGeom>
          <a:ln w="2857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532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81025" y="323789"/>
            <a:ext cx="11029950" cy="1014413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TW" sz="4000" b="1" spc="-10" dirty="0">
                <a:solidFill>
                  <a:srgbClr val="0070C0"/>
                </a:solidFill>
                <a:latin typeface="Arial"/>
                <a:cs typeface="Arial"/>
              </a:rPr>
              <a:t>Computer Memory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81025" y="1063566"/>
            <a:ext cx="11029950" cy="3678238"/>
          </a:xfrm>
        </p:spPr>
        <p:txBody>
          <a:bodyPr/>
          <a:lstStyle/>
          <a:p>
            <a:r>
              <a:rPr lang="en-US" altLang="zh-TW" dirty="0"/>
              <a:t>Each variable is assigned a memory slot (the size depends on the data type) and the variable’s data is stored there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7172" name="Text Box 47"/>
          <p:cNvSpPr txBox="1">
            <a:spLocks noChangeArrowheads="1"/>
          </p:cNvSpPr>
          <p:nvPr/>
        </p:nvSpPr>
        <p:spPr bwMode="auto">
          <a:xfrm>
            <a:off x="5897287" y="5516563"/>
            <a:ext cx="3990975" cy="76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Variable </a:t>
            </a:r>
            <a:r>
              <a:rPr lang="en-US" altLang="zh-TW" sz="2000" b="1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</a:rPr>
              <a:t>a</a:t>
            </a: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’s value, i.e., 100, is </a:t>
            </a:r>
          </a:p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stored at memory location 1024</a:t>
            </a:r>
          </a:p>
        </p:txBody>
      </p:sp>
      <p:sp>
        <p:nvSpPr>
          <p:cNvPr id="371762" name="Rectangle 50"/>
          <p:cNvSpPr>
            <a:spLocks noChangeArrowheads="1"/>
          </p:cNvSpPr>
          <p:nvPr/>
        </p:nvSpPr>
        <p:spPr bwMode="auto">
          <a:xfrm>
            <a:off x="5003800" y="4554539"/>
            <a:ext cx="1187450" cy="587375"/>
          </a:xfrm>
          <a:prstGeom prst="rect">
            <a:avLst/>
          </a:prstGeom>
          <a:solidFill>
            <a:schemeClr val="accent2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371763" name="Rectangle 51"/>
          <p:cNvSpPr>
            <a:spLocks noChangeArrowheads="1"/>
          </p:cNvSpPr>
          <p:nvPr/>
        </p:nvSpPr>
        <p:spPr bwMode="auto">
          <a:xfrm>
            <a:off x="3816350" y="4554539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71764" name="Rectangle 52"/>
          <p:cNvSpPr>
            <a:spLocks noChangeArrowheads="1"/>
          </p:cNvSpPr>
          <p:nvPr/>
        </p:nvSpPr>
        <p:spPr bwMode="auto">
          <a:xfrm>
            <a:off x="6191250" y="4554539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71765" name="Rectangle 53"/>
          <p:cNvSpPr>
            <a:spLocks noChangeArrowheads="1"/>
          </p:cNvSpPr>
          <p:nvPr/>
        </p:nvSpPr>
        <p:spPr bwMode="auto">
          <a:xfrm>
            <a:off x="7378700" y="4554539"/>
            <a:ext cx="1187450" cy="587375"/>
          </a:xfrm>
          <a:prstGeom prst="rect">
            <a:avLst/>
          </a:prstGeom>
          <a:solidFill>
            <a:schemeClr val="accent6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1024</a:t>
            </a:r>
          </a:p>
        </p:txBody>
      </p:sp>
      <p:sp>
        <p:nvSpPr>
          <p:cNvPr id="371766" name="Rectangle 54"/>
          <p:cNvSpPr>
            <a:spLocks noChangeArrowheads="1"/>
          </p:cNvSpPr>
          <p:nvPr/>
        </p:nvSpPr>
        <p:spPr bwMode="auto">
          <a:xfrm>
            <a:off x="8566150" y="4554539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7178" name="Text Box 55"/>
          <p:cNvSpPr txBox="1">
            <a:spLocks noChangeArrowheads="1"/>
          </p:cNvSpPr>
          <p:nvPr/>
        </p:nvSpPr>
        <p:spPr bwMode="auto">
          <a:xfrm>
            <a:off x="1524000" y="4176395"/>
            <a:ext cx="22860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Memory address:</a:t>
            </a:r>
          </a:p>
        </p:txBody>
      </p:sp>
      <p:sp>
        <p:nvSpPr>
          <p:cNvPr id="7179" name="Text Box 56"/>
          <p:cNvSpPr txBox="1">
            <a:spLocks noChangeArrowheads="1"/>
          </p:cNvSpPr>
          <p:nvPr/>
        </p:nvSpPr>
        <p:spPr bwMode="auto">
          <a:xfrm>
            <a:off x="5149999" y="4202114"/>
            <a:ext cx="973137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zh-TW" altLang="en-US" sz="2000" b="1" dirty="0">
                <a:solidFill>
                  <a:srgbClr val="70AD47"/>
                </a:solidFill>
                <a:latin typeface="Arial" charset="0"/>
                <a:ea typeface="新細明體" pitchFamily="18" charset="-120"/>
              </a:rPr>
              <a:t>1024</a:t>
            </a:r>
          </a:p>
        </p:txBody>
      </p:sp>
      <p:sp>
        <p:nvSpPr>
          <p:cNvPr id="7180" name="Text Box 57"/>
          <p:cNvSpPr txBox="1">
            <a:spLocks noChangeArrowheads="1"/>
          </p:cNvSpPr>
          <p:nvPr/>
        </p:nvSpPr>
        <p:spPr bwMode="auto">
          <a:xfrm>
            <a:off x="7624135" y="4202114"/>
            <a:ext cx="7493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zh-TW" altLang="en-US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1032</a:t>
            </a:r>
          </a:p>
        </p:txBody>
      </p:sp>
      <p:sp>
        <p:nvSpPr>
          <p:cNvPr id="7181" name="Text Box 58"/>
          <p:cNvSpPr txBox="1">
            <a:spLocks noChangeArrowheads="1"/>
          </p:cNvSpPr>
          <p:nvPr/>
        </p:nvSpPr>
        <p:spPr bwMode="auto">
          <a:xfrm>
            <a:off x="3048001" y="5662613"/>
            <a:ext cx="1877437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</a:rPr>
              <a:t>int a = 100;</a:t>
            </a:r>
          </a:p>
        </p:txBody>
      </p:sp>
      <p:sp>
        <p:nvSpPr>
          <p:cNvPr id="371772" name="Rectangle 60"/>
          <p:cNvSpPr>
            <a:spLocks noChangeArrowheads="1"/>
          </p:cNvSpPr>
          <p:nvPr/>
        </p:nvSpPr>
        <p:spPr bwMode="auto">
          <a:xfrm>
            <a:off x="2667000" y="4554539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7183" name="Text Box 61"/>
          <p:cNvSpPr txBox="1">
            <a:spLocks noChangeArrowheads="1"/>
          </p:cNvSpPr>
          <p:nvPr/>
        </p:nvSpPr>
        <p:spPr bwMode="auto">
          <a:xfrm>
            <a:off x="3952081" y="4191001"/>
            <a:ext cx="9731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zh-TW" altLang="en-US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1020</a:t>
            </a:r>
          </a:p>
        </p:txBody>
      </p:sp>
      <p:sp>
        <p:nvSpPr>
          <p:cNvPr id="7184" name="Text Box 62"/>
          <p:cNvSpPr txBox="1">
            <a:spLocks noChangeArrowheads="1"/>
          </p:cNvSpPr>
          <p:nvPr/>
        </p:nvSpPr>
        <p:spPr bwMode="auto">
          <a:xfrm>
            <a:off x="5241925" y="5119688"/>
            <a:ext cx="338554" cy="400110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1903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47">
            <a:extLst>
              <a:ext uri="{FF2B5EF4-FFF2-40B4-BE49-F238E27FC236}">
                <a16:creationId xmlns:a16="http://schemas.microsoft.com/office/drawing/2014/main" id="{2C63B7A2-09CC-4EA1-B71A-AD1BD4946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287" y="5516563"/>
            <a:ext cx="3990975" cy="76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Variable </a:t>
            </a:r>
            <a:r>
              <a:rPr lang="en-US" altLang="zh-TW" sz="2000" b="1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</a:rPr>
              <a:t>a</a:t>
            </a: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’s value, i.e., 100, is </a:t>
            </a:r>
          </a:p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stored at memory location 1024</a:t>
            </a:r>
          </a:p>
        </p:txBody>
      </p:sp>
      <p:sp>
        <p:nvSpPr>
          <p:cNvPr id="33" name="Rectangle 50">
            <a:extLst>
              <a:ext uri="{FF2B5EF4-FFF2-40B4-BE49-F238E27FC236}">
                <a16:creationId xmlns:a16="http://schemas.microsoft.com/office/drawing/2014/main" id="{FC71959D-2046-4322-8F78-A43697976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554539"/>
            <a:ext cx="1187450" cy="587375"/>
          </a:xfrm>
          <a:prstGeom prst="rect">
            <a:avLst/>
          </a:prstGeom>
          <a:solidFill>
            <a:schemeClr val="accent2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34" name="Rectangle 51">
            <a:extLst>
              <a:ext uri="{FF2B5EF4-FFF2-40B4-BE49-F238E27FC236}">
                <a16:creationId xmlns:a16="http://schemas.microsoft.com/office/drawing/2014/main" id="{3D2923AB-FAC3-4B55-AFC4-261A8C380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4554539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5" name="Rectangle 52">
            <a:extLst>
              <a:ext uri="{FF2B5EF4-FFF2-40B4-BE49-F238E27FC236}">
                <a16:creationId xmlns:a16="http://schemas.microsoft.com/office/drawing/2014/main" id="{3A9DD715-FC5D-4C60-84EC-DEF807387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4554539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6" name="Rectangle 53">
            <a:extLst>
              <a:ext uri="{FF2B5EF4-FFF2-40B4-BE49-F238E27FC236}">
                <a16:creationId xmlns:a16="http://schemas.microsoft.com/office/drawing/2014/main" id="{53B3F21C-0853-4D5A-BE06-1B892A71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4554539"/>
            <a:ext cx="1187450" cy="587375"/>
          </a:xfrm>
          <a:prstGeom prst="rect">
            <a:avLst/>
          </a:prstGeom>
          <a:solidFill>
            <a:schemeClr val="accent6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1024</a:t>
            </a:r>
          </a:p>
        </p:txBody>
      </p:sp>
      <p:sp>
        <p:nvSpPr>
          <p:cNvPr id="37" name="Rectangle 54">
            <a:extLst>
              <a:ext uri="{FF2B5EF4-FFF2-40B4-BE49-F238E27FC236}">
                <a16:creationId xmlns:a16="http://schemas.microsoft.com/office/drawing/2014/main" id="{05377379-D5FE-43BA-B001-20262404E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150" y="4554539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8" name="Text Box 55">
            <a:extLst>
              <a:ext uri="{FF2B5EF4-FFF2-40B4-BE49-F238E27FC236}">
                <a16:creationId xmlns:a16="http://schemas.microsoft.com/office/drawing/2014/main" id="{CF5E361B-72B6-4ED5-B0E3-6079F52FE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76395"/>
            <a:ext cx="22860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Memory address:</a:t>
            </a:r>
          </a:p>
        </p:txBody>
      </p:sp>
      <p:sp>
        <p:nvSpPr>
          <p:cNvPr id="39" name="Text Box 56">
            <a:extLst>
              <a:ext uri="{FF2B5EF4-FFF2-40B4-BE49-F238E27FC236}">
                <a16:creationId xmlns:a16="http://schemas.microsoft.com/office/drawing/2014/main" id="{0D17A001-A289-441F-B1BC-AD30CFB21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932" y="4148406"/>
            <a:ext cx="973137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zh-TW" altLang="en-US" sz="2000" b="1" dirty="0">
                <a:solidFill>
                  <a:srgbClr val="70AD47"/>
                </a:solidFill>
                <a:latin typeface="Arial" charset="0"/>
                <a:ea typeface="新細明體" pitchFamily="18" charset="-120"/>
              </a:rPr>
              <a:t>1024</a:t>
            </a:r>
          </a:p>
        </p:txBody>
      </p:sp>
      <p:sp>
        <p:nvSpPr>
          <p:cNvPr id="40" name="Text Box 57">
            <a:extLst>
              <a:ext uri="{FF2B5EF4-FFF2-40B4-BE49-F238E27FC236}">
                <a16:creationId xmlns:a16="http://schemas.microsoft.com/office/drawing/2014/main" id="{6DA818A6-F054-482D-957A-1AD053C4F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700" y="4193382"/>
            <a:ext cx="7493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zh-TW" altLang="en-US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1032</a:t>
            </a:r>
          </a:p>
        </p:txBody>
      </p:sp>
      <p:sp>
        <p:nvSpPr>
          <p:cNvPr id="41" name="Text Box 58">
            <a:extLst>
              <a:ext uri="{FF2B5EF4-FFF2-40B4-BE49-F238E27FC236}">
                <a16:creationId xmlns:a16="http://schemas.microsoft.com/office/drawing/2014/main" id="{35708D2B-A278-414B-8877-E66A88EDF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1" y="5662613"/>
            <a:ext cx="1877437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</a:rPr>
              <a:t>int a = 100;</a:t>
            </a:r>
          </a:p>
        </p:txBody>
      </p:sp>
      <p:sp>
        <p:nvSpPr>
          <p:cNvPr id="42" name="Rectangle 60">
            <a:extLst>
              <a:ext uri="{FF2B5EF4-FFF2-40B4-BE49-F238E27FC236}">
                <a16:creationId xmlns:a16="http://schemas.microsoft.com/office/drawing/2014/main" id="{2299F39E-3046-4510-9D42-E0D2ECBE9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554539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en-US" altLang="zh-TW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3" name="Text Box 61">
            <a:extLst>
              <a:ext uri="{FF2B5EF4-FFF2-40B4-BE49-F238E27FC236}">
                <a16:creationId xmlns:a16="http://schemas.microsoft.com/office/drawing/2014/main" id="{A2DCEFD5-5392-4AAE-A66E-16006A40B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193382"/>
            <a:ext cx="97313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zh-TW" altLang="en-US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1020</a:t>
            </a:r>
          </a:p>
        </p:txBody>
      </p:sp>
      <p:sp>
        <p:nvSpPr>
          <p:cNvPr id="44" name="Text Box 62">
            <a:extLst>
              <a:ext uri="{FF2B5EF4-FFF2-40B4-BE49-F238E27FC236}">
                <a16:creationId xmlns:a16="http://schemas.microsoft.com/office/drawing/2014/main" id="{B400BC4A-A66D-46AC-A3EA-75B8B746C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5119688"/>
            <a:ext cx="338554" cy="400110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</a:rPr>
              <a:t>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46734" y="212725"/>
            <a:ext cx="11029950" cy="1014413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TW" sz="4000" b="1" spc="-10" dirty="0">
                <a:solidFill>
                  <a:srgbClr val="0070C0"/>
                </a:solidFill>
                <a:latin typeface="Arial"/>
                <a:cs typeface="Arial"/>
              </a:rPr>
              <a:t>Pointers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96094" y="423466"/>
            <a:ext cx="11029950" cy="3678238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ea typeface="新細明體" pitchFamily="18" charset="-120"/>
              </a:rPr>
              <a:t>A </a:t>
            </a:r>
            <a:r>
              <a:rPr lang="en-US" altLang="zh-TW" sz="2000" b="1" dirty="0">
                <a:solidFill>
                  <a:srgbClr val="C00000"/>
                </a:solidFill>
                <a:ea typeface="新細明體" pitchFamily="18" charset="-120"/>
              </a:rPr>
              <a:t>pointer</a:t>
            </a:r>
            <a:r>
              <a:rPr lang="en-US" altLang="zh-TW" sz="2000" dirty="0">
                <a:ea typeface="新細明體" pitchFamily="18" charset="-120"/>
              </a:rPr>
              <a:t> is a variable used to store the address of a memory cell. </a:t>
            </a:r>
          </a:p>
          <a:p>
            <a:r>
              <a:rPr lang="en-US" altLang="zh-TW" sz="2000" dirty="0">
                <a:ea typeface="新細明體" pitchFamily="18" charset="-120"/>
              </a:rPr>
              <a:t>We can use the pointer to </a:t>
            </a:r>
            <a:r>
              <a:rPr lang="en-US" altLang="zh-TW" sz="2000" b="1" dirty="0">
                <a:solidFill>
                  <a:srgbClr val="C00000"/>
                </a:solidFill>
                <a:ea typeface="新細明體" pitchFamily="18" charset="-120"/>
              </a:rPr>
              <a:t>reference </a:t>
            </a:r>
            <a:r>
              <a:rPr lang="en-US" altLang="zh-TW" sz="2000" dirty="0">
                <a:ea typeface="新細明體" pitchFamily="18" charset="-120"/>
              </a:rPr>
              <a:t>this memory cell</a:t>
            </a:r>
          </a:p>
        </p:txBody>
      </p:sp>
      <p:sp>
        <p:nvSpPr>
          <p:cNvPr id="8209" name="AutoShape 18"/>
          <p:cNvSpPr>
            <a:spLocks noChangeArrowheads="1"/>
          </p:cNvSpPr>
          <p:nvPr/>
        </p:nvSpPr>
        <p:spPr bwMode="auto">
          <a:xfrm>
            <a:off x="5135286" y="3374232"/>
            <a:ext cx="1524000" cy="609600"/>
          </a:xfrm>
          <a:prstGeom prst="wedgeEllipseCallout">
            <a:avLst>
              <a:gd name="adj1" fmla="val -1307"/>
              <a:gd name="adj2" fmla="val 138352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integer</a:t>
            </a:r>
          </a:p>
        </p:txBody>
      </p:sp>
      <p:sp>
        <p:nvSpPr>
          <p:cNvPr id="8210" name="AutoShape 19"/>
          <p:cNvSpPr>
            <a:spLocks noChangeArrowheads="1"/>
          </p:cNvSpPr>
          <p:nvPr/>
        </p:nvSpPr>
        <p:spPr bwMode="auto">
          <a:xfrm>
            <a:off x="8497825" y="3374232"/>
            <a:ext cx="1630700" cy="609599"/>
          </a:xfrm>
          <a:prstGeom prst="wedgeEllipseCallout">
            <a:avLst>
              <a:gd name="adj1" fmla="val -57429"/>
              <a:gd name="adj2" fmla="val 130517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ctr">
              <a:spcBef>
                <a:spcPts val="0"/>
              </a:spcBef>
              <a:buClr>
                <a:srgbClr val="00CCCC"/>
              </a:buClr>
              <a:buSzPct val="75000"/>
              <a:defRPr/>
            </a:pPr>
            <a:r>
              <a:rPr lang="en-US" altLang="zh-TW" sz="20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pointer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1DEA5AC-0E22-48C0-BA1D-F1694E496186}"/>
              </a:ext>
            </a:extLst>
          </p:cNvPr>
          <p:cNvCxnSpPr>
            <a:stCxn id="36" idx="2"/>
            <a:endCxn id="33" idx="2"/>
          </p:cNvCxnSpPr>
          <p:nvPr/>
        </p:nvCxnSpPr>
        <p:spPr>
          <a:xfrm rot="5400000">
            <a:off x="6784975" y="3954463"/>
            <a:ext cx="12700" cy="2374900"/>
          </a:xfrm>
          <a:prstGeom prst="bentConnector3">
            <a:avLst>
              <a:gd name="adj1" fmla="val 2381811"/>
            </a:avLst>
          </a:prstGeom>
          <a:ln w="57150">
            <a:solidFill>
              <a:srgbClr val="70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rogressBarBackground">
            <a:extLst>
              <a:ext uri="{FF2B5EF4-FFF2-40B4-BE49-F238E27FC236}">
                <a16:creationId xmlns:a16="http://schemas.microsoft.com/office/drawing/2014/main" id="{5758D330-1D21-4AB7-8FDD-BF3017CE50B5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progressBar">
            <a:extLst>
              <a:ext uri="{FF2B5EF4-FFF2-40B4-BE49-F238E27FC236}">
                <a16:creationId xmlns:a16="http://schemas.microsoft.com/office/drawing/2014/main" id="{C5F0476B-6A35-4AC1-9E26-2587F8450A8D}"/>
              </a:ext>
            </a:extLst>
          </p:cNvPr>
          <p:cNvSpPr/>
          <p:nvPr/>
        </p:nvSpPr>
        <p:spPr>
          <a:xfrm>
            <a:off x="1524000" y="6813550"/>
            <a:ext cx="537882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515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9" grpId="0" animBg="1"/>
      <p:bldP spid="82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3FEF19D-2BCA-4F1A-871E-488EFB0688C0}"/>
              </a:ext>
            </a:extLst>
          </p:cNvPr>
          <p:cNvGraphicFramePr>
            <a:graphicFrameLocks noGrp="1"/>
          </p:cNvGraphicFramePr>
          <p:nvPr/>
        </p:nvGraphicFramePr>
        <p:xfrm>
          <a:off x="7090697" y="3259614"/>
          <a:ext cx="4353772" cy="1483360"/>
        </p:xfrm>
        <a:graphic>
          <a:graphicData uri="http://schemas.openxmlformats.org/drawingml/2006/table">
            <a:tbl>
              <a:tblPr firstRow="1" bandRow="1"/>
              <a:tblGrid>
                <a:gridCol w="2176886">
                  <a:extLst>
                    <a:ext uri="{9D8B030D-6E8A-4147-A177-3AD203B41FA5}">
                      <a16:colId xmlns:a16="http://schemas.microsoft.com/office/drawing/2014/main" val="1041494689"/>
                    </a:ext>
                  </a:extLst>
                </a:gridCol>
                <a:gridCol w="2176886">
                  <a:extLst>
                    <a:ext uri="{9D8B030D-6E8A-4147-A177-3AD203B41FA5}">
                      <a16:colId xmlns:a16="http://schemas.microsoft.com/office/drawing/2014/main" val="4072136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pCount</a:t>
                      </a:r>
                      <a:endParaRPr lang="en-US" dirty="0"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highlight>
                          <a:srgbClr val="C0C0C0"/>
                        </a:highlight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68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pStatus</a:t>
                      </a:r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7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pLetter</a:t>
                      </a:r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28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pString</a:t>
                      </a:r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350260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EFFA4B9C-831D-4DB0-856B-CFBF5BDA554F}"/>
              </a:ext>
            </a:extLst>
          </p:cNvPr>
          <p:cNvGraphicFramePr>
            <a:graphicFrameLocks noGrp="1"/>
          </p:cNvGraphicFramePr>
          <p:nvPr/>
        </p:nvGraphicFramePr>
        <p:xfrm>
          <a:off x="7090697" y="3264694"/>
          <a:ext cx="4353772" cy="1478280"/>
        </p:xfrm>
        <a:graphic>
          <a:graphicData uri="http://schemas.openxmlformats.org/drawingml/2006/table">
            <a:tbl>
              <a:tblPr firstRow="1" bandRow="1"/>
              <a:tblGrid>
                <a:gridCol w="2176886">
                  <a:extLst>
                    <a:ext uri="{9D8B030D-6E8A-4147-A177-3AD203B41FA5}">
                      <a16:colId xmlns:a16="http://schemas.microsoft.com/office/drawing/2014/main" val="1041494689"/>
                    </a:ext>
                  </a:extLst>
                </a:gridCol>
                <a:gridCol w="2176886">
                  <a:extLst>
                    <a:ext uri="{9D8B030D-6E8A-4147-A177-3AD203B41FA5}">
                      <a16:colId xmlns:a16="http://schemas.microsoft.com/office/drawing/2014/main" val="4072136675"/>
                    </a:ext>
                  </a:extLst>
                </a:gridCol>
              </a:tblGrid>
              <a:tr h="124644"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pCount</a:t>
                      </a:r>
                      <a:endParaRPr lang="en-US" dirty="0"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Address of </a:t>
                      </a:r>
                      <a:r>
                        <a:rPr lang="en-US" dirty="0">
                          <a:highlight>
                            <a:srgbClr val="C0C0C0"/>
                          </a:highlight>
                          <a:latin typeface="Consolas" panose="020B0609020204030204" pitchFamily="49" charset="0"/>
                        </a:rPr>
                        <a:t>count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268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pStatus</a:t>
                      </a:r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Address of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57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pLetter</a:t>
                      </a:r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Address of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letter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28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pString</a:t>
                      </a:r>
                      <a:endParaRPr lang="en-US" sz="1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Address of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350260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9E881-E188-4170-9F27-8B03786A5D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82588" y="349815"/>
            <a:ext cx="7886700" cy="758825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>
                <a:solidFill>
                  <a:srgbClr val="0070C0"/>
                </a:solidFill>
                <a:latin typeface="Arial"/>
                <a:cs typeface="Arial"/>
              </a:rPr>
              <a:t>Using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7C989-9847-4F73-B924-6C79BC318BA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470025"/>
            <a:ext cx="7886700" cy="50625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count = 5;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status = 2;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letter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"ABC"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pStatus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pLetter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=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count;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pStatus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&amp;status;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pLetter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&amp;letter;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&amp;s;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D413BE6-518A-45CC-BD5C-520188E2B3CE}"/>
              </a:ext>
            </a:extLst>
          </p:cNvPr>
          <p:cNvGraphicFramePr>
            <a:graphicFrameLocks noGrp="1"/>
          </p:cNvGraphicFramePr>
          <p:nvPr/>
        </p:nvGraphicFramePr>
        <p:xfrm>
          <a:off x="7090697" y="1369565"/>
          <a:ext cx="4353772" cy="1483360"/>
        </p:xfrm>
        <a:graphic>
          <a:graphicData uri="http://schemas.openxmlformats.org/drawingml/2006/table">
            <a:tbl>
              <a:tblPr firstRow="1" bandRow="1"/>
              <a:tblGrid>
                <a:gridCol w="2176886">
                  <a:extLst>
                    <a:ext uri="{9D8B030D-6E8A-4147-A177-3AD203B41FA5}">
                      <a16:colId xmlns:a16="http://schemas.microsoft.com/office/drawing/2014/main" val="1041494689"/>
                    </a:ext>
                  </a:extLst>
                </a:gridCol>
                <a:gridCol w="2176886">
                  <a:extLst>
                    <a:ext uri="{9D8B030D-6E8A-4147-A177-3AD203B41FA5}">
                      <a16:colId xmlns:a16="http://schemas.microsoft.com/office/drawing/2014/main" val="4072136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highlight>
                            <a:srgbClr val="C0C0C0"/>
                          </a:highlight>
                          <a:latin typeface="Consolas" panose="020B0609020204030204" pitchFamily="49" charset="0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68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800" kern="12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7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800" kern="12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'A'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28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800" kern="12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"ABC"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350260"/>
                  </a:ext>
                </a:extLst>
              </a:tr>
            </a:tbl>
          </a:graphicData>
        </a:graphic>
      </p:graphicFrame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8FC6C7D1-B79D-448D-BFE3-7F6A81472A90}"/>
              </a:ext>
            </a:extLst>
          </p:cNvPr>
          <p:cNvSpPr/>
          <p:nvPr/>
        </p:nvSpPr>
        <p:spPr>
          <a:xfrm>
            <a:off x="4009006" y="2712124"/>
            <a:ext cx="2189773" cy="1113745"/>
          </a:xfrm>
          <a:prstGeom prst="wedgeEllipseCallout">
            <a:avLst>
              <a:gd name="adj1" fmla="val -78338"/>
              <a:gd name="adj2" fmla="val 17717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Declare before use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F59B4059-9556-4AA9-BBE4-AE8A3E86B9B1}"/>
              </a:ext>
            </a:extLst>
          </p:cNvPr>
          <p:cNvSpPr/>
          <p:nvPr/>
        </p:nvSpPr>
        <p:spPr>
          <a:xfrm>
            <a:off x="4229725" y="4051880"/>
            <a:ext cx="2142199" cy="1113745"/>
          </a:xfrm>
          <a:prstGeom prst="wedgeEllipseCallout">
            <a:avLst>
              <a:gd name="adj1" fmla="val -102196"/>
              <a:gd name="adj2" fmla="val 37621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Address operator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2DA6D7-96FC-407B-8DD9-ECFC3931D477}"/>
              </a:ext>
            </a:extLst>
          </p:cNvPr>
          <p:cNvSpPr/>
          <p:nvPr/>
        </p:nvSpPr>
        <p:spPr>
          <a:xfrm>
            <a:off x="4229725" y="5349250"/>
            <a:ext cx="4980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&amp;status means address of status</a:t>
            </a:r>
          </a:p>
        </p:txBody>
      </p:sp>
    </p:spTree>
    <p:extLst>
      <p:ext uri="{BB962C8B-B14F-4D97-AF65-F5344CB8AC3E}">
        <p14:creationId xmlns:p14="http://schemas.microsoft.com/office/powerpoint/2010/main" val="201980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9E881-E188-4170-9F27-8B03786A5D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15900"/>
            <a:ext cx="10515600" cy="1325563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>
                <a:solidFill>
                  <a:srgbClr val="0070C0"/>
                </a:solidFill>
                <a:latin typeface="Arial"/>
                <a:cs typeface="Arial"/>
              </a:rPr>
              <a:t>Using pointers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5DDEE49-C88A-4A60-9FCD-E4CDF9A0FF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851535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count = 5;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pCount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&amp;count;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"The value of count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count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"The address of count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&amp;count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"The address of count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pCount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"The value of count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pCount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count++;    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Direct reference to count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pCount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)++;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Indirect reference to count (Dereferencing)</a:t>
            </a: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FFB8E9-B811-4011-A594-DF20563DAEF1}"/>
              </a:ext>
            </a:extLst>
          </p:cNvPr>
          <p:cNvSpPr/>
          <p:nvPr/>
        </p:nvSpPr>
        <p:spPr>
          <a:xfrm>
            <a:off x="6869104" y="1504949"/>
            <a:ext cx="4661175" cy="1323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The value of count is 5</a:t>
            </a:r>
          </a:p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The address of count is 010FFE98</a:t>
            </a:r>
          </a:p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The address of count is 010FFE98</a:t>
            </a:r>
          </a:p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The value of count is 5</a:t>
            </a:r>
          </a:p>
        </p:txBody>
      </p:sp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3D30035F-B7DA-42A0-9086-9ECC12A21303}"/>
              </a:ext>
            </a:extLst>
          </p:cNvPr>
          <p:cNvSpPr/>
          <p:nvPr/>
        </p:nvSpPr>
        <p:spPr>
          <a:xfrm>
            <a:off x="7252400" y="4773176"/>
            <a:ext cx="3415599" cy="883315"/>
          </a:xfrm>
          <a:prstGeom prst="wedgeEllipseCallout">
            <a:avLst>
              <a:gd name="adj1" fmla="val -57645"/>
              <a:gd name="adj2" fmla="val -69253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*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pCount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means the value pointed to by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pCount</a:t>
            </a:r>
            <a:endParaRPr lang="en-US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3" name="progressBarBackground">
            <a:extLst>
              <a:ext uri="{FF2B5EF4-FFF2-40B4-BE49-F238E27FC236}">
                <a16:creationId xmlns:a16="http://schemas.microsoft.com/office/drawing/2014/main" id="{E7C76FBF-8B6A-4A34-A307-7611DAB451B5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progressBar">
            <a:extLst>
              <a:ext uri="{FF2B5EF4-FFF2-40B4-BE49-F238E27FC236}">
                <a16:creationId xmlns:a16="http://schemas.microsoft.com/office/drawing/2014/main" id="{198CC562-5081-4FEA-A404-011D9E62B24B}"/>
              </a:ext>
            </a:extLst>
          </p:cNvPr>
          <p:cNvSpPr/>
          <p:nvPr/>
        </p:nvSpPr>
        <p:spPr>
          <a:xfrm>
            <a:off x="1524001" y="6813550"/>
            <a:ext cx="896471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1194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01675"/>
            <a:ext cx="11029950" cy="1014413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TW" sz="4000" b="1" spc="-10" dirty="0">
                <a:solidFill>
                  <a:srgbClr val="0070C0"/>
                </a:solidFill>
                <a:latin typeface="Arial"/>
                <a:cs typeface="Arial"/>
              </a:rPr>
              <a:t>Don’t get confused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2181225"/>
            <a:ext cx="11029950" cy="36782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b="1" dirty="0">
                <a:solidFill>
                  <a:srgbClr val="C00000"/>
                </a:solidFill>
              </a:rPr>
              <a:t>Two different </a:t>
            </a:r>
            <a:r>
              <a:rPr lang="en-US" altLang="zh-TW" sz="2400" dirty="0"/>
              <a:t>tasks are represented with the same sign </a:t>
            </a:r>
            <a:r>
              <a:rPr lang="en-US" altLang="zh-TW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*</a:t>
            </a:r>
            <a:r>
              <a:rPr lang="en-US" altLang="zh-TW" sz="2400" b="1" dirty="0">
                <a:solidFill>
                  <a:srgbClr val="C00000"/>
                </a:solidFill>
              </a:rPr>
              <a:t>)</a:t>
            </a:r>
          </a:p>
          <a:p>
            <a:pPr marL="0" indent="0">
              <a:buNone/>
            </a:pPr>
            <a:endParaRPr lang="en-US" altLang="zh-TW" sz="2400" dirty="0"/>
          </a:p>
          <a:p>
            <a:r>
              <a:rPr lang="en-US" altLang="zh-TW" sz="2400" b="1" dirty="0">
                <a:solidFill>
                  <a:srgbClr val="C00000"/>
                </a:solidFill>
                <a:highlight>
                  <a:srgbClr val="00FF00"/>
                </a:highlight>
                <a:ea typeface="新細明體" pitchFamily="18" charset="-120"/>
              </a:rPr>
              <a:t>Declaring</a:t>
            </a:r>
            <a:r>
              <a:rPr lang="en-US" altLang="zh-TW" sz="2400" dirty="0">
                <a:ea typeface="新細明體" pitchFamily="18" charset="-120"/>
              </a:rPr>
              <a:t> a pointer: </a:t>
            </a:r>
            <a:r>
              <a:rPr lang="en-US" sz="2400" kern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kern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kern="0" dirty="0">
                <a:solidFill>
                  <a:srgbClr val="C00000"/>
                </a:solidFill>
                <a:latin typeface="Consolas" panose="020B0609020204030204" pitchFamily="49" charset="0"/>
              </a:rPr>
              <a:t>*p</a:t>
            </a:r>
            <a:r>
              <a:rPr lang="en-US" sz="2400" kern="0" dirty="0">
                <a:solidFill>
                  <a:srgbClr val="000000"/>
                </a:solidFill>
                <a:latin typeface="Consolas" panose="020B0609020204030204" pitchFamily="49" charset="0"/>
              </a:rPr>
              <a:t> = &amp;a;</a:t>
            </a:r>
            <a:endParaRPr lang="en-US" altLang="zh-TW" sz="2400" dirty="0">
              <a:latin typeface="Courier New" pitchFamily="49" charset="0"/>
              <a:ea typeface="新細明體" pitchFamily="18" charset="-120"/>
            </a:endParaRPr>
          </a:p>
          <a:p>
            <a:pPr marL="228600" lvl="2">
              <a:spcBef>
                <a:spcPts val="1000"/>
              </a:spcBef>
            </a:pPr>
            <a:r>
              <a:rPr lang="en-US" altLang="zh-TW" sz="2400" b="1" dirty="0">
                <a:solidFill>
                  <a:srgbClr val="C00000"/>
                </a:solidFill>
                <a:highlight>
                  <a:srgbClr val="00FF00"/>
                </a:highlight>
                <a:ea typeface="新細明體" pitchFamily="18" charset="-120"/>
              </a:rPr>
              <a:t>Dereferencing</a:t>
            </a:r>
            <a:r>
              <a:rPr lang="en-US" altLang="zh-TW" sz="2400" dirty="0">
                <a:ea typeface="新細明體" pitchFamily="18" charset="-120"/>
              </a:rPr>
              <a:t> a pointer: </a:t>
            </a:r>
            <a:r>
              <a:rPr lang="en-US" sz="2400" kern="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400" kern="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kern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kern="0" dirty="0">
                <a:solidFill>
                  <a:srgbClr val="C00000"/>
                </a:solidFill>
                <a:latin typeface="Consolas" panose="020B0609020204030204" pitchFamily="49" charset="0"/>
              </a:rPr>
              <a:t>(*p)</a:t>
            </a:r>
            <a:r>
              <a:rPr lang="en-US" sz="2400" kern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the value pointed to by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</a:p>
          <a:p>
            <a:endParaRPr lang="en-US" altLang="zh-TW" sz="2400" dirty="0">
              <a:latin typeface="Courier New" pitchFamily="49" charset="0"/>
              <a:ea typeface="新細明體" pitchFamily="18" charset="-120"/>
            </a:endParaRPr>
          </a:p>
        </p:txBody>
      </p:sp>
      <p:sp>
        <p:nvSpPr>
          <p:cNvPr id="11" name="progressBarBackground">
            <a:extLst>
              <a:ext uri="{FF2B5EF4-FFF2-40B4-BE49-F238E27FC236}">
                <a16:creationId xmlns:a16="http://schemas.microsoft.com/office/drawing/2014/main" id="{D54045B4-120C-4205-9BED-049313B79CCE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progressBar">
            <a:extLst>
              <a:ext uri="{FF2B5EF4-FFF2-40B4-BE49-F238E27FC236}">
                <a16:creationId xmlns:a16="http://schemas.microsoft.com/office/drawing/2014/main" id="{DE2EE34A-3771-441E-A5FE-DF94793B893A}"/>
              </a:ext>
            </a:extLst>
          </p:cNvPr>
          <p:cNvSpPr/>
          <p:nvPr/>
        </p:nvSpPr>
        <p:spPr>
          <a:xfrm>
            <a:off x="1524001" y="6813550"/>
            <a:ext cx="1075765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64827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CC4587BC-8F19-40F4-B582-8D835E2690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70992" y="370451"/>
              <a:ext cx="3207362" cy="33070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91142">
                      <a:extLst>
                        <a:ext uri="{9D8B030D-6E8A-4147-A177-3AD203B41FA5}">
                          <a16:colId xmlns:a16="http://schemas.microsoft.com/office/drawing/2014/main" val="4021510994"/>
                        </a:ext>
                      </a:extLst>
                    </a:gridCol>
                    <a:gridCol w="1408110">
                      <a:extLst>
                        <a:ext uri="{9D8B030D-6E8A-4147-A177-3AD203B41FA5}">
                          <a16:colId xmlns:a16="http://schemas.microsoft.com/office/drawing/2014/main" val="1773972314"/>
                        </a:ext>
                      </a:extLst>
                    </a:gridCol>
                    <a:gridCol w="1408110">
                      <a:extLst>
                        <a:ext uri="{9D8B030D-6E8A-4147-A177-3AD203B41FA5}">
                          <a16:colId xmlns:a16="http://schemas.microsoft.com/office/drawing/2014/main" val="253177721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933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010FF798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76218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53664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010FF78C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7994068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43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010FF780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501249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78006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CC4587BC-8F19-40F4-B582-8D835E2690DB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7270992" y="370451"/>
              <a:ext cx="3207362" cy="33070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91142">
                      <a:extLst>
                        <a:ext uri="{9D8B030D-6E8A-4147-A177-3AD203B41FA5}">
                          <a16:colId xmlns:a16="http://schemas.microsoft.com/office/drawing/2014/main" val="4021510994"/>
                        </a:ext>
                      </a:extLst>
                    </a:gridCol>
                    <a:gridCol w="1408110">
                      <a:extLst>
                        <a:ext uri="{9D8B030D-6E8A-4147-A177-3AD203B41FA5}">
                          <a16:colId xmlns:a16="http://schemas.microsoft.com/office/drawing/2014/main" val="1773972314"/>
                        </a:ext>
                      </a:extLst>
                    </a:gridCol>
                    <a:gridCol w="1408110">
                      <a:extLst>
                        <a:ext uri="{9D8B030D-6E8A-4147-A177-3AD203B41FA5}">
                          <a16:colId xmlns:a16="http://schemas.microsoft.com/office/drawing/2014/main" val="253177721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7586" t="-1111" r="-99569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933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010FF798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76218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7586" t="-168889" r="-99569" b="-33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53664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010FF78C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7994068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7586" t="-337778" r="-99569" b="-1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43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010FF780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501249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7586" t="-505556" r="-99569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78006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7">
                <a:extLst>
                  <a:ext uri="{FF2B5EF4-FFF2-40B4-BE49-F238E27FC236}">
                    <a16:creationId xmlns:a16="http://schemas.microsoft.com/office/drawing/2014/main" id="{3193A473-9C02-449D-8BBF-5B364C93562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70992" y="365126"/>
              <a:ext cx="3207362" cy="33070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91142">
                      <a:extLst>
                        <a:ext uri="{9D8B030D-6E8A-4147-A177-3AD203B41FA5}">
                          <a16:colId xmlns:a16="http://schemas.microsoft.com/office/drawing/2014/main" val="4021510994"/>
                        </a:ext>
                      </a:extLst>
                    </a:gridCol>
                    <a:gridCol w="1408110">
                      <a:extLst>
                        <a:ext uri="{9D8B030D-6E8A-4147-A177-3AD203B41FA5}">
                          <a16:colId xmlns:a16="http://schemas.microsoft.com/office/drawing/2014/main" val="1773972314"/>
                        </a:ext>
                      </a:extLst>
                    </a:gridCol>
                    <a:gridCol w="1408110">
                      <a:extLst>
                        <a:ext uri="{9D8B030D-6E8A-4147-A177-3AD203B41FA5}">
                          <a16:colId xmlns:a16="http://schemas.microsoft.com/office/drawing/2014/main" val="253177721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933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highlight>
                                <a:srgbClr val="FFFF00"/>
                              </a:highlight>
                              <a:latin typeface="Consolas" panose="020B0609020204030204" pitchFamily="49" charset="0"/>
                            </a:rPr>
                            <a:t>010FF798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76218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53664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highlight>
                                <a:srgbClr val="FFFF00"/>
                              </a:highlight>
                              <a:latin typeface="Consolas" panose="020B0609020204030204" pitchFamily="49" charset="0"/>
                            </a:rPr>
                            <a:t>010FF798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highlight>
                                <a:srgbClr val="00FF00"/>
                              </a:highlight>
                              <a:latin typeface="Consolas" panose="020B0609020204030204" pitchFamily="49" charset="0"/>
                            </a:rPr>
                            <a:t>010FF78C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94068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43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highlight>
                                <a:srgbClr val="00FF00"/>
                              </a:highlight>
                              <a:latin typeface="Consolas" panose="020B0609020204030204" pitchFamily="49" charset="0"/>
                            </a:rPr>
                            <a:t>010FF78C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010FF780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501249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78006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7">
                <a:extLst>
                  <a:ext uri="{FF2B5EF4-FFF2-40B4-BE49-F238E27FC236}">
                    <a16:creationId xmlns:a16="http://schemas.microsoft.com/office/drawing/2014/main" id="{3193A473-9C02-449D-8BBF-5B364C93562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7270992" y="365126"/>
              <a:ext cx="3207362" cy="33070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91142">
                      <a:extLst>
                        <a:ext uri="{9D8B030D-6E8A-4147-A177-3AD203B41FA5}">
                          <a16:colId xmlns:a16="http://schemas.microsoft.com/office/drawing/2014/main" val="4021510994"/>
                        </a:ext>
                      </a:extLst>
                    </a:gridCol>
                    <a:gridCol w="1408110">
                      <a:extLst>
                        <a:ext uri="{9D8B030D-6E8A-4147-A177-3AD203B41FA5}">
                          <a16:colId xmlns:a16="http://schemas.microsoft.com/office/drawing/2014/main" val="1773972314"/>
                        </a:ext>
                      </a:extLst>
                    </a:gridCol>
                    <a:gridCol w="1408110">
                      <a:extLst>
                        <a:ext uri="{9D8B030D-6E8A-4147-A177-3AD203B41FA5}">
                          <a16:colId xmlns:a16="http://schemas.microsoft.com/office/drawing/2014/main" val="253177721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27586" t="-1111" r="-99569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933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highlight>
                                <a:srgbClr val="FFFF00"/>
                              </a:highlight>
                              <a:latin typeface="Consolas" panose="020B0609020204030204" pitchFamily="49" charset="0"/>
                            </a:rPr>
                            <a:t>010FF798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76218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27586" t="-168889" r="-99569" b="-33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53664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highlight>
                                <a:srgbClr val="FFFF00"/>
                              </a:highlight>
                              <a:latin typeface="Consolas" panose="020B0609020204030204" pitchFamily="49" charset="0"/>
                            </a:rPr>
                            <a:t>010FF798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highlight>
                                <a:srgbClr val="00FF00"/>
                              </a:highlight>
                              <a:latin typeface="Consolas" panose="020B0609020204030204" pitchFamily="49" charset="0"/>
                            </a:rPr>
                            <a:t>010FF78C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94068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27586" t="-337778" r="-99569" b="-1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43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highlight>
                                <a:srgbClr val="00FF00"/>
                              </a:highlight>
                              <a:latin typeface="Consolas" panose="020B0609020204030204" pitchFamily="49" charset="0"/>
                            </a:rPr>
                            <a:t>010FF78C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latin typeface="Consolas" panose="020B0609020204030204" pitchFamily="49" charset="0"/>
                            </a:rPr>
                            <a:t>010FF780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501249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27586" t="-505556" r="-99569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78006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05300" y="177800"/>
            <a:ext cx="7886700" cy="768350"/>
          </a:xfrm>
        </p:spPr>
        <p:txBody>
          <a:bodyPr>
            <a:normAutofit/>
          </a:bodyPr>
          <a:lstStyle/>
          <a:p>
            <a:pPr marL="12700" fontAlgn="base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</a:pPr>
            <a:r>
              <a:rPr lang="en-US" altLang="zh-TW" sz="4000" b="1" spc="-10" dirty="0">
                <a:solidFill>
                  <a:srgbClr val="0070C0"/>
                </a:solidFill>
                <a:latin typeface="Arial"/>
                <a:cs typeface="Arial"/>
              </a:rPr>
              <a:t>Pointer to Pointer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1C41B21-E4EE-4E6C-8154-878AE042EBF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184275"/>
            <a:ext cx="7886700" cy="5491163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a;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//Integer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 p;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//Pointer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** q;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//Pointer to Pointer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 = 58;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 = &amp;a;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q = &amp;p;</a:t>
            </a:r>
          </a:p>
          <a:p>
            <a:pPr marL="0" indent="0">
              <a:spcBef>
                <a:spcPct val="0"/>
              </a:spcBef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*p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*q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**q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&amp;q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</p:txBody>
      </p:sp>
      <p:sp>
        <p:nvSpPr>
          <p:cNvPr id="6" name="Text Box 22">
            <a:extLst>
              <a:ext uri="{FF2B5EF4-FFF2-40B4-BE49-F238E27FC236}">
                <a16:creationId xmlns:a16="http://schemas.microsoft.com/office/drawing/2014/main" id="{8205B647-F141-4252-8EE4-A68D2F5CF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186" y="3948570"/>
            <a:ext cx="2331327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00EC00"/>
                </a:solidFill>
                <a:latin typeface="Consolas" panose="020B0609020204030204" pitchFamily="49" charset="0"/>
              </a:defRPr>
            </a:lvl1pPr>
            <a:lvl2pPr>
              <a:spcBef>
                <a:spcPct val="0"/>
              </a:spcBef>
              <a:defRPr sz="2400"/>
            </a:lvl2pPr>
            <a:lvl3pPr>
              <a:spcBef>
                <a:spcPct val="0"/>
              </a:spcBef>
              <a:defRPr sz="2400"/>
            </a:lvl3pPr>
            <a:lvl4pPr>
              <a:spcBef>
                <a:spcPct val="0"/>
              </a:spcBef>
              <a:defRPr sz="2400"/>
            </a:lvl4pPr>
            <a:lvl5pPr>
              <a:spcBef>
                <a:spcPct val="0"/>
              </a:spcBef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>
              <a:defRPr/>
            </a:pPr>
            <a:r>
              <a:rPr lang="en-US" altLang="zh-TW" sz="2400" dirty="0">
                <a:ea typeface="新細明體" panose="02020500000000000000"/>
              </a:rPr>
              <a:t>58</a:t>
            </a:r>
          </a:p>
          <a:p>
            <a:pPr>
              <a:defRPr/>
            </a:pPr>
            <a:r>
              <a:rPr lang="en-US" altLang="zh-TW" sz="2400" dirty="0">
                <a:ea typeface="新細明體" panose="02020500000000000000"/>
              </a:rPr>
              <a:t>010FF798</a:t>
            </a:r>
          </a:p>
          <a:p>
            <a:pPr>
              <a:defRPr/>
            </a:pPr>
            <a:r>
              <a:rPr lang="en-US" altLang="zh-TW" sz="2400" dirty="0">
                <a:ea typeface="新細明體" panose="02020500000000000000"/>
              </a:rPr>
              <a:t>58</a:t>
            </a:r>
          </a:p>
          <a:p>
            <a:pPr>
              <a:defRPr/>
            </a:pPr>
            <a:r>
              <a:rPr lang="en-US" altLang="zh-TW" sz="2400" dirty="0">
                <a:ea typeface="新細明體" panose="02020500000000000000"/>
              </a:rPr>
              <a:t>010FF78C</a:t>
            </a:r>
          </a:p>
          <a:p>
            <a:pPr>
              <a:defRPr/>
            </a:pPr>
            <a:r>
              <a:rPr lang="en-US" altLang="zh-TW" sz="2400" dirty="0">
                <a:ea typeface="新細明體" panose="02020500000000000000"/>
              </a:rPr>
              <a:t>010FF798</a:t>
            </a:r>
          </a:p>
          <a:p>
            <a:pPr>
              <a:defRPr/>
            </a:pPr>
            <a:r>
              <a:rPr lang="en-US" altLang="zh-TW" sz="2400" dirty="0">
                <a:ea typeface="新細明體" panose="02020500000000000000"/>
              </a:rPr>
              <a:t>58</a:t>
            </a:r>
          </a:p>
          <a:p>
            <a:pPr>
              <a:defRPr/>
            </a:pPr>
            <a:r>
              <a:rPr lang="en-US" altLang="zh-TW" sz="2400" dirty="0">
                <a:ea typeface="新細明體" panose="02020500000000000000"/>
              </a:rPr>
              <a:t>010FF780</a:t>
            </a:r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34A7770A-1656-4122-9A66-2864A5B7AC57}"/>
              </a:ext>
            </a:extLst>
          </p:cNvPr>
          <p:cNvSpPr/>
          <p:nvPr/>
        </p:nvSpPr>
        <p:spPr>
          <a:xfrm>
            <a:off x="7132936" y="1138551"/>
            <a:ext cx="268835" cy="921721"/>
          </a:xfrm>
          <a:prstGeom prst="leftBracket">
            <a:avLst>
              <a:gd name="adj" fmla="val 61829"/>
            </a:avLst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0ECAF2A5-F912-4A3C-94B3-804FB4EB19B4}"/>
              </a:ext>
            </a:extLst>
          </p:cNvPr>
          <p:cNvSpPr/>
          <p:nvPr/>
        </p:nvSpPr>
        <p:spPr>
          <a:xfrm>
            <a:off x="7132936" y="2134248"/>
            <a:ext cx="268835" cy="921721"/>
          </a:xfrm>
          <a:prstGeom prst="leftBracket">
            <a:avLst>
              <a:gd name="adj" fmla="val 61829"/>
            </a:avLst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progressBarBackground">
            <a:extLst>
              <a:ext uri="{FF2B5EF4-FFF2-40B4-BE49-F238E27FC236}">
                <a16:creationId xmlns:a16="http://schemas.microsoft.com/office/drawing/2014/main" id="{8025829D-9376-4CB8-8ECD-4ABC0DDFB331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progressBar">
            <a:extLst>
              <a:ext uri="{FF2B5EF4-FFF2-40B4-BE49-F238E27FC236}">
                <a16:creationId xmlns:a16="http://schemas.microsoft.com/office/drawing/2014/main" id="{192B6395-FB96-4A17-8F53-591BF85CE201}"/>
              </a:ext>
            </a:extLst>
          </p:cNvPr>
          <p:cNvSpPr/>
          <p:nvPr/>
        </p:nvSpPr>
        <p:spPr>
          <a:xfrm>
            <a:off x="1524001" y="6813550"/>
            <a:ext cx="1255059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962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12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9E881-E188-4170-9F27-8B03786A5D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7625"/>
            <a:ext cx="10515600" cy="1325563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>
                <a:solidFill>
                  <a:srgbClr val="0070C0"/>
                </a:solidFill>
                <a:latin typeface="Arial"/>
                <a:cs typeface="Arial"/>
              </a:rPr>
              <a:t>Using pointers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5DDEE49-C88A-4A60-9FCD-E4CDF9A0FF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41450" y="1387475"/>
            <a:ext cx="10750550" cy="534987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en-US" dirty="0"/>
              <a:t>It is a </a:t>
            </a:r>
            <a:r>
              <a:rPr lang="en-US" altLang="en-US" b="1" dirty="0">
                <a:solidFill>
                  <a:srgbClr val="C00000"/>
                </a:solidFill>
              </a:rPr>
              <a:t>syntax error </a:t>
            </a:r>
            <a:r>
              <a:rPr lang="en-US" altLang="en-US" dirty="0"/>
              <a:t>if the </a:t>
            </a:r>
            <a:r>
              <a:rPr lang="en-US" altLang="en-US" b="1" dirty="0"/>
              <a:t>type of the variable </a:t>
            </a:r>
            <a:r>
              <a:rPr lang="en-US" altLang="en-US" i="1" dirty="0">
                <a:solidFill>
                  <a:srgbClr val="C00000"/>
                </a:solidFill>
              </a:rPr>
              <a:t>does not match </a:t>
            </a:r>
            <a:r>
              <a:rPr lang="en-US" altLang="en-US" dirty="0"/>
              <a:t>the </a:t>
            </a:r>
            <a:r>
              <a:rPr lang="en-US" altLang="en-US" b="1" dirty="0"/>
              <a:t>type of the pointer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area = 1;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&amp;area; 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228600" lvl="1">
              <a:spcBef>
                <a:spcPts val="1000"/>
              </a:spcBef>
            </a:pPr>
            <a:r>
              <a:rPr lang="en-US" altLang="en-US" dirty="0"/>
              <a:t>To prevent errors, you should always initialize pointers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#define NULL 0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reserved pointer that  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       does not point to any valid 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       memory location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{...  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This block will be executed 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         if </a:t>
            </a:r>
            <a:r>
              <a:rPr lang="en-US" sz="2100" dirty="0" err="1">
                <a:solidFill>
                  <a:srgbClr val="008000"/>
                </a:solidFill>
                <a:latin typeface="Consolas" panose="020B0609020204030204" pitchFamily="49" charset="0"/>
              </a:rPr>
              <a:t>pArea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 is null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ED8FF7-B48F-4735-9089-6482D2E2CC79}"/>
              </a:ext>
            </a:extLst>
          </p:cNvPr>
          <p:cNvGrpSpPr/>
          <p:nvPr/>
        </p:nvGrpSpPr>
        <p:grpSpPr>
          <a:xfrm>
            <a:off x="5473205" y="3366051"/>
            <a:ext cx="378246" cy="378246"/>
            <a:chOff x="5717754" y="2409021"/>
            <a:chExt cx="378246" cy="37824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325E3BC-5D20-4C93-9A5B-52624FEBE7AB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49794FB-6209-4B57-9383-95C0AE3E7899}"/>
                </a:ext>
              </a:extLst>
            </p:cNvPr>
            <p:cNvGrpSpPr/>
            <p:nvPr/>
          </p:nvGrpSpPr>
          <p:grpSpPr>
            <a:xfrm>
              <a:off x="5808241" y="2499508"/>
              <a:ext cx="197272" cy="197272"/>
              <a:chOff x="5694851" y="2413428"/>
              <a:chExt cx="424049" cy="369435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A54C867-7D14-4ECB-B5B0-547B38B9964E}"/>
                  </a:ext>
                </a:extLst>
              </p:cNvPr>
              <p:cNvCxnSpPr>
                <a:cxnSpLocks/>
                <a:stCxn id="14" idx="1"/>
                <a:endCxn id="14" idx="5"/>
              </p:cNvCxnSpPr>
              <p:nvPr/>
            </p:nvCxnSpPr>
            <p:spPr>
              <a:xfrm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974AC35-3574-4878-81CA-F1B5B8280273}"/>
                  </a:ext>
                </a:extLst>
              </p:cNvPr>
              <p:cNvCxnSpPr>
                <a:cxnSpLocks/>
                <a:stCxn id="14" idx="7"/>
                <a:endCxn id="14" idx="3"/>
              </p:cNvCxnSpPr>
              <p:nvPr/>
            </p:nvCxnSpPr>
            <p:spPr>
              <a:xfrm flipH="1">
                <a:off x="5694851" y="2413428"/>
                <a:ext cx="424049" cy="369435"/>
              </a:xfrm>
              <a:prstGeom prst="line">
                <a:avLst/>
              </a:prstGeom>
              <a:ln w="50800" cap="rnd"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" name="progressBarBackground">
            <a:extLst>
              <a:ext uri="{FF2B5EF4-FFF2-40B4-BE49-F238E27FC236}">
                <a16:creationId xmlns:a16="http://schemas.microsoft.com/office/drawing/2014/main" id="{84A442C4-DD9B-4078-A20A-C58C9F9A0ED4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progressBar">
            <a:extLst>
              <a:ext uri="{FF2B5EF4-FFF2-40B4-BE49-F238E27FC236}">
                <a16:creationId xmlns:a16="http://schemas.microsoft.com/office/drawing/2014/main" id="{8B411726-FB61-4924-8187-EA7FAD036F2D}"/>
              </a:ext>
            </a:extLst>
          </p:cNvPr>
          <p:cNvSpPr/>
          <p:nvPr/>
        </p:nvSpPr>
        <p:spPr>
          <a:xfrm>
            <a:off x="1524001" y="6813550"/>
            <a:ext cx="1434353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9216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9E881-E188-4170-9F27-8B03786A5D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01675"/>
            <a:ext cx="11029950" cy="1014413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>
                <a:solidFill>
                  <a:srgbClr val="0070C0"/>
                </a:solidFill>
                <a:latin typeface="Arial"/>
                <a:cs typeface="Arial"/>
              </a:rPr>
              <a:t>Using pointers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5DDEE49-C88A-4A60-9FCD-E4CDF9A0FF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655888" y="1825625"/>
            <a:ext cx="9536112" cy="4351338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US" b="1" dirty="0">
                <a:solidFill>
                  <a:srgbClr val="C00000"/>
                </a:solidFill>
              </a:rPr>
              <a:t>Declaring a pointer</a:t>
            </a:r>
          </a:p>
          <a:p>
            <a:pPr marL="461963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61963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 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61963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457200" lvl="2" indent="0">
              <a:spcBef>
                <a:spcPts val="1000"/>
              </a:spcBef>
              <a:buNone/>
            </a:pPr>
            <a:endParaRPr lang="en-US" dirty="0"/>
          </a:p>
          <a:p>
            <a:pPr marL="228600" lvl="1">
              <a:spcBef>
                <a:spcPts val="1000"/>
              </a:spcBef>
            </a:pPr>
            <a:r>
              <a:rPr lang="en-US" b="1" dirty="0">
                <a:solidFill>
                  <a:srgbClr val="C00000"/>
                </a:solidFill>
              </a:rPr>
              <a:t>Declaring more than one pointer in one line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area;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A pointer and a double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*area;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Two pointers</a:t>
            </a:r>
          </a:p>
          <a:p>
            <a:pPr marL="457200" lvl="1" indent="0">
              <a:buNone/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9564C4-4044-481F-93D6-12483745A646}"/>
              </a:ext>
            </a:extLst>
          </p:cNvPr>
          <p:cNvGrpSpPr/>
          <p:nvPr/>
        </p:nvGrpSpPr>
        <p:grpSpPr>
          <a:xfrm>
            <a:off x="1007878" y="4425147"/>
            <a:ext cx="457490" cy="410052"/>
            <a:chOff x="6835676" y="2394284"/>
            <a:chExt cx="1129229" cy="1012139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72A0DB8-43F7-4B43-83F5-B374623C8AB0}"/>
                </a:ext>
              </a:extLst>
            </p:cNvPr>
            <p:cNvSpPr/>
            <p:nvPr/>
          </p:nvSpPr>
          <p:spPr>
            <a:xfrm>
              <a:off x="6835676" y="2394284"/>
              <a:ext cx="1129229" cy="973473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7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30A1D6-CB38-441B-AC14-6B1003FC842C}"/>
                </a:ext>
              </a:extLst>
            </p:cNvPr>
            <p:cNvSpPr txBox="1"/>
            <p:nvPr/>
          </p:nvSpPr>
          <p:spPr>
            <a:xfrm>
              <a:off x="7273666" y="2494794"/>
              <a:ext cx="253229" cy="9116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prstClr val="black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!</a:t>
              </a:r>
            </a:p>
          </p:txBody>
        </p:sp>
      </p:grpSp>
      <p:sp>
        <p:nvSpPr>
          <p:cNvPr id="16" name="progressBarBackground">
            <a:extLst>
              <a:ext uri="{FF2B5EF4-FFF2-40B4-BE49-F238E27FC236}">
                <a16:creationId xmlns:a16="http://schemas.microsoft.com/office/drawing/2014/main" id="{1E12F5C7-F60F-49A3-B5CC-8450C47D9A9F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progressBar">
            <a:extLst>
              <a:ext uri="{FF2B5EF4-FFF2-40B4-BE49-F238E27FC236}">
                <a16:creationId xmlns:a16="http://schemas.microsoft.com/office/drawing/2014/main" id="{A2B2B45D-7097-4776-94F0-06E1DF4FE9D2}"/>
              </a:ext>
            </a:extLst>
          </p:cNvPr>
          <p:cNvSpPr/>
          <p:nvPr/>
        </p:nvSpPr>
        <p:spPr>
          <a:xfrm>
            <a:off x="1524001" y="6813550"/>
            <a:ext cx="1613647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2947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EBB4-A8E0-487C-92B6-D103C95E7724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3FD0EBE-E356-4E70-9576-6B64746567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730250"/>
            <a:ext cx="11029950" cy="987425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4000" b="1" spc="-10" dirty="0">
                <a:solidFill>
                  <a:srgbClr val="0070C0"/>
                </a:solidFill>
                <a:latin typeface="Arial"/>
                <a:cs typeface="Arial"/>
              </a:rPr>
              <a:t>What is the difference?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87EC1-C01B-45B0-BD3A-B8EA0F9B5C5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825625"/>
            <a:ext cx="36703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 = 6;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&amp;x;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&amp;y;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pX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963016-931C-4776-8791-1F4BD20FA2E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401050" y="1825625"/>
            <a:ext cx="37909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 = 6;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&amp;x;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&amp;y;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pX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*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3" name="progressBarBackground">
            <a:extLst>
              <a:ext uri="{FF2B5EF4-FFF2-40B4-BE49-F238E27FC236}">
                <a16:creationId xmlns:a16="http://schemas.microsoft.com/office/drawing/2014/main" id="{F10C3D81-D3A7-4398-BD69-EA1DC3366E46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progressBar">
            <a:extLst>
              <a:ext uri="{FF2B5EF4-FFF2-40B4-BE49-F238E27FC236}">
                <a16:creationId xmlns:a16="http://schemas.microsoft.com/office/drawing/2014/main" id="{CF30AD84-9A75-4896-85A9-388402510DDA}"/>
              </a:ext>
            </a:extLst>
          </p:cNvPr>
          <p:cNvSpPr/>
          <p:nvPr/>
        </p:nvSpPr>
        <p:spPr>
          <a:xfrm>
            <a:off x="1524001" y="6813550"/>
            <a:ext cx="1972235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800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E887E1-0648-4815-ABF6-38A6058EAB5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549275"/>
            <a:ext cx="8328025" cy="5983288"/>
          </a:xfrm>
          <a:prstGeom prst="rect">
            <a:avLst/>
          </a:prstGeom>
        </p:spPr>
      </p:pic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233DD8B4-9F80-4978-A861-699E3367DA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4" t="85385" r="85029" b="10122"/>
          <a:stretch/>
        </p:blipFill>
        <p:spPr>
          <a:xfrm>
            <a:off x="2140285" y="4542745"/>
            <a:ext cx="998530" cy="2688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65DDAA8-7A60-4ADC-9A93-B1901C0E6521}"/>
              </a:ext>
            </a:extLst>
          </p:cNvPr>
          <p:cNvSpPr/>
          <p:nvPr/>
        </p:nvSpPr>
        <p:spPr>
          <a:xfrm>
            <a:off x="3753295" y="3028890"/>
            <a:ext cx="13131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F0E327-D6EA-4E3A-B45B-E1C23C11404F}"/>
              </a:ext>
            </a:extLst>
          </p:cNvPr>
          <p:cNvSpPr/>
          <p:nvPr/>
        </p:nvSpPr>
        <p:spPr>
          <a:xfrm>
            <a:off x="6902506" y="2990485"/>
            <a:ext cx="1595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pX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*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5" name="progressBarBackground">
            <a:extLst>
              <a:ext uri="{FF2B5EF4-FFF2-40B4-BE49-F238E27FC236}">
                <a16:creationId xmlns:a16="http://schemas.microsoft.com/office/drawing/2014/main" id="{F72B9B58-48F8-4FD8-948D-C0D0244EFC35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progressBar">
            <a:extLst>
              <a:ext uri="{FF2B5EF4-FFF2-40B4-BE49-F238E27FC236}">
                <a16:creationId xmlns:a16="http://schemas.microsoft.com/office/drawing/2014/main" id="{DC708A10-FDA8-4FBE-9BF8-0027B2FDDA54}"/>
              </a:ext>
            </a:extLst>
          </p:cNvPr>
          <p:cNvSpPr/>
          <p:nvPr/>
        </p:nvSpPr>
        <p:spPr>
          <a:xfrm>
            <a:off x="1524001" y="6813550"/>
            <a:ext cx="2151529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62767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>
            <a:extLst>
              <a:ext uri="{FF2B5EF4-FFF2-40B4-BE49-F238E27FC236}">
                <a16:creationId xmlns:a16="http://schemas.microsoft.com/office/drawing/2014/main" id="{D7F4B327-83D9-46D5-95D4-B7DE81DF1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09" y="1078722"/>
            <a:ext cx="8305800" cy="5105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lumMod val="50000"/>
                <a:lumOff val="50000"/>
              </a:srgbClr>
            </a:solidFill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*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1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value1 = 5, value2 = 15;</a:t>
            </a: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* p1, * p2;</a:t>
            </a: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p1 = &amp;value1; </a:t>
            </a:r>
            <a:r>
              <a:rPr lang="en-US" sz="2000" kern="0" dirty="0">
                <a:solidFill>
                  <a:srgbClr val="008000"/>
                </a:solidFill>
                <a:latin typeface="Consolas" panose="020B0609020204030204" pitchFamily="49" charset="0"/>
              </a:rPr>
              <a:t>// p1 = address of value1</a:t>
            </a:r>
            <a:endParaRPr lang="en-US" sz="200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p2 = &amp;value2; </a:t>
            </a:r>
            <a:r>
              <a:rPr lang="en-US" sz="2000" kern="0" dirty="0">
                <a:solidFill>
                  <a:srgbClr val="008000"/>
                </a:solidFill>
                <a:latin typeface="Consolas" panose="020B0609020204030204" pitchFamily="49" charset="0"/>
              </a:rPr>
              <a:t>// p2 = address of value2 </a:t>
            </a:r>
            <a:endParaRPr lang="en-US" sz="200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*p1 = 10;     </a:t>
            </a:r>
            <a:r>
              <a:rPr lang="en-US" sz="2000" kern="0" dirty="0">
                <a:solidFill>
                  <a:srgbClr val="008000"/>
                </a:solidFill>
                <a:latin typeface="Consolas" panose="020B0609020204030204" pitchFamily="49" charset="0"/>
              </a:rPr>
              <a:t>// value pointed to by p1=10 </a:t>
            </a:r>
            <a:endParaRPr lang="en-US" sz="200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*p2 = *p1;    </a:t>
            </a:r>
            <a:r>
              <a:rPr lang="en-US" sz="2000" kern="0" dirty="0">
                <a:solidFill>
                  <a:srgbClr val="008000"/>
                </a:solidFill>
                <a:latin typeface="Consolas" panose="020B0609020204030204" pitchFamily="49" charset="0"/>
              </a:rPr>
              <a:t>// value pointed to by p2= value</a:t>
            </a: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8000"/>
                </a:solidFill>
                <a:latin typeface="Consolas" panose="020B0609020204030204" pitchFamily="49" charset="0"/>
              </a:rPr>
              <a:t>		   // pointed to by p1 </a:t>
            </a:r>
            <a:endParaRPr lang="en-US" sz="200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p1 = p2;      </a:t>
            </a:r>
            <a:r>
              <a:rPr lang="en-US" sz="2000" kern="0" dirty="0">
                <a:solidFill>
                  <a:srgbClr val="008000"/>
                </a:solidFill>
                <a:latin typeface="Consolas" panose="020B0609020204030204" pitchFamily="49" charset="0"/>
              </a:rPr>
              <a:t>// p1 = p2 (pointer value copied) </a:t>
            </a:r>
            <a:endParaRPr lang="en-US" sz="200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*p1 = 20;     </a:t>
            </a:r>
            <a:r>
              <a:rPr lang="en-US" sz="2000" kern="0" dirty="0">
                <a:solidFill>
                  <a:srgbClr val="008000"/>
                </a:solidFill>
                <a:latin typeface="Consolas" panose="020B0609020204030204" pitchFamily="49" charset="0"/>
              </a:rPr>
              <a:t>// value pointed to by p1 = 20 </a:t>
            </a:r>
            <a:endParaRPr lang="en-US" sz="2000" kern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kern="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kern="0" dirty="0">
                <a:solidFill>
                  <a:srgbClr val="A31515"/>
                </a:solidFill>
                <a:latin typeface="Consolas" panose="020B0609020204030204" pitchFamily="49" charset="0"/>
              </a:rPr>
              <a:t>"value1=="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kern="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value1 </a:t>
            </a:r>
            <a:r>
              <a:rPr lang="en-US" sz="2000" kern="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kern="0" dirty="0">
                <a:solidFill>
                  <a:srgbClr val="A31515"/>
                </a:solidFill>
                <a:latin typeface="Consolas" panose="020B0609020204030204" pitchFamily="49" charset="0"/>
              </a:rPr>
              <a:t>"/ value2=="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kern="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value2;</a:t>
            </a:r>
          </a:p>
          <a:p>
            <a:pPr marL="341313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Clr>
                <a:srgbClr val="FFCCFF"/>
              </a:buClr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TW" altLang="en-US" sz="2000" kern="0" dirty="0">
              <a:solidFill>
                <a:srgbClr val="FFFFFF"/>
              </a:solidFill>
              <a:latin typeface="Courier New" pitchFamily="49" charset="0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TW" sz="4000" b="1" spc="-10" dirty="0">
                <a:solidFill>
                  <a:srgbClr val="0070C0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6194715" y="6165647"/>
            <a:ext cx="4063373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EC00"/>
                </a:solidFill>
                <a:latin typeface="Consolas" panose="020B0609020204030204" pitchFamily="49" charset="0"/>
              </a:defRPr>
            </a:lvl1pPr>
            <a:lvl2pPr lvl="1">
              <a:spcBef>
                <a:spcPct val="0"/>
              </a:spcBef>
              <a:defRPr sz="2400"/>
            </a:lvl2pPr>
            <a:lvl3pPr>
              <a:spcBef>
                <a:spcPct val="0"/>
              </a:spcBef>
              <a:defRPr sz="2400"/>
            </a:lvl3pPr>
            <a:lvl4pPr>
              <a:spcBef>
                <a:spcPct val="0"/>
              </a:spcBef>
              <a:defRPr sz="2400"/>
            </a:lvl4pPr>
            <a:lvl5pPr>
              <a:spcBef>
                <a:spcPct val="0"/>
              </a:spcBef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>
              <a:defRPr/>
            </a:pPr>
            <a:r>
              <a:rPr lang="en-US" altLang="zh-TW" sz="2400" dirty="0">
                <a:ea typeface="新細明體" panose="02020500000000000000"/>
              </a:rPr>
              <a:t>value1==10 / value2==20</a:t>
            </a:r>
          </a:p>
        </p:txBody>
      </p:sp>
      <p:sp>
        <p:nvSpPr>
          <p:cNvPr id="13" name="progressBarBackground">
            <a:extLst>
              <a:ext uri="{FF2B5EF4-FFF2-40B4-BE49-F238E27FC236}">
                <a16:creationId xmlns:a16="http://schemas.microsoft.com/office/drawing/2014/main" id="{DF14A005-997B-418D-AD10-57451167F587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progressBar">
            <a:extLst>
              <a:ext uri="{FF2B5EF4-FFF2-40B4-BE49-F238E27FC236}">
                <a16:creationId xmlns:a16="http://schemas.microsoft.com/office/drawing/2014/main" id="{D82ACFC5-56EE-4ED1-B98E-9517342DBFC3}"/>
              </a:ext>
            </a:extLst>
          </p:cNvPr>
          <p:cNvSpPr/>
          <p:nvPr/>
        </p:nvSpPr>
        <p:spPr>
          <a:xfrm>
            <a:off x="1524000" y="6813550"/>
            <a:ext cx="2330824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3606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4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012B8-7EE3-4089-876D-2FBFBAD5426F}"/>
              </a:ext>
            </a:extLst>
          </p:cNvPr>
          <p:cNvSpPr txBox="1"/>
          <p:nvPr/>
        </p:nvSpPr>
        <p:spPr>
          <a:xfrm>
            <a:off x="1641021" y="1290278"/>
            <a:ext cx="4109335" cy="2573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</a:t>
            </a:r>
          </a:p>
          <a:p>
            <a:pPr>
              <a:defRPr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swap1(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E56A3-51E0-4AF7-AB29-69684BF3271A}"/>
              </a:ext>
            </a:extLst>
          </p:cNvPr>
          <p:cNvSpPr txBox="1"/>
          <p:nvPr/>
        </p:nvSpPr>
        <p:spPr>
          <a:xfrm>
            <a:off x="5865571" y="1290278"/>
            <a:ext cx="4680485" cy="2573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</a:t>
            </a:r>
          </a:p>
          <a:p>
            <a:pPr>
              <a:defRPr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swap3(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8997D-28FA-4BEC-88D8-613C900F6F9F}"/>
              </a:ext>
            </a:extLst>
          </p:cNvPr>
          <p:cNvSpPr txBox="1"/>
          <p:nvPr/>
        </p:nvSpPr>
        <p:spPr>
          <a:xfrm>
            <a:off x="1641021" y="4120290"/>
            <a:ext cx="4109335" cy="2573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 </a:t>
            </a:r>
          </a:p>
          <a:p>
            <a:pPr>
              <a:defRPr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swap2(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6494A8-0D46-40C8-BEA9-61E4277EB6E3}"/>
              </a:ext>
            </a:extLst>
          </p:cNvPr>
          <p:cNvSpPr/>
          <p:nvPr/>
        </p:nvSpPr>
        <p:spPr>
          <a:xfrm>
            <a:off x="2334251" y="392399"/>
            <a:ext cx="77643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eaLnBrk="1" hangingPunct="1">
              <a:spcBef>
                <a:spcPts val="100"/>
              </a:spcBef>
              <a:defRPr/>
            </a:pPr>
            <a:r>
              <a:rPr lang="en-US" altLang="en-US" sz="4000" b="1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Which one should work? Why?</a:t>
            </a:r>
            <a:endParaRPr lang="en-US" sz="4000" b="1" spc="-10" dirty="0">
              <a:solidFill>
                <a:srgbClr val="0070C0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6DEF9-730E-43A1-973D-C501EAF988BD}"/>
              </a:ext>
            </a:extLst>
          </p:cNvPr>
          <p:cNvSpPr txBox="1"/>
          <p:nvPr/>
        </p:nvSpPr>
        <p:spPr>
          <a:xfrm>
            <a:off x="1641021" y="1291433"/>
            <a:ext cx="4109335" cy="25731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</a:t>
            </a:r>
          </a:p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pass-by-value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swap1(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3D1B0-60FA-4B84-A5BE-063674EA06F0}"/>
              </a:ext>
            </a:extLst>
          </p:cNvPr>
          <p:cNvSpPr txBox="1"/>
          <p:nvPr/>
        </p:nvSpPr>
        <p:spPr>
          <a:xfrm>
            <a:off x="1641021" y="4120290"/>
            <a:ext cx="4109335" cy="25731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 </a:t>
            </a:r>
          </a:p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pass-by-reference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swap2(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CCE40F-D580-410E-8B35-F0B675469DC3}"/>
              </a:ext>
            </a:extLst>
          </p:cNvPr>
          <p:cNvSpPr txBox="1"/>
          <p:nvPr/>
        </p:nvSpPr>
        <p:spPr>
          <a:xfrm>
            <a:off x="5865571" y="1290278"/>
            <a:ext cx="4680485" cy="2573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</a:t>
            </a:r>
          </a:p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pass by pointers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swap3(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10" name="Graphic 9" descr="Checkmark">
            <a:extLst>
              <a:ext uri="{FF2B5EF4-FFF2-40B4-BE49-F238E27FC236}">
                <a16:creationId xmlns:a16="http://schemas.microsoft.com/office/drawing/2014/main" id="{237E39ED-2691-4D61-B802-CAD17DE6DDA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3563" y="6047860"/>
            <a:ext cx="914400" cy="914400"/>
          </a:xfrm>
          <a:prstGeom prst="rect">
            <a:avLst/>
          </a:prstGeom>
        </p:spPr>
      </p:pic>
      <p:pic>
        <p:nvPicPr>
          <p:cNvPr id="12" name="Graphic 11" descr="Close">
            <a:extLst>
              <a:ext uri="{FF2B5EF4-FFF2-40B4-BE49-F238E27FC236}">
                <a16:creationId xmlns:a16="http://schemas.microsoft.com/office/drawing/2014/main" id="{9CA3AE99-B295-49D1-BB5F-C32F3DE0932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3563" y="3217848"/>
            <a:ext cx="914400" cy="914400"/>
          </a:xfrm>
          <a:prstGeom prst="rect">
            <a:avLst/>
          </a:prstGeom>
        </p:spPr>
      </p:pic>
      <p:pic>
        <p:nvPicPr>
          <p:cNvPr id="14" name="Graphic 13" descr="Checkmark">
            <a:extLst>
              <a:ext uri="{FF2B5EF4-FFF2-40B4-BE49-F238E27FC236}">
                <a16:creationId xmlns:a16="http://schemas.microsoft.com/office/drawing/2014/main" id="{46CFA81B-4BAB-43B9-A917-4F6845BA34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4232" y="3211653"/>
            <a:ext cx="914400" cy="914400"/>
          </a:xfrm>
          <a:prstGeom prst="rect">
            <a:avLst/>
          </a:prstGeom>
        </p:spPr>
      </p:pic>
      <p:sp>
        <p:nvSpPr>
          <p:cNvPr id="21" name="progressBarBackground">
            <a:extLst>
              <a:ext uri="{FF2B5EF4-FFF2-40B4-BE49-F238E27FC236}">
                <a16:creationId xmlns:a16="http://schemas.microsoft.com/office/drawing/2014/main" id="{7912F1B5-DAE1-46BE-8944-E73B287ABAAD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progressBar">
            <a:extLst>
              <a:ext uri="{FF2B5EF4-FFF2-40B4-BE49-F238E27FC236}">
                <a16:creationId xmlns:a16="http://schemas.microsoft.com/office/drawing/2014/main" id="{8DA662AC-D706-489F-980C-1FC445FD5560}"/>
              </a:ext>
            </a:extLst>
          </p:cNvPr>
          <p:cNvSpPr/>
          <p:nvPr/>
        </p:nvSpPr>
        <p:spPr>
          <a:xfrm>
            <a:off x="1524000" y="6813550"/>
            <a:ext cx="2689412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E351-457C-4431-A86D-BC5A5A7DDEB3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68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012B8-7EE3-4089-876D-2FBFBAD5426F}"/>
              </a:ext>
            </a:extLst>
          </p:cNvPr>
          <p:cNvSpPr txBox="1"/>
          <p:nvPr/>
        </p:nvSpPr>
        <p:spPr>
          <a:xfrm>
            <a:off x="1641021" y="1290278"/>
            <a:ext cx="4109335" cy="2573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</a:t>
            </a:r>
          </a:p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pass-by-value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swap1(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E56A3-51E0-4AF7-AB29-69684BF3271A}"/>
              </a:ext>
            </a:extLst>
          </p:cNvPr>
          <p:cNvSpPr txBox="1"/>
          <p:nvPr/>
        </p:nvSpPr>
        <p:spPr>
          <a:xfrm>
            <a:off x="5865571" y="1290278"/>
            <a:ext cx="4680485" cy="2573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</a:t>
            </a:r>
          </a:p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pass by pointers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swap3(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*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8997D-28FA-4BEC-88D8-613C900F6F9F}"/>
              </a:ext>
            </a:extLst>
          </p:cNvPr>
          <p:cNvSpPr txBox="1"/>
          <p:nvPr/>
        </p:nvSpPr>
        <p:spPr>
          <a:xfrm>
            <a:off x="1641021" y="4120290"/>
            <a:ext cx="4109335" cy="2573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Swap two variables using </a:t>
            </a:r>
          </a:p>
          <a:p>
            <a:pPr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pass-by-reference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swap2(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n2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" name="Graphic 9" descr="Checkmark">
            <a:extLst>
              <a:ext uri="{FF2B5EF4-FFF2-40B4-BE49-F238E27FC236}">
                <a16:creationId xmlns:a16="http://schemas.microsoft.com/office/drawing/2014/main" id="{237E39ED-2691-4D61-B802-CAD17DE6DDA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6180" y="5992529"/>
            <a:ext cx="914400" cy="914400"/>
          </a:xfrm>
          <a:prstGeom prst="rect">
            <a:avLst/>
          </a:prstGeom>
        </p:spPr>
      </p:pic>
      <p:pic>
        <p:nvPicPr>
          <p:cNvPr id="12" name="Graphic 11" descr="Close">
            <a:extLst>
              <a:ext uri="{FF2B5EF4-FFF2-40B4-BE49-F238E27FC236}">
                <a16:creationId xmlns:a16="http://schemas.microsoft.com/office/drawing/2014/main" id="{9CA3AE99-B295-49D1-BB5F-C32F3DE0932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3221889"/>
            <a:ext cx="914400" cy="914400"/>
          </a:xfrm>
          <a:prstGeom prst="rect">
            <a:avLst/>
          </a:prstGeom>
        </p:spPr>
      </p:pic>
      <p:pic>
        <p:nvPicPr>
          <p:cNvPr id="14" name="Graphic 13" descr="Checkmark">
            <a:extLst>
              <a:ext uri="{FF2B5EF4-FFF2-40B4-BE49-F238E27FC236}">
                <a16:creationId xmlns:a16="http://schemas.microsoft.com/office/drawing/2014/main" id="{46CFA81B-4BAB-43B9-A917-4F6845BA34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7562" y="3232745"/>
            <a:ext cx="914400" cy="9144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EC87FF2-19BE-460E-8E55-698A00548A70}"/>
              </a:ext>
            </a:extLst>
          </p:cNvPr>
          <p:cNvSpPr/>
          <p:nvPr/>
        </p:nvSpPr>
        <p:spPr>
          <a:xfrm>
            <a:off x="6851437" y="2580366"/>
            <a:ext cx="3246125" cy="1539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8100000" sx="102000" sy="102000" algn="tr" rotWithShape="0">
              <a:prstClr val="black">
                <a:alpha val="63000"/>
              </a:prstClr>
            </a:outerShdw>
          </a:effectLst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num1 = 1, num2 = 2;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swap3(&amp;num1, &amp;num2);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C4F19C-7546-4735-B162-6D9D991FA577}"/>
              </a:ext>
            </a:extLst>
          </p:cNvPr>
          <p:cNvSpPr/>
          <p:nvPr/>
        </p:nvSpPr>
        <p:spPr>
          <a:xfrm>
            <a:off x="2094440" y="5222567"/>
            <a:ext cx="3246125" cy="1539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8100000" sx="102000" sy="102000" algn="tr" rotWithShape="0">
              <a:prstClr val="black">
                <a:alpha val="63000"/>
              </a:prstClr>
            </a:outerShdw>
          </a:effectLst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num1 = 1, num2 = 2;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swap2(num1, num2);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EDDB9B-5B67-4F66-A617-E33D4511F967}"/>
              </a:ext>
            </a:extLst>
          </p:cNvPr>
          <p:cNvSpPr/>
          <p:nvPr/>
        </p:nvSpPr>
        <p:spPr>
          <a:xfrm>
            <a:off x="2094440" y="2451927"/>
            <a:ext cx="3246125" cy="1539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8100000" sx="102000" sy="102000" algn="tr" rotWithShape="0">
              <a:prstClr val="black">
                <a:alpha val="63000"/>
              </a:prstClr>
            </a:outerShdw>
          </a:effectLst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num1 = 1, num2 = 2;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swap1(num1, num2);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8ECF5B-7A6E-48C0-960B-818C21C4006B}"/>
              </a:ext>
            </a:extLst>
          </p:cNvPr>
          <p:cNvSpPr/>
          <p:nvPr/>
        </p:nvSpPr>
        <p:spPr>
          <a:xfrm>
            <a:off x="6851437" y="4248730"/>
            <a:ext cx="3246125" cy="20621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8100000" sx="102000" sy="102000" algn="tr" rotWithShape="0">
              <a:prstClr val="black">
                <a:alpha val="63000"/>
              </a:prstClr>
            </a:outerShdw>
          </a:effectLst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num1 = 1, num2 = 2;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p1 = &amp;num1;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p2 = &amp;num2;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swap3(p1, p2);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C11D92-D4C5-4D3D-9BF5-BD78AA5E8582}"/>
              </a:ext>
            </a:extLst>
          </p:cNvPr>
          <p:cNvSpPr/>
          <p:nvPr/>
        </p:nvSpPr>
        <p:spPr>
          <a:xfrm>
            <a:off x="2334251" y="392399"/>
            <a:ext cx="77643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eaLnBrk="1" hangingPunct="1">
              <a:spcBef>
                <a:spcPts val="100"/>
              </a:spcBef>
              <a:defRPr/>
            </a:pPr>
            <a:r>
              <a:rPr lang="en-US" altLang="en-US" sz="4000" b="1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Which one should work? Why?</a:t>
            </a:r>
            <a:endParaRPr lang="en-US" sz="4000" b="1" spc="-10" dirty="0">
              <a:solidFill>
                <a:srgbClr val="0070C0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22" name="progressBarBackground">
            <a:extLst>
              <a:ext uri="{FF2B5EF4-FFF2-40B4-BE49-F238E27FC236}">
                <a16:creationId xmlns:a16="http://schemas.microsoft.com/office/drawing/2014/main" id="{B93C0747-27D5-490D-B133-08AD6B22D16A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progressBar">
            <a:extLst>
              <a:ext uri="{FF2B5EF4-FFF2-40B4-BE49-F238E27FC236}">
                <a16:creationId xmlns:a16="http://schemas.microsoft.com/office/drawing/2014/main" id="{9BC6E745-02F8-496B-B025-0F3B70A8154B}"/>
              </a:ext>
            </a:extLst>
          </p:cNvPr>
          <p:cNvSpPr/>
          <p:nvPr/>
        </p:nvSpPr>
        <p:spPr>
          <a:xfrm>
            <a:off x="1524000" y="6813550"/>
            <a:ext cx="2868706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E351-457C-4431-A86D-BC5A5A7DDEB3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994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42DD5C8-5DD6-4D8E-A96F-860FCB4EB0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7772400" cy="838200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4000" b="1" spc="-10" dirty="0">
                <a:solidFill>
                  <a:srgbClr val="0070C0"/>
                </a:solidFill>
                <a:latin typeface="Arial"/>
                <a:cs typeface="Arial"/>
              </a:rPr>
              <a:t>Arrays and Pointers</a:t>
            </a:r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400644F0-5072-46A0-A651-A32A8E34E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335" y="1295400"/>
            <a:ext cx="9089065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Calibri" panose="020F0502020204030204"/>
              </a:rPr>
              <a:t>An array variable name is a pointer to the first element.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400" b="1" u="sng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list[6] = { 11, 12, 13, 14, 15, 16 };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&amp;list[0]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    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list[0] 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*list   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list[3] 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*(list+3)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en-US" altLang="en-US" sz="2000" dirty="0">
              <a:solidFill>
                <a:prstClr val="black"/>
              </a:solidFill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59FFAEEA-238A-461D-98EC-DD3F81B4B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40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1034BE30-0078-4D62-8C64-429012AA9A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50632" y="2430470"/>
              <a:ext cx="3617368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5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5645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6505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1505093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list+0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highlight>
                                <a:srgbClr val="00FF00"/>
                              </a:highlight>
                              <a:latin typeface="Consolas" panose="020B0609020204030204" pitchFamily="49" charset="0"/>
                            </a:rPr>
                            <a:t>00CFFC60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00CFFC64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00CFFC68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00CFFC6C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00CFFC74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1034BE30-0078-4D62-8C64-429012AA9A1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7050632" y="2430470"/>
              <a:ext cx="3617368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5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5645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6505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1505093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list+0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82143" t="-8197" r="-678571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highlight>
                                <a:srgbClr val="00FF00"/>
                              </a:highlight>
                              <a:latin typeface="Consolas" panose="020B0609020204030204" pitchFamily="49" charset="0"/>
                            </a:rPr>
                            <a:t>00CFFC60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82143" t="-108197" r="-678571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00CFFC64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82143" t="-208197" r="-67857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00CFFC68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82143" t="-308197" r="-67857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00CFFC6C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82143" t="-408197" r="-67857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82143" t="-508197" r="-67857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00CFFC74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F62A8186-ABFD-4913-B61E-7A51BC16F86E}"/>
              </a:ext>
            </a:extLst>
          </p:cNvPr>
          <p:cNvSpPr/>
          <p:nvPr/>
        </p:nvSpPr>
        <p:spPr>
          <a:xfrm>
            <a:off x="8215541" y="4850219"/>
            <a:ext cx="1311263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00CFFC60</a:t>
            </a:r>
          </a:p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00CFFC60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864995-A4C4-47FC-A492-8DE8DEFCEAC4}"/>
              </a:ext>
            </a:extLst>
          </p:cNvPr>
          <p:cNvSpPr/>
          <p:nvPr/>
        </p:nvSpPr>
        <p:spPr>
          <a:xfrm>
            <a:off x="8215541" y="5455090"/>
            <a:ext cx="1311263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11</a:t>
            </a:r>
          </a:p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4D7102-D1CE-41B9-B502-860DE4A8EC6C}"/>
              </a:ext>
            </a:extLst>
          </p:cNvPr>
          <p:cNvSpPr/>
          <p:nvPr/>
        </p:nvSpPr>
        <p:spPr>
          <a:xfrm>
            <a:off x="8215541" y="6059961"/>
            <a:ext cx="1311263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14</a:t>
            </a:r>
          </a:p>
          <a:p>
            <a:pPr>
              <a:defRPr/>
            </a:pPr>
            <a:r>
              <a:rPr lang="en-US" sz="2000" dirty="0">
                <a:solidFill>
                  <a:srgbClr val="00EC00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1B731C95-14EA-4045-ABA3-C2135A1D62DC}"/>
              </a:ext>
            </a:extLst>
          </p:cNvPr>
          <p:cNvSpPr/>
          <p:nvPr/>
        </p:nvSpPr>
        <p:spPr>
          <a:xfrm>
            <a:off x="2833106" y="5606103"/>
            <a:ext cx="2397998" cy="1113745"/>
          </a:xfrm>
          <a:prstGeom prst="wedgeEllipseCallout">
            <a:avLst>
              <a:gd name="adj1" fmla="val -31051"/>
              <a:gd name="adj2" fmla="val -83458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Is it the same as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*list+3</a:t>
            </a: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 ?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6" name="progressBarBackground">
            <a:extLst>
              <a:ext uri="{FF2B5EF4-FFF2-40B4-BE49-F238E27FC236}">
                <a16:creationId xmlns:a16="http://schemas.microsoft.com/office/drawing/2014/main" id="{D735D614-78A6-4205-89DA-3E48555818A2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progressBar">
            <a:extLst>
              <a:ext uri="{FF2B5EF4-FFF2-40B4-BE49-F238E27FC236}">
                <a16:creationId xmlns:a16="http://schemas.microsoft.com/office/drawing/2014/main" id="{B9FD8BFF-5D10-4A8F-A9D0-54DFD028C059}"/>
              </a:ext>
            </a:extLst>
          </p:cNvPr>
          <p:cNvSpPr/>
          <p:nvPr/>
        </p:nvSpPr>
        <p:spPr>
          <a:xfrm>
            <a:off x="1524000" y="6813550"/>
            <a:ext cx="3048000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4479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1034BE30-0078-4D62-8C64-429012AA9A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53295" y="4463712"/>
              <a:ext cx="3419856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3867104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1034BE30-0078-4D62-8C64-429012AA9A1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53295" y="4463712"/>
              <a:ext cx="3419856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3867104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7193" t="-8197" r="-608772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7193" t="-108197" r="-60877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7193" t="-208197" r="-60877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7193" t="-308197" r="-608772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7193" t="-408197" r="-60877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7193" t="-508197" r="-60877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">
                <a:extLst>
                  <a:ext uri="{FF2B5EF4-FFF2-40B4-BE49-F238E27FC236}">
                    <a16:creationId xmlns:a16="http://schemas.microsoft.com/office/drawing/2014/main" id="{1F6921AE-1208-4990-880D-6943001437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56325" y="4463712"/>
              <a:ext cx="3419856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3867104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">
                <a:extLst>
                  <a:ext uri="{FF2B5EF4-FFF2-40B4-BE49-F238E27FC236}">
                    <a16:creationId xmlns:a16="http://schemas.microsoft.com/office/drawing/2014/main" id="{1F6921AE-1208-4990-880D-6943001437F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56325" y="4463712"/>
              <a:ext cx="3419856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3867104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7193" t="-8197" r="-608772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7193" t="-108197" r="-60877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7193" t="-208197" r="-60877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7193" t="-308197" r="-608772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8772" t="-308197" r="-277193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7193" t="-408197" r="-60877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7193" t="-508197" r="-60877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">
                <a:extLst>
                  <a:ext uri="{FF2B5EF4-FFF2-40B4-BE49-F238E27FC236}">
                    <a16:creationId xmlns:a16="http://schemas.microsoft.com/office/drawing/2014/main" id="{09540CF9-9F84-4912-A6DF-85975F1669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56325" y="4463712"/>
              <a:ext cx="3419856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3867104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p+1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p+2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">
                <a:extLst>
                  <a:ext uri="{FF2B5EF4-FFF2-40B4-BE49-F238E27FC236}">
                    <a16:creationId xmlns:a16="http://schemas.microsoft.com/office/drawing/2014/main" id="{09540CF9-9F84-4912-A6DF-85975F166995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56325" y="4463712"/>
              <a:ext cx="3419856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3867104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93" t="-8197" r="-608772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93" t="-108197" r="-60877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93" t="-208197" r="-60877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93" t="-308197" r="-608772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08772" t="-308197" r="-277193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93" t="-408197" r="-60877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08772" t="-408197" r="-27719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p+1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7193" t="-508197" r="-60877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08772" t="-508197" r="-27719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p+2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2">
                <a:extLst>
                  <a:ext uri="{FF2B5EF4-FFF2-40B4-BE49-F238E27FC236}">
                    <a16:creationId xmlns:a16="http://schemas.microsoft.com/office/drawing/2014/main" id="{6BB46C6F-30FF-47D6-A05D-5A77CFEAD4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53295" y="4463712"/>
              <a:ext cx="3419856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3867104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p-3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p-2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p-1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p+1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p+2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2">
                <a:extLst>
                  <a:ext uri="{FF2B5EF4-FFF2-40B4-BE49-F238E27FC236}">
                    <a16:creationId xmlns:a16="http://schemas.microsoft.com/office/drawing/2014/main" id="{6BB46C6F-30FF-47D6-A05D-5A77CFEAD4D7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53295" y="4463712"/>
              <a:ext cx="3419856" cy="22250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3553230387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1004778475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291032868"/>
                        </a:ext>
                      </a:extLst>
                    </a:gridCol>
                    <a:gridCol w="347472">
                      <a:extLst>
                        <a:ext uri="{9D8B030D-6E8A-4147-A177-3AD203B41FA5}">
                          <a16:colId xmlns:a16="http://schemas.microsoft.com/office/drawing/2014/main" val="2314687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3867104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77193" t="-8197" r="-608772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8772" t="-8197" r="-277193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p-3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1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list+1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77193" t="-108197" r="-60877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8772" t="-108197" r="-277193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p-2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55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list+2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77193" t="-208197" r="-60877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8772" t="-208197" r="-277193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p-1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58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list+3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77193" t="-308197" r="-608772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8772" t="-308197" r="-277193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84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list+4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77193" t="-408197" r="-60877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8772" t="-408197" r="-27719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p+1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04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latin typeface="Consolas" panose="020B0609020204030204" pitchFamily="49" charset="0"/>
                            </a:rPr>
                            <a:t>list+5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77193" t="-508197" r="-60877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8772" t="-508197" r="-27719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p+2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3719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42DD5C8-5DD6-4D8E-A96F-860FCB4EB0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7772400" cy="838200"/>
          </a:xfrm>
        </p:spPr>
        <p:txBody>
          <a:bodyPr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4000" b="1" spc="-10" dirty="0">
                <a:solidFill>
                  <a:srgbClr val="0070C0"/>
                </a:solidFill>
                <a:latin typeface="Arial"/>
                <a:cs typeface="Arial"/>
              </a:rPr>
              <a:t>Arrays and Pointers</a:t>
            </a:r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400644F0-5072-46A0-A651-A32A8E34E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804" y="1191598"/>
            <a:ext cx="853440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44546A"/>
              </a:buClr>
              <a:buNone/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list[] = { 11, 12, 13, 14, 15, 16 };</a:t>
            </a:r>
          </a:p>
          <a:p>
            <a:pPr>
              <a:buClr>
                <a:srgbClr val="44546A"/>
              </a:buClr>
              <a:buNone/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p = &amp;list[3];</a:t>
            </a:r>
          </a:p>
          <a:p>
            <a:pPr>
              <a:buClr>
                <a:srgbClr val="44546A"/>
              </a:buClr>
              <a:buNone/>
              <a:defRPr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Clr>
                <a:srgbClr val="44546A"/>
              </a:buClr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list[0]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p[-3]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 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buClr>
                <a:srgbClr val="44546A"/>
              </a:buClr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list[3]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p[0]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  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buClr>
                <a:srgbClr val="44546A"/>
              </a:buClr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list[5]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p[2]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  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buClr>
                <a:srgbClr val="44546A"/>
              </a:buClr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list[4]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p[-1]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  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buClr>
                <a:srgbClr val="44546A"/>
              </a:buClr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list[3]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p[3]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  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59FFAEEA-238A-461D-98EC-DD3F81B4B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400">
              <a:solidFill>
                <a:prstClr val="black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2A8186-ABFD-4913-B61E-7A51BC16F86E}"/>
              </a:ext>
            </a:extLst>
          </p:cNvPr>
          <p:cNvSpPr/>
          <p:nvPr/>
        </p:nvSpPr>
        <p:spPr>
          <a:xfrm>
            <a:off x="8293637" y="2027565"/>
            <a:ext cx="2455479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EC00"/>
                </a:solidFill>
                <a:latin typeface="Consolas" panose="020B0609020204030204" pitchFamily="49" charset="0"/>
              </a:rPr>
              <a:t>11 11</a:t>
            </a:r>
          </a:p>
          <a:p>
            <a:pPr>
              <a:defRPr/>
            </a:pPr>
            <a:r>
              <a:rPr lang="en-US" sz="2400" dirty="0">
                <a:solidFill>
                  <a:srgbClr val="00EC00"/>
                </a:solidFill>
                <a:latin typeface="Consolas" panose="020B0609020204030204" pitchFamily="49" charset="0"/>
              </a:rPr>
              <a:t>14 14</a:t>
            </a:r>
          </a:p>
          <a:p>
            <a:pPr>
              <a:defRPr/>
            </a:pPr>
            <a:r>
              <a:rPr lang="en-US" sz="2400" dirty="0">
                <a:solidFill>
                  <a:srgbClr val="00EC00"/>
                </a:solidFill>
                <a:latin typeface="Consolas" panose="020B0609020204030204" pitchFamily="49" charset="0"/>
              </a:rPr>
              <a:t>16 16</a:t>
            </a:r>
          </a:p>
          <a:p>
            <a:pPr>
              <a:defRPr/>
            </a:pPr>
            <a:r>
              <a:rPr lang="en-US" sz="2400" dirty="0">
                <a:solidFill>
                  <a:srgbClr val="00EC00"/>
                </a:solidFill>
                <a:latin typeface="Consolas" panose="020B0609020204030204" pitchFamily="49" charset="0"/>
              </a:rPr>
              <a:t>15 13</a:t>
            </a:r>
          </a:p>
          <a:p>
            <a:pPr>
              <a:defRPr/>
            </a:pPr>
            <a:r>
              <a:rPr lang="en-US" sz="2400" dirty="0">
                <a:solidFill>
                  <a:srgbClr val="00EC00"/>
                </a:solidFill>
                <a:latin typeface="Consolas" panose="020B0609020204030204" pitchFamily="49" charset="0"/>
              </a:rPr>
              <a:t>14 -858993460</a:t>
            </a:r>
          </a:p>
        </p:txBody>
      </p:sp>
      <p:sp>
        <p:nvSpPr>
          <p:cNvPr id="16" name="progressBarBackground">
            <a:extLst>
              <a:ext uri="{FF2B5EF4-FFF2-40B4-BE49-F238E27FC236}">
                <a16:creationId xmlns:a16="http://schemas.microsoft.com/office/drawing/2014/main" id="{B36F055A-BDEF-4E3A-93CA-899847E476C2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progressBar">
            <a:extLst>
              <a:ext uri="{FF2B5EF4-FFF2-40B4-BE49-F238E27FC236}">
                <a16:creationId xmlns:a16="http://schemas.microsoft.com/office/drawing/2014/main" id="{9AC5CD2B-34B7-4EF6-8295-4070435EA6CB}"/>
              </a:ext>
            </a:extLst>
          </p:cNvPr>
          <p:cNvSpPr/>
          <p:nvPr/>
        </p:nvSpPr>
        <p:spPr>
          <a:xfrm>
            <a:off x="1524000" y="6813550"/>
            <a:ext cx="3227294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3636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BB35-6269-4E57-95CC-FFBBB824C7DA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6AE3E-B7AB-434F-A39A-E39F42050F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45432" y="-152525"/>
            <a:ext cx="8304212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highlight>
                  <a:srgbClr val="FFFF00"/>
                </a:highlight>
              </a:rPr>
              <a:t>Array</a:t>
            </a:r>
            <a:r>
              <a:rPr lang="en-US" b="1" dirty="0">
                <a:solidFill>
                  <a:srgbClr val="002060"/>
                </a:solidFill>
              </a:rPr>
              <a:t> of </a:t>
            </a:r>
            <a:r>
              <a:rPr lang="en-US" b="1" dirty="0">
                <a:solidFill>
                  <a:srgbClr val="002060"/>
                </a:solidFill>
                <a:highlight>
                  <a:srgbClr val="00FF00"/>
                </a:highlight>
              </a:rPr>
              <a:t>Pointers</a:t>
            </a:r>
            <a:r>
              <a:rPr lang="en-US" b="1" dirty="0">
                <a:solidFill>
                  <a:srgbClr val="002060"/>
                </a:solidFill>
              </a:rPr>
              <a:t> &amp; </a:t>
            </a:r>
            <a:r>
              <a:rPr lang="en-US" b="1" dirty="0">
                <a:solidFill>
                  <a:srgbClr val="002060"/>
                </a:solidFill>
                <a:highlight>
                  <a:srgbClr val="00FF00"/>
                </a:highlight>
              </a:rPr>
              <a:t>Pointer</a:t>
            </a:r>
            <a:r>
              <a:rPr lang="en-US" b="1" dirty="0">
                <a:solidFill>
                  <a:srgbClr val="002060"/>
                </a:solidFill>
              </a:rPr>
              <a:t> to </a:t>
            </a:r>
            <a:r>
              <a:rPr lang="en-US" b="1" dirty="0">
                <a:solidFill>
                  <a:srgbClr val="002060"/>
                </a:solidFill>
                <a:highlight>
                  <a:srgbClr val="FFFF00"/>
                </a:highlight>
              </a:rPr>
              <a:t>Array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DB124-6408-42EA-BEF7-95F7553CE8B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09000" y="1467408"/>
            <a:ext cx="3868738" cy="441325"/>
          </a:xfrm>
        </p:spPr>
        <p:txBody>
          <a:bodyPr/>
          <a:lstStyle/>
          <a:p>
            <a:r>
              <a:rPr lang="en-US" dirty="0"/>
              <a:t>An array of Pointers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1AFC15-C566-4251-A8AD-1E33D83C628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1380" y="2100533"/>
            <a:ext cx="5019675" cy="2727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 = 1, b = 2, c =3;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* p[5];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p[0] = &amp;a;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p[1] = &amp;b;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p[2] = &amp;c;</a:t>
            </a:r>
            <a:endParaRPr lang="en-US" altLang="zh-TW" sz="2000" b="1" kern="0" dirty="0">
              <a:solidFill>
                <a:srgbClr val="3366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A4E202-152D-433B-AFDB-50E43FA7D34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578850" y="1214423"/>
            <a:ext cx="4178300" cy="441325"/>
          </a:xfrm>
        </p:spPr>
        <p:txBody>
          <a:bodyPr/>
          <a:lstStyle/>
          <a:p>
            <a:r>
              <a:rPr lang="en-US" dirty="0"/>
              <a:t>A pointer to an array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E97D85-5036-49AF-B1EE-339FBDE0BFA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819204" y="1794352"/>
            <a:ext cx="4684712" cy="2727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list[5] = { 9, 8, 7, 6, 5 };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* p;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 = list;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 = &amp;list[0];</a:t>
            </a: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 = &amp;list[1];</a:t>
            </a: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 = list + 1;</a:t>
            </a:r>
            <a:endParaRPr lang="en-US" altLang="zh-TW" sz="2000" b="1" kern="0" dirty="0">
              <a:solidFill>
                <a:srgbClr val="3366CC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8" name="Table 45">
            <a:extLst>
              <a:ext uri="{FF2B5EF4-FFF2-40B4-BE49-F238E27FC236}">
                <a16:creationId xmlns:a16="http://schemas.microsoft.com/office/drawing/2014/main" id="{98157773-F606-4107-BD0A-185E89D03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719905"/>
              </p:ext>
            </p:extLst>
          </p:nvPr>
        </p:nvGraphicFramePr>
        <p:xfrm>
          <a:off x="3884074" y="3601515"/>
          <a:ext cx="1395386" cy="1854200"/>
        </p:xfrm>
        <a:graphic>
          <a:graphicData uri="http://schemas.openxmlformats.org/drawingml/2006/table">
            <a:tbl>
              <a:tblPr firstRow="1" bandRow="1"/>
              <a:tblGrid>
                <a:gridCol w="947893">
                  <a:extLst>
                    <a:ext uri="{9D8B030D-6E8A-4147-A177-3AD203B41FA5}">
                      <a16:colId xmlns:a16="http://schemas.microsoft.com/office/drawing/2014/main" val="3735961218"/>
                    </a:ext>
                  </a:extLst>
                </a:gridCol>
                <a:gridCol w="447493">
                  <a:extLst>
                    <a:ext uri="{9D8B030D-6E8A-4147-A177-3AD203B41FA5}">
                      <a16:colId xmlns:a16="http://schemas.microsoft.com/office/drawing/2014/main" val="703142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p[0]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28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p[1]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403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p[2]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380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p[3]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717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p[4]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52478"/>
                  </a:ext>
                </a:extLst>
              </a:tr>
            </a:tbl>
          </a:graphicData>
        </a:graphic>
      </p:graphicFrame>
      <p:graphicFrame>
        <p:nvGraphicFramePr>
          <p:cNvPr id="9" name="Table 47">
            <a:extLst>
              <a:ext uri="{FF2B5EF4-FFF2-40B4-BE49-F238E27FC236}">
                <a16:creationId xmlns:a16="http://schemas.microsoft.com/office/drawing/2014/main" id="{79EF3F12-3B50-486D-BBF7-4E7B04756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088583"/>
              </p:ext>
            </p:extLst>
          </p:nvPr>
        </p:nvGraphicFramePr>
        <p:xfrm>
          <a:off x="5722815" y="2765792"/>
          <a:ext cx="365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17892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0983"/>
                  </a:ext>
                </a:extLst>
              </a:tr>
            </a:tbl>
          </a:graphicData>
        </a:graphic>
      </p:graphicFrame>
      <p:graphicFrame>
        <p:nvGraphicFramePr>
          <p:cNvPr id="10" name="Table 47">
            <a:extLst>
              <a:ext uri="{FF2B5EF4-FFF2-40B4-BE49-F238E27FC236}">
                <a16:creationId xmlns:a16="http://schemas.microsoft.com/office/drawing/2014/main" id="{15774950-FE8E-416F-B7CE-C9C323AA7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764735"/>
              </p:ext>
            </p:extLst>
          </p:nvPr>
        </p:nvGraphicFramePr>
        <p:xfrm>
          <a:off x="5722815" y="3486235"/>
          <a:ext cx="365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17892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0983"/>
                  </a:ext>
                </a:extLst>
              </a:tr>
            </a:tbl>
          </a:graphicData>
        </a:graphic>
      </p:graphicFrame>
      <p:graphicFrame>
        <p:nvGraphicFramePr>
          <p:cNvPr id="11" name="Table 47">
            <a:extLst>
              <a:ext uri="{FF2B5EF4-FFF2-40B4-BE49-F238E27FC236}">
                <a16:creationId xmlns:a16="http://schemas.microsoft.com/office/drawing/2014/main" id="{C1D9B840-5AFB-4329-9C0D-F50DD7509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936919"/>
              </p:ext>
            </p:extLst>
          </p:nvPr>
        </p:nvGraphicFramePr>
        <p:xfrm>
          <a:off x="5722815" y="4927121"/>
          <a:ext cx="365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17892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0983"/>
                  </a:ext>
                </a:extLst>
              </a:tr>
            </a:tbl>
          </a:graphicData>
        </a:graphic>
      </p:graphicFrame>
      <p:graphicFrame>
        <p:nvGraphicFramePr>
          <p:cNvPr id="12" name="Table 47">
            <a:extLst>
              <a:ext uri="{FF2B5EF4-FFF2-40B4-BE49-F238E27FC236}">
                <a16:creationId xmlns:a16="http://schemas.microsoft.com/office/drawing/2014/main" id="{937F5D75-14EC-4E57-A408-D0FA95F8B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213677"/>
              </p:ext>
            </p:extLst>
          </p:nvPr>
        </p:nvGraphicFramePr>
        <p:xfrm>
          <a:off x="5722815" y="420667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117892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0983"/>
                  </a:ext>
                </a:extLst>
              </a:tr>
            </a:tbl>
          </a:graphicData>
        </a:graphic>
      </p:graphicFrame>
      <p:graphicFrame>
        <p:nvGraphicFramePr>
          <p:cNvPr id="13" name="Table 47">
            <a:extLst>
              <a:ext uri="{FF2B5EF4-FFF2-40B4-BE49-F238E27FC236}">
                <a16:creationId xmlns:a16="http://schemas.microsoft.com/office/drawing/2014/main" id="{63455D3F-F75C-49C7-B360-791E58E22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388290"/>
              </p:ext>
            </p:extLst>
          </p:nvPr>
        </p:nvGraphicFramePr>
        <p:xfrm>
          <a:off x="5722815" y="5647563"/>
          <a:ext cx="365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17892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098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4E0D1F-C11E-4B11-906A-7CCD1E04004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112341" y="2951212"/>
            <a:ext cx="610475" cy="826228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6D4BAF-50B0-4366-94C2-F42E914AE02F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115641" y="3671656"/>
            <a:ext cx="607174" cy="494323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F35657-7D9A-45F1-86A8-28E0B0E101A1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115641" y="4392098"/>
            <a:ext cx="607174" cy="138700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AABF4F-C315-4FFD-83F0-3E1FF840E53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115641" y="4906527"/>
            <a:ext cx="607174" cy="206014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A85DA4-176B-43CF-AC68-609CB48AF21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115641" y="5269879"/>
            <a:ext cx="607174" cy="563105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6AB7580-F7CC-4915-9C9C-1A77178F91E9}"/>
              </a:ext>
            </a:extLst>
          </p:cNvPr>
          <p:cNvSpPr/>
          <p:nvPr/>
        </p:nvSpPr>
        <p:spPr>
          <a:xfrm>
            <a:off x="5450425" y="2396729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8E3C93-3F51-47F0-A022-BCB4616F3E88}"/>
              </a:ext>
            </a:extLst>
          </p:cNvPr>
          <p:cNvSpPr/>
          <p:nvPr/>
        </p:nvSpPr>
        <p:spPr>
          <a:xfrm>
            <a:off x="5609920" y="3125619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D5FFF3-98DD-4CC6-8175-A3195BAD76E4}"/>
              </a:ext>
            </a:extLst>
          </p:cNvPr>
          <p:cNvSpPr/>
          <p:nvPr/>
        </p:nvSpPr>
        <p:spPr>
          <a:xfrm>
            <a:off x="5609920" y="383702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endParaRPr lang="en-US" sz="2400" dirty="0">
              <a:solidFill>
                <a:prstClr val="black"/>
              </a:solidFill>
            </a:endParaRPr>
          </a:p>
        </p:txBody>
      </p:sp>
      <p:graphicFrame>
        <p:nvGraphicFramePr>
          <p:cNvPr id="24" name="Table 45">
            <a:extLst>
              <a:ext uri="{FF2B5EF4-FFF2-40B4-BE49-F238E27FC236}">
                <a16:creationId xmlns:a16="http://schemas.microsoft.com/office/drawing/2014/main" id="{FDAF0570-6568-4EE7-A8AB-8DE83C9F4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888170"/>
              </p:ext>
            </p:extLst>
          </p:nvPr>
        </p:nvGraphicFramePr>
        <p:xfrm>
          <a:off x="10048471" y="4251755"/>
          <a:ext cx="1395386" cy="1854200"/>
        </p:xfrm>
        <a:graphic>
          <a:graphicData uri="http://schemas.openxmlformats.org/drawingml/2006/table">
            <a:tbl>
              <a:tblPr firstRow="1" bandRow="1"/>
              <a:tblGrid>
                <a:gridCol w="947893">
                  <a:extLst>
                    <a:ext uri="{9D8B030D-6E8A-4147-A177-3AD203B41FA5}">
                      <a16:colId xmlns:a16="http://schemas.microsoft.com/office/drawing/2014/main" val="3735961218"/>
                    </a:ext>
                  </a:extLst>
                </a:gridCol>
                <a:gridCol w="447493">
                  <a:extLst>
                    <a:ext uri="{9D8B030D-6E8A-4147-A177-3AD203B41FA5}">
                      <a16:colId xmlns:a16="http://schemas.microsoft.com/office/drawing/2014/main" val="703142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list[0]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28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list[1]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403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list[2]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380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list[3]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717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list[4]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52478"/>
                  </a:ext>
                </a:extLst>
              </a:tr>
            </a:tbl>
          </a:graphicData>
        </a:graphic>
      </p:graphicFrame>
      <p:graphicFrame>
        <p:nvGraphicFramePr>
          <p:cNvPr id="25" name="Table 45">
            <a:extLst>
              <a:ext uri="{FF2B5EF4-FFF2-40B4-BE49-F238E27FC236}">
                <a16:creationId xmlns:a16="http://schemas.microsoft.com/office/drawing/2014/main" id="{794C3FEB-BBA7-4AE5-A25D-B3AD9CD99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569165"/>
              </p:ext>
            </p:extLst>
          </p:nvPr>
        </p:nvGraphicFramePr>
        <p:xfrm>
          <a:off x="9553944" y="3615540"/>
          <a:ext cx="1395386" cy="370840"/>
        </p:xfrm>
        <a:graphic>
          <a:graphicData uri="http://schemas.openxmlformats.org/drawingml/2006/table">
            <a:tbl>
              <a:tblPr firstRow="1" bandRow="1"/>
              <a:tblGrid>
                <a:gridCol w="947893">
                  <a:extLst>
                    <a:ext uri="{9D8B030D-6E8A-4147-A177-3AD203B41FA5}">
                      <a16:colId xmlns:a16="http://schemas.microsoft.com/office/drawing/2014/main" val="3735961218"/>
                    </a:ext>
                  </a:extLst>
                </a:gridCol>
                <a:gridCol w="447493">
                  <a:extLst>
                    <a:ext uri="{9D8B030D-6E8A-4147-A177-3AD203B41FA5}">
                      <a16:colId xmlns:a16="http://schemas.microsoft.com/office/drawing/2014/main" val="703142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p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28145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2C525B-3559-4EC7-A7F6-6256600E7068}"/>
              </a:ext>
            </a:extLst>
          </p:cNvPr>
          <p:cNvCxnSpPr>
            <a:cxnSpLocks/>
          </p:cNvCxnSpPr>
          <p:nvPr/>
        </p:nvCxnSpPr>
        <p:spPr>
          <a:xfrm>
            <a:off x="10714818" y="3806067"/>
            <a:ext cx="269159" cy="445688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45">
            <a:extLst>
              <a:ext uri="{FF2B5EF4-FFF2-40B4-BE49-F238E27FC236}">
                <a16:creationId xmlns:a16="http://schemas.microsoft.com/office/drawing/2014/main" id="{5A2A0EA7-1E73-412A-887B-2BD2F9D05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508462"/>
              </p:ext>
            </p:extLst>
          </p:nvPr>
        </p:nvGraphicFramePr>
        <p:xfrm>
          <a:off x="8819457" y="4744521"/>
          <a:ext cx="1395386" cy="370840"/>
        </p:xfrm>
        <a:graphic>
          <a:graphicData uri="http://schemas.openxmlformats.org/drawingml/2006/table">
            <a:tbl>
              <a:tblPr firstRow="1" bandRow="1"/>
              <a:tblGrid>
                <a:gridCol w="947893">
                  <a:extLst>
                    <a:ext uri="{9D8B030D-6E8A-4147-A177-3AD203B41FA5}">
                      <a16:colId xmlns:a16="http://schemas.microsoft.com/office/drawing/2014/main" val="3735961218"/>
                    </a:ext>
                  </a:extLst>
                </a:gridCol>
                <a:gridCol w="447493">
                  <a:extLst>
                    <a:ext uri="{9D8B030D-6E8A-4147-A177-3AD203B41FA5}">
                      <a16:colId xmlns:a16="http://schemas.microsoft.com/office/drawing/2014/main" val="703142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p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28145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4042FB-6628-4490-A29B-315C8943AA1E}"/>
              </a:ext>
            </a:extLst>
          </p:cNvPr>
          <p:cNvCxnSpPr>
            <a:cxnSpLocks/>
          </p:cNvCxnSpPr>
          <p:nvPr/>
        </p:nvCxnSpPr>
        <p:spPr>
          <a:xfrm>
            <a:off x="9980330" y="4935048"/>
            <a:ext cx="1003646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rogressBarBackground">
            <a:extLst>
              <a:ext uri="{FF2B5EF4-FFF2-40B4-BE49-F238E27FC236}">
                <a16:creationId xmlns:a16="http://schemas.microsoft.com/office/drawing/2014/main" id="{58D55FF7-0918-41C7-9823-CCE0D918CBD6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progressBar">
            <a:extLst>
              <a:ext uri="{FF2B5EF4-FFF2-40B4-BE49-F238E27FC236}">
                <a16:creationId xmlns:a16="http://schemas.microsoft.com/office/drawing/2014/main" id="{2C2291D3-7870-434F-839A-269B3E923469}"/>
              </a:ext>
            </a:extLst>
          </p:cNvPr>
          <p:cNvSpPr/>
          <p:nvPr/>
        </p:nvSpPr>
        <p:spPr>
          <a:xfrm>
            <a:off x="1524001" y="6813550"/>
            <a:ext cx="7888941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384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3976C9E-287B-4EA1-B412-CA037C3265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1055098" y="-134620"/>
            <a:ext cx="13228320" cy="614363"/>
          </a:xfrm>
        </p:spPr>
        <p:txBody>
          <a:bodyPr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3200" b="1" spc="-10" dirty="0">
                <a:solidFill>
                  <a:srgbClr val="0070C0"/>
                </a:solidFill>
                <a:latin typeface="Arial"/>
                <a:cs typeface="Arial"/>
              </a:rPr>
              <a:t>Using arrays with functions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413A1-BC24-4AE8-AC41-2451A1ADC296}"/>
              </a:ext>
            </a:extLst>
          </p:cNvPr>
          <p:cNvSpPr/>
          <p:nvPr/>
        </p:nvSpPr>
        <p:spPr>
          <a:xfrm>
            <a:off x="3227294" y="1443203"/>
            <a:ext cx="5376700" cy="18440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defRPr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49EF1A-2C39-4BD9-A32D-8DF09E0CB119}"/>
              </a:ext>
            </a:extLst>
          </p:cNvPr>
          <p:cNvSpPr/>
          <p:nvPr/>
        </p:nvSpPr>
        <p:spPr>
          <a:xfrm>
            <a:off x="3227294" y="3492085"/>
            <a:ext cx="5376700" cy="18440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list[]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defRPr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progressBarBackground">
            <a:extLst>
              <a:ext uri="{FF2B5EF4-FFF2-40B4-BE49-F238E27FC236}">
                <a16:creationId xmlns:a16="http://schemas.microsoft.com/office/drawing/2014/main" id="{5B18658B-D42C-4693-9C67-B3065341DA62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progressBar">
            <a:extLst>
              <a:ext uri="{FF2B5EF4-FFF2-40B4-BE49-F238E27FC236}">
                <a16:creationId xmlns:a16="http://schemas.microsoft.com/office/drawing/2014/main" id="{1FA7ECAC-C080-4B5B-BFA5-3CB36B0EC51F}"/>
              </a:ext>
            </a:extLst>
          </p:cNvPr>
          <p:cNvSpPr/>
          <p:nvPr/>
        </p:nvSpPr>
        <p:spPr>
          <a:xfrm>
            <a:off x="1524000" y="6813550"/>
            <a:ext cx="3406588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801242-5488-4507-8D6C-6B1B3F5AC531}"/>
              </a:ext>
            </a:extLst>
          </p:cNvPr>
          <p:cNvSpPr/>
          <p:nvPr/>
        </p:nvSpPr>
        <p:spPr>
          <a:xfrm>
            <a:off x="685070" y="126170"/>
            <a:ext cx="424260" cy="67318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latin typeface="Calibri" panose="020F0502020204030204"/>
              </a:rPr>
              <a:t>Self Study</a:t>
            </a:r>
          </a:p>
        </p:txBody>
      </p:sp>
    </p:spTree>
    <p:extLst>
      <p:ext uri="{BB962C8B-B14F-4D97-AF65-F5344CB8AC3E}">
        <p14:creationId xmlns:p14="http://schemas.microsoft.com/office/powerpoint/2010/main" val="21146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3976C9E-287B-4EA1-B412-CA037C3265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1158240" y="-33020"/>
            <a:ext cx="13350240" cy="614363"/>
          </a:xfrm>
        </p:spPr>
        <p:txBody>
          <a:bodyPr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3600" b="1" spc="-10" dirty="0">
                <a:solidFill>
                  <a:srgbClr val="0070C0"/>
                </a:solidFill>
                <a:latin typeface="Arial"/>
                <a:cs typeface="Arial"/>
              </a:rPr>
              <a:t>Using arrays with functions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A682E1-622E-496E-B09B-435B79493AB3}"/>
              </a:ext>
            </a:extLst>
          </p:cNvPr>
          <p:cNvSpPr/>
          <p:nvPr/>
        </p:nvSpPr>
        <p:spPr>
          <a:xfrm>
            <a:off x="2589245" y="965436"/>
            <a:ext cx="7220140" cy="3840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reverse(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defRPr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0, j =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- 1; i &lt; j; i++, j--)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[j];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[j]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temp;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lnSpc>
                <a:spcPct val="110000"/>
              </a:lnSpc>
              <a:defRPr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F4A2EEF2-7B09-415D-A9CD-8EDFDB07433F}"/>
              </a:ext>
            </a:extLst>
          </p:cNvPr>
          <p:cNvSpPr/>
          <p:nvPr/>
        </p:nvSpPr>
        <p:spPr>
          <a:xfrm>
            <a:off x="5192990" y="3178590"/>
            <a:ext cx="1574604" cy="787990"/>
          </a:xfrm>
          <a:prstGeom prst="wedgeEllipseCallout">
            <a:avLst>
              <a:gd name="adj1" fmla="val -80078"/>
              <a:gd name="adj2" fmla="val 51951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Not a new copy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A63CA7-5FED-4E76-9C96-BD8D8F3B6B50}"/>
              </a:ext>
            </a:extLst>
          </p:cNvPr>
          <p:cNvSpPr/>
          <p:nvPr/>
        </p:nvSpPr>
        <p:spPr>
          <a:xfrm>
            <a:off x="1762367" y="4838489"/>
            <a:ext cx="11984113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i="1" dirty="0">
                <a:solidFill>
                  <a:prstClr val="black"/>
                </a:solidFill>
                <a:latin typeface="Calibri" panose="020F0502020204030204"/>
              </a:rPr>
              <a:t>The function must not return a pointer to a local variable.</a:t>
            </a:r>
          </a:p>
          <a:p>
            <a:pPr>
              <a:defRPr/>
            </a:pPr>
            <a:r>
              <a:rPr lang="en-US" altLang="en-US" sz="2800" b="1" i="1" dirty="0">
                <a:solidFill>
                  <a:prstClr val="black"/>
                </a:solidFill>
                <a:latin typeface="Calibri" panose="020F0502020204030204"/>
              </a:rPr>
              <a:t>A function should only return a pointer: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</a:rPr>
              <a:t>To data that was passed to the function as an argument, or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</a:rPr>
              <a:t>To dynamically allocated memory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progressBarBackground">
            <a:extLst>
              <a:ext uri="{FF2B5EF4-FFF2-40B4-BE49-F238E27FC236}">
                <a16:creationId xmlns:a16="http://schemas.microsoft.com/office/drawing/2014/main" id="{F6F305EB-ACC9-429A-8684-B9FF13B55DB7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progressBar">
            <a:extLst>
              <a:ext uri="{FF2B5EF4-FFF2-40B4-BE49-F238E27FC236}">
                <a16:creationId xmlns:a16="http://schemas.microsoft.com/office/drawing/2014/main" id="{D7759B8F-63F3-47E3-B23A-ABDD1097E205}"/>
              </a:ext>
            </a:extLst>
          </p:cNvPr>
          <p:cNvSpPr/>
          <p:nvPr/>
        </p:nvSpPr>
        <p:spPr>
          <a:xfrm>
            <a:off x="1524000" y="6813550"/>
            <a:ext cx="3585882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801242-5488-4507-8D6C-6B1B3F5AC531}"/>
              </a:ext>
            </a:extLst>
          </p:cNvPr>
          <p:cNvSpPr/>
          <p:nvPr/>
        </p:nvSpPr>
        <p:spPr>
          <a:xfrm>
            <a:off x="745912" y="103945"/>
            <a:ext cx="424260" cy="67318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latin typeface="Calibri" panose="020F0502020204030204"/>
              </a:rPr>
              <a:t>Self Study</a:t>
            </a:r>
          </a:p>
        </p:txBody>
      </p:sp>
    </p:spTree>
    <p:extLst>
      <p:ext uri="{BB962C8B-B14F-4D97-AF65-F5344CB8AC3E}">
        <p14:creationId xmlns:p14="http://schemas.microsoft.com/office/powerpoint/2010/main" val="174441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3976C9E-287B-4EA1-B412-CA037C3265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77440" y="-70302"/>
            <a:ext cx="7772400" cy="614363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200" b="1" spc="-10" dirty="0">
                <a:solidFill>
                  <a:srgbClr val="0070C0"/>
                </a:solidFill>
                <a:latin typeface="Arial"/>
                <a:cs typeface="Arial"/>
              </a:rPr>
              <a:t>Using arrays with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4864C2-83F6-41D7-8A77-134E0E5F953F}"/>
              </a:ext>
            </a:extLst>
          </p:cNvPr>
          <p:cNvSpPr/>
          <p:nvPr/>
        </p:nvSpPr>
        <p:spPr>
          <a:xfrm>
            <a:off x="1794640" y="971080"/>
            <a:ext cx="7220140" cy="3840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reverse(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defRPr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0, j =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- 1; i &lt; j; i++, j--)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[j];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[j] 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temp;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lnSpc>
                <a:spcPct val="110000"/>
              </a:lnSpc>
              <a:defRPr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A636F-8B5E-4F49-916F-3D54C64E8DB8}"/>
              </a:ext>
            </a:extLst>
          </p:cNvPr>
          <p:cNvSpPr/>
          <p:nvPr/>
        </p:nvSpPr>
        <p:spPr>
          <a:xfrm>
            <a:off x="5215065" y="2142634"/>
            <a:ext cx="5223080" cy="23816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defRPr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66711-7867-4367-B7F0-2C4353862CAD}"/>
              </a:ext>
            </a:extLst>
          </p:cNvPr>
          <p:cNvSpPr/>
          <p:nvPr/>
        </p:nvSpPr>
        <p:spPr>
          <a:xfrm>
            <a:off x="3983726" y="4043481"/>
            <a:ext cx="5223081" cy="272675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list[] = {1, 2, 3, 4, 5, 6};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(list, 6);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p = reverse(list, 6);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(p, 6);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lnSpc>
                <a:spcPct val="11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1062C53-F53B-40DB-B68E-8DB525C1B82C}"/>
              </a:ext>
            </a:extLst>
          </p:cNvPr>
          <p:cNvSpPr/>
          <p:nvPr/>
        </p:nvSpPr>
        <p:spPr>
          <a:xfrm>
            <a:off x="7555390" y="5785885"/>
            <a:ext cx="2957186" cy="787990"/>
          </a:xfrm>
          <a:prstGeom prst="wedgeRoundRectCallout">
            <a:avLst>
              <a:gd name="adj1" fmla="val -75488"/>
              <a:gd name="adj2" fmla="val -22838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What if we used </a:t>
            </a:r>
            <a:r>
              <a:rPr lang="en-US" sz="1800" b="1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</a:rPr>
              <a:t>printArray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</a:rPr>
              <a:t>(list, 6)</a:t>
            </a:r>
            <a:r>
              <a:rPr 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?</a:t>
            </a:r>
          </a:p>
        </p:txBody>
      </p:sp>
      <p:sp>
        <p:nvSpPr>
          <p:cNvPr id="15" name="progressBarBackground">
            <a:extLst>
              <a:ext uri="{FF2B5EF4-FFF2-40B4-BE49-F238E27FC236}">
                <a16:creationId xmlns:a16="http://schemas.microsoft.com/office/drawing/2014/main" id="{A7B7CDBF-FD60-4E20-9FB9-17F00FB4FCB5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progressBar">
            <a:extLst>
              <a:ext uri="{FF2B5EF4-FFF2-40B4-BE49-F238E27FC236}">
                <a16:creationId xmlns:a16="http://schemas.microsoft.com/office/drawing/2014/main" id="{45F16F25-194E-447E-987C-C728AAEDE808}"/>
              </a:ext>
            </a:extLst>
          </p:cNvPr>
          <p:cNvSpPr/>
          <p:nvPr/>
        </p:nvSpPr>
        <p:spPr>
          <a:xfrm>
            <a:off x="1524000" y="6813550"/>
            <a:ext cx="3765176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01242-5488-4507-8D6C-6B1B3F5AC531}"/>
              </a:ext>
            </a:extLst>
          </p:cNvPr>
          <p:cNvSpPr/>
          <p:nvPr/>
        </p:nvSpPr>
        <p:spPr>
          <a:xfrm>
            <a:off x="522247" y="38406"/>
            <a:ext cx="424260" cy="67318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latin typeface="Calibri" panose="020F0502020204030204"/>
              </a:rPr>
              <a:t>Self Study</a:t>
            </a:r>
          </a:p>
        </p:txBody>
      </p:sp>
    </p:spTree>
    <p:extLst>
      <p:ext uri="{BB962C8B-B14F-4D97-AF65-F5344CB8AC3E}">
        <p14:creationId xmlns:p14="http://schemas.microsoft.com/office/powerpoint/2010/main" val="354370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161BB-3643-412C-94A5-FD7AAC805E9B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DFF80-DDC5-4F63-973A-088F037BC84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260600" y="1543368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0070C0"/>
                </a:solidFill>
              </a:rPr>
              <a:t>Using</a:t>
            </a:r>
            <a:r>
              <a:rPr lang="en-US" altLang="en-US" sz="3600" dirty="0"/>
              <a:t> </a:t>
            </a:r>
            <a:r>
              <a:rPr lang="en-US" altLang="en-US" sz="3600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3600" dirty="0"/>
              <a:t> </a:t>
            </a:r>
            <a:r>
              <a:rPr lang="en-US" altLang="en-US" sz="3600" b="1" dirty="0">
                <a:solidFill>
                  <a:srgbClr val="0070C0"/>
                </a:solidFill>
              </a:rPr>
              <a:t>with</a:t>
            </a:r>
            <a:r>
              <a:rPr lang="en-US" altLang="en-US" sz="3600" dirty="0"/>
              <a:t> </a:t>
            </a:r>
            <a:r>
              <a:rPr lang="en-US" altLang="en-US" sz="3600" b="1" dirty="0">
                <a:solidFill>
                  <a:srgbClr val="0070C0"/>
                </a:solidFill>
              </a:rPr>
              <a:t>Pointers</a:t>
            </a:r>
            <a:br>
              <a:rPr lang="en-US" altLang="zh-TW" sz="3600" b="1" dirty="0">
                <a:solidFill>
                  <a:srgbClr val="0070C0"/>
                </a:solidFill>
              </a:rPr>
            </a:b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12" name="progressBarBackground">
            <a:extLst>
              <a:ext uri="{FF2B5EF4-FFF2-40B4-BE49-F238E27FC236}">
                <a16:creationId xmlns:a16="http://schemas.microsoft.com/office/drawing/2014/main" id="{FDA87D28-C59B-473B-861F-13E9CD20597E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progressBar">
            <a:extLst>
              <a:ext uri="{FF2B5EF4-FFF2-40B4-BE49-F238E27FC236}">
                <a16:creationId xmlns:a16="http://schemas.microsoft.com/office/drawing/2014/main" id="{613711C3-F8A7-4C22-92E8-DC8C7D08D1D6}"/>
              </a:ext>
            </a:extLst>
          </p:cNvPr>
          <p:cNvSpPr/>
          <p:nvPr/>
        </p:nvSpPr>
        <p:spPr>
          <a:xfrm>
            <a:off x="1524000" y="6813550"/>
            <a:ext cx="3944470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B288ADCD-F7DB-4278-BC05-F5134000A52F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r>
              <a:rPr lang="en-US" sz="1300" b="1">
                <a:solidFill>
                  <a:srgbClr val="141414"/>
                </a:solidFill>
              </a:rPr>
              <a:t> 22</a:t>
            </a:r>
          </a:p>
        </p:txBody>
      </p:sp>
    </p:spTree>
    <p:extLst>
      <p:ext uri="{BB962C8B-B14F-4D97-AF65-F5344CB8AC3E}">
        <p14:creationId xmlns:p14="http://schemas.microsoft.com/office/powerpoint/2010/main" val="223647790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7EF8966-0020-43BE-B4F5-E57F167E15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00670"/>
            <a:ext cx="11029950" cy="1014413"/>
          </a:xfrm>
        </p:spPr>
        <p:txBody>
          <a:bodyPr/>
          <a:lstStyle/>
          <a:p>
            <a:pPr algn="ctr"/>
            <a:r>
              <a:rPr lang="en-US" altLang="en-US" sz="4000" dirty="0"/>
              <a:t>Using </a:t>
            </a:r>
            <a:r>
              <a:rPr lang="en-US" altLang="en-US" sz="4000" dirty="0">
                <a:solidFill>
                  <a:srgbClr val="0000FF"/>
                </a:solidFill>
                <a:ea typeface="+mn-ea"/>
                <a:cs typeface="+mn-cs"/>
              </a:rPr>
              <a:t>const</a:t>
            </a:r>
            <a:r>
              <a:rPr lang="en-US" altLang="en-US" sz="4000" dirty="0"/>
              <a:t> with Pointers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81C0770-F51F-4346-B3B9-BA8C257F007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162050" y="1378720"/>
            <a:ext cx="11029950" cy="3678238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You can declare a constant pointer.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radius = 5;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pValue1 = &amp;radius;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pValue2 = &amp;radius;</a:t>
            </a:r>
            <a:endParaRPr lang="en-US" alt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pValue3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= &amp;radius;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6D1B72DF-821E-46E6-9089-0B287F5B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400">
              <a:solidFill>
                <a:prstClr val="black"/>
              </a:solidFill>
            </a:endParaRP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E88CBD70-6BD9-4973-9136-4FAB60FB4898}"/>
              </a:ext>
            </a:extLst>
          </p:cNvPr>
          <p:cNvSpPr/>
          <p:nvPr/>
        </p:nvSpPr>
        <p:spPr>
          <a:xfrm>
            <a:off x="2562740" y="4597429"/>
            <a:ext cx="1509828" cy="919058"/>
          </a:xfrm>
          <a:prstGeom prst="wedgeEllipseCallout">
            <a:avLst>
              <a:gd name="adj1" fmla="val -36717"/>
              <a:gd name="adj2" fmla="val -90974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constant data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B56ECC01-8FC9-487F-B3F8-75383611530D}"/>
              </a:ext>
            </a:extLst>
          </p:cNvPr>
          <p:cNvSpPr/>
          <p:nvPr/>
        </p:nvSpPr>
        <p:spPr>
          <a:xfrm>
            <a:off x="5673545" y="4597429"/>
            <a:ext cx="1509828" cy="919059"/>
          </a:xfrm>
          <a:prstGeom prst="wedgeEllipseCallout">
            <a:avLst>
              <a:gd name="adj1" fmla="val -54021"/>
              <a:gd name="adj2" fmla="val -91707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constant pointer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C3878-735F-4471-9960-F07A1D1870C4}"/>
              </a:ext>
            </a:extLst>
          </p:cNvPr>
          <p:cNvSpPr/>
          <p:nvPr/>
        </p:nvSpPr>
        <p:spPr>
          <a:xfrm>
            <a:off x="2234384" y="5516488"/>
            <a:ext cx="27862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Cannot change the data using this pointer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F7CFB-6954-4320-9973-B34B4004A26A}"/>
              </a:ext>
            </a:extLst>
          </p:cNvPr>
          <p:cNvSpPr/>
          <p:nvPr/>
        </p:nvSpPr>
        <p:spPr>
          <a:xfrm>
            <a:off x="7017720" y="4925185"/>
            <a:ext cx="2939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Cannot change the address stored in the pointer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2" name="progressBarBackground">
            <a:extLst>
              <a:ext uri="{FF2B5EF4-FFF2-40B4-BE49-F238E27FC236}">
                <a16:creationId xmlns:a16="http://schemas.microsoft.com/office/drawing/2014/main" id="{A8AF493F-354A-4175-BB38-5D47D945D41B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progressBar">
            <a:extLst>
              <a:ext uri="{FF2B5EF4-FFF2-40B4-BE49-F238E27FC236}">
                <a16:creationId xmlns:a16="http://schemas.microsoft.com/office/drawing/2014/main" id="{5E30E781-698D-40BC-8CE5-511FD732A738}"/>
              </a:ext>
            </a:extLst>
          </p:cNvPr>
          <p:cNvSpPr/>
          <p:nvPr/>
        </p:nvSpPr>
        <p:spPr>
          <a:xfrm>
            <a:off x="1524000" y="6813550"/>
            <a:ext cx="8426824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770590A2-7F7D-45DD-9D46-1FA430C82989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r>
              <a:rPr lang="en-US" sz="1300" b="1">
                <a:solidFill>
                  <a:srgbClr val="141414"/>
                </a:solidFill>
              </a:rPr>
              <a:t> 47</a:t>
            </a:r>
          </a:p>
        </p:txBody>
      </p:sp>
    </p:spTree>
    <p:extLst>
      <p:ext uri="{BB962C8B-B14F-4D97-AF65-F5344CB8AC3E}">
        <p14:creationId xmlns:p14="http://schemas.microsoft.com/office/powerpoint/2010/main" val="323814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5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7EF8966-0020-43BE-B4F5-E57F167E15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85195" y="71755"/>
            <a:ext cx="11029950" cy="1014413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2060"/>
                </a:solidFill>
                <a:latin typeface="+mn-lt"/>
              </a:rPr>
              <a:t>Using 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en-US" altLang="en-US" sz="3200" dirty="0">
                <a:solidFill>
                  <a:srgbClr val="002060"/>
                </a:solidFill>
                <a:latin typeface="+mn-lt"/>
              </a:rPr>
              <a:t> with Pointers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81C0770-F51F-4346-B3B9-BA8C257F007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812800" y="1787476"/>
            <a:ext cx="11029950" cy="3678238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You can declare a constant pointer.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radius = 5;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 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&amp;radius;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radius = 5;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const 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&amp;radius;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6D1B72DF-821E-46E6-9089-0B287F5B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400">
              <a:solidFill>
                <a:prstClr val="black"/>
              </a:solidFill>
            </a:endParaRP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987C15D6-E2F9-4E0D-8CD9-93DC1337E92D}"/>
              </a:ext>
            </a:extLst>
          </p:cNvPr>
          <p:cNvSpPr/>
          <p:nvPr/>
        </p:nvSpPr>
        <p:spPr>
          <a:xfrm>
            <a:off x="2731195" y="3374341"/>
            <a:ext cx="1509828" cy="578965"/>
          </a:xfrm>
          <a:prstGeom prst="wedgeEllipseCallout">
            <a:avLst>
              <a:gd name="adj1" fmla="val -61952"/>
              <a:gd name="adj2" fmla="val -103708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Optional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246D01EB-90DF-46A3-9888-EA917C5D3F86}"/>
              </a:ext>
            </a:extLst>
          </p:cNvPr>
          <p:cNvSpPr/>
          <p:nvPr/>
        </p:nvSpPr>
        <p:spPr>
          <a:xfrm>
            <a:off x="2638535" y="5465714"/>
            <a:ext cx="1509828" cy="578965"/>
          </a:xfrm>
          <a:prstGeom prst="wedgeEllipseCallout">
            <a:avLst>
              <a:gd name="adj1" fmla="val -61952"/>
              <a:gd name="adj2" fmla="val -103708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Must be added</a:t>
            </a:r>
            <a:endParaRPr lang="en-US" sz="1800" b="1" dirty="0">
              <a:solidFill>
                <a:prstClr val="black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8" name="progressBarBackground">
            <a:extLst>
              <a:ext uri="{FF2B5EF4-FFF2-40B4-BE49-F238E27FC236}">
                <a16:creationId xmlns:a16="http://schemas.microsoft.com/office/drawing/2014/main" id="{165FB7DB-8D67-4078-A2B7-181CA5A32EB4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progressBar">
            <a:extLst>
              <a:ext uri="{FF2B5EF4-FFF2-40B4-BE49-F238E27FC236}">
                <a16:creationId xmlns:a16="http://schemas.microsoft.com/office/drawing/2014/main" id="{A17C6FBF-2971-44FA-A1A0-6477586C78CE}"/>
              </a:ext>
            </a:extLst>
          </p:cNvPr>
          <p:cNvSpPr/>
          <p:nvPr/>
        </p:nvSpPr>
        <p:spPr>
          <a:xfrm>
            <a:off x="1524001" y="6813550"/>
            <a:ext cx="8606117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FDC3023A-9143-4C7A-8E8E-B5D2FE831547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r>
              <a:rPr lang="en-US" sz="1300" b="1">
                <a:solidFill>
                  <a:srgbClr val="141414"/>
                </a:solidFill>
              </a:rPr>
              <a:t> 48</a:t>
            </a:r>
          </a:p>
        </p:txBody>
      </p:sp>
    </p:spTree>
    <p:extLst>
      <p:ext uri="{BB962C8B-B14F-4D97-AF65-F5344CB8AC3E}">
        <p14:creationId xmlns:p14="http://schemas.microsoft.com/office/powerpoint/2010/main" val="231311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7EF8966-0020-43BE-B4F5-E57F167E15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81025" y="687765"/>
            <a:ext cx="11029950" cy="340463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dirty="0">
                <a:solidFill>
                  <a:srgbClr val="002060"/>
                </a:solidFill>
              </a:rPr>
              <a:t>Using </a:t>
            </a:r>
            <a:r>
              <a:rPr lang="en-US" altLang="en-US" sz="3200" dirty="0">
                <a:solidFill>
                  <a:srgbClr val="C00000"/>
                </a:solidFill>
                <a:ea typeface="+mn-ea"/>
                <a:cs typeface="+mn-cs"/>
              </a:rPr>
              <a:t>const</a:t>
            </a:r>
            <a:r>
              <a:rPr lang="en-US" altLang="en-US" sz="3200" dirty="0">
                <a:solidFill>
                  <a:srgbClr val="002060"/>
                </a:solidFill>
              </a:rPr>
              <a:t> with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C2C38-7C86-49BF-9E44-0EC1CA04E14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00501" y="1399068"/>
            <a:ext cx="7886700" cy="47148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radius = 5;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length = 5;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p1 = &amp;radius;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*p1 = 6;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--------------------------&gt;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p1 = &amp;length;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---------------------&gt;</a:t>
            </a:r>
          </a:p>
          <a:p>
            <a:pPr marL="0" indent="0">
              <a:buNone/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p2 = &amp;radius;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*p2 = 6;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--------------------------&gt;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p2 = &amp;length;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---------------------&gt;</a:t>
            </a:r>
          </a:p>
          <a:p>
            <a:pPr marL="0" indent="0">
              <a:buNone/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p3 = &amp;radius;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*p3 = 6;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--------------------------&gt;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p3 = &amp;length;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---------------------&gt;</a:t>
            </a:r>
            <a:endParaRPr lang="en-US" dirty="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6D1B72DF-821E-46E6-9089-0B287F5B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400">
              <a:solidFill>
                <a:prstClr val="black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877A168-EE14-4A1F-897D-B5E006F0F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800304"/>
              </p:ext>
            </p:extLst>
          </p:nvPr>
        </p:nvGraphicFramePr>
        <p:xfrm>
          <a:off x="7248150" y="2271170"/>
          <a:ext cx="2611540" cy="1112520"/>
        </p:xfrm>
        <a:graphic>
          <a:graphicData uri="http://schemas.openxmlformats.org/drawingml/2006/table">
            <a:tbl>
              <a:tblPr firstRow="1" bandRow="1"/>
              <a:tblGrid>
                <a:gridCol w="1305770">
                  <a:extLst>
                    <a:ext uri="{9D8B030D-6E8A-4147-A177-3AD203B41FA5}">
                      <a16:colId xmlns:a16="http://schemas.microsoft.com/office/drawing/2014/main" val="2555362544"/>
                    </a:ext>
                  </a:extLst>
                </a:gridCol>
                <a:gridCol w="1305770">
                  <a:extLst>
                    <a:ext uri="{9D8B030D-6E8A-4147-A177-3AD203B41FA5}">
                      <a16:colId xmlns:a16="http://schemas.microsoft.com/office/drawing/2014/main" val="9390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Wrong?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239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68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658605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01499DC8-2536-4919-A859-144E92153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530561"/>
              </p:ext>
            </p:extLst>
          </p:nvPr>
        </p:nvGraphicFramePr>
        <p:xfrm>
          <a:off x="7248150" y="3537310"/>
          <a:ext cx="2611540" cy="1112520"/>
        </p:xfrm>
        <a:graphic>
          <a:graphicData uri="http://schemas.openxmlformats.org/drawingml/2006/table">
            <a:tbl>
              <a:tblPr firstRow="1" bandRow="1"/>
              <a:tblGrid>
                <a:gridCol w="1305770">
                  <a:extLst>
                    <a:ext uri="{9D8B030D-6E8A-4147-A177-3AD203B41FA5}">
                      <a16:colId xmlns:a16="http://schemas.microsoft.com/office/drawing/2014/main" val="2555362544"/>
                    </a:ext>
                  </a:extLst>
                </a:gridCol>
                <a:gridCol w="1305770">
                  <a:extLst>
                    <a:ext uri="{9D8B030D-6E8A-4147-A177-3AD203B41FA5}">
                      <a16:colId xmlns:a16="http://schemas.microsoft.com/office/drawing/2014/main" val="9390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Wrong?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239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68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658605"/>
                  </a:ext>
                </a:extLst>
              </a:tr>
            </a:tbl>
          </a:graphicData>
        </a:graphic>
      </p:graphicFrame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3E4FAEA-9808-4783-9A49-0CA4EFC0A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424634"/>
              </p:ext>
            </p:extLst>
          </p:nvPr>
        </p:nvGraphicFramePr>
        <p:xfrm>
          <a:off x="7248150" y="4851865"/>
          <a:ext cx="2611540" cy="1112520"/>
        </p:xfrm>
        <a:graphic>
          <a:graphicData uri="http://schemas.openxmlformats.org/drawingml/2006/table">
            <a:tbl>
              <a:tblPr firstRow="1" bandRow="1"/>
              <a:tblGrid>
                <a:gridCol w="1305770">
                  <a:extLst>
                    <a:ext uri="{9D8B030D-6E8A-4147-A177-3AD203B41FA5}">
                      <a16:colId xmlns:a16="http://schemas.microsoft.com/office/drawing/2014/main" val="2555362544"/>
                    </a:ext>
                  </a:extLst>
                </a:gridCol>
                <a:gridCol w="1305770">
                  <a:extLst>
                    <a:ext uri="{9D8B030D-6E8A-4147-A177-3AD203B41FA5}">
                      <a16:colId xmlns:a16="http://schemas.microsoft.com/office/drawing/2014/main" val="9390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Wrong?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239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68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658605"/>
                  </a:ext>
                </a:extLst>
              </a:tr>
            </a:tbl>
          </a:graphicData>
        </a:graphic>
      </p:graphicFrame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71AC9C75-7B24-436F-9026-712A1746E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45074"/>
              </p:ext>
            </p:extLst>
          </p:nvPr>
        </p:nvGraphicFramePr>
        <p:xfrm>
          <a:off x="7248150" y="2642010"/>
          <a:ext cx="2611540" cy="741680"/>
        </p:xfrm>
        <a:graphic>
          <a:graphicData uri="http://schemas.openxmlformats.org/drawingml/2006/table">
            <a:tbl>
              <a:tblPr firstRow="1" bandRow="1"/>
              <a:tblGrid>
                <a:gridCol w="1305770">
                  <a:extLst>
                    <a:ext uri="{9D8B030D-6E8A-4147-A177-3AD203B41FA5}">
                      <a16:colId xmlns:a16="http://schemas.microsoft.com/office/drawing/2014/main" val="2555362544"/>
                    </a:ext>
                  </a:extLst>
                </a:gridCol>
                <a:gridCol w="1305770">
                  <a:extLst>
                    <a:ext uri="{9D8B030D-6E8A-4147-A177-3AD203B41FA5}">
                      <a16:colId xmlns:a16="http://schemas.microsoft.com/office/drawing/2014/main" val="9390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E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8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658605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95465FDC-88B0-4102-A381-28C857DA0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84344"/>
              </p:ext>
            </p:extLst>
          </p:nvPr>
        </p:nvGraphicFramePr>
        <p:xfrm>
          <a:off x="7248150" y="3908150"/>
          <a:ext cx="2611540" cy="741680"/>
        </p:xfrm>
        <a:graphic>
          <a:graphicData uri="http://schemas.openxmlformats.org/drawingml/2006/table">
            <a:tbl>
              <a:tblPr firstRow="1" bandRow="1"/>
              <a:tblGrid>
                <a:gridCol w="1305770">
                  <a:extLst>
                    <a:ext uri="{9D8B030D-6E8A-4147-A177-3AD203B41FA5}">
                      <a16:colId xmlns:a16="http://schemas.microsoft.com/office/drawing/2014/main" val="2555362544"/>
                    </a:ext>
                  </a:extLst>
                </a:gridCol>
                <a:gridCol w="1305770">
                  <a:extLst>
                    <a:ext uri="{9D8B030D-6E8A-4147-A177-3AD203B41FA5}">
                      <a16:colId xmlns:a16="http://schemas.microsoft.com/office/drawing/2014/main" val="9390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8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E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658605"/>
                  </a:ext>
                </a:extLst>
              </a:tr>
            </a:tbl>
          </a:graphicData>
        </a:graphic>
      </p:graphicFrame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B9600037-3001-4AC6-884B-80AF649CF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749339"/>
              </p:ext>
            </p:extLst>
          </p:nvPr>
        </p:nvGraphicFramePr>
        <p:xfrm>
          <a:off x="7248150" y="5222705"/>
          <a:ext cx="2611540" cy="741680"/>
        </p:xfrm>
        <a:graphic>
          <a:graphicData uri="http://schemas.openxmlformats.org/drawingml/2006/table">
            <a:tbl>
              <a:tblPr firstRow="1" bandRow="1"/>
              <a:tblGrid>
                <a:gridCol w="1305770">
                  <a:extLst>
                    <a:ext uri="{9D8B030D-6E8A-4147-A177-3AD203B41FA5}">
                      <a16:colId xmlns:a16="http://schemas.microsoft.com/office/drawing/2014/main" val="2555362544"/>
                    </a:ext>
                  </a:extLst>
                </a:gridCol>
                <a:gridCol w="1305770">
                  <a:extLst>
                    <a:ext uri="{9D8B030D-6E8A-4147-A177-3AD203B41FA5}">
                      <a16:colId xmlns:a16="http://schemas.microsoft.com/office/drawing/2014/main" val="9390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8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658605"/>
                  </a:ext>
                </a:extLst>
              </a:tr>
            </a:tbl>
          </a:graphicData>
        </a:graphic>
      </p:graphicFrame>
      <p:sp>
        <p:nvSpPr>
          <p:cNvPr id="15" name="progressBarBackground">
            <a:extLst>
              <a:ext uri="{FF2B5EF4-FFF2-40B4-BE49-F238E27FC236}">
                <a16:creationId xmlns:a16="http://schemas.microsoft.com/office/drawing/2014/main" id="{2D637799-7868-420F-B84D-5DF7E2585227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progressBar">
            <a:extLst>
              <a:ext uri="{FF2B5EF4-FFF2-40B4-BE49-F238E27FC236}">
                <a16:creationId xmlns:a16="http://schemas.microsoft.com/office/drawing/2014/main" id="{43C1E64E-EAA2-40DE-8C34-36840A6F9AB4}"/>
              </a:ext>
            </a:extLst>
          </p:cNvPr>
          <p:cNvSpPr/>
          <p:nvPr/>
        </p:nvSpPr>
        <p:spPr>
          <a:xfrm>
            <a:off x="1524000" y="6813550"/>
            <a:ext cx="8785412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pageNumber">
            <a:extLst>
              <a:ext uri="{FF2B5EF4-FFF2-40B4-BE49-F238E27FC236}">
                <a16:creationId xmlns:a16="http://schemas.microsoft.com/office/drawing/2014/main" id="{BD9783C8-90D5-4165-8E62-01E53C7C88F1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r>
              <a:rPr lang="en-US" sz="1300" b="1">
                <a:solidFill>
                  <a:srgbClr val="141414"/>
                </a:solidFill>
              </a:rPr>
              <a:t> 49</a:t>
            </a:r>
          </a:p>
        </p:txBody>
      </p:sp>
    </p:spTree>
    <p:extLst>
      <p:ext uri="{BB962C8B-B14F-4D97-AF65-F5344CB8AC3E}">
        <p14:creationId xmlns:p14="http://schemas.microsoft.com/office/powerpoint/2010/main" val="125214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4DFF80-DDC5-4F63-973A-088F037BC84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169920" y="1838008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rgbClr val="0070C0"/>
                </a:solidFill>
              </a:rPr>
              <a:t>Dynamic memory</a:t>
            </a:r>
            <a:br>
              <a:rPr lang="en-US" altLang="zh-TW" sz="4000" b="1" dirty="0">
                <a:solidFill>
                  <a:srgbClr val="0070C0"/>
                </a:solidFill>
              </a:rPr>
            </a:b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2" name="progressBarBackground">
            <a:extLst>
              <a:ext uri="{FF2B5EF4-FFF2-40B4-BE49-F238E27FC236}">
                <a16:creationId xmlns:a16="http://schemas.microsoft.com/office/drawing/2014/main" id="{FDA87D28-C59B-473B-861F-13E9CD20597E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progressBar">
            <a:extLst>
              <a:ext uri="{FF2B5EF4-FFF2-40B4-BE49-F238E27FC236}">
                <a16:creationId xmlns:a16="http://schemas.microsoft.com/office/drawing/2014/main" id="{613711C3-F8A7-4C22-92E8-DC8C7D08D1D6}"/>
              </a:ext>
            </a:extLst>
          </p:cNvPr>
          <p:cNvSpPr/>
          <p:nvPr/>
        </p:nvSpPr>
        <p:spPr>
          <a:xfrm>
            <a:off x="1524000" y="6813550"/>
            <a:ext cx="3944470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B288ADCD-F7DB-4278-BC05-F5134000A52F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r>
              <a:rPr lang="en-US" sz="1300" b="1">
                <a:solidFill>
                  <a:srgbClr val="141414"/>
                </a:solidFill>
              </a:rPr>
              <a:t> 22</a:t>
            </a:r>
          </a:p>
        </p:txBody>
      </p:sp>
    </p:spTree>
    <p:extLst>
      <p:ext uri="{BB962C8B-B14F-4D97-AF65-F5344CB8AC3E}">
        <p14:creationId xmlns:p14="http://schemas.microsoft.com/office/powerpoint/2010/main" val="202653654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150100" y="582613"/>
            <a:ext cx="5041900" cy="452437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718661" defTabSz="685800">
              <a:spcBef>
                <a:spcPts val="75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Dynamic Memory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23257" y="1713414"/>
            <a:ext cx="10123714" cy="3888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66725" indent="-457200" defTabSz="685800" eaLnBrk="1" fontAlgn="auto" hangingPunct="1">
              <a:spcBef>
                <a:spcPts val="75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Allows</a:t>
            </a:r>
            <a:r>
              <a:rPr sz="2700" kern="0" spc="-2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obtaining</a:t>
            </a:r>
            <a:r>
              <a:rPr sz="2700" kern="0" spc="-34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memory</a:t>
            </a:r>
            <a:r>
              <a:rPr sz="2700" kern="0" spc="-11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at</a:t>
            </a:r>
            <a:r>
              <a:rPr sz="2700" kern="0" spc="-11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spc="-8" dirty="0">
                <a:solidFill>
                  <a:sysClr val="windowText" lastClr="000000"/>
                </a:solidFill>
                <a:latin typeface="Arial"/>
                <a:cs typeface="Arial"/>
              </a:rPr>
              <a:t>runtime</a:t>
            </a:r>
            <a:r>
              <a:rPr lang="en-US" sz="2700" kern="0" spc="-8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700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defTabSz="685800" eaLnBrk="1" fontAlgn="auto" hangingPunct="1">
              <a:spcBef>
                <a:spcPts val="8"/>
              </a:spcBef>
              <a:spcAft>
                <a:spcPts val="0"/>
              </a:spcAft>
            </a:pPr>
            <a:endParaRPr sz="3938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66725" indent="-457200" defTabSz="685800" eaLnBrk="1" fontAlgn="auto" hangingPunct="1">
              <a:spcBef>
                <a:spcPts val="4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sz="27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Why?</a:t>
            </a:r>
            <a:endParaRPr sz="2700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84263" marR="3810" indent="-457200" defTabSz="685800" eaLnBrk="1" fontAlgn="auto" hangingPunct="1">
              <a:spcBef>
                <a:spcPts val="64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Amount</a:t>
            </a:r>
            <a:r>
              <a:rPr sz="2700" kern="0" spc="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2700" kern="0" spc="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required</a:t>
            </a:r>
            <a:r>
              <a:rPr sz="2700" kern="0" spc="-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data</a:t>
            </a:r>
            <a:r>
              <a:rPr sz="2700" kern="0" spc="19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may</a:t>
            </a:r>
            <a:r>
              <a:rPr sz="2700" kern="0" spc="4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be</a:t>
            </a:r>
            <a:r>
              <a:rPr sz="2700" kern="0" spc="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unknown </a:t>
            </a:r>
            <a:r>
              <a:rPr sz="2700" kern="0" spc="-19" dirty="0">
                <a:solidFill>
                  <a:sysClr val="windowText" lastClr="000000"/>
                </a:solidFill>
                <a:latin typeface="Arial"/>
                <a:cs typeface="Arial"/>
              </a:rPr>
              <a:t>at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compile</a:t>
            </a:r>
            <a:r>
              <a:rPr sz="2700" kern="0" spc="-4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time</a:t>
            </a:r>
            <a:endParaRPr lang="en-US" sz="2700" kern="0" spc="-15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84263" marR="3810" indent="-457200" defTabSz="685800" eaLnBrk="1" fontAlgn="auto" hangingPunct="1">
              <a:spcBef>
                <a:spcPts val="64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700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84263" indent="-457200" defTabSz="685800" eaLnBrk="1" fontAlgn="auto" hangingPunct="1">
              <a:spcBef>
                <a:spcPts val="653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Efficient</a:t>
            </a:r>
            <a:r>
              <a:rPr sz="2700" kern="0" spc="6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memory</a:t>
            </a:r>
            <a:r>
              <a:rPr sz="2700" kern="0" spc="6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use:</a:t>
            </a:r>
            <a:endParaRPr sz="2700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04963" marR="2137886" indent="-457200" defTabSz="6858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6858000" algn="l"/>
                <a:tab pos="6910388" algn="l"/>
              </a:tabLst>
            </a:pP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Allocate</a:t>
            </a:r>
            <a:r>
              <a:rPr sz="2700" kern="0" spc="-11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as</a:t>
            </a:r>
            <a:r>
              <a:rPr sz="2700" kern="0" spc="-4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much</a:t>
            </a:r>
            <a:r>
              <a:rPr sz="2700" kern="0" spc="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as</a:t>
            </a:r>
            <a:r>
              <a:rPr lang="en-US"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needed</a:t>
            </a:r>
            <a:r>
              <a:rPr sz="2700" kern="0" spc="-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endParaRPr lang="en-US" sz="2700" kern="0" spc="-8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04963" marR="2137886" indent="-457200" defTabSz="6858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Free</a:t>
            </a:r>
            <a:r>
              <a:rPr sz="2700" kern="0" spc="-11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when</a:t>
            </a:r>
            <a:r>
              <a:rPr sz="27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Arial"/>
                <a:cs typeface="Arial"/>
              </a:rPr>
              <a:t>not</a:t>
            </a:r>
            <a:r>
              <a:rPr sz="2700" kern="0" spc="-4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700" kern="0" spc="-8" dirty="0">
                <a:solidFill>
                  <a:sysClr val="windowText" lastClr="000000"/>
                </a:solidFill>
                <a:latin typeface="Arial"/>
                <a:cs typeface="Arial"/>
              </a:rPr>
              <a:t>needed</a:t>
            </a:r>
            <a:endParaRPr sz="270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276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1" y="857250"/>
            <a:ext cx="812959" cy="5143500"/>
            <a:chOff x="0" y="0"/>
            <a:chExt cx="10839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17245" cy="68579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97863"/>
              <a:ext cx="1083576" cy="44577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530860" cy="6858000"/>
            </a:xfrm>
            <a:custGeom>
              <a:avLst/>
              <a:gdLst/>
              <a:ahLst/>
              <a:cxnLst/>
              <a:rect l="l" t="t" r="r" b="b"/>
              <a:pathLst>
                <a:path w="530860" h="6858000">
                  <a:moveTo>
                    <a:pt x="5303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530352" y="6858000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6969125" y="520700"/>
            <a:ext cx="5222875" cy="452438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718661" defTabSz="685800">
              <a:spcBef>
                <a:spcPts val="75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Memory Segments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805589" y="1997964"/>
            <a:ext cx="2514600" cy="3905992"/>
            <a:chOff x="1708785" y="1520952"/>
            <a:chExt cx="3352800" cy="5207990"/>
          </a:xfrm>
        </p:grpSpPr>
        <p:sp>
          <p:nvSpPr>
            <p:cNvPr id="8" name="object 8"/>
            <p:cNvSpPr/>
            <p:nvPr/>
          </p:nvSpPr>
          <p:spPr>
            <a:xfrm>
              <a:off x="1708785" y="3182366"/>
              <a:ext cx="3352800" cy="1661160"/>
            </a:xfrm>
            <a:custGeom>
              <a:avLst/>
              <a:gdLst/>
              <a:ahLst/>
              <a:cxnLst/>
              <a:rect l="l" t="t" r="r" b="b"/>
              <a:pathLst>
                <a:path w="3352800" h="1661160">
                  <a:moveTo>
                    <a:pt x="3352800" y="0"/>
                  </a:moveTo>
                  <a:lnTo>
                    <a:pt x="0" y="0"/>
                  </a:lnTo>
                  <a:lnTo>
                    <a:pt x="0" y="1661160"/>
                  </a:lnTo>
                  <a:lnTo>
                    <a:pt x="3352800" y="1661160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708785" y="4886109"/>
              <a:ext cx="3352800" cy="1567180"/>
            </a:xfrm>
            <a:custGeom>
              <a:avLst/>
              <a:gdLst/>
              <a:ahLst/>
              <a:cxnLst/>
              <a:rect l="l" t="t" r="r" b="b"/>
              <a:pathLst>
                <a:path w="3352800" h="1567179">
                  <a:moveTo>
                    <a:pt x="3352800" y="0"/>
                  </a:moveTo>
                  <a:lnTo>
                    <a:pt x="0" y="0"/>
                  </a:lnTo>
                  <a:lnTo>
                    <a:pt x="0" y="1567052"/>
                  </a:lnTo>
                  <a:lnTo>
                    <a:pt x="3352800" y="1567052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9280" y="1520952"/>
              <a:ext cx="3050286" cy="88163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7192" y="2377440"/>
              <a:ext cx="2932937" cy="8816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8524" y="3052572"/>
              <a:ext cx="1430274" cy="8816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28900" y="5847307"/>
              <a:ext cx="1511047" cy="88163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469775" y="2060200"/>
            <a:ext cx="525785" cy="273843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9525" defTabSz="685800" eaLnBrk="1" fontAlgn="auto" hangingPunct="1">
              <a:lnSpc>
                <a:spcPts val="4054"/>
              </a:lnSpc>
              <a:spcBef>
                <a:spcPts val="0"/>
              </a:spcBef>
              <a:spcAft>
                <a:spcPts val="0"/>
              </a:spcAft>
            </a:pPr>
            <a:r>
              <a:rPr sz="3600" kern="0" dirty="0">
                <a:solidFill>
                  <a:srgbClr val="FFFFFF"/>
                </a:solidFill>
                <a:latin typeface="Arial"/>
                <a:cs typeface="Arial"/>
              </a:rPr>
              <a:t>EXTRA</a:t>
            </a:r>
            <a:r>
              <a:rPr sz="3600" kern="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kern="0" spc="-15" dirty="0">
                <a:solidFill>
                  <a:srgbClr val="FFFFFF"/>
                </a:solidFill>
                <a:latin typeface="Arial"/>
                <a:cs typeface="Arial"/>
              </a:rPr>
              <a:t>INFO</a:t>
            </a:r>
            <a:endParaRPr sz="3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26287" y="857251"/>
            <a:ext cx="428149" cy="427196"/>
            <a:chOff x="3047" y="0"/>
            <a:chExt cx="570865" cy="569595"/>
          </a:xfrm>
        </p:grpSpPr>
        <p:sp>
          <p:nvSpPr>
            <p:cNvPr id="24" name="object 24"/>
            <p:cNvSpPr/>
            <p:nvPr/>
          </p:nvSpPr>
          <p:spPr>
            <a:xfrm>
              <a:off x="126123" y="122745"/>
              <a:ext cx="355600" cy="328295"/>
            </a:xfrm>
            <a:custGeom>
              <a:avLst/>
              <a:gdLst/>
              <a:ahLst/>
              <a:cxnLst/>
              <a:rect l="l" t="t" r="r" b="b"/>
              <a:pathLst>
                <a:path w="355600" h="328295">
                  <a:moveTo>
                    <a:pt x="173151" y="163893"/>
                  </a:moveTo>
                  <a:lnTo>
                    <a:pt x="0" y="0"/>
                  </a:lnTo>
                  <a:lnTo>
                    <a:pt x="0" y="327774"/>
                  </a:lnTo>
                  <a:lnTo>
                    <a:pt x="173151" y="163893"/>
                  </a:lnTo>
                  <a:close/>
                </a:path>
                <a:path w="355600" h="328295">
                  <a:moveTo>
                    <a:pt x="355104" y="163893"/>
                  </a:moveTo>
                  <a:lnTo>
                    <a:pt x="181952" y="0"/>
                  </a:lnTo>
                  <a:lnTo>
                    <a:pt x="181952" y="327774"/>
                  </a:lnTo>
                  <a:lnTo>
                    <a:pt x="355104" y="1638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7" y="0"/>
              <a:ext cx="570738" cy="569213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2864597" y="4591529"/>
            <a:ext cx="2314099" cy="353854"/>
            <a:chOff x="1787461" y="4922329"/>
            <a:chExt cx="3085465" cy="471805"/>
          </a:xfrm>
        </p:grpSpPr>
        <p:sp>
          <p:nvSpPr>
            <p:cNvPr id="27" name="object 27"/>
            <p:cNvSpPr/>
            <p:nvPr/>
          </p:nvSpPr>
          <p:spPr>
            <a:xfrm>
              <a:off x="1792223" y="4927091"/>
              <a:ext cx="3075940" cy="462280"/>
            </a:xfrm>
            <a:custGeom>
              <a:avLst/>
              <a:gdLst/>
              <a:ahLst/>
              <a:cxnLst/>
              <a:rect l="l" t="t" r="r" b="b"/>
              <a:pathLst>
                <a:path w="3075940" h="462279">
                  <a:moveTo>
                    <a:pt x="3075431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3075431" y="461772"/>
                  </a:lnTo>
                  <a:lnTo>
                    <a:pt x="3075431" y="0"/>
                  </a:lnTo>
                  <a:close/>
                </a:path>
              </a:pathLst>
            </a:custGeom>
            <a:solidFill>
              <a:srgbClr val="FFD3CD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792223" y="4927091"/>
              <a:ext cx="3075940" cy="462280"/>
            </a:xfrm>
            <a:custGeom>
              <a:avLst/>
              <a:gdLst/>
              <a:ahLst/>
              <a:cxnLst/>
              <a:rect l="l" t="t" r="r" b="b"/>
              <a:pathLst>
                <a:path w="3075940" h="462279">
                  <a:moveTo>
                    <a:pt x="0" y="461772"/>
                  </a:moveTo>
                  <a:lnTo>
                    <a:pt x="3075431" y="461772"/>
                  </a:lnTo>
                  <a:lnTo>
                    <a:pt x="3075431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9525">
              <a:solidFill>
                <a:srgbClr val="AC1B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864597" y="4068937"/>
            <a:ext cx="2314099" cy="353854"/>
            <a:chOff x="1787461" y="4282249"/>
            <a:chExt cx="3085465" cy="471805"/>
          </a:xfrm>
        </p:grpSpPr>
        <p:sp>
          <p:nvSpPr>
            <p:cNvPr id="30" name="object 30"/>
            <p:cNvSpPr/>
            <p:nvPr/>
          </p:nvSpPr>
          <p:spPr>
            <a:xfrm>
              <a:off x="1792223" y="4287011"/>
              <a:ext cx="3075940" cy="462280"/>
            </a:xfrm>
            <a:custGeom>
              <a:avLst/>
              <a:gdLst/>
              <a:ahLst/>
              <a:cxnLst/>
              <a:rect l="l" t="t" r="r" b="b"/>
              <a:pathLst>
                <a:path w="3075940" h="462279">
                  <a:moveTo>
                    <a:pt x="3075431" y="0"/>
                  </a:moveTo>
                  <a:lnTo>
                    <a:pt x="0" y="0"/>
                  </a:lnTo>
                  <a:lnTo>
                    <a:pt x="0" y="461771"/>
                  </a:lnTo>
                  <a:lnTo>
                    <a:pt x="3075431" y="461771"/>
                  </a:lnTo>
                  <a:lnTo>
                    <a:pt x="3075431" y="0"/>
                  </a:lnTo>
                  <a:close/>
                </a:path>
              </a:pathLst>
            </a:custGeom>
            <a:solidFill>
              <a:srgbClr val="FFD3CD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1792223" y="4287011"/>
              <a:ext cx="3075940" cy="462280"/>
            </a:xfrm>
            <a:custGeom>
              <a:avLst/>
              <a:gdLst/>
              <a:ahLst/>
              <a:cxnLst/>
              <a:rect l="l" t="t" r="r" b="b"/>
              <a:pathLst>
                <a:path w="3075940" h="462279">
                  <a:moveTo>
                    <a:pt x="0" y="461771"/>
                  </a:moveTo>
                  <a:lnTo>
                    <a:pt x="3075431" y="461771"/>
                  </a:lnTo>
                  <a:lnTo>
                    <a:pt x="3075431" y="0"/>
                  </a:lnTo>
                  <a:lnTo>
                    <a:pt x="0" y="0"/>
                  </a:lnTo>
                  <a:lnTo>
                    <a:pt x="0" y="461771"/>
                  </a:lnTo>
                  <a:close/>
                </a:path>
              </a:pathLst>
            </a:custGeom>
            <a:ln w="9525">
              <a:solidFill>
                <a:srgbClr val="AC1B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2803762" y="1954357"/>
          <a:ext cx="7545229" cy="3774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3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0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2100" b="1" dirty="0">
                          <a:latin typeface="Arial"/>
                          <a:cs typeface="Arial"/>
                        </a:rPr>
                        <a:t>Code</a:t>
                      </a:r>
                      <a:r>
                        <a:rPr sz="21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Segment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1633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Fixed</a:t>
                      </a:r>
                      <a:r>
                        <a:rPr sz="17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20" dirty="0">
                          <a:latin typeface="Arial"/>
                          <a:cs typeface="Arial"/>
                        </a:rPr>
                        <a:t>size</a:t>
                      </a:r>
                      <a:endParaRPr sz="1700" dirty="0">
                        <a:latin typeface="Arial"/>
                        <a:cs typeface="Arial"/>
                      </a:endParaRPr>
                    </a:p>
                  </a:txBody>
                  <a:tcPr marL="0" marR="0" marT="198596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Program,</a:t>
                      </a:r>
                      <a:r>
                        <a:rPr sz="17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Const</a:t>
                      </a:r>
                      <a:r>
                        <a:rPr sz="17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25" dirty="0">
                          <a:latin typeface="Arial"/>
                          <a:cs typeface="Arial"/>
                        </a:rPr>
                        <a:t>(?)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98596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3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100" b="1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21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10" dirty="0">
                          <a:latin typeface="Arial"/>
                          <a:cs typeface="Arial"/>
                        </a:rPr>
                        <a:t>Segment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145733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Fixed</a:t>
                      </a:r>
                      <a:r>
                        <a:rPr sz="17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20" dirty="0">
                          <a:latin typeface="Arial"/>
                          <a:cs typeface="Arial"/>
                        </a:rPr>
                        <a:t>size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809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Static,</a:t>
                      </a:r>
                      <a:r>
                        <a:rPr sz="17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10" dirty="0">
                          <a:latin typeface="Arial"/>
                          <a:cs typeface="Arial"/>
                        </a:rPr>
                        <a:t>Global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809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100" b="1" spc="-20" dirty="0">
                          <a:latin typeface="Arial"/>
                          <a:cs typeface="Arial"/>
                        </a:rPr>
                        <a:t>Heap</a:t>
                      </a:r>
                      <a:endParaRPr sz="2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  <a:p>
                      <a:pPr marL="291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Bad</a:t>
                      </a:r>
                      <a:r>
                        <a:rPr sz="1800" spc="-15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Alloc</a:t>
                      </a:r>
                      <a:r>
                        <a:rPr sz="1800" spc="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exception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7623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  <a:p>
                      <a:pPr marR="8890" algn="r">
                        <a:lnSpc>
                          <a:spcPct val="100000"/>
                        </a:lnSpc>
                      </a:pPr>
                      <a:r>
                        <a:rPr sz="4100" b="1" dirty="0">
                          <a:latin typeface="Cambria Math"/>
                          <a:cs typeface="Cambria Math"/>
                        </a:rPr>
                        <a:t>⍖</a:t>
                      </a:r>
                      <a:endParaRPr sz="4100">
                        <a:latin typeface="Cambria Math"/>
                        <a:cs typeface="Cambria Math"/>
                      </a:endParaRPr>
                    </a:p>
                  </a:txBody>
                  <a:tcPr marL="0" marR="0" marT="953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C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651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7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Growth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C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92075" marR="549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sz="1700" spc="-10" dirty="0">
                        <a:latin typeface="Arial"/>
                        <a:cs typeface="Arial"/>
                      </a:endParaRPr>
                    </a:p>
                    <a:p>
                      <a:pPr marL="92075" marR="549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700" spc="-10" dirty="0">
                          <a:latin typeface="Arial"/>
                          <a:cs typeface="Arial"/>
                        </a:rPr>
                        <a:t>Dynamically </a:t>
                      </a:r>
                      <a:r>
                        <a:rPr sz="1700" spc="-10" dirty="0">
                          <a:latin typeface="Arial"/>
                          <a:cs typeface="Arial"/>
                        </a:rPr>
                        <a:t>allocated memory</a:t>
                      </a:r>
                      <a:endParaRPr sz="1700" dirty="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909"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Stack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Overflow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2100" b="1" spc="-10" dirty="0">
                          <a:latin typeface="Arial"/>
                          <a:cs typeface="Arial"/>
                        </a:rPr>
                        <a:t>Stack</a:t>
                      </a:r>
                      <a:endParaRPr sz="2100" dirty="0">
                        <a:latin typeface="Arial"/>
                        <a:cs typeface="Arial"/>
                      </a:endParaRPr>
                    </a:p>
                  </a:txBody>
                  <a:tcPr marL="0" marR="0" marT="90011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lgDash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4100" b="1" dirty="0">
                          <a:latin typeface="Cambria Math"/>
                          <a:cs typeface="Cambria Math"/>
                        </a:rPr>
                        <a:t>⍏</a:t>
                      </a:r>
                      <a:endParaRPr sz="4100" dirty="0">
                        <a:latin typeface="Cambria Math"/>
                        <a:cs typeface="Cambria Math"/>
                      </a:endParaRPr>
                    </a:p>
                  </a:txBody>
                  <a:tcPr marL="0" marR="0" marT="21431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C00000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Growth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9051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  <a:p>
                      <a:pPr marL="92075" marR="921385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30" dirty="0">
                          <a:latin typeface="Arial"/>
                          <a:cs typeface="Arial"/>
                        </a:rPr>
                        <a:t>Temporary</a:t>
                      </a:r>
                      <a:r>
                        <a:rPr lang="en-US" sz="1700" spc="-75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10" dirty="0">
                          <a:latin typeface="Arial"/>
                          <a:cs typeface="Arial"/>
                        </a:rPr>
                        <a:t>storage </a:t>
                      </a:r>
                      <a:endParaRPr lang="en-US" sz="1700" spc="-10" dirty="0">
                        <a:latin typeface="Arial"/>
                        <a:cs typeface="Arial"/>
                      </a:endParaRPr>
                    </a:p>
                    <a:p>
                      <a:pPr marL="92075" marR="921385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Statically</a:t>
                      </a:r>
                      <a:r>
                        <a:rPr sz="17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10" dirty="0">
                          <a:latin typeface="Arial"/>
                          <a:cs typeface="Arial"/>
                        </a:rPr>
                        <a:t>allocated memory</a:t>
                      </a:r>
                      <a:endParaRPr sz="1700" dirty="0">
                        <a:latin typeface="Arial"/>
                        <a:cs typeface="Arial"/>
                      </a:endParaRPr>
                    </a:p>
                  </a:txBody>
                  <a:tcPr marL="0" marR="0" marT="333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lgDash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729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98299" y="9295"/>
            <a:ext cx="10078720" cy="994503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718661" defTabSz="685800">
              <a:spcBef>
                <a:spcPts val="75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Dynamic Memory Allocation / Deallocation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4069" y="1628450"/>
            <a:ext cx="1027271" cy="82214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defTabSz="685800" eaLnBrk="1" fontAlgn="auto" hangingPunct="1">
              <a:lnSpc>
                <a:spcPct val="110100"/>
              </a:lnSpc>
              <a:spcBef>
                <a:spcPts val="75"/>
              </a:spcBef>
              <a:spcAft>
                <a:spcPts val="0"/>
              </a:spcAft>
            </a:pPr>
            <a:r>
              <a:rPr sz="2400" kern="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2400" kern="0" spc="-19" dirty="0">
                <a:solidFill>
                  <a:sysClr val="windowText" lastClr="000000"/>
                </a:solidFill>
                <a:latin typeface="Consolas"/>
                <a:cs typeface="Consolas"/>
              </a:rPr>
              <a:t>x;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x</a:t>
            </a:r>
            <a:r>
              <a:rPr sz="2400" kern="0" spc="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=</a:t>
            </a:r>
            <a:r>
              <a:rPr sz="2400" kern="0" spc="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spc="-19" dirty="0">
                <a:solidFill>
                  <a:sysClr val="windowText" lastClr="000000"/>
                </a:solidFill>
                <a:latin typeface="Consolas"/>
                <a:cs typeface="Consolas"/>
              </a:rPr>
              <a:t>2;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38335" y="3843718"/>
            <a:ext cx="2322195" cy="1671638"/>
            <a:chOff x="4669282" y="3981958"/>
            <a:chExt cx="3096260" cy="2228850"/>
          </a:xfrm>
        </p:grpSpPr>
        <p:sp>
          <p:nvSpPr>
            <p:cNvPr id="5" name="object 5"/>
            <p:cNvSpPr/>
            <p:nvPr/>
          </p:nvSpPr>
          <p:spPr>
            <a:xfrm>
              <a:off x="4675632" y="3987799"/>
              <a:ext cx="3083560" cy="2216150"/>
            </a:xfrm>
            <a:custGeom>
              <a:avLst/>
              <a:gdLst/>
              <a:ahLst/>
              <a:cxnLst/>
              <a:rect l="l" t="t" r="r" b="b"/>
              <a:pathLst>
                <a:path w="3083559" h="2216150">
                  <a:moveTo>
                    <a:pt x="3083052" y="0"/>
                  </a:moveTo>
                  <a:lnTo>
                    <a:pt x="2958846" y="0"/>
                  </a:lnTo>
                  <a:lnTo>
                    <a:pt x="2958846" y="2095500"/>
                  </a:lnTo>
                  <a:lnTo>
                    <a:pt x="124206" y="2095500"/>
                  </a:lnTo>
                  <a:lnTo>
                    <a:pt x="124206" y="0"/>
                  </a:lnTo>
                  <a:lnTo>
                    <a:pt x="0" y="0"/>
                  </a:lnTo>
                  <a:lnTo>
                    <a:pt x="0" y="2095500"/>
                  </a:lnTo>
                  <a:lnTo>
                    <a:pt x="0" y="2216150"/>
                  </a:lnTo>
                  <a:lnTo>
                    <a:pt x="3083052" y="2216150"/>
                  </a:lnTo>
                  <a:lnTo>
                    <a:pt x="3083052" y="2095500"/>
                  </a:lnTo>
                  <a:lnTo>
                    <a:pt x="3083052" y="0"/>
                  </a:lnTo>
                  <a:close/>
                </a:path>
              </a:pathLst>
            </a:custGeom>
            <a:solidFill>
              <a:srgbClr val="2B91AE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675632" y="3988308"/>
              <a:ext cx="3083560" cy="2216150"/>
            </a:xfrm>
            <a:custGeom>
              <a:avLst/>
              <a:gdLst/>
              <a:ahLst/>
              <a:cxnLst/>
              <a:rect l="l" t="t" r="r" b="b"/>
              <a:pathLst>
                <a:path w="3083559" h="2216150">
                  <a:moveTo>
                    <a:pt x="0" y="0"/>
                  </a:moveTo>
                  <a:lnTo>
                    <a:pt x="124205" y="0"/>
                  </a:lnTo>
                  <a:lnTo>
                    <a:pt x="124205" y="2094484"/>
                  </a:lnTo>
                  <a:lnTo>
                    <a:pt x="2958845" y="2094484"/>
                  </a:lnTo>
                  <a:lnTo>
                    <a:pt x="2958845" y="0"/>
                  </a:lnTo>
                  <a:lnTo>
                    <a:pt x="3083051" y="0"/>
                  </a:lnTo>
                  <a:lnTo>
                    <a:pt x="3083051" y="2215896"/>
                  </a:lnTo>
                  <a:lnTo>
                    <a:pt x="0" y="22158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92191" y="5293233"/>
              <a:ext cx="1940560" cy="381000"/>
            </a:xfrm>
            <a:custGeom>
              <a:avLst/>
              <a:gdLst/>
              <a:ahLst/>
              <a:cxnLst/>
              <a:rect l="l" t="t" r="r" b="b"/>
              <a:pathLst>
                <a:path w="1940559" h="381000">
                  <a:moveTo>
                    <a:pt x="0" y="380377"/>
                  </a:moveTo>
                  <a:lnTo>
                    <a:pt x="6350" y="380377"/>
                  </a:lnTo>
                </a:path>
                <a:path w="1940559" h="381000">
                  <a:moveTo>
                    <a:pt x="6350" y="0"/>
                  </a:moveTo>
                  <a:lnTo>
                    <a:pt x="6350" y="377202"/>
                  </a:lnTo>
                </a:path>
                <a:path w="1940559" h="381000">
                  <a:moveTo>
                    <a:pt x="1934083" y="380377"/>
                  </a:moveTo>
                  <a:lnTo>
                    <a:pt x="1940433" y="380377"/>
                  </a:lnTo>
                </a:path>
                <a:path w="1940559" h="381000">
                  <a:moveTo>
                    <a:pt x="1934083" y="0"/>
                  </a:moveTo>
                  <a:lnTo>
                    <a:pt x="1934083" y="37720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936981" y="3843718"/>
            <a:ext cx="2323148" cy="1671638"/>
            <a:chOff x="8534145" y="3981958"/>
            <a:chExt cx="3097530" cy="2228850"/>
          </a:xfrm>
        </p:grpSpPr>
        <p:sp>
          <p:nvSpPr>
            <p:cNvPr id="9" name="object 9"/>
            <p:cNvSpPr/>
            <p:nvPr/>
          </p:nvSpPr>
          <p:spPr>
            <a:xfrm>
              <a:off x="8540496" y="3987799"/>
              <a:ext cx="3084830" cy="2216150"/>
            </a:xfrm>
            <a:custGeom>
              <a:avLst/>
              <a:gdLst/>
              <a:ahLst/>
              <a:cxnLst/>
              <a:rect l="l" t="t" r="r" b="b"/>
              <a:pathLst>
                <a:path w="3084829" h="2216150">
                  <a:moveTo>
                    <a:pt x="3084576" y="0"/>
                  </a:moveTo>
                  <a:lnTo>
                    <a:pt x="2960370" y="0"/>
                  </a:lnTo>
                  <a:lnTo>
                    <a:pt x="2960370" y="2095500"/>
                  </a:lnTo>
                  <a:lnTo>
                    <a:pt x="124206" y="2095500"/>
                  </a:lnTo>
                  <a:lnTo>
                    <a:pt x="124206" y="0"/>
                  </a:lnTo>
                  <a:lnTo>
                    <a:pt x="0" y="0"/>
                  </a:lnTo>
                  <a:lnTo>
                    <a:pt x="0" y="2095500"/>
                  </a:lnTo>
                  <a:lnTo>
                    <a:pt x="0" y="2216150"/>
                  </a:lnTo>
                  <a:lnTo>
                    <a:pt x="3084576" y="2216150"/>
                  </a:lnTo>
                  <a:lnTo>
                    <a:pt x="3084576" y="2095500"/>
                  </a:lnTo>
                  <a:lnTo>
                    <a:pt x="3084576" y="0"/>
                  </a:lnTo>
                  <a:close/>
                </a:path>
              </a:pathLst>
            </a:custGeom>
            <a:solidFill>
              <a:srgbClr val="2B91AE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540495" y="3988308"/>
              <a:ext cx="3084830" cy="2216150"/>
            </a:xfrm>
            <a:custGeom>
              <a:avLst/>
              <a:gdLst/>
              <a:ahLst/>
              <a:cxnLst/>
              <a:rect l="l" t="t" r="r" b="b"/>
              <a:pathLst>
                <a:path w="3084829" h="2216150">
                  <a:moveTo>
                    <a:pt x="0" y="0"/>
                  </a:moveTo>
                  <a:lnTo>
                    <a:pt x="124205" y="0"/>
                  </a:lnTo>
                  <a:lnTo>
                    <a:pt x="124205" y="2094484"/>
                  </a:lnTo>
                  <a:lnTo>
                    <a:pt x="2960370" y="2094484"/>
                  </a:lnTo>
                  <a:lnTo>
                    <a:pt x="2960370" y="0"/>
                  </a:lnTo>
                  <a:lnTo>
                    <a:pt x="3084576" y="0"/>
                  </a:lnTo>
                  <a:lnTo>
                    <a:pt x="3084576" y="2215896"/>
                  </a:lnTo>
                  <a:lnTo>
                    <a:pt x="0" y="221589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33787" y="4872902"/>
            <a:ext cx="4014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 eaLnBrk="1" fontAlgn="auto" hangingPunct="1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sz="1350" kern="0" spc="-15" dirty="0">
                <a:solidFill>
                  <a:sysClr val="windowText" lastClr="000000"/>
                </a:solidFill>
                <a:latin typeface="Cascadia Mono"/>
                <a:cs typeface="Cascadia Mono"/>
              </a:rPr>
              <a:t>pItt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40843" y="4872641"/>
            <a:ext cx="151780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 eaLnBrk="1" fontAlgn="auto" hangingPunct="1">
              <a:lnSpc>
                <a:spcPts val="1379"/>
              </a:lnSpc>
              <a:spcBef>
                <a:spcPts val="0"/>
              </a:spcBef>
              <a:spcAft>
                <a:spcPts val="0"/>
              </a:spcAft>
              <a:tabLst>
                <a:tab pos="1070610" algn="l"/>
              </a:tabLst>
            </a:pPr>
            <a:r>
              <a:rPr sz="1200" kern="0" spc="-71" dirty="0">
                <a:solidFill>
                  <a:srgbClr val="7E7E7E"/>
                </a:solidFill>
                <a:latin typeface="Cascadia Mono"/>
                <a:cs typeface="Cascadia Mono"/>
              </a:rPr>
              <a:t>Utititializ</a:t>
            </a:r>
            <a:r>
              <a:rPr sz="1200" kern="0" spc="-3345" dirty="0">
                <a:solidFill>
                  <a:srgbClr val="7E7E7E"/>
                </a:solidFill>
                <a:latin typeface="Cascadia Mono"/>
                <a:cs typeface="Cascadia Mono"/>
              </a:rPr>
              <a:t>e</a:t>
            </a:r>
            <a:r>
              <a:rPr sz="2025" kern="0" spc="-107" baseline="-6172" dirty="0">
                <a:solidFill>
                  <a:srgbClr val="AC1B00"/>
                </a:solidFill>
                <a:latin typeface="Cascadia Mono"/>
                <a:cs typeface="Cascadia Mono"/>
              </a:rPr>
              <a:t>10</a:t>
            </a:r>
            <a:r>
              <a:rPr sz="2025" kern="0" baseline="-6172" dirty="0">
                <a:solidFill>
                  <a:srgbClr val="AC1B00"/>
                </a:solidFill>
                <a:latin typeface="Cascadia Mono"/>
                <a:cs typeface="Cascadia Mono"/>
              </a:rPr>
              <a:t>	</a:t>
            </a:r>
            <a:r>
              <a:rPr sz="1200" kern="0" dirty="0">
                <a:solidFill>
                  <a:srgbClr val="7E7E7E"/>
                </a:solidFill>
                <a:latin typeface="Cascadia Mono"/>
                <a:cs typeface="Cascadia Mono"/>
              </a:rPr>
              <a:t>d </a:t>
            </a:r>
            <a:r>
              <a:rPr sz="1200" kern="0" spc="-19" dirty="0">
                <a:solidFill>
                  <a:srgbClr val="7E7E7E"/>
                </a:solidFill>
                <a:latin typeface="Cascadia Mono"/>
                <a:cs typeface="Cascadia Mono"/>
              </a:rPr>
              <a:t>itt</a:t>
            </a:r>
            <a:endParaRPr sz="120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64826" y="4824794"/>
            <a:ext cx="2023586" cy="290513"/>
            <a:chOff x="4837938" y="5290058"/>
            <a:chExt cx="2698115" cy="387350"/>
          </a:xfrm>
        </p:grpSpPr>
        <p:sp>
          <p:nvSpPr>
            <p:cNvPr id="14" name="object 14"/>
            <p:cNvSpPr/>
            <p:nvPr/>
          </p:nvSpPr>
          <p:spPr>
            <a:xfrm>
              <a:off x="4837938" y="5299595"/>
              <a:ext cx="760730" cy="370840"/>
            </a:xfrm>
            <a:custGeom>
              <a:avLst/>
              <a:gdLst/>
              <a:ahLst/>
              <a:cxnLst/>
              <a:rect l="l" t="t" r="r" b="b"/>
              <a:pathLst>
                <a:path w="760729" h="370839">
                  <a:moveTo>
                    <a:pt x="760641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760641" y="370840"/>
                  </a:lnTo>
                  <a:lnTo>
                    <a:pt x="760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592191" y="5293233"/>
              <a:ext cx="1940560" cy="381000"/>
            </a:xfrm>
            <a:custGeom>
              <a:avLst/>
              <a:gdLst/>
              <a:ahLst/>
              <a:cxnLst/>
              <a:rect l="l" t="t" r="r" b="b"/>
              <a:pathLst>
                <a:path w="1940559" h="381000">
                  <a:moveTo>
                    <a:pt x="0" y="380377"/>
                  </a:moveTo>
                  <a:lnTo>
                    <a:pt x="6350" y="380377"/>
                  </a:lnTo>
                </a:path>
                <a:path w="1940559" h="381000">
                  <a:moveTo>
                    <a:pt x="6350" y="0"/>
                  </a:moveTo>
                  <a:lnTo>
                    <a:pt x="6350" y="377202"/>
                  </a:lnTo>
                </a:path>
                <a:path w="1940559" h="381000">
                  <a:moveTo>
                    <a:pt x="1934083" y="380377"/>
                  </a:moveTo>
                  <a:lnTo>
                    <a:pt x="1940433" y="380377"/>
                  </a:lnTo>
                </a:path>
                <a:path w="1940559" h="381000">
                  <a:moveTo>
                    <a:pt x="1934083" y="0"/>
                  </a:moveTo>
                  <a:lnTo>
                    <a:pt x="1934083" y="37720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24262" y="4850989"/>
            <a:ext cx="42052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sz="1350" kern="0" spc="-15" dirty="0" err="1">
                <a:solidFill>
                  <a:sysClr val="windowText" lastClr="000000"/>
                </a:solidFill>
                <a:latin typeface="Cascadia Mono"/>
                <a:cs typeface="Cascadia Mono"/>
              </a:rPr>
              <a:t>pI</a:t>
            </a:r>
            <a:r>
              <a:rPr lang="en-US" sz="1350" kern="0" spc="-15" dirty="0" err="1">
                <a:solidFill>
                  <a:sysClr val="windowText" lastClr="000000"/>
                </a:solidFill>
                <a:latin typeface="Cascadia Mono"/>
                <a:cs typeface="Cascadia Mono"/>
              </a:rPr>
              <a:t>n</a:t>
            </a:r>
            <a:r>
              <a:rPr sz="1350" kern="0" spc="-15" dirty="0" err="1">
                <a:solidFill>
                  <a:sysClr val="windowText" lastClr="000000"/>
                </a:solidFill>
                <a:latin typeface="Cascadia Mono"/>
                <a:cs typeface="Cascadia Mono"/>
              </a:rPr>
              <a:t>t</a:t>
            </a:r>
            <a:endParaRPr sz="1350" kern="0" dirty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08906" y="4872902"/>
            <a:ext cx="130349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 eaLnBrk="1" fontAlgn="auto" hangingPunct="1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sz="1350" kern="0" spc="-255" dirty="0">
                <a:solidFill>
                  <a:srgbClr val="7E7E7E"/>
                </a:solidFill>
                <a:latin typeface="Cascadia Mono"/>
                <a:cs typeface="Cascadia Mono"/>
              </a:rPr>
              <a:t>Uti</a:t>
            </a:r>
            <a:r>
              <a:rPr sz="1350" kern="0" spc="-2243" dirty="0">
                <a:solidFill>
                  <a:srgbClr val="7E7E7E"/>
                </a:solidFill>
                <a:latin typeface="Cascadia Mono"/>
                <a:cs typeface="Cascadia Mono"/>
              </a:rPr>
              <a:t>t</a:t>
            </a:r>
            <a:r>
              <a:rPr sz="1350" b="1" kern="0" spc="-255" dirty="0">
                <a:solidFill>
                  <a:srgbClr val="AC1B00"/>
                </a:solidFill>
                <a:latin typeface="Cascadia Mono"/>
                <a:cs typeface="Cascadia Mono"/>
              </a:rPr>
              <a:t>D</a:t>
            </a:r>
            <a:r>
              <a:rPr sz="1350" b="1" kern="0" spc="-660" dirty="0">
                <a:solidFill>
                  <a:srgbClr val="AC1B00"/>
                </a:solidFill>
                <a:latin typeface="Cascadia Mono"/>
                <a:cs typeface="Cascadia Mono"/>
              </a:rPr>
              <a:t>a</a:t>
            </a:r>
            <a:r>
              <a:rPr sz="1350" b="1" kern="0" spc="-255" dirty="0">
                <a:solidFill>
                  <a:srgbClr val="AC1B00"/>
                </a:solidFill>
                <a:latin typeface="Cascadia Mono"/>
                <a:cs typeface="Cascadia Mono"/>
              </a:rPr>
              <a:t>A</a:t>
            </a:r>
            <a:r>
              <a:rPr sz="1350" b="1" kern="0" spc="-1444" dirty="0">
                <a:solidFill>
                  <a:srgbClr val="AC1B00"/>
                </a:solidFill>
                <a:latin typeface="Cascadia Mono"/>
                <a:cs typeface="Cascadia Mono"/>
              </a:rPr>
              <a:t>d</a:t>
            </a:r>
            <a:r>
              <a:rPr sz="1350" b="1" kern="0" spc="-255" dirty="0">
                <a:solidFill>
                  <a:srgbClr val="AC1B00"/>
                </a:solidFill>
                <a:latin typeface="Cascadia Mono"/>
                <a:cs typeface="Cascadia Mono"/>
              </a:rPr>
              <a:t>n</a:t>
            </a:r>
            <a:r>
              <a:rPr sz="1350" b="1" kern="0" spc="-1436" dirty="0">
                <a:solidFill>
                  <a:srgbClr val="AC1B00"/>
                </a:solidFill>
                <a:latin typeface="Cascadia Mono"/>
                <a:cs typeface="Cascadia Mono"/>
              </a:rPr>
              <a:t>g</a:t>
            </a:r>
            <a:r>
              <a:rPr sz="1350" kern="0" spc="-255" dirty="0">
                <a:solidFill>
                  <a:srgbClr val="7E7E7E"/>
                </a:solidFill>
                <a:latin typeface="Cascadia Mono"/>
                <a:cs typeface="Cascadia Mono"/>
              </a:rPr>
              <a:t>iti</a:t>
            </a:r>
            <a:r>
              <a:rPr sz="1350" kern="0" spc="-2644" dirty="0">
                <a:solidFill>
                  <a:srgbClr val="7E7E7E"/>
                </a:solidFill>
                <a:latin typeface="Cascadia Mono"/>
                <a:cs typeface="Cascadia Mono"/>
              </a:rPr>
              <a:t>a</a:t>
            </a:r>
            <a:r>
              <a:rPr sz="1350" b="1" kern="0" spc="-255" dirty="0">
                <a:solidFill>
                  <a:srgbClr val="AC1B00"/>
                </a:solidFill>
                <a:latin typeface="Cascadia Mono"/>
                <a:cs typeface="Cascadia Mono"/>
              </a:rPr>
              <a:t>d</a:t>
            </a:r>
            <a:r>
              <a:rPr sz="1350" b="1" kern="0" spc="-1444" dirty="0">
                <a:solidFill>
                  <a:srgbClr val="AC1B00"/>
                </a:solidFill>
                <a:latin typeface="Cascadia Mono"/>
                <a:cs typeface="Cascadia Mono"/>
              </a:rPr>
              <a:t>r</a:t>
            </a:r>
            <a:r>
              <a:rPr sz="1350" b="1" kern="0" spc="-255" dirty="0">
                <a:solidFill>
                  <a:srgbClr val="AC1B00"/>
                </a:solidFill>
                <a:latin typeface="Cascadia Mono"/>
                <a:cs typeface="Cascadia Mono"/>
              </a:rPr>
              <a:t>l</a:t>
            </a:r>
            <a:r>
              <a:rPr sz="1350" b="1" kern="0" spc="-660" dirty="0">
                <a:solidFill>
                  <a:srgbClr val="AC1B00"/>
                </a:solidFill>
                <a:latin typeface="Cascadia Mono"/>
                <a:cs typeface="Cascadia Mono"/>
              </a:rPr>
              <a:t>i</a:t>
            </a:r>
            <a:r>
              <a:rPr sz="1350" b="1" kern="0" spc="-255" dirty="0">
                <a:solidFill>
                  <a:srgbClr val="AC1B00"/>
                </a:solidFill>
                <a:latin typeface="Cascadia Mono"/>
                <a:cs typeface="Cascadia Mono"/>
              </a:rPr>
              <a:t>e</a:t>
            </a:r>
            <a:r>
              <a:rPr sz="1350" b="1" kern="0" spc="-1444" dirty="0">
                <a:solidFill>
                  <a:srgbClr val="AC1B00"/>
                </a:solidFill>
                <a:latin typeface="Cascadia Mono"/>
                <a:cs typeface="Cascadia Mono"/>
              </a:rPr>
              <a:t>s</a:t>
            </a:r>
            <a:r>
              <a:rPr sz="1350" b="1" kern="0" spc="-255" dirty="0">
                <a:solidFill>
                  <a:srgbClr val="AC1B00"/>
                </a:solidFill>
                <a:latin typeface="Cascadia Mono"/>
                <a:cs typeface="Cascadia Mono"/>
              </a:rPr>
              <a:t>n</a:t>
            </a:r>
            <a:r>
              <a:rPr sz="1350" b="1" kern="0" spc="-1429" dirty="0">
                <a:solidFill>
                  <a:srgbClr val="AC1B00"/>
                </a:solidFill>
                <a:latin typeface="Cascadia Mono"/>
                <a:cs typeface="Cascadia Mono"/>
              </a:rPr>
              <a:t>g</a:t>
            </a:r>
            <a:r>
              <a:rPr sz="1350" kern="0" spc="-255" dirty="0">
                <a:solidFill>
                  <a:srgbClr val="7E7E7E"/>
                </a:solidFill>
                <a:latin typeface="Cascadia Mono"/>
                <a:cs typeface="Cascadia Mono"/>
              </a:rPr>
              <a:t>li</a:t>
            </a:r>
            <a:r>
              <a:rPr sz="1350" kern="0" spc="-1860" dirty="0">
                <a:solidFill>
                  <a:srgbClr val="7E7E7E"/>
                </a:solidFill>
                <a:latin typeface="Cascadia Mono"/>
                <a:cs typeface="Cascadia Mono"/>
              </a:rPr>
              <a:t>z</a:t>
            </a:r>
            <a:r>
              <a:rPr sz="1350" b="1" kern="0" spc="-652" dirty="0">
                <a:solidFill>
                  <a:srgbClr val="AC1B00"/>
                </a:solidFill>
                <a:latin typeface="Cascadia Mono"/>
                <a:cs typeface="Cascadia Mono"/>
              </a:rPr>
              <a:t>s</a:t>
            </a:r>
            <a:r>
              <a:rPr sz="1350" b="1" kern="0" spc="-255" dirty="0">
                <a:solidFill>
                  <a:srgbClr val="AC1B00"/>
                </a:solidFill>
                <a:latin typeface="Cascadia Mono"/>
                <a:cs typeface="Cascadia Mono"/>
              </a:rPr>
              <a:t>!</a:t>
            </a:r>
            <a:r>
              <a:rPr sz="1350" b="1" kern="0" spc="-641" dirty="0">
                <a:solidFill>
                  <a:srgbClr val="AC1B00"/>
                </a:solidFill>
                <a:latin typeface="Cascadia Mono"/>
                <a:cs typeface="Cascadia Mono"/>
              </a:rPr>
              <a:t>!</a:t>
            </a:r>
            <a:r>
              <a:rPr sz="1350" kern="0" spc="-255" dirty="0">
                <a:solidFill>
                  <a:srgbClr val="7E7E7E"/>
                </a:solidFill>
                <a:latin typeface="Cascadia Mono"/>
                <a:cs typeface="Cascadia Mono"/>
              </a:rPr>
              <a:t>ed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25753" y="4824794"/>
            <a:ext cx="1464945" cy="571024"/>
            <a:chOff x="5585840" y="5290058"/>
            <a:chExt cx="1953260" cy="761365"/>
          </a:xfrm>
        </p:grpSpPr>
        <p:sp>
          <p:nvSpPr>
            <p:cNvPr id="19" name="object 19"/>
            <p:cNvSpPr/>
            <p:nvPr/>
          </p:nvSpPr>
          <p:spPr>
            <a:xfrm>
              <a:off x="5592190" y="5293233"/>
              <a:ext cx="6350" cy="381000"/>
            </a:xfrm>
            <a:custGeom>
              <a:avLst/>
              <a:gdLst/>
              <a:ahLst/>
              <a:cxnLst/>
              <a:rect l="l" t="t" r="r" b="b"/>
              <a:pathLst>
                <a:path w="6350" h="381000">
                  <a:moveTo>
                    <a:pt x="0" y="380377"/>
                  </a:moveTo>
                  <a:lnTo>
                    <a:pt x="6350" y="380377"/>
                  </a:lnTo>
                </a:path>
                <a:path w="6350" h="381000">
                  <a:moveTo>
                    <a:pt x="6350" y="0"/>
                  </a:moveTo>
                  <a:lnTo>
                    <a:pt x="6350" y="37720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529385" y="5670435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6350"/>
                  </a:lnTo>
                </a:path>
              </a:pathLst>
            </a:custGeom>
            <a:ln w="6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526146" y="5293233"/>
              <a:ext cx="0" cy="377825"/>
            </a:xfrm>
            <a:custGeom>
              <a:avLst/>
              <a:gdLst/>
              <a:ahLst/>
              <a:cxnLst/>
              <a:rect l="l" t="t" r="r" b="b"/>
              <a:pathLst>
                <a:path h="377825">
                  <a:moveTo>
                    <a:pt x="0" y="0"/>
                  </a:moveTo>
                  <a:lnTo>
                    <a:pt x="0" y="37720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592190" y="5670327"/>
              <a:ext cx="1940560" cy="0"/>
            </a:xfrm>
            <a:custGeom>
              <a:avLst/>
              <a:gdLst/>
              <a:ahLst/>
              <a:cxnLst/>
              <a:rect l="l" t="t" r="r" b="b"/>
              <a:pathLst>
                <a:path w="1940559">
                  <a:moveTo>
                    <a:pt x="0" y="0"/>
                  </a:moveTo>
                  <a:lnTo>
                    <a:pt x="1940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592190" y="5664085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6134"/>
                  </a:moveTo>
                  <a:lnTo>
                    <a:pt x="12700" y="6134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598540" y="5670219"/>
              <a:ext cx="0" cy="377825"/>
            </a:xfrm>
            <a:custGeom>
              <a:avLst/>
              <a:gdLst/>
              <a:ahLst/>
              <a:cxnLst/>
              <a:rect l="l" t="t" r="r" b="b"/>
              <a:pathLst>
                <a:path h="377825">
                  <a:moveTo>
                    <a:pt x="0" y="0"/>
                  </a:moveTo>
                  <a:lnTo>
                    <a:pt x="0" y="377405"/>
                  </a:lnTo>
                </a:path>
              </a:pathLst>
            </a:custGeom>
            <a:ln w="6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519796" y="5664085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6134"/>
                  </a:moveTo>
                  <a:lnTo>
                    <a:pt x="12700" y="6134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526146" y="5670219"/>
              <a:ext cx="0" cy="377825"/>
            </a:xfrm>
            <a:custGeom>
              <a:avLst/>
              <a:gdLst/>
              <a:ahLst/>
              <a:cxnLst/>
              <a:rect l="l" t="t" r="r" b="b"/>
              <a:pathLst>
                <a:path h="377825">
                  <a:moveTo>
                    <a:pt x="0" y="0"/>
                  </a:moveTo>
                  <a:lnTo>
                    <a:pt x="0" y="377405"/>
                  </a:lnTo>
                </a:path>
              </a:pathLst>
            </a:custGeom>
            <a:ln w="6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5592190" y="5670327"/>
              <a:ext cx="1940560" cy="0"/>
            </a:xfrm>
            <a:custGeom>
              <a:avLst/>
              <a:gdLst/>
              <a:ahLst/>
              <a:cxnLst/>
              <a:rect l="l" t="t" r="r" b="b"/>
              <a:pathLst>
                <a:path w="1940559">
                  <a:moveTo>
                    <a:pt x="0" y="0"/>
                  </a:moveTo>
                  <a:lnTo>
                    <a:pt x="1940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5592190" y="6044450"/>
              <a:ext cx="1940560" cy="0"/>
            </a:xfrm>
            <a:custGeom>
              <a:avLst/>
              <a:gdLst/>
              <a:ahLst/>
              <a:cxnLst/>
              <a:rect l="l" t="t" r="r" b="b"/>
              <a:pathLst>
                <a:path w="1940559">
                  <a:moveTo>
                    <a:pt x="0" y="0"/>
                  </a:moveTo>
                  <a:lnTo>
                    <a:pt x="1940306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592190" y="5664085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6134"/>
                  </a:moveTo>
                  <a:lnTo>
                    <a:pt x="12700" y="6134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598540" y="5670219"/>
              <a:ext cx="0" cy="377825"/>
            </a:xfrm>
            <a:custGeom>
              <a:avLst/>
              <a:gdLst/>
              <a:ahLst/>
              <a:cxnLst/>
              <a:rect l="l" t="t" r="r" b="b"/>
              <a:pathLst>
                <a:path h="377825">
                  <a:moveTo>
                    <a:pt x="0" y="0"/>
                  </a:moveTo>
                  <a:lnTo>
                    <a:pt x="0" y="377405"/>
                  </a:lnTo>
                </a:path>
              </a:pathLst>
            </a:custGeom>
            <a:ln w="6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519796" y="5664085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6134"/>
                  </a:moveTo>
                  <a:lnTo>
                    <a:pt x="12700" y="6134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526146" y="5670219"/>
              <a:ext cx="0" cy="377825"/>
            </a:xfrm>
            <a:custGeom>
              <a:avLst/>
              <a:gdLst/>
              <a:ahLst/>
              <a:cxnLst/>
              <a:rect l="l" t="t" r="r" b="b"/>
              <a:pathLst>
                <a:path h="377825">
                  <a:moveTo>
                    <a:pt x="0" y="0"/>
                  </a:moveTo>
                  <a:lnTo>
                    <a:pt x="0" y="377405"/>
                  </a:lnTo>
                </a:path>
              </a:pathLst>
            </a:custGeom>
            <a:ln w="6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592190" y="5673502"/>
              <a:ext cx="1940560" cy="0"/>
            </a:xfrm>
            <a:custGeom>
              <a:avLst/>
              <a:gdLst/>
              <a:ahLst/>
              <a:cxnLst/>
              <a:rect l="l" t="t" r="r" b="b"/>
              <a:pathLst>
                <a:path w="1940559">
                  <a:moveTo>
                    <a:pt x="0" y="0"/>
                  </a:moveTo>
                  <a:lnTo>
                    <a:pt x="1940306" y="0"/>
                  </a:lnTo>
                </a:path>
              </a:pathLst>
            </a:custGeom>
            <a:ln w="6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592190" y="6041275"/>
              <a:ext cx="1940560" cy="0"/>
            </a:xfrm>
            <a:custGeom>
              <a:avLst/>
              <a:gdLst/>
              <a:ahLst/>
              <a:cxnLst/>
              <a:rect l="l" t="t" r="r" b="b"/>
              <a:pathLst>
                <a:path w="1940559">
                  <a:moveTo>
                    <a:pt x="0" y="0"/>
                  </a:moveTo>
                  <a:lnTo>
                    <a:pt x="194030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234687" y="4831939"/>
            <a:ext cx="1728311" cy="236603"/>
          </a:xfrm>
          <a:prstGeom prst="rect">
            <a:avLst/>
          </a:prstGeom>
          <a:solidFill>
            <a:srgbClr val="E7E6E6"/>
          </a:solidFill>
          <a:ln w="12700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2858" algn="ctr" defTabSz="685800" eaLnBrk="1" fontAlgn="auto" hangingPunct="1">
              <a:spcBef>
                <a:spcPts val="225"/>
              </a:spcBef>
              <a:spcAft>
                <a:spcPts val="0"/>
              </a:spcAft>
            </a:pPr>
            <a:r>
              <a:rPr sz="1350" kern="0" spc="-19" dirty="0">
                <a:solidFill>
                  <a:srgbClr val="AC1B00"/>
                </a:solidFill>
                <a:latin typeface="Cascadia Mono"/>
                <a:cs typeface="Cascadia Mono"/>
              </a:rPr>
              <a:t>ooo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08526" y="5593689"/>
            <a:ext cx="782479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sz="2400" kern="0" spc="-8" dirty="0">
                <a:solidFill>
                  <a:sysClr val="windowText" lastClr="000000"/>
                </a:solidFill>
                <a:latin typeface="Arial"/>
                <a:cs typeface="Arial"/>
              </a:rPr>
              <a:t>Stack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725462" y="5593689"/>
            <a:ext cx="748664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sz="2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Heap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378746" y="4004815"/>
            <a:ext cx="2101691" cy="1013460"/>
            <a:chOff x="1662176" y="4196753"/>
            <a:chExt cx="2802255" cy="1351280"/>
          </a:xfrm>
        </p:grpSpPr>
        <p:sp>
          <p:nvSpPr>
            <p:cNvPr id="39" name="object 39"/>
            <p:cNvSpPr/>
            <p:nvPr/>
          </p:nvSpPr>
          <p:spPr>
            <a:xfrm>
              <a:off x="1668526" y="4203103"/>
              <a:ext cx="2789555" cy="1338580"/>
            </a:xfrm>
            <a:custGeom>
              <a:avLst/>
              <a:gdLst/>
              <a:ahLst/>
              <a:cxnLst/>
              <a:rect l="l" t="t" r="r" b="b"/>
              <a:pathLst>
                <a:path w="2789554" h="1338579">
                  <a:moveTo>
                    <a:pt x="1729551" y="0"/>
                  </a:moveTo>
                  <a:lnTo>
                    <a:pt x="1676410" y="1343"/>
                  </a:lnTo>
                  <a:lnTo>
                    <a:pt x="1623097" y="4453"/>
                  </a:lnTo>
                  <a:lnTo>
                    <a:pt x="1569703" y="9359"/>
                  </a:lnTo>
                  <a:lnTo>
                    <a:pt x="1516320" y="16089"/>
                  </a:lnTo>
                  <a:lnTo>
                    <a:pt x="1463040" y="24673"/>
                  </a:lnTo>
                  <a:lnTo>
                    <a:pt x="1409954" y="35140"/>
                  </a:lnTo>
                  <a:lnTo>
                    <a:pt x="1352312" y="48755"/>
                  </a:lnTo>
                  <a:lnTo>
                    <a:pt x="1296667" y="64293"/>
                  </a:lnTo>
                  <a:lnTo>
                    <a:pt x="1243081" y="81674"/>
                  </a:lnTo>
                  <a:lnTo>
                    <a:pt x="1191615" y="100819"/>
                  </a:lnTo>
                  <a:lnTo>
                    <a:pt x="1142331" y="121647"/>
                  </a:lnTo>
                  <a:lnTo>
                    <a:pt x="1095290" y="144081"/>
                  </a:lnTo>
                  <a:lnTo>
                    <a:pt x="1050555" y="168039"/>
                  </a:lnTo>
                  <a:lnTo>
                    <a:pt x="1008188" y="193443"/>
                  </a:lnTo>
                  <a:lnTo>
                    <a:pt x="968249" y="220213"/>
                  </a:lnTo>
                  <a:lnTo>
                    <a:pt x="930801" y="248269"/>
                  </a:lnTo>
                  <a:lnTo>
                    <a:pt x="895905" y="277533"/>
                  </a:lnTo>
                  <a:lnTo>
                    <a:pt x="863623" y="307923"/>
                  </a:lnTo>
                  <a:lnTo>
                    <a:pt x="834017" y="339362"/>
                  </a:lnTo>
                  <a:lnTo>
                    <a:pt x="807148" y="371769"/>
                  </a:lnTo>
                  <a:lnTo>
                    <a:pt x="783079" y="405065"/>
                  </a:lnTo>
                  <a:lnTo>
                    <a:pt x="761870" y="439170"/>
                  </a:lnTo>
                  <a:lnTo>
                    <a:pt x="743584" y="474005"/>
                  </a:lnTo>
                  <a:lnTo>
                    <a:pt x="728282" y="509490"/>
                  </a:lnTo>
                  <a:lnTo>
                    <a:pt x="706879" y="582093"/>
                  </a:lnTo>
                  <a:lnTo>
                    <a:pt x="698153" y="656343"/>
                  </a:lnTo>
                  <a:lnTo>
                    <a:pt x="698699" y="693886"/>
                  </a:lnTo>
                  <a:lnTo>
                    <a:pt x="709917" y="769413"/>
                  </a:lnTo>
                  <a:lnTo>
                    <a:pt x="720712" y="807238"/>
                  </a:lnTo>
                  <a:lnTo>
                    <a:pt x="735046" y="844997"/>
                  </a:lnTo>
                  <a:lnTo>
                    <a:pt x="752982" y="882611"/>
                  </a:lnTo>
                  <a:lnTo>
                    <a:pt x="0" y="1303362"/>
                  </a:lnTo>
                  <a:lnTo>
                    <a:pt x="950087" y="1104607"/>
                  </a:lnTo>
                  <a:lnTo>
                    <a:pt x="985621" y="1129811"/>
                  </a:lnTo>
                  <a:lnTo>
                    <a:pt x="1022820" y="1153662"/>
                  </a:lnTo>
                  <a:lnTo>
                    <a:pt x="1061594" y="1176143"/>
                  </a:lnTo>
                  <a:lnTo>
                    <a:pt x="1101850" y="1197238"/>
                  </a:lnTo>
                  <a:lnTo>
                    <a:pt x="1143497" y="1216931"/>
                  </a:lnTo>
                  <a:lnTo>
                    <a:pt x="1186443" y="1235204"/>
                  </a:lnTo>
                  <a:lnTo>
                    <a:pt x="1230598" y="1252044"/>
                  </a:lnTo>
                  <a:lnTo>
                    <a:pt x="1275870" y="1267432"/>
                  </a:lnTo>
                  <a:lnTo>
                    <a:pt x="1322166" y="1281353"/>
                  </a:lnTo>
                  <a:lnTo>
                    <a:pt x="1369397" y="1293791"/>
                  </a:lnTo>
                  <a:lnTo>
                    <a:pt x="1417470" y="1304729"/>
                  </a:lnTo>
                  <a:lnTo>
                    <a:pt x="1466294" y="1314152"/>
                  </a:lnTo>
                  <a:lnTo>
                    <a:pt x="1515777" y="1322043"/>
                  </a:lnTo>
                  <a:lnTo>
                    <a:pt x="1565829" y="1328385"/>
                  </a:lnTo>
                  <a:lnTo>
                    <a:pt x="1616357" y="1333164"/>
                  </a:lnTo>
                  <a:lnTo>
                    <a:pt x="1667270" y="1336362"/>
                  </a:lnTo>
                  <a:lnTo>
                    <a:pt x="1718476" y="1337963"/>
                  </a:lnTo>
                  <a:lnTo>
                    <a:pt x="1769885" y="1337952"/>
                  </a:lnTo>
                  <a:lnTo>
                    <a:pt x="1821405" y="1336311"/>
                  </a:lnTo>
                  <a:lnTo>
                    <a:pt x="1872944" y="1333026"/>
                  </a:lnTo>
                  <a:lnTo>
                    <a:pt x="1924411" y="1328079"/>
                  </a:lnTo>
                  <a:lnTo>
                    <a:pt x="1975715" y="1321454"/>
                  </a:lnTo>
                  <a:lnTo>
                    <a:pt x="2026763" y="1313136"/>
                  </a:lnTo>
                  <a:lnTo>
                    <a:pt x="2077465" y="1303108"/>
                  </a:lnTo>
                  <a:lnTo>
                    <a:pt x="2135107" y="1289492"/>
                  </a:lnTo>
                  <a:lnTo>
                    <a:pt x="2190752" y="1273954"/>
                  </a:lnTo>
                  <a:lnTo>
                    <a:pt x="2244338" y="1256573"/>
                  </a:lnTo>
                  <a:lnTo>
                    <a:pt x="2295804" y="1237429"/>
                  </a:lnTo>
                  <a:lnTo>
                    <a:pt x="2345088" y="1216600"/>
                  </a:lnTo>
                  <a:lnTo>
                    <a:pt x="2392129" y="1194166"/>
                  </a:lnTo>
                  <a:lnTo>
                    <a:pt x="2436864" y="1170208"/>
                  </a:lnTo>
                  <a:lnTo>
                    <a:pt x="2479231" y="1144804"/>
                  </a:lnTo>
                  <a:lnTo>
                    <a:pt x="2519170" y="1118034"/>
                  </a:lnTo>
                  <a:lnTo>
                    <a:pt x="2556618" y="1089978"/>
                  </a:lnTo>
                  <a:lnTo>
                    <a:pt x="2591514" y="1060715"/>
                  </a:lnTo>
                  <a:lnTo>
                    <a:pt x="2623796" y="1030324"/>
                  </a:lnTo>
                  <a:lnTo>
                    <a:pt x="2653402" y="998885"/>
                  </a:lnTo>
                  <a:lnTo>
                    <a:pt x="2680271" y="966478"/>
                  </a:lnTo>
                  <a:lnTo>
                    <a:pt x="2704340" y="933182"/>
                  </a:lnTo>
                  <a:lnTo>
                    <a:pt x="2725549" y="899077"/>
                  </a:lnTo>
                  <a:lnTo>
                    <a:pt x="2743835" y="864242"/>
                  </a:lnTo>
                  <a:lnTo>
                    <a:pt x="2759137" y="828757"/>
                  </a:lnTo>
                  <a:lnTo>
                    <a:pt x="2780540" y="756154"/>
                  </a:lnTo>
                  <a:lnTo>
                    <a:pt x="2789266" y="681904"/>
                  </a:lnTo>
                  <a:lnTo>
                    <a:pt x="2788720" y="644361"/>
                  </a:lnTo>
                  <a:lnTo>
                    <a:pt x="2777502" y="568834"/>
                  </a:lnTo>
                  <a:lnTo>
                    <a:pt x="2766707" y="531009"/>
                  </a:lnTo>
                  <a:lnTo>
                    <a:pt x="2752373" y="493250"/>
                  </a:lnTo>
                  <a:lnTo>
                    <a:pt x="2734437" y="455637"/>
                  </a:lnTo>
                  <a:lnTo>
                    <a:pt x="2715343" y="422251"/>
                  </a:lnTo>
                  <a:lnTo>
                    <a:pt x="2693789" y="389905"/>
                  </a:lnTo>
                  <a:lnTo>
                    <a:pt x="2669866" y="358630"/>
                  </a:lnTo>
                  <a:lnTo>
                    <a:pt x="2643667" y="328454"/>
                  </a:lnTo>
                  <a:lnTo>
                    <a:pt x="2615281" y="299405"/>
                  </a:lnTo>
                  <a:lnTo>
                    <a:pt x="2584802" y="271513"/>
                  </a:lnTo>
                  <a:lnTo>
                    <a:pt x="2552321" y="244808"/>
                  </a:lnTo>
                  <a:lnTo>
                    <a:pt x="2517928" y="219317"/>
                  </a:lnTo>
                  <a:lnTo>
                    <a:pt x="2481716" y="195070"/>
                  </a:lnTo>
                  <a:lnTo>
                    <a:pt x="2443776" y="172097"/>
                  </a:lnTo>
                  <a:lnTo>
                    <a:pt x="2404199" y="150425"/>
                  </a:lnTo>
                  <a:lnTo>
                    <a:pt x="2363077" y="130085"/>
                  </a:lnTo>
                  <a:lnTo>
                    <a:pt x="2320503" y="111104"/>
                  </a:lnTo>
                  <a:lnTo>
                    <a:pt x="2276566" y="93513"/>
                  </a:lnTo>
                  <a:lnTo>
                    <a:pt x="2231359" y="77340"/>
                  </a:lnTo>
                  <a:lnTo>
                    <a:pt x="2184973" y="62615"/>
                  </a:lnTo>
                  <a:lnTo>
                    <a:pt x="2137499" y="49365"/>
                  </a:lnTo>
                  <a:lnTo>
                    <a:pt x="2089030" y="37621"/>
                  </a:lnTo>
                  <a:lnTo>
                    <a:pt x="2039657" y="27411"/>
                  </a:lnTo>
                  <a:lnTo>
                    <a:pt x="1989470" y="18765"/>
                  </a:lnTo>
                  <a:lnTo>
                    <a:pt x="1938563" y="11711"/>
                  </a:lnTo>
                  <a:lnTo>
                    <a:pt x="1887026" y="6278"/>
                  </a:lnTo>
                  <a:lnTo>
                    <a:pt x="1834950" y="2496"/>
                  </a:lnTo>
                  <a:lnTo>
                    <a:pt x="1782428" y="394"/>
                  </a:lnTo>
                  <a:lnTo>
                    <a:pt x="1729551" y="0"/>
                  </a:lnTo>
                  <a:close/>
                </a:path>
              </a:pathLst>
            </a:custGeom>
            <a:solidFill>
              <a:srgbClr val="FFEDB8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668526" y="4203103"/>
              <a:ext cx="2789555" cy="1338580"/>
            </a:xfrm>
            <a:custGeom>
              <a:avLst/>
              <a:gdLst/>
              <a:ahLst/>
              <a:cxnLst/>
              <a:rect l="l" t="t" r="r" b="b"/>
              <a:pathLst>
                <a:path w="2789554" h="1338579">
                  <a:moveTo>
                    <a:pt x="0" y="1303362"/>
                  </a:moveTo>
                  <a:lnTo>
                    <a:pt x="752982" y="882611"/>
                  </a:lnTo>
                  <a:lnTo>
                    <a:pt x="735046" y="844997"/>
                  </a:lnTo>
                  <a:lnTo>
                    <a:pt x="720712" y="807238"/>
                  </a:lnTo>
                  <a:lnTo>
                    <a:pt x="709917" y="769413"/>
                  </a:lnTo>
                  <a:lnTo>
                    <a:pt x="702600" y="731603"/>
                  </a:lnTo>
                  <a:lnTo>
                    <a:pt x="698699" y="693886"/>
                  </a:lnTo>
                  <a:lnTo>
                    <a:pt x="698153" y="656343"/>
                  </a:lnTo>
                  <a:lnTo>
                    <a:pt x="700901" y="619052"/>
                  </a:lnTo>
                  <a:lnTo>
                    <a:pt x="716027" y="545546"/>
                  </a:lnTo>
                  <a:lnTo>
                    <a:pt x="743584" y="474005"/>
                  </a:lnTo>
                  <a:lnTo>
                    <a:pt x="761870" y="439170"/>
                  </a:lnTo>
                  <a:lnTo>
                    <a:pt x="783079" y="405065"/>
                  </a:lnTo>
                  <a:lnTo>
                    <a:pt x="807148" y="371769"/>
                  </a:lnTo>
                  <a:lnTo>
                    <a:pt x="834017" y="339362"/>
                  </a:lnTo>
                  <a:lnTo>
                    <a:pt x="863623" y="307923"/>
                  </a:lnTo>
                  <a:lnTo>
                    <a:pt x="895905" y="277533"/>
                  </a:lnTo>
                  <a:lnTo>
                    <a:pt x="930801" y="248269"/>
                  </a:lnTo>
                  <a:lnTo>
                    <a:pt x="968249" y="220213"/>
                  </a:lnTo>
                  <a:lnTo>
                    <a:pt x="1008188" y="193443"/>
                  </a:lnTo>
                  <a:lnTo>
                    <a:pt x="1050555" y="168039"/>
                  </a:lnTo>
                  <a:lnTo>
                    <a:pt x="1095290" y="144081"/>
                  </a:lnTo>
                  <a:lnTo>
                    <a:pt x="1142331" y="121647"/>
                  </a:lnTo>
                  <a:lnTo>
                    <a:pt x="1191615" y="100819"/>
                  </a:lnTo>
                  <a:lnTo>
                    <a:pt x="1243081" y="81674"/>
                  </a:lnTo>
                  <a:lnTo>
                    <a:pt x="1296667" y="64293"/>
                  </a:lnTo>
                  <a:lnTo>
                    <a:pt x="1352312" y="48755"/>
                  </a:lnTo>
                  <a:lnTo>
                    <a:pt x="1409954" y="35140"/>
                  </a:lnTo>
                  <a:lnTo>
                    <a:pt x="1463040" y="24673"/>
                  </a:lnTo>
                  <a:lnTo>
                    <a:pt x="1516320" y="16089"/>
                  </a:lnTo>
                  <a:lnTo>
                    <a:pt x="1569703" y="9359"/>
                  </a:lnTo>
                  <a:lnTo>
                    <a:pt x="1623097" y="4453"/>
                  </a:lnTo>
                  <a:lnTo>
                    <a:pt x="1676410" y="1343"/>
                  </a:lnTo>
                  <a:lnTo>
                    <a:pt x="1729551" y="0"/>
                  </a:lnTo>
                  <a:lnTo>
                    <a:pt x="1782428" y="394"/>
                  </a:lnTo>
                  <a:lnTo>
                    <a:pt x="1834950" y="2496"/>
                  </a:lnTo>
                  <a:lnTo>
                    <a:pt x="1887026" y="6278"/>
                  </a:lnTo>
                  <a:lnTo>
                    <a:pt x="1938563" y="11711"/>
                  </a:lnTo>
                  <a:lnTo>
                    <a:pt x="1989470" y="18765"/>
                  </a:lnTo>
                  <a:lnTo>
                    <a:pt x="2039657" y="27411"/>
                  </a:lnTo>
                  <a:lnTo>
                    <a:pt x="2089030" y="37621"/>
                  </a:lnTo>
                  <a:lnTo>
                    <a:pt x="2137499" y="49365"/>
                  </a:lnTo>
                  <a:lnTo>
                    <a:pt x="2184973" y="62615"/>
                  </a:lnTo>
                  <a:lnTo>
                    <a:pt x="2231359" y="77340"/>
                  </a:lnTo>
                  <a:lnTo>
                    <a:pt x="2276566" y="93513"/>
                  </a:lnTo>
                  <a:lnTo>
                    <a:pt x="2320503" y="111104"/>
                  </a:lnTo>
                  <a:lnTo>
                    <a:pt x="2363077" y="130085"/>
                  </a:lnTo>
                  <a:lnTo>
                    <a:pt x="2404199" y="150425"/>
                  </a:lnTo>
                  <a:lnTo>
                    <a:pt x="2443776" y="172097"/>
                  </a:lnTo>
                  <a:lnTo>
                    <a:pt x="2481716" y="195070"/>
                  </a:lnTo>
                  <a:lnTo>
                    <a:pt x="2517928" y="219317"/>
                  </a:lnTo>
                  <a:lnTo>
                    <a:pt x="2552321" y="244808"/>
                  </a:lnTo>
                  <a:lnTo>
                    <a:pt x="2584802" y="271513"/>
                  </a:lnTo>
                  <a:lnTo>
                    <a:pt x="2615281" y="299405"/>
                  </a:lnTo>
                  <a:lnTo>
                    <a:pt x="2643667" y="328454"/>
                  </a:lnTo>
                  <a:lnTo>
                    <a:pt x="2669866" y="358630"/>
                  </a:lnTo>
                  <a:lnTo>
                    <a:pt x="2693789" y="389905"/>
                  </a:lnTo>
                  <a:lnTo>
                    <a:pt x="2715343" y="422251"/>
                  </a:lnTo>
                  <a:lnTo>
                    <a:pt x="2734437" y="455637"/>
                  </a:lnTo>
                  <a:lnTo>
                    <a:pt x="2752373" y="493250"/>
                  </a:lnTo>
                  <a:lnTo>
                    <a:pt x="2766707" y="531009"/>
                  </a:lnTo>
                  <a:lnTo>
                    <a:pt x="2777502" y="568834"/>
                  </a:lnTo>
                  <a:lnTo>
                    <a:pt x="2784819" y="606644"/>
                  </a:lnTo>
                  <a:lnTo>
                    <a:pt x="2789266" y="681904"/>
                  </a:lnTo>
                  <a:lnTo>
                    <a:pt x="2786518" y="719195"/>
                  </a:lnTo>
                  <a:lnTo>
                    <a:pt x="2771392" y="792701"/>
                  </a:lnTo>
                  <a:lnTo>
                    <a:pt x="2743835" y="864242"/>
                  </a:lnTo>
                  <a:lnTo>
                    <a:pt x="2725549" y="899077"/>
                  </a:lnTo>
                  <a:lnTo>
                    <a:pt x="2704340" y="933182"/>
                  </a:lnTo>
                  <a:lnTo>
                    <a:pt x="2680271" y="966478"/>
                  </a:lnTo>
                  <a:lnTo>
                    <a:pt x="2653402" y="998885"/>
                  </a:lnTo>
                  <a:lnTo>
                    <a:pt x="2623796" y="1030324"/>
                  </a:lnTo>
                  <a:lnTo>
                    <a:pt x="2591514" y="1060715"/>
                  </a:lnTo>
                  <a:lnTo>
                    <a:pt x="2556618" y="1089978"/>
                  </a:lnTo>
                  <a:lnTo>
                    <a:pt x="2519170" y="1118034"/>
                  </a:lnTo>
                  <a:lnTo>
                    <a:pt x="2479231" y="1144804"/>
                  </a:lnTo>
                  <a:lnTo>
                    <a:pt x="2436864" y="1170208"/>
                  </a:lnTo>
                  <a:lnTo>
                    <a:pt x="2392129" y="1194166"/>
                  </a:lnTo>
                  <a:lnTo>
                    <a:pt x="2345088" y="1216600"/>
                  </a:lnTo>
                  <a:lnTo>
                    <a:pt x="2295804" y="1237429"/>
                  </a:lnTo>
                  <a:lnTo>
                    <a:pt x="2244338" y="1256573"/>
                  </a:lnTo>
                  <a:lnTo>
                    <a:pt x="2190752" y="1273954"/>
                  </a:lnTo>
                  <a:lnTo>
                    <a:pt x="2135107" y="1289492"/>
                  </a:lnTo>
                  <a:lnTo>
                    <a:pt x="2077465" y="1303108"/>
                  </a:lnTo>
                  <a:lnTo>
                    <a:pt x="2026763" y="1313136"/>
                  </a:lnTo>
                  <a:lnTo>
                    <a:pt x="1975715" y="1321454"/>
                  </a:lnTo>
                  <a:lnTo>
                    <a:pt x="1924411" y="1328079"/>
                  </a:lnTo>
                  <a:lnTo>
                    <a:pt x="1872944" y="1333026"/>
                  </a:lnTo>
                  <a:lnTo>
                    <a:pt x="1821405" y="1336311"/>
                  </a:lnTo>
                  <a:lnTo>
                    <a:pt x="1769885" y="1337952"/>
                  </a:lnTo>
                  <a:lnTo>
                    <a:pt x="1718476" y="1337963"/>
                  </a:lnTo>
                  <a:lnTo>
                    <a:pt x="1667270" y="1336362"/>
                  </a:lnTo>
                  <a:lnTo>
                    <a:pt x="1616357" y="1333164"/>
                  </a:lnTo>
                  <a:lnTo>
                    <a:pt x="1565829" y="1328385"/>
                  </a:lnTo>
                  <a:lnTo>
                    <a:pt x="1515777" y="1322043"/>
                  </a:lnTo>
                  <a:lnTo>
                    <a:pt x="1466294" y="1314152"/>
                  </a:lnTo>
                  <a:lnTo>
                    <a:pt x="1417470" y="1304729"/>
                  </a:lnTo>
                  <a:lnTo>
                    <a:pt x="1369397" y="1293791"/>
                  </a:lnTo>
                  <a:lnTo>
                    <a:pt x="1322166" y="1281353"/>
                  </a:lnTo>
                  <a:lnTo>
                    <a:pt x="1275870" y="1267432"/>
                  </a:lnTo>
                  <a:lnTo>
                    <a:pt x="1230598" y="1252044"/>
                  </a:lnTo>
                  <a:lnTo>
                    <a:pt x="1186443" y="1235204"/>
                  </a:lnTo>
                  <a:lnTo>
                    <a:pt x="1143497" y="1216931"/>
                  </a:lnTo>
                  <a:lnTo>
                    <a:pt x="1101850" y="1197238"/>
                  </a:lnTo>
                  <a:lnTo>
                    <a:pt x="1061594" y="1176143"/>
                  </a:lnTo>
                  <a:lnTo>
                    <a:pt x="1022820" y="1153662"/>
                  </a:lnTo>
                  <a:lnTo>
                    <a:pt x="985621" y="1129811"/>
                  </a:lnTo>
                  <a:lnTo>
                    <a:pt x="950087" y="1104607"/>
                  </a:lnTo>
                  <a:lnTo>
                    <a:pt x="0" y="130336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534068" y="2836336"/>
            <a:ext cx="2707005" cy="28305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173355" defTabSz="685800" eaLnBrk="1" fontAlgn="auto" hangingPunct="1">
              <a:lnSpc>
                <a:spcPct val="110000"/>
              </a:lnSpc>
              <a:spcBef>
                <a:spcPts val="75"/>
              </a:spcBef>
              <a:spcAft>
                <a:spcPts val="0"/>
              </a:spcAft>
            </a:pPr>
            <a:r>
              <a:rPr sz="2400" kern="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400" kern="0" spc="-8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*pInt</a:t>
            </a:r>
            <a:r>
              <a:rPr sz="2400" kern="0" spc="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spc="-38" dirty="0">
                <a:solidFill>
                  <a:sysClr val="windowText" lastClr="000000"/>
                </a:solidFill>
                <a:latin typeface="Consolas"/>
                <a:cs typeface="Consolas"/>
              </a:rPr>
              <a:t>;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pInt</a:t>
            </a:r>
            <a:r>
              <a:rPr sz="2400" kern="0" spc="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=</a:t>
            </a:r>
            <a:r>
              <a:rPr sz="2400" kern="0" spc="-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2400" kern="0" spc="4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kern="0" spc="-15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400" kern="0" spc="-15" dirty="0">
                <a:solidFill>
                  <a:sysClr val="windowText" lastClr="000000"/>
                </a:solidFill>
                <a:latin typeface="Consolas"/>
                <a:cs typeface="Consolas"/>
              </a:rPr>
              <a:t>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525" defTabSz="685800" eaLnBrk="1" fontAlgn="auto" hangingPunct="1">
              <a:spcBef>
                <a:spcPts val="289"/>
              </a:spcBef>
              <a:spcAft>
                <a:spcPts val="0"/>
              </a:spcAft>
            </a:pP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*pInt</a:t>
            </a:r>
            <a:r>
              <a:rPr sz="2400" kern="0" spc="-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=</a:t>
            </a:r>
            <a:r>
              <a:rPr sz="2400" kern="0" spc="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spc="-19" dirty="0">
                <a:solidFill>
                  <a:sysClr val="windowText" lastClr="000000"/>
                </a:solidFill>
                <a:latin typeface="Consolas"/>
                <a:cs typeface="Consolas"/>
              </a:rPr>
              <a:t>10;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18774" defTabSz="685800" eaLnBrk="1" fontAlgn="auto" hangingPunct="1">
              <a:spcBef>
                <a:spcPts val="1410"/>
              </a:spcBef>
              <a:spcAft>
                <a:spcPts val="0"/>
              </a:spcAft>
            </a:pPr>
            <a:r>
              <a:rPr sz="1800" kern="0" spc="-8" dirty="0">
                <a:solidFill>
                  <a:srgbClr val="0000FF"/>
                </a:solidFill>
                <a:latin typeface="Arial"/>
                <a:cs typeface="Arial"/>
              </a:rPr>
              <a:t>Deallocate</a:t>
            </a:r>
            <a:endParaRPr sz="1800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44015" defTabSz="685800" eaLnBrk="1" fontAlgn="auto" hangingPunct="1">
              <a:spcBef>
                <a:spcPts val="4"/>
              </a:spcBef>
              <a:spcAft>
                <a:spcPts val="0"/>
              </a:spcAft>
            </a:pPr>
            <a:r>
              <a:rPr sz="1800" kern="0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sz="1800" kern="0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kern="0" spc="-15" dirty="0">
                <a:solidFill>
                  <a:srgbClr val="0000FF"/>
                </a:solidFill>
                <a:latin typeface="Arial"/>
                <a:cs typeface="Arial"/>
              </a:rPr>
              <a:t>heap</a:t>
            </a:r>
            <a:endParaRPr sz="1800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525" marR="172878" defTabSz="685800" eaLnBrk="1" fontAlgn="auto" hangingPunct="1">
              <a:lnSpc>
                <a:spcPct val="110000"/>
              </a:lnSpc>
              <a:spcBef>
                <a:spcPts val="604"/>
              </a:spcBef>
              <a:spcAft>
                <a:spcPts val="0"/>
              </a:spcAft>
            </a:pPr>
            <a:r>
              <a:rPr sz="2400" kern="0" dirty="0">
                <a:solidFill>
                  <a:srgbClr val="0000FF"/>
                </a:solidFill>
                <a:latin typeface="Consolas"/>
                <a:cs typeface="Consolas"/>
              </a:rPr>
              <a:t>delete</a:t>
            </a:r>
            <a:r>
              <a:rPr sz="2400" kern="0" spc="-4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kern="0" spc="-8" dirty="0">
                <a:solidFill>
                  <a:sysClr val="windowText" lastClr="000000"/>
                </a:solidFill>
                <a:latin typeface="Consolas"/>
                <a:cs typeface="Consolas"/>
              </a:rPr>
              <a:t>pInt;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pInt</a:t>
            </a:r>
            <a:r>
              <a:rPr sz="2400" kern="0" spc="-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=</a:t>
            </a:r>
            <a:r>
              <a:rPr sz="2400" kern="0" spc="-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spc="-8" dirty="0" err="1">
                <a:solidFill>
                  <a:srgbClr val="0000FF"/>
                </a:solidFill>
                <a:latin typeface="Consolas"/>
                <a:cs typeface="Consolas"/>
              </a:rPr>
              <a:t>nullptr</a:t>
            </a:r>
            <a:r>
              <a:rPr sz="2400" kern="0" spc="-8" dirty="0">
                <a:solidFill>
                  <a:sysClr val="windowText" lastClr="000000"/>
                </a:solidFill>
                <a:latin typeface="Consolas"/>
                <a:cs typeface="Consolas"/>
              </a:rPr>
              <a:t>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90664" y="5129176"/>
            <a:ext cx="11953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sz="1350" kern="0" dirty="0">
                <a:solidFill>
                  <a:sysClr val="windowText" lastClr="000000"/>
                </a:solidFill>
                <a:latin typeface="Cascadia Mono"/>
                <a:cs typeface="Cascadia Mono"/>
              </a:rPr>
              <a:t>x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8906" y="5151089"/>
            <a:ext cx="130111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 eaLnBrk="1" fontAlgn="auto" hangingPunct="1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sz="1350" b="1" kern="0" spc="-8" dirty="0">
                <a:solidFill>
                  <a:srgbClr val="7E7E7E"/>
                </a:solidFill>
                <a:latin typeface="Cascadia Mono"/>
                <a:cs typeface="Cascadia Mono"/>
              </a:rPr>
              <a:t>Uninitialized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742279" y="5132594"/>
            <a:ext cx="1441133" cy="231795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23813" rIns="0" bIns="0" rtlCol="0">
            <a:spAutoFit/>
          </a:bodyPr>
          <a:lstStyle/>
          <a:p>
            <a:pPr marL="2381" algn="ctr" defTabSz="685800" eaLnBrk="1" fontAlgn="auto" hangingPunct="1">
              <a:spcBef>
                <a:spcPts val="188"/>
              </a:spcBef>
              <a:spcAft>
                <a:spcPts val="0"/>
              </a:spcAft>
            </a:pPr>
            <a:r>
              <a:rPr sz="1350" b="1" kern="0" dirty="0">
                <a:solidFill>
                  <a:sysClr val="windowText" lastClr="000000"/>
                </a:solidFill>
                <a:latin typeface="Cascadia Mono"/>
                <a:cs typeface="Cascadia Mono"/>
              </a:rPr>
              <a:t>2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730515" y="4826985"/>
            <a:ext cx="1455420" cy="288131"/>
          </a:xfrm>
          <a:custGeom>
            <a:avLst/>
            <a:gdLst/>
            <a:ahLst/>
            <a:cxnLst/>
            <a:rect l="l" t="t" r="r" b="b"/>
            <a:pathLst>
              <a:path w="1940559" h="384175">
                <a:moveTo>
                  <a:pt x="6350" y="0"/>
                </a:moveTo>
                <a:lnTo>
                  <a:pt x="6350" y="383590"/>
                </a:lnTo>
              </a:path>
              <a:path w="1940559" h="384175">
                <a:moveTo>
                  <a:pt x="1933956" y="0"/>
                </a:moveTo>
                <a:lnTo>
                  <a:pt x="1933956" y="383590"/>
                </a:lnTo>
              </a:path>
              <a:path w="1940559" h="384175">
                <a:moveTo>
                  <a:pt x="0" y="377240"/>
                </a:moveTo>
                <a:lnTo>
                  <a:pt x="1940306" y="3772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sz="1350" kern="0">
              <a:solidFill>
                <a:sysClr val="windowText" lastClr="000000"/>
              </a:solidFill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35278" y="4831747"/>
            <a:ext cx="1445895" cy="236603"/>
          </a:xfrm>
          <a:prstGeom prst="rect">
            <a:avLst/>
          </a:prstGeom>
          <a:solidFill>
            <a:srgbClr val="E7E6E6"/>
          </a:solidFill>
          <a:ln w="12700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2381" algn="ctr" defTabSz="685800" eaLnBrk="1" fontAlgn="auto" hangingPunct="1">
              <a:spcBef>
                <a:spcPts val="225"/>
              </a:spcBef>
              <a:spcAft>
                <a:spcPts val="0"/>
              </a:spcAft>
            </a:pPr>
            <a:r>
              <a:rPr sz="1350" b="1" kern="0" dirty="0">
                <a:solidFill>
                  <a:sysClr val="windowText" lastClr="000000"/>
                </a:solidFill>
                <a:latin typeface="Cascadia Mono"/>
                <a:cs typeface="Cascadia Mono"/>
              </a:rPr>
              <a:t>0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038335" y="1790890"/>
            <a:ext cx="5221605" cy="1672590"/>
            <a:chOff x="4669282" y="1244853"/>
            <a:chExt cx="6962140" cy="2230120"/>
          </a:xfrm>
        </p:grpSpPr>
        <p:sp>
          <p:nvSpPr>
            <p:cNvPr id="48" name="object 48"/>
            <p:cNvSpPr/>
            <p:nvPr/>
          </p:nvSpPr>
          <p:spPr>
            <a:xfrm>
              <a:off x="4675632" y="1250949"/>
              <a:ext cx="3083560" cy="2217420"/>
            </a:xfrm>
            <a:custGeom>
              <a:avLst/>
              <a:gdLst/>
              <a:ahLst/>
              <a:cxnLst/>
              <a:rect l="l" t="t" r="r" b="b"/>
              <a:pathLst>
                <a:path w="3083559" h="2217420">
                  <a:moveTo>
                    <a:pt x="3083052" y="0"/>
                  </a:moveTo>
                  <a:lnTo>
                    <a:pt x="2958846" y="0"/>
                  </a:lnTo>
                  <a:lnTo>
                    <a:pt x="2958846" y="2096770"/>
                  </a:lnTo>
                  <a:lnTo>
                    <a:pt x="0" y="2096770"/>
                  </a:lnTo>
                  <a:lnTo>
                    <a:pt x="0" y="2217420"/>
                  </a:lnTo>
                  <a:lnTo>
                    <a:pt x="3083052" y="2217420"/>
                  </a:lnTo>
                  <a:lnTo>
                    <a:pt x="3083052" y="2096770"/>
                  </a:lnTo>
                  <a:lnTo>
                    <a:pt x="3083052" y="0"/>
                  </a:lnTo>
                  <a:close/>
                </a:path>
              </a:pathLst>
            </a:custGeom>
            <a:solidFill>
              <a:srgbClr val="2B91AE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675632" y="1251203"/>
              <a:ext cx="3083560" cy="2217420"/>
            </a:xfrm>
            <a:custGeom>
              <a:avLst/>
              <a:gdLst/>
              <a:ahLst/>
              <a:cxnLst/>
              <a:rect l="l" t="t" r="r" b="b"/>
              <a:pathLst>
                <a:path w="3083559" h="2217420">
                  <a:moveTo>
                    <a:pt x="0" y="0"/>
                  </a:moveTo>
                  <a:lnTo>
                    <a:pt x="124205" y="0"/>
                  </a:lnTo>
                  <a:lnTo>
                    <a:pt x="124205" y="2095881"/>
                  </a:lnTo>
                  <a:lnTo>
                    <a:pt x="2958845" y="2095881"/>
                  </a:lnTo>
                  <a:lnTo>
                    <a:pt x="2958845" y="0"/>
                  </a:lnTo>
                  <a:lnTo>
                    <a:pt x="3083051" y="0"/>
                  </a:lnTo>
                  <a:lnTo>
                    <a:pt x="3083051" y="2217420"/>
                  </a:lnTo>
                  <a:lnTo>
                    <a:pt x="0" y="221742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5598541" y="2556890"/>
              <a:ext cx="1927860" cy="377190"/>
            </a:xfrm>
            <a:custGeom>
              <a:avLst/>
              <a:gdLst/>
              <a:ahLst/>
              <a:cxnLst/>
              <a:rect l="l" t="t" r="r" b="b"/>
              <a:pathLst>
                <a:path w="1927859" h="377189">
                  <a:moveTo>
                    <a:pt x="0" y="0"/>
                  </a:moveTo>
                  <a:lnTo>
                    <a:pt x="0" y="377190"/>
                  </a:lnTo>
                </a:path>
                <a:path w="1927859" h="377189">
                  <a:moveTo>
                    <a:pt x="1927733" y="0"/>
                  </a:moveTo>
                  <a:lnTo>
                    <a:pt x="1927733" y="37719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5592191" y="2560065"/>
              <a:ext cx="1940560" cy="0"/>
            </a:xfrm>
            <a:custGeom>
              <a:avLst/>
              <a:gdLst/>
              <a:ahLst/>
              <a:cxnLst/>
              <a:rect l="l" t="t" r="r" b="b"/>
              <a:pathLst>
                <a:path w="1940559">
                  <a:moveTo>
                    <a:pt x="0" y="0"/>
                  </a:moveTo>
                  <a:lnTo>
                    <a:pt x="1940433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8540496" y="1250949"/>
              <a:ext cx="3084830" cy="2217420"/>
            </a:xfrm>
            <a:custGeom>
              <a:avLst/>
              <a:gdLst/>
              <a:ahLst/>
              <a:cxnLst/>
              <a:rect l="l" t="t" r="r" b="b"/>
              <a:pathLst>
                <a:path w="3084829" h="2217420">
                  <a:moveTo>
                    <a:pt x="3084576" y="0"/>
                  </a:moveTo>
                  <a:lnTo>
                    <a:pt x="2960370" y="0"/>
                  </a:lnTo>
                  <a:lnTo>
                    <a:pt x="2960370" y="2096770"/>
                  </a:lnTo>
                  <a:lnTo>
                    <a:pt x="124206" y="2096770"/>
                  </a:lnTo>
                  <a:lnTo>
                    <a:pt x="124206" y="0"/>
                  </a:lnTo>
                  <a:lnTo>
                    <a:pt x="0" y="0"/>
                  </a:lnTo>
                  <a:lnTo>
                    <a:pt x="0" y="2096770"/>
                  </a:lnTo>
                  <a:lnTo>
                    <a:pt x="0" y="2217420"/>
                  </a:lnTo>
                  <a:lnTo>
                    <a:pt x="3084576" y="2217420"/>
                  </a:lnTo>
                  <a:lnTo>
                    <a:pt x="3084576" y="2096770"/>
                  </a:lnTo>
                  <a:lnTo>
                    <a:pt x="3084576" y="0"/>
                  </a:lnTo>
                  <a:close/>
                </a:path>
              </a:pathLst>
            </a:custGeom>
            <a:solidFill>
              <a:srgbClr val="2B91AE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8540496" y="1251203"/>
              <a:ext cx="3084830" cy="2217420"/>
            </a:xfrm>
            <a:custGeom>
              <a:avLst/>
              <a:gdLst/>
              <a:ahLst/>
              <a:cxnLst/>
              <a:rect l="l" t="t" r="r" b="b"/>
              <a:pathLst>
                <a:path w="3084829" h="2217420">
                  <a:moveTo>
                    <a:pt x="0" y="0"/>
                  </a:moveTo>
                  <a:lnTo>
                    <a:pt x="124205" y="0"/>
                  </a:lnTo>
                  <a:lnTo>
                    <a:pt x="124205" y="2095881"/>
                  </a:lnTo>
                  <a:lnTo>
                    <a:pt x="2960370" y="2095881"/>
                  </a:lnTo>
                  <a:lnTo>
                    <a:pt x="2960370" y="0"/>
                  </a:lnTo>
                  <a:lnTo>
                    <a:pt x="3084576" y="0"/>
                  </a:lnTo>
                  <a:lnTo>
                    <a:pt x="3084576" y="2217420"/>
                  </a:lnTo>
                  <a:lnTo>
                    <a:pt x="0" y="221742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233787" y="2820074"/>
            <a:ext cx="4014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 eaLnBrk="1" fontAlgn="auto" hangingPunct="1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sz="1350" kern="0" spc="-15" dirty="0">
                <a:solidFill>
                  <a:sysClr val="windowText" lastClr="000000"/>
                </a:solidFill>
                <a:latin typeface="Cascadia Mono"/>
                <a:cs typeface="Cascadia Mono"/>
              </a:rPr>
              <a:t>pItt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08906" y="2820074"/>
            <a:ext cx="130349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 eaLnBrk="1" fontAlgn="auto" hangingPunct="1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sz="1350" kern="0" spc="-8" dirty="0">
                <a:solidFill>
                  <a:srgbClr val="7E7E7E"/>
                </a:solidFill>
                <a:latin typeface="Cascadia Mono"/>
                <a:cs typeface="Cascadia Mono"/>
              </a:rPr>
              <a:t>Utititialized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340843" y="2819813"/>
            <a:ext cx="151780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 eaLnBrk="1" fontAlgn="auto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00" kern="0" dirty="0">
                <a:solidFill>
                  <a:srgbClr val="7E7E7E"/>
                </a:solidFill>
                <a:latin typeface="Cascadia Mono"/>
                <a:cs typeface="Cascadia Mono"/>
              </a:rPr>
              <a:t>Utititialized</a:t>
            </a:r>
            <a:r>
              <a:rPr sz="1200" kern="0" spc="-79" dirty="0">
                <a:solidFill>
                  <a:srgbClr val="7E7E7E"/>
                </a:solidFill>
                <a:latin typeface="Cascadia Mono"/>
                <a:cs typeface="Cascadia Mono"/>
              </a:rPr>
              <a:t> </a:t>
            </a:r>
            <a:r>
              <a:rPr sz="1200" kern="0" spc="-19" dirty="0">
                <a:solidFill>
                  <a:srgbClr val="7E7E7E"/>
                </a:solidFill>
                <a:latin typeface="Cascadia Mono"/>
                <a:cs typeface="Cascadia Mono"/>
              </a:rPr>
              <a:t>itt</a:t>
            </a:r>
            <a:endParaRPr sz="120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164827" y="2772538"/>
            <a:ext cx="2021205" cy="287655"/>
            <a:chOff x="4837938" y="2553716"/>
            <a:chExt cx="2694940" cy="383540"/>
          </a:xfrm>
        </p:grpSpPr>
        <p:sp>
          <p:nvSpPr>
            <p:cNvPr id="58" name="object 58"/>
            <p:cNvSpPr/>
            <p:nvPr/>
          </p:nvSpPr>
          <p:spPr>
            <a:xfrm>
              <a:off x="4837938" y="2563241"/>
              <a:ext cx="760730" cy="370840"/>
            </a:xfrm>
            <a:custGeom>
              <a:avLst/>
              <a:gdLst/>
              <a:ahLst/>
              <a:cxnLst/>
              <a:rect l="l" t="t" r="r" b="b"/>
              <a:pathLst>
                <a:path w="760729" h="370839">
                  <a:moveTo>
                    <a:pt x="760641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760641" y="370839"/>
                  </a:lnTo>
                  <a:lnTo>
                    <a:pt x="760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5598541" y="2563241"/>
              <a:ext cx="1927860" cy="370840"/>
            </a:xfrm>
            <a:custGeom>
              <a:avLst/>
              <a:gdLst/>
              <a:ahLst/>
              <a:cxnLst/>
              <a:rect l="l" t="t" r="r" b="b"/>
              <a:pathLst>
                <a:path w="1927859" h="370839">
                  <a:moveTo>
                    <a:pt x="1927733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927733" y="370839"/>
                  </a:lnTo>
                  <a:lnTo>
                    <a:pt x="1927733" y="0"/>
                  </a:lnTo>
                  <a:close/>
                </a:path>
              </a:pathLst>
            </a:custGeom>
            <a:solidFill>
              <a:srgbClr val="B5D100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598541" y="2556891"/>
              <a:ext cx="1927860" cy="377190"/>
            </a:xfrm>
            <a:custGeom>
              <a:avLst/>
              <a:gdLst/>
              <a:ahLst/>
              <a:cxnLst/>
              <a:rect l="l" t="t" r="r" b="b"/>
              <a:pathLst>
                <a:path w="1927859" h="377189">
                  <a:moveTo>
                    <a:pt x="0" y="0"/>
                  </a:moveTo>
                  <a:lnTo>
                    <a:pt x="0" y="377190"/>
                  </a:lnTo>
                </a:path>
                <a:path w="1927859" h="377189">
                  <a:moveTo>
                    <a:pt x="1927733" y="0"/>
                  </a:moveTo>
                  <a:lnTo>
                    <a:pt x="1927733" y="37719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592191" y="2556891"/>
              <a:ext cx="1940560" cy="12700"/>
            </a:xfrm>
            <a:custGeom>
              <a:avLst/>
              <a:gdLst/>
              <a:ahLst/>
              <a:cxnLst/>
              <a:rect l="l" t="t" r="r" b="b"/>
              <a:pathLst>
                <a:path w="1940559" h="12700">
                  <a:moveTo>
                    <a:pt x="0" y="12700"/>
                  </a:moveTo>
                  <a:lnTo>
                    <a:pt x="1940433" y="12700"/>
                  </a:lnTo>
                  <a:lnTo>
                    <a:pt x="1940433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224262" y="2798160"/>
            <a:ext cx="42052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sz="1350" kern="0" spc="-15" dirty="0" err="1">
                <a:solidFill>
                  <a:sysClr val="windowText" lastClr="000000"/>
                </a:solidFill>
                <a:latin typeface="Cascadia Mono"/>
                <a:cs typeface="Cascadia Mono"/>
              </a:rPr>
              <a:t>pI</a:t>
            </a:r>
            <a:r>
              <a:rPr lang="en-US" sz="1350" kern="0" spc="-15" dirty="0" err="1">
                <a:solidFill>
                  <a:sysClr val="windowText" lastClr="000000"/>
                </a:solidFill>
                <a:latin typeface="Cascadia Mono"/>
                <a:cs typeface="Cascadia Mono"/>
              </a:rPr>
              <a:t>n</a:t>
            </a:r>
            <a:r>
              <a:rPr sz="1350" kern="0" spc="-15" dirty="0" err="1">
                <a:solidFill>
                  <a:sysClr val="windowText" lastClr="000000"/>
                </a:solidFill>
                <a:latin typeface="Cascadia Mono"/>
                <a:cs typeface="Cascadia Mono"/>
              </a:rPr>
              <a:t>t</a:t>
            </a:r>
            <a:endParaRPr sz="1350" kern="0" dirty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37659" y="2798160"/>
            <a:ext cx="144113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70523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sz="1350" b="1" kern="0" spc="-8" dirty="0">
                <a:solidFill>
                  <a:srgbClr val="AC1B00"/>
                </a:solidFill>
                <a:latin typeface="Cascadia Mono"/>
                <a:cs typeface="Cascadia Mono"/>
              </a:rPr>
              <a:t>Address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9234734" y="2779681"/>
            <a:ext cx="1728311" cy="278130"/>
          </a:xfrm>
          <a:custGeom>
            <a:avLst/>
            <a:gdLst/>
            <a:ahLst/>
            <a:cxnLst/>
            <a:rect l="l" t="t" r="r" b="b"/>
            <a:pathLst>
              <a:path w="2304415" h="370839">
                <a:moveTo>
                  <a:pt x="2304033" y="0"/>
                </a:moveTo>
                <a:lnTo>
                  <a:pt x="0" y="0"/>
                </a:lnTo>
                <a:lnTo>
                  <a:pt x="0" y="370839"/>
                </a:lnTo>
                <a:lnTo>
                  <a:pt x="2304033" y="370839"/>
                </a:lnTo>
                <a:lnTo>
                  <a:pt x="23040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sz="1350" kern="0">
              <a:solidFill>
                <a:sysClr val="windowText" lastClr="000000"/>
              </a:solidFill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234734" y="2779681"/>
            <a:ext cx="1728311" cy="23564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7623" rIns="0" bIns="0" rtlCol="0">
            <a:spAutoFit/>
          </a:bodyPr>
          <a:lstStyle/>
          <a:p>
            <a:pPr marL="1905" algn="ctr" defTabSz="685800" eaLnBrk="1" fontAlgn="auto" hangingPunct="1">
              <a:spcBef>
                <a:spcPts val="217"/>
              </a:spcBef>
              <a:spcAft>
                <a:spcPts val="0"/>
              </a:spcAft>
            </a:pPr>
            <a:r>
              <a:rPr sz="1350" kern="0" spc="-19" dirty="0">
                <a:solidFill>
                  <a:srgbClr val="AC1B00"/>
                </a:solidFill>
                <a:latin typeface="Cascadia Mono"/>
                <a:cs typeface="Cascadia Mono"/>
              </a:rPr>
              <a:t>10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808525" y="3540596"/>
            <a:ext cx="782002" cy="3794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 eaLnBrk="1" fontAlgn="auto" hangingPunct="1">
              <a:spcBef>
                <a:spcPts val="79"/>
              </a:spcBef>
              <a:spcAft>
                <a:spcPts val="0"/>
              </a:spcAft>
            </a:pPr>
            <a:r>
              <a:rPr sz="2400" kern="0" spc="-8" dirty="0">
                <a:solidFill>
                  <a:sysClr val="windowText" lastClr="000000"/>
                </a:solidFill>
                <a:latin typeface="Arial"/>
                <a:cs typeface="Arial"/>
              </a:rPr>
              <a:t>Stack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725463" y="3540596"/>
            <a:ext cx="749141" cy="3794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 eaLnBrk="1" fontAlgn="auto" hangingPunct="1">
              <a:spcBef>
                <a:spcPts val="79"/>
              </a:spcBef>
              <a:spcAft>
                <a:spcPts val="0"/>
              </a:spcAft>
            </a:pPr>
            <a:r>
              <a:rPr sz="2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Heap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133452" y="2872168"/>
            <a:ext cx="1101566" cy="95250"/>
          </a:xfrm>
          <a:custGeom>
            <a:avLst/>
            <a:gdLst/>
            <a:ahLst/>
            <a:cxnLst/>
            <a:rect l="l" t="t" r="r" b="b"/>
            <a:pathLst>
              <a:path w="1468754" h="127000">
                <a:moveTo>
                  <a:pt x="63500" y="0"/>
                </a:moveTo>
                <a:lnTo>
                  <a:pt x="38790" y="4992"/>
                </a:lnTo>
                <a:lnTo>
                  <a:pt x="18605" y="18605"/>
                </a:lnTo>
                <a:lnTo>
                  <a:pt x="4992" y="38790"/>
                </a:lnTo>
                <a:lnTo>
                  <a:pt x="0" y="63500"/>
                </a:lnTo>
                <a:lnTo>
                  <a:pt x="4992" y="88209"/>
                </a:lnTo>
                <a:lnTo>
                  <a:pt x="18605" y="108394"/>
                </a:lnTo>
                <a:lnTo>
                  <a:pt x="38790" y="122007"/>
                </a:lnTo>
                <a:lnTo>
                  <a:pt x="63500" y="127000"/>
                </a:lnTo>
                <a:lnTo>
                  <a:pt x="88209" y="122007"/>
                </a:lnTo>
                <a:lnTo>
                  <a:pt x="108394" y="108394"/>
                </a:lnTo>
                <a:lnTo>
                  <a:pt x="122007" y="88209"/>
                </a:lnTo>
                <a:lnTo>
                  <a:pt x="125075" y="73025"/>
                </a:lnTo>
                <a:lnTo>
                  <a:pt x="63500" y="73025"/>
                </a:lnTo>
                <a:lnTo>
                  <a:pt x="63500" y="53975"/>
                </a:lnTo>
                <a:lnTo>
                  <a:pt x="125075" y="53975"/>
                </a:lnTo>
                <a:lnTo>
                  <a:pt x="122007" y="38790"/>
                </a:lnTo>
                <a:lnTo>
                  <a:pt x="108394" y="18605"/>
                </a:lnTo>
                <a:lnTo>
                  <a:pt x="88209" y="4992"/>
                </a:lnTo>
                <a:lnTo>
                  <a:pt x="63500" y="0"/>
                </a:lnTo>
                <a:close/>
              </a:path>
              <a:path w="1468754" h="127000">
                <a:moveTo>
                  <a:pt x="125075" y="53975"/>
                </a:moveTo>
                <a:lnTo>
                  <a:pt x="63500" y="53975"/>
                </a:lnTo>
                <a:lnTo>
                  <a:pt x="63500" y="73025"/>
                </a:lnTo>
                <a:lnTo>
                  <a:pt x="125075" y="73025"/>
                </a:lnTo>
                <a:lnTo>
                  <a:pt x="127000" y="63500"/>
                </a:lnTo>
                <a:lnTo>
                  <a:pt x="125075" y="53975"/>
                </a:lnTo>
                <a:close/>
              </a:path>
              <a:path w="1468754" h="127000">
                <a:moveTo>
                  <a:pt x="139700" y="53975"/>
                </a:moveTo>
                <a:lnTo>
                  <a:pt x="125075" y="53975"/>
                </a:lnTo>
                <a:lnTo>
                  <a:pt x="127000" y="63500"/>
                </a:lnTo>
                <a:lnTo>
                  <a:pt x="125075" y="73025"/>
                </a:lnTo>
                <a:lnTo>
                  <a:pt x="139700" y="73025"/>
                </a:lnTo>
                <a:lnTo>
                  <a:pt x="139700" y="53975"/>
                </a:lnTo>
                <a:close/>
              </a:path>
              <a:path w="1468754" h="127000">
                <a:moveTo>
                  <a:pt x="273050" y="53975"/>
                </a:moveTo>
                <a:lnTo>
                  <a:pt x="196850" y="53975"/>
                </a:lnTo>
                <a:lnTo>
                  <a:pt x="196850" y="73025"/>
                </a:lnTo>
                <a:lnTo>
                  <a:pt x="273050" y="73025"/>
                </a:lnTo>
                <a:lnTo>
                  <a:pt x="273050" y="53975"/>
                </a:lnTo>
                <a:close/>
              </a:path>
              <a:path w="1468754" h="127000">
                <a:moveTo>
                  <a:pt x="406400" y="53975"/>
                </a:moveTo>
                <a:lnTo>
                  <a:pt x="330200" y="53975"/>
                </a:lnTo>
                <a:lnTo>
                  <a:pt x="330200" y="73025"/>
                </a:lnTo>
                <a:lnTo>
                  <a:pt x="406400" y="73025"/>
                </a:lnTo>
                <a:lnTo>
                  <a:pt x="406400" y="53975"/>
                </a:lnTo>
                <a:close/>
              </a:path>
              <a:path w="1468754" h="127000">
                <a:moveTo>
                  <a:pt x="539750" y="53975"/>
                </a:moveTo>
                <a:lnTo>
                  <a:pt x="463550" y="53975"/>
                </a:lnTo>
                <a:lnTo>
                  <a:pt x="463550" y="73025"/>
                </a:lnTo>
                <a:lnTo>
                  <a:pt x="539750" y="73025"/>
                </a:lnTo>
                <a:lnTo>
                  <a:pt x="539750" y="53975"/>
                </a:lnTo>
                <a:close/>
              </a:path>
              <a:path w="1468754" h="127000">
                <a:moveTo>
                  <a:pt x="673100" y="53975"/>
                </a:moveTo>
                <a:lnTo>
                  <a:pt x="596900" y="53975"/>
                </a:lnTo>
                <a:lnTo>
                  <a:pt x="596900" y="73025"/>
                </a:lnTo>
                <a:lnTo>
                  <a:pt x="673100" y="73025"/>
                </a:lnTo>
                <a:lnTo>
                  <a:pt x="673100" y="53975"/>
                </a:lnTo>
                <a:close/>
              </a:path>
              <a:path w="1468754" h="127000">
                <a:moveTo>
                  <a:pt x="806450" y="53975"/>
                </a:moveTo>
                <a:lnTo>
                  <a:pt x="730250" y="53975"/>
                </a:lnTo>
                <a:lnTo>
                  <a:pt x="730250" y="73025"/>
                </a:lnTo>
                <a:lnTo>
                  <a:pt x="806450" y="73025"/>
                </a:lnTo>
                <a:lnTo>
                  <a:pt x="806450" y="53975"/>
                </a:lnTo>
                <a:close/>
              </a:path>
              <a:path w="1468754" h="127000">
                <a:moveTo>
                  <a:pt x="939800" y="53975"/>
                </a:moveTo>
                <a:lnTo>
                  <a:pt x="863600" y="53975"/>
                </a:lnTo>
                <a:lnTo>
                  <a:pt x="863600" y="73025"/>
                </a:lnTo>
                <a:lnTo>
                  <a:pt x="939800" y="73025"/>
                </a:lnTo>
                <a:lnTo>
                  <a:pt x="939800" y="53975"/>
                </a:lnTo>
                <a:close/>
              </a:path>
              <a:path w="1468754" h="127000">
                <a:moveTo>
                  <a:pt x="1073150" y="53975"/>
                </a:moveTo>
                <a:lnTo>
                  <a:pt x="996950" y="53975"/>
                </a:lnTo>
                <a:lnTo>
                  <a:pt x="996950" y="73025"/>
                </a:lnTo>
                <a:lnTo>
                  <a:pt x="1073150" y="73025"/>
                </a:lnTo>
                <a:lnTo>
                  <a:pt x="1073150" y="53975"/>
                </a:lnTo>
                <a:close/>
              </a:path>
              <a:path w="1468754" h="127000">
                <a:moveTo>
                  <a:pt x="1206500" y="53975"/>
                </a:moveTo>
                <a:lnTo>
                  <a:pt x="1130300" y="53975"/>
                </a:lnTo>
                <a:lnTo>
                  <a:pt x="1130300" y="73025"/>
                </a:lnTo>
                <a:lnTo>
                  <a:pt x="1206500" y="73025"/>
                </a:lnTo>
                <a:lnTo>
                  <a:pt x="1206500" y="53975"/>
                </a:lnTo>
                <a:close/>
              </a:path>
              <a:path w="1468754" h="127000">
                <a:moveTo>
                  <a:pt x="1339850" y="53975"/>
                </a:moveTo>
                <a:lnTo>
                  <a:pt x="1263650" y="53975"/>
                </a:lnTo>
                <a:lnTo>
                  <a:pt x="1263650" y="73025"/>
                </a:lnTo>
                <a:lnTo>
                  <a:pt x="1339850" y="73025"/>
                </a:lnTo>
                <a:lnTo>
                  <a:pt x="1339850" y="53975"/>
                </a:lnTo>
                <a:close/>
              </a:path>
              <a:path w="1468754" h="127000">
                <a:moveTo>
                  <a:pt x="1341374" y="0"/>
                </a:moveTo>
                <a:lnTo>
                  <a:pt x="1392174" y="63500"/>
                </a:lnTo>
                <a:lnTo>
                  <a:pt x="1341374" y="127000"/>
                </a:lnTo>
                <a:lnTo>
                  <a:pt x="1468374" y="63500"/>
                </a:lnTo>
                <a:lnTo>
                  <a:pt x="13413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sz="1350" kern="0">
              <a:solidFill>
                <a:sysClr val="windowText" lastClr="000000"/>
              </a:solidFill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390664" y="3076386"/>
            <a:ext cx="11953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sz="1350" kern="0" dirty="0">
                <a:solidFill>
                  <a:sysClr val="windowText" lastClr="000000"/>
                </a:solidFill>
                <a:latin typeface="Cascadia Mono"/>
                <a:cs typeface="Cascadia Mono"/>
              </a:rPr>
              <a:t>x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08906" y="3098299"/>
            <a:ext cx="130111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 eaLnBrk="1" fontAlgn="auto" hangingPunct="1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sz="1350" b="1" kern="0" spc="-8" dirty="0">
                <a:solidFill>
                  <a:srgbClr val="7E7E7E"/>
                </a:solidFill>
                <a:latin typeface="Cascadia Mono"/>
                <a:cs typeface="Cascadia Mono"/>
              </a:rPr>
              <a:t>Uninitialized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735278" y="3057811"/>
            <a:ext cx="1445895" cy="236123"/>
          </a:xfrm>
          <a:prstGeom prst="rect">
            <a:avLst/>
          </a:prstGeom>
          <a:solidFill>
            <a:srgbClr val="E7E6E6"/>
          </a:solidFill>
          <a:ln w="12700">
            <a:solidFill>
              <a:srgbClr val="000000"/>
            </a:solidFill>
          </a:ln>
        </p:spPr>
        <p:txBody>
          <a:bodyPr vert="horz" wrap="square" lIns="0" tIns="28099" rIns="0" bIns="0" rtlCol="0">
            <a:spAutoFit/>
          </a:bodyPr>
          <a:lstStyle/>
          <a:p>
            <a:pPr marL="2381" algn="ctr" defTabSz="685800" eaLnBrk="1" fontAlgn="auto" hangingPunct="1">
              <a:spcBef>
                <a:spcPts val="221"/>
              </a:spcBef>
              <a:spcAft>
                <a:spcPts val="0"/>
              </a:spcAft>
            </a:pPr>
            <a:r>
              <a:rPr sz="1350" b="1" kern="0" dirty="0">
                <a:solidFill>
                  <a:sysClr val="windowText" lastClr="000000"/>
                </a:solidFill>
                <a:latin typeface="Cascadia Mono"/>
                <a:cs typeface="Cascadia Mono"/>
              </a:rPr>
              <a:t>2</a:t>
            </a:r>
            <a:endParaRPr sz="1350" kern="0">
              <a:solidFill>
                <a:sysClr val="windowText" lastClr="000000"/>
              </a:solidFill>
              <a:latin typeface="Cascadia Mono"/>
              <a:cs typeface="Cascadia Mono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208467" y="1668626"/>
            <a:ext cx="1877854" cy="1725930"/>
            <a:chOff x="2768473" y="1081834"/>
            <a:chExt cx="2503805" cy="2301240"/>
          </a:xfrm>
        </p:grpSpPr>
        <p:sp>
          <p:nvSpPr>
            <p:cNvPr id="73" name="object 73"/>
            <p:cNvSpPr/>
            <p:nvPr/>
          </p:nvSpPr>
          <p:spPr>
            <a:xfrm>
              <a:off x="2774823" y="1088184"/>
              <a:ext cx="2491105" cy="2288540"/>
            </a:xfrm>
            <a:custGeom>
              <a:avLst/>
              <a:gdLst/>
              <a:ahLst/>
              <a:cxnLst/>
              <a:rect l="l" t="t" r="r" b="b"/>
              <a:pathLst>
                <a:path w="2491104" h="2288540">
                  <a:moveTo>
                    <a:pt x="1477068" y="0"/>
                  </a:moveTo>
                  <a:lnTo>
                    <a:pt x="1427668" y="1327"/>
                  </a:lnTo>
                  <a:lnTo>
                    <a:pt x="1378415" y="4283"/>
                  </a:lnTo>
                  <a:lnTo>
                    <a:pt x="1329405" y="8865"/>
                  </a:lnTo>
                  <a:lnTo>
                    <a:pt x="1280738" y="15071"/>
                  </a:lnTo>
                  <a:lnTo>
                    <a:pt x="1232509" y="22898"/>
                  </a:lnTo>
                  <a:lnTo>
                    <a:pt x="1184816" y="32344"/>
                  </a:lnTo>
                  <a:lnTo>
                    <a:pt x="1137757" y="43404"/>
                  </a:lnTo>
                  <a:lnTo>
                    <a:pt x="1091430" y="56078"/>
                  </a:lnTo>
                  <a:lnTo>
                    <a:pt x="1045931" y="70362"/>
                  </a:lnTo>
                  <a:lnTo>
                    <a:pt x="1001358" y="86254"/>
                  </a:lnTo>
                  <a:lnTo>
                    <a:pt x="957809" y="103751"/>
                  </a:lnTo>
                  <a:lnTo>
                    <a:pt x="915381" y="122850"/>
                  </a:lnTo>
                  <a:lnTo>
                    <a:pt x="874170" y="143549"/>
                  </a:lnTo>
                  <a:lnTo>
                    <a:pt x="834276" y="165845"/>
                  </a:lnTo>
                  <a:lnTo>
                    <a:pt x="795795" y="189735"/>
                  </a:lnTo>
                  <a:lnTo>
                    <a:pt x="758825" y="215216"/>
                  </a:lnTo>
                  <a:lnTo>
                    <a:pt x="718923" y="245994"/>
                  </a:lnTo>
                  <a:lnTo>
                    <a:pt x="682301" y="277922"/>
                  </a:lnTo>
                  <a:lnTo>
                    <a:pt x="648952" y="310901"/>
                  </a:lnTo>
                  <a:lnTo>
                    <a:pt x="618871" y="344832"/>
                  </a:lnTo>
                  <a:lnTo>
                    <a:pt x="592052" y="379617"/>
                  </a:lnTo>
                  <a:lnTo>
                    <a:pt x="568489" y="415156"/>
                  </a:lnTo>
                  <a:lnTo>
                    <a:pt x="548176" y="451352"/>
                  </a:lnTo>
                  <a:lnTo>
                    <a:pt x="531106" y="488103"/>
                  </a:lnTo>
                  <a:lnTo>
                    <a:pt x="517275" y="525313"/>
                  </a:lnTo>
                  <a:lnTo>
                    <a:pt x="506676" y="562881"/>
                  </a:lnTo>
                  <a:lnTo>
                    <a:pt x="499304" y="600709"/>
                  </a:lnTo>
                  <a:lnTo>
                    <a:pt x="495152" y="638699"/>
                  </a:lnTo>
                  <a:lnTo>
                    <a:pt x="494215" y="676750"/>
                  </a:lnTo>
                  <a:lnTo>
                    <a:pt x="496487" y="714765"/>
                  </a:lnTo>
                  <a:lnTo>
                    <a:pt x="501961" y="752644"/>
                  </a:lnTo>
                  <a:lnTo>
                    <a:pt x="510633" y="790289"/>
                  </a:lnTo>
                  <a:lnTo>
                    <a:pt x="522496" y="827599"/>
                  </a:lnTo>
                  <a:lnTo>
                    <a:pt x="537543" y="864478"/>
                  </a:lnTo>
                  <a:lnTo>
                    <a:pt x="555771" y="900825"/>
                  </a:lnTo>
                  <a:lnTo>
                    <a:pt x="577171" y="936542"/>
                  </a:lnTo>
                  <a:lnTo>
                    <a:pt x="601740" y="971530"/>
                  </a:lnTo>
                  <a:lnTo>
                    <a:pt x="629470" y="1005689"/>
                  </a:lnTo>
                  <a:lnTo>
                    <a:pt x="660356" y="1038922"/>
                  </a:lnTo>
                  <a:lnTo>
                    <a:pt x="694391" y="1071129"/>
                  </a:lnTo>
                  <a:lnTo>
                    <a:pt x="731571" y="1102211"/>
                  </a:lnTo>
                  <a:lnTo>
                    <a:pt x="771889" y="1132069"/>
                  </a:lnTo>
                  <a:lnTo>
                    <a:pt x="815339" y="1160604"/>
                  </a:lnTo>
                  <a:lnTo>
                    <a:pt x="0" y="2288364"/>
                  </a:lnTo>
                  <a:lnTo>
                    <a:pt x="1139443" y="1294843"/>
                  </a:lnTo>
                  <a:lnTo>
                    <a:pt x="1189367" y="1306486"/>
                  </a:lnTo>
                  <a:lnTo>
                    <a:pt x="1239747" y="1316280"/>
                  </a:lnTo>
                  <a:lnTo>
                    <a:pt x="1290483" y="1324239"/>
                  </a:lnTo>
                  <a:lnTo>
                    <a:pt x="1341475" y="1330381"/>
                  </a:lnTo>
                  <a:lnTo>
                    <a:pt x="1392623" y="1334721"/>
                  </a:lnTo>
                  <a:lnTo>
                    <a:pt x="1443826" y="1337275"/>
                  </a:lnTo>
                  <a:lnTo>
                    <a:pt x="1494986" y="1338058"/>
                  </a:lnTo>
                  <a:lnTo>
                    <a:pt x="1546001" y="1337087"/>
                  </a:lnTo>
                  <a:lnTo>
                    <a:pt x="1596773" y="1334377"/>
                  </a:lnTo>
                  <a:lnTo>
                    <a:pt x="1647200" y="1329945"/>
                  </a:lnTo>
                  <a:lnTo>
                    <a:pt x="1697183" y="1323805"/>
                  </a:lnTo>
                  <a:lnTo>
                    <a:pt x="1746622" y="1315975"/>
                  </a:lnTo>
                  <a:lnTo>
                    <a:pt x="1795416" y="1306469"/>
                  </a:lnTo>
                  <a:lnTo>
                    <a:pt x="1843467" y="1295304"/>
                  </a:lnTo>
                  <a:lnTo>
                    <a:pt x="1890673" y="1282495"/>
                  </a:lnTo>
                  <a:lnTo>
                    <a:pt x="1936935" y="1268059"/>
                  </a:lnTo>
                  <a:lnTo>
                    <a:pt x="1982153" y="1252010"/>
                  </a:lnTo>
                  <a:lnTo>
                    <a:pt x="2026226" y="1234366"/>
                  </a:lnTo>
                  <a:lnTo>
                    <a:pt x="2069055" y="1215141"/>
                  </a:lnTo>
                  <a:lnTo>
                    <a:pt x="2110540" y="1194352"/>
                  </a:lnTo>
                  <a:lnTo>
                    <a:pt x="2150581" y="1172015"/>
                  </a:lnTo>
                  <a:lnTo>
                    <a:pt x="2189077" y="1148145"/>
                  </a:lnTo>
                  <a:lnTo>
                    <a:pt x="2225929" y="1122758"/>
                  </a:lnTo>
                  <a:lnTo>
                    <a:pt x="2265830" y="1091981"/>
                  </a:lnTo>
                  <a:lnTo>
                    <a:pt x="2302452" y="1060053"/>
                  </a:lnTo>
                  <a:lnTo>
                    <a:pt x="2335801" y="1027074"/>
                  </a:lnTo>
                  <a:lnTo>
                    <a:pt x="2365882" y="993142"/>
                  </a:lnTo>
                  <a:lnTo>
                    <a:pt x="2392701" y="958358"/>
                  </a:lnTo>
                  <a:lnTo>
                    <a:pt x="2416264" y="922818"/>
                  </a:lnTo>
                  <a:lnTo>
                    <a:pt x="2436577" y="886623"/>
                  </a:lnTo>
                  <a:lnTo>
                    <a:pt x="2453647" y="849871"/>
                  </a:lnTo>
                  <a:lnTo>
                    <a:pt x="2467478" y="812662"/>
                  </a:lnTo>
                  <a:lnTo>
                    <a:pt x="2478077" y="775094"/>
                  </a:lnTo>
                  <a:lnTo>
                    <a:pt x="2485449" y="737265"/>
                  </a:lnTo>
                  <a:lnTo>
                    <a:pt x="2489601" y="699276"/>
                  </a:lnTo>
                  <a:lnTo>
                    <a:pt x="2490538" y="661224"/>
                  </a:lnTo>
                  <a:lnTo>
                    <a:pt x="2488266" y="623210"/>
                  </a:lnTo>
                  <a:lnTo>
                    <a:pt x="2482792" y="585331"/>
                  </a:lnTo>
                  <a:lnTo>
                    <a:pt x="2474120" y="547686"/>
                  </a:lnTo>
                  <a:lnTo>
                    <a:pt x="2462257" y="510375"/>
                  </a:lnTo>
                  <a:lnTo>
                    <a:pt x="2447210" y="473497"/>
                  </a:lnTo>
                  <a:lnTo>
                    <a:pt x="2428982" y="437150"/>
                  </a:lnTo>
                  <a:lnTo>
                    <a:pt x="2407582" y="401433"/>
                  </a:lnTo>
                  <a:lnTo>
                    <a:pt x="2383013" y="366445"/>
                  </a:lnTo>
                  <a:lnTo>
                    <a:pt x="2355283" y="332285"/>
                  </a:lnTo>
                  <a:lnTo>
                    <a:pt x="2324397" y="299053"/>
                  </a:lnTo>
                  <a:lnTo>
                    <a:pt x="2290362" y="266846"/>
                  </a:lnTo>
                  <a:lnTo>
                    <a:pt x="2253182" y="235764"/>
                  </a:lnTo>
                  <a:lnTo>
                    <a:pt x="2212864" y="205906"/>
                  </a:lnTo>
                  <a:lnTo>
                    <a:pt x="2169414" y="177370"/>
                  </a:lnTo>
                  <a:lnTo>
                    <a:pt x="2129505" y="153945"/>
                  </a:lnTo>
                  <a:lnTo>
                    <a:pt x="2088282" y="132188"/>
                  </a:lnTo>
                  <a:lnTo>
                    <a:pt x="2045842" y="112097"/>
                  </a:lnTo>
                  <a:lnTo>
                    <a:pt x="2002281" y="93669"/>
                  </a:lnTo>
                  <a:lnTo>
                    <a:pt x="1957699" y="76903"/>
                  </a:lnTo>
                  <a:lnTo>
                    <a:pt x="1912191" y="61795"/>
                  </a:lnTo>
                  <a:lnTo>
                    <a:pt x="1865855" y="48342"/>
                  </a:lnTo>
                  <a:lnTo>
                    <a:pt x="1818790" y="36542"/>
                  </a:lnTo>
                  <a:lnTo>
                    <a:pt x="1771091" y="26392"/>
                  </a:lnTo>
                  <a:lnTo>
                    <a:pt x="1722857" y="17890"/>
                  </a:lnTo>
                  <a:lnTo>
                    <a:pt x="1674186" y="11033"/>
                  </a:lnTo>
                  <a:lnTo>
                    <a:pt x="1625173" y="5818"/>
                  </a:lnTo>
                  <a:lnTo>
                    <a:pt x="1575918" y="2242"/>
                  </a:lnTo>
                  <a:lnTo>
                    <a:pt x="1526517" y="304"/>
                  </a:lnTo>
                  <a:lnTo>
                    <a:pt x="1477068" y="0"/>
                  </a:lnTo>
                  <a:close/>
                </a:path>
              </a:pathLst>
            </a:custGeom>
            <a:solidFill>
              <a:srgbClr val="FFEDB8"/>
            </a:solidFill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2774823" y="1088184"/>
              <a:ext cx="2491105" cy="2288540"/>
            </a:xfrm>
            <a:custGeom>
              <a:avLst/>
              <a:gdLst/>
              <a:ahLst/>
              <a:cxnLst/>
              <a:rect l="l" t="t" r="r" b="b"/>
              <a:pathLst>
                <a:path w="2491104" h="2288540">
                  <a:moveTo>
                    <a:pt x="0" y="2288364"/>
                  </a:moveTo>
                  <a:lnTo>
                    <a:pt x="815339" y="1160604"/>
                  </a:lnTo>
                  <a:lnTo>
                    <a:pt x="771889" y="1132069"/>
                  </a:lnTo>
                  <a:lnTo>
                    <a:pt x="731571" y="1102211"/>
                  </a:lnTo>
                  <a:lnTo>
                    <a:pt x="694391" y="1071129"/>
                  </a:lnTo>
                  <a:lnTo>
                    <a:pt x="660356" y="1038922"/>
                  </a:lnTo>
                  <a:lnTo>
                    <a:pt x="629470" y="1005689"/>
                  </a:lnTo>
                  <a:lnTo>
                    <a:pt x="601740" y="971530"/>
                  </a:lnTo>
                  <a:lnTo>
                    <a:pt x="577171" y="936542"/>
                  </a:lnTo>
                  <a:lnTo>
                    <a:pt x="555771" y="900825"/>
                  </a:lnTo>
                  <a:lnTo>
                    <a:pt x="537543" y="864478"/>
                  </a:lnTo>
                  <a:lnTo>
                    <a:pt x="522496" y="827599"/>
                  </a:lnTo>
                  <a:lnTo>
                    <a:pt x="510633" y="790289"/>
                  </a:lnTo>
                  <a:lnTo>
                    <a:pt x="501961" y="752644"/>
                  </a:lnTo>
                  <a:lnTo>
                    <a:pt x="496487" y="714765"/>
                  </a:lnTo>
                  <a:lnTo>
                    <a:pt x="494215" y="676750"/>
                  </a:lnTo>
                  <a:lnTo>
                    <a:pt x="495152" y="638699"/>
                  </a:lnTo>
                  <a:lnTo>
                    <a:pt x="499304" y="600709"/>
                  </a:lnTo>
                  <a:lnTo>
                    <a:pt x="506676" y="562881"/>
                  </a:lnTo>
                  <a:lnTo>
                    <a:pt x="517275" y="525313"/>
                  </a:lnTo>
                  <a:lnTo>
                    <a:pt x="531106" y="488103"/>
                  </a:lnTo>
                  <a:lnTo>
                    <a:pt x="548176" y="451352"/>
                  </a:lnTo>
                  <a:lnTo>
                    <a:pt x="568489" y="415156"/>
                  </a:lnTo>
                  <a:lnTo>
                    <a:pt x="592052" y="379617"/>
                  </a:lnTo>
                  <a:lnTo>
                    <a:pt x="618871" y="344832"/>
                  </a:lnTo>
                  <a:lnTo>
                    <a:pt x="648952" y="310901"/>
                  </a:lnTo>
                  <a:lnTo>
                    <a:pt x="682301" y="277922"/>
                  </a:lnTo>
                  <a:lnTo>
                    <a:pt x="718923" y="245994"/>
                  </a:lnTo>
                  <a:lnTo>
                    <a:pt x="758825" y="215216"/>
                  </a:lnTo>
                  <a:lnTo>
                    <a:pt x="795795" y="189735"/>
                  </a:lnTo>
                  <a:lnTo>
                    <a:pt x="834276" y="165845"/>
                  </a:lnTo>
                  <a:lnTo>
                    <a:pt x="874170" y="143549"/>
                  </a:lnTo>
                  <a:lnTo>
                    <a:pt x="915381" y="122850"/>
                  </a:lnTo>
                  <a:lnTo>
                    <a:pt x="957809" y="103751"/>
                  </a:lnTo>
                  <a:lnTo>
                    <a:pt x="1001358" y="86254"/>
                  </a:lnTo>
                  <a:lnTo>
                    <a:pt x="1045931" y="70362"/>
                  </a:lnTo>
                  <a:lnTo>
                    <a:pt x="1091430" y="56078"/>
                  </a:lnTo>
                  <a:lnTo>
                    <a:pt x="1137757" y="43404"/>
                  </a:lnTo>
                  <a:lnTo>
                    <a:pt x="1184816" y="32344"/>
                  </a:lnTo>
                  <a:lnTo>
                    <a:pt x="1232509" y="22898"/>
                  </a:lnTo>
                  <a:lnTo>
                    <a:pt x="1280738" y="15071"/>
                  </a:lnTo>
                  <a:lnTo>
                    <a:pt x="1329405" y="8865"/>
                  </a:lnTo>
                  <a:lnTo>
                    <a:pt x="1378415" y="4283"/>
                  </a:lnTo>
                  <a:lnTo>
                    <a:pt x="1427668" y="1327"/>
                  </a:lnTo>
                  <a:lnTo>
                    <a:pt x="1477068" y="0"/>
                  </a:lnTo>
                  <a:lnTo>
                    <a:pt x="1526517" y="304"/>
                  </a:lnTo>
                  <a:lnTo>
                    <a:pt x="1575918" y="2242"/>
                  </a:lnTo>
                  <a:lnTo>
                    <a:pt x="1625173" y="5818"/>
                  </a:lnTo>
                  <a:lnTo>
                    <a:pt x="1674186" y="11033"/>
                  </a:lnTo>
                  <a:lnTo>
                    <a:pt x="1722857" y="17890"/>
                  </a:lnTo>
                  <a:lnTo>
                    <a:pt x="1771091" y="26392"/>
                  </a:lnTo>
                  <a:lnTo>
                    <a:pt x="1818790" y="36542"/>
                  </a:lnTo>
                  <a:lnTo>
                    <a:pt x="1865855" y="48342"/>
                  </a:lnTo>
                  <a:lnTo>
                    <a:pt x="1912191" y="61795"/>
                  </a:lnTo>
                  <a:lnTo>
                    <a:pt x="1957699" y="76903"/>
                  </a:lnTo>
                  <a:lnTo>
                    <a:pt x="2002281" y="93669"/>
                  </a:lnTo>
                  <a:lnTo>
                    <a:pt x="2045842" y="112097"/>
                  </a:lnTo>
                  <a:lnTo>
                    <a:pt x="2088282" y="132188"/>
                  </a:lnTo>
                  <a:lnTo>
                    <a:pt x="2129505" y="153945"/>
                  </a:lnTo>
                  <a:lnTo>
                    <a:pt x="2169414" y="177370"/>
                  </a:lnTo>
                  <a:lnTo>
                    <a:pt x="2212864" y="205906"/>
                  </a:lnTo>
                  <a:lnTo>
                    <a:pt x="2253182" y="235764"/>
                  </a:lnTo>
                  <a:lnTo>
                    <a:pt x="2290362" y="266846"/>
                  </a:lnTo>
                  <a:lnTo>
                    <a:pt x="2324397" y="299053"/>
                  </a:lnTo>
                  <a:lnTo>
                    <a:pt x="2355283" y="332285"/>
                  </a:lnTo>
                  <a:lnTo>
                    <a:pt x="2383013" y="366445"/>
                  </a:lnTo>
                  <a:lnTo>
                    <a:pt x="2407582" y="401433"/>
                  </a:lnTo>
                  <a:lnTo>
                    <a:pt x="2428982" y="437150"/>
                  </a:lnTo>
                  <a:lnTo>
                    <a:pt x="2447210" y="473497"/>
                  </a:lnTo>
                  <a:lnTo>
                    <a:pt x="2462257" y="510375"/>
                  </a:lnTo>
                  <a:lnTo>
                    <a:pt x="2474120" y="547686"/>
                  </a:lnTo>
                  <a:lnTo>
                    <a:pt x="2482792" y="585331"/>
                  </a:lnTo>
                  <a:lnTo>
                    <a:pt x="2488266" y="623210"/>
                  </a:lnTo>
                  <a:lnTo>
                    <a:pt x="2490538" y="661224"/>
                  </a:lnTo>
                  <a:lnTo>
                    <a:pt x="2489601" y="699276"/>
                  </a:lnTo>
                  <a:lnTo>
                    <a:pt x="2485449" y="737265"/>
                  </a:lnTo>
                  <a:lnTo>
                    <a:pt x="2478077" y="775094"/>
                  </a:lnTo>
                  <a:lnTo>
                    <a:pt x="2467478" y="812662"/>
                  </a:lnTo>
                  <a:lnTo>
                    <a:pt x="2453647" y="849871"/>
                  </a:lnTo>
                  <a:lnTo>
                    <a:pt x="2436577" y="886623"/>
                  </a:lnTo>
                  <a:lnTo>
                    <a:pt x="2416264" y="922818"/>
                  </a:lnTo>
                  <a:lnTo>
                    <a:pt x="2392701" y="958358"/>
                  </a:lnTo>
                  <a:lnTo>
                    <a:pt x="2365882" y="993142"/>
                  </a:lnTo>
                  <a:lnTo>
                    <a:pt x="2335801" y="1027074"/>
                  </a:lnTo>
                  <a:lnTo>
                    <a:pt x="2302452" y="1060053"/>
                  </a:lnTo>
                  <a:lnTo>
                    <a:pt x="2265830" y="1091981"/>
                  </a:lnTo>
                  <a:lnTo>
                    <a:pt x="2225929" y="1122758"/>
                  </a:lnTo>
                  <a:lnTo>
                    <a:pt x="2189077" y="1148145"/>
                  </a:lnTo>
                  <a:lnTo>
                    <a:pt x="2150581" y="1172015"/>
                  </a:lnTo>
                  <a:lnTo>
                    <a:pt x="2110540" y="1194352"/>
                  </a:lnTo>
                  <a:lnTo>
                    <a:pt x="2069055" y="1215141"/>
                  </a:lnTo>
                  <a:lnTo>
                    <a:pt x="2026226" y="1234366"/>
                  </a:lnTo>
                  <a:lnTo>
                    <a:pt x="1982153" y="1252010"/>
                  </a:lnTo>
                  <a:lnTo>
                    <a:pt x="1936935" y="1268059"/>
                  </a:lnTo>
                  <a:lnTo>
                    <a:pt x="1890673" y="1282495"/>
                  </a:lnTo>
                  <a:lnTo>
                    <a:pt x="1843467" y="1295304"/>
                  </a:lnTo>
                  <a:lnTo>
                    <a:pt x="1795416" y="1306469"/>
                  </a:lnTo>
                  <a:lnTo>
                    <a:pt x="1746622" y="1315975"/>
                  </a:lnTo>
                  <a:lnTo>
                    <a:pt x="1697183" y="1323805"/>
                  </a:lnTo>
                  <a:lnTo>
                    <a:pt x="1647200" y="1329945"/>
                  </a:lnTo>
                  <a:lnTo>
                    <a:pt x="1596773" y="1334377"/>
                  </a:lnTo>
                  <a:lnTo>
                    <a:pt x="1546001" y="1337087"/>
                  </a:lnTo>
                  <a:lnTo>
                    <a:pt x="1494986" y="1338058"/>
                  </a:lnTo>
                  <a:lnTo>
                    <a:pt x="1443826" y="1337275"/>
                  </a:lnTo>
                  <a:lnTo>
                    <a:pt x="1392623" y="1334721"/>
                  </a:lnTo>
                  <a:lnTo>
                    <a:pt x="1341475" y="1330381"/>
                  </a:lnTo>
                  <a:lnTo>
                    <a:pt x="1290483" y="1324239"/>
                  </a:lnTo>
                  <a:lnTo>
                    <a:pt x="1239747" y="1316280"/>
                  </a:lnTo>
                  <a:lnTo>
                    <a:pt x="1189367" y="1306486"/>
                  </a:lnTo>
                  <a:lnTo>
                    <a:pt x="1139443" y="1294843"/>
                  </a:lnTo>
                  <a:lnTo>
                    <a:pt x="0" y="2288364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sz="135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714147" y="1884861"/>
            <a:ext cx="1286162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3810" algn="ctr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sz="1800" kern="0" spc="-8" dirty="0">
                <a:solidFill>
                  <a:srgbClr val="0000FF"/>
                </a:solidFill>
                <a:latin typeface="Arial"/>
                <a:cs typeface="Arial"/>
              </a:rPr>
              <a:t>Allocate</a:t>
            </a:r>
            <a:r>
              <a:rPr lang="en-US" sz="1800" kern="0" spc="-8" dirty="0">
                <a:solidFill>
                  <a:srgbClr val="0000FF"/>
                </a:solidFill>
                <a:latin typeface="Arial"/>
                <a:cs typeface="Arial"/>
              </a:rPr>
              <a:t> in</a:t>
            </a:r>
            <a:endParaRPr sz="1800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33338" algn="ctr" defTabSz="685800" eaLnBrk="1" fontAlgn="auto" hangingPunct="1">
              <a:spcBef>
                <a:spcPts val="4"/>
              </a:spcBef>
              <a:spcAft>
                <a:spcPts val="0"/>
              </a:spcAft>
            </a:pPr>
            <a:r>
              <a:rPr sz="1800" kern="0" spc="-15" dirty="0">
                <a:solidFill>
                  <a:srgbClr val="0000FF"/>
                </a:solidFill>
                <a:latin typeface="Arial"/>
                <a:cs typeface="Arial"/>
              </a:rPr>
              <a:t>heap</a:t>
            </a:r>
            <a:endParaRPr sz="180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2F83EB-20CA-9A5D-0D46-DFAC2ADB423C}"/>
              </a:ext>
            </a:extLst>
          </p:cNvPr>
          <p:cNvSpPr txBox="1"/>
          <p:nvPr/>
        </p:nvSpPr>
        <p:spPr>
          <a:xfrm>
            <a:off x="1371599" y="6051808"/>
            <a:ext cx="8948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Prevent "</a:t>
            </a:r>
            <a:r>
              <a:rPr lang="en-US" sz="2000" b="1" i="1" dirty="0"/>
              <a:t>dangling pointers</a:t>
            </a:r>
            <a:r>
              <a:rPr lang="en-US" sz="2000" dirty="0"/>
              <a:t>," which are pointers that point to deallocated memory</a:t>
            </a:r>
          </a:p>
        </p:txBody>
      </p:sp>
      <p:sp>
        <p:nvSpPr>
          <p:cNvPr id="77" name="Arrow: Curved Right 76">
            <a:extLst>
              <a:ext uri="{FF2B5EF4-FFF2-40B4-BE49-F238E27FC236}">
                <a16:creationId xmlns:a16="http://schemas.microsoft.com/office/drawing/2014/main" id="{9365DE05-DC1E-86A5-A347-2AEEB7A7FF8A}"/>
              </a:ext>
            </a:extLst>
          </p:cNvPr>
          <p:cNvSpPr/>
          <p:nvPr/>
        </p:nvSpPr>
        <p:spPr>
          <a:xfrm>
            <a:off x="805543" y="5510212"/>
            <a:ext cx="566056" cy="8143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332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>
            <a:extLst>
              <a:ext uri="{FF2B5EF4-FFF2-40B4-BE49-F238E27FC236}">
                <a16:creationId xmlns:a16="http://schemas.microsoft.com/office/drawing/2014/main" id="{7E0D8546-166F-4795-8E95-A2CBDAC1059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92966" y="1785479"/>
            <a:ext cx="7886700" cy="469582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p1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Allocate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p1;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Deallocate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[6];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Allocate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delete[]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Deallocate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E598732-7AE7-4A5D-AFA6-E17AC57BAD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4080" y="87313"/>
            <a:ext cx="11297920" cy="1325562"/>
          </a:xfrm>
        </p:spPr>
        <p:txBody>
          <a:bodyPr>
            <a:normAutofit/>
          </a:bodyPr>
          <a:lstStyle/>
          <a:p>
            <a:pPr marL="718661" defTabSz="685800">
              <a:spcBef>
                <a:spcPts val="75"/>
              </a:spcBef>
            </a:pPr>
            <a:r>
              <a:rPr lang="en-US" altLang="en-US" sz="3200" b="1" spc="-10" dirty="0">
                <a:solidFill>
                  <a:srgbClr val="0070C0"/>
                </a:solidFill>
                <a:latin typeface="Arial"/>
                <a:cs typeface="Arial"/>
              </a:rPr>
              <a:t>Dynamic Memory Allocation/Deallocation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B956AF-23C1-4D4D-A6E3-A953B1E5518E}"/>
              </a:ext>
            </a:extLst>
          </p:cNvPr>
          <p:cNvGrpSpPr/>
          <p:nvPr/>
        </p:nvGrpSpPr>
        <p:grpSpPr>
          <a:xfrm>
            <a:off x="7940674" y="3678382"/>
            <a:ext cx="1506538" cy="403225"/>
            <a:chOff x="5502274" y="4048493"/>
            <a:chExt cx="1506538" cy="403225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F4E4FD51-1C20-44AF-AD39-9B334C5BE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599" y="4048493"/>
              <a:ext cx="684213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spcBef>
                  <a:spcPct val="20000"/>
                </a:spcBef>
                <a:buClr>
                  <a:srgbClr val="00CCCC"/>
                </a:buClr>
                <a:buSzPct val="75000"/>
                <a:buFont typeface="Monotype Sorts" pitchFamily="2" charset="2"/>
                <a:buChar char="l"/>
                <a:defRPr/>
              </a:pPr>
              <a:endParaRPr lang="en-US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CC81EB15-DAAE-4D1F-B9DB-57A5FC336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274" y="4081830"/>
              <a:ext cx="6794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42900" indent="-342900">
                <a:spcBef>
                  <a:spcPct val="20000"/>
                </a:spcBef>
                <a:buClr>
                  <a:srgbClr val="00CCCC"/>
                </a:buClr>
                <a:buSzPct val="75000"/>
                <a:defRPr/>
              </a:pPr>
              <a:r>
                <a:rPr lang="en-US" sz="2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pInt</a:t>
              </a:r>
              <a:endParaRPr lang="en-US" altLang="zh-TW" sz="2400" dirty="0">
                <a:solidFill>
                  <a:prstClr val="black"/>
                </a:solidFill>
                <a:ea typeface="新細明體"/>
              </a:endParaRPr>
            </a:p>
          </p:txBody>
        </p:sp>
      </p:grpSp>
      <p:sp>
        <p:nvSpPr>
          <p:cNvPr id="10" name="Line 7">
            <a:extLst>
              <a:ext uri="{FF2B5EF4-FFF2-40B4-BE49-F238E27FC236}">
                <a16:creationId xmlns:a16="http://schemas.microsoft.com/office/drawing/2014/main" id="{B9FBD272-11CA-48F8-BE1C-F79AEFA7C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07488" y="3848243"/>
            <a:ext cx="792163" cy="1588"/>
          </a:xfrm>
          <a:prstGeom prst="line">
            <a:avLst/>
          </a:prstGeom>
          <a:noFill/>
          <a:ln w="26988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00CCCC"/>
              </a:buClr>
              <a:buSzPct val="75000"/>
              <a:buFont typeface="Monotype Sorts" pitchFamily="2" charset="2"/>
              <a:buChar char="l"/>
              <a:defRPr/>
            </a:pPr>
            <a:endParaRPr lang="en-US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3E7800-125D-4A7F-BF0A-BEE3D3C1D7B9}"/>
              </a:ext>
            </a:extLst>
          </p:cNvPr>
          <p:cNvGrpSpPr/>
          <p:nvPr/>
        </p:nvGrpSpPr>
        <p:grpSpPr>
          <a:xfrm>
            <a:off x="9048750" y="3676793"/>
            <a:ext cx="1701801" cy="342900"/>
            <a:chOff x="6610349" y="4046905"/>
            <a:chExt cx="1701801" cy="342900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5AB8B15-5566-4392-BFAA-AB95C150AA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0349" y="4142155"/>
              <a:ext cx="969963" cy="155575"/>
            </a:xfrm>
            <a:custGeom>
              <a:avLst/>
              <a:gdLst>
                <a:gd name="T0" fmla="*/ 73 w 611"/>
                <a:gd name="T1" fmla="*/ 48 h 98"/>
                <a:gd name="T2" fmla="*/ 73 w 611"/>
                <a:gd name="T3" fmla="*/ 42 h 98"/>
                <a:gd name="T4" fmla="*/ 71 w 611"/>
                <a:gd name="T5" fmla="*/ 39 h 98"/>
                <a:gd name="T6" fmla="*/ 69 w 611"/>
                <a:gd name="T7" fmla="*/ 33 h 98"/>
                <a:gd name="T8" fmla="*/ 65 w 611"/>
                <a:gd name="T9" fmla="*/ 27 h 98"/>
                <a:gd name="T10" fmla="*/ 62 w 611"/>
                <a:gd name="T11" fmla="*/ 23 h 98"/>
                <a:gd name="T12" fmla="*/ 58 w 611"/>
                <a:gd name="T13" fmla="*/ 19 h 98"/>
                <a:gd name="T14" fmla="*/ 52 w 611"/>
                <a:gd name="T15" fmla="*/ 16 h 98"/>
                <a:gd name="T16" fmla="*/ 48 w 611"/>
                <a:gd name="T17" fmla="*/ 14 h 98"/>
                <a:gd name="T18" fmla="*/ 42 w 611"/>
                <a:gd name="T19" fmla="*/ 14 h 98"/>
                <a:gd name="T20" fmla="*/ 37 w 611"/>
                <a:gd name="T21" fmla="*/ 12 h 98"/>
                <a:gd name="T22" fmla="*/ 31 w 611"/>
                <a:gd name="T23" fmla="*/ 14 h 98"/>
                <a:gd name="T24" fmla="*/ 25 w 611"/>
                <a:gd name="T25" fmla="*/ 14 h 98"/>
                <a:gd name="T26" fmla="*/ 19 w 611"/>
                <a:gd name="T27" fmla="*/ 16 h 98"/>
                <a:gd name="T28" fmla="*/ 14 w 611"/>
                <a:gd name="T29" fmla="*/ 19 h 98"/>
                <a:gd name="T30" fmla="*/ 10 w 611"/>
                <a:gd name="T31" fmla="*/ 23 h 98"/>
                <a:gd name="T32" fmla="*/ 6 w 611"/>
                <a:gd name="T33" fmla="*/ 27 h 98"/>
                <a:gd name="T34" fmla="*/ 4 w 611"/>
                <a:gd name="T35" fmla="*/ 33 h 98"/>
                <a:gd name="T36" fmla="*/ 0 w 611"/>
                <a:gd name="T37" fmla="*/ 39 h 98"/>
                <a:gd name="T38" fmla="*/ 0 w 611"/>
                <a:gd name="T39" fmla="*/ 42 h 98"/>
                <a:gd name="T40" fmla="*/ 0 w 611"/>
                <a:gd name="T41" fmla="*/ 48 h 98"/>
                <a:gd name="T42" fmla="*/ 0 w 611"/>
                <a:gd name="T43" fmla="*/ 54 h 98"/>
                <a:gd name="T44" fmla="*/ 0 w 611"/>
                <a:gd name="T45" fmla="*/ 60 h 98"/>
                <a:gd name="T46" fmla="*/ 4 w 611"/>
                <a:gd name="T47" fmla="*/ 65 h 98"/>
                <a:gd name="T48" fmla="*/ 6 w 611"/>
                <a:gd name="T49" fmla="*/ 71 h 98"/>
                <a:gd name="T50" fmla="*/ 10 w 611"/>
                <a:gd name="T51" fmla="*/ 75 h 98"/>
                <a:gd name="T52" fmla="*/ 14 w 611"/>
                <a:gd name="T53" fmla="*/ 79 h 98"/>
                <a:gd name="T54" fmla="*/ 19 w 611"/>
                <a:gd name="T55" fmla="*/ 81 h 98"/>
                <a:gd name="T56" fmla="*/ 25 w 611"/>
                <a:gd name="T57" fmla="*/ 84 h 98"/>
                <a:gd name="T58" fmla="*/ 31 w 611"/>
                <a:gd name="T59" fmla="*/ 84 h 98"/>
                <a:gd name="T60" fmla="*/ 37 w 611"/>
                <a:gd name="T61" fmla="*/ 86 h 98"/>
                <a:gd name="T62" fmla="*/ 42 w 611"/>
                <a:gd name="T63" fmla="*/ 84 h 98"/>
                <a:gd name="T64" fmla="*/ 48 w 611"/>
                <a:gd name="T65" fmla="*/ 84 h 98"/>
                <a:gd name="T66" fmla="*/ 52 w 611"/>
                <a:gd name="T67" fmla="*/ 81 h 98"/>
                <a:gd name="T68" fmla="*/ 58 w 611"/>
                <a:gd name="T69" fmla="*/ 79 h 98"/>
                <a:gd name="T70" fmla="*/ 62 w 611"/>
                <a:gd name="T71" fmla="*/ 75 h 98"/>
                <a:gd name="T72" fmla="*/ 65 w 611"/>
                <a:gd name="T73" fmla="*/ 71 h 98"/>
                <a:gd name="T74" fmla="*/ 69 w 611"/>
                <a:gd name="T75" fmla="*/ 65 h 98"/>
                <a:gd name="T76" fmla="*/ 71 w 611"/>
                <a:gd name="T77" fmla="*/ 60 h 98"/>
                <a:gd name="T78" fmla="*/ 73 w 611"/>
                <a:gd name="T79" fmla="*/ 54 h 98"/>
                <a:gd name="T80" fmla="*/ 73 w 611"/>
                <a:gd name="T81" fmla="*/ 48 h 98"/>
                <a:gd name="T82" fmla="*/ 611 w 611"/>
                <a:gd name="T83" fmla="*/ 48 h 98"/>
                <a:gd name="T84" fmla="*/ 513 w 611"/>
                <a:gd name="T85" fmla="*/ 98 h 98"/>
                <a:gd name="T86" fmla="*/ 515 w 611"/>
                <a:gd name="T87" fmla="*/ 90 h 98"/>
                <a:gd name="T88" fmla="*/ 519 w 611"/>
                <a:gd name="T89" fmla="*/ 82 h 98"/>
                <a:gd name="T90" fmla="*/ 521 w 611"/>
                <a:gd name="T91" fmla="*/ 77 h 98"/>
                <a:gd name="T92" fmla="*/ 523 w 611"/>
                <a:gd name="T93" fmla="*/ 69 h 98"/>
                <a:gd name="T94" fmla="*/ 523 w 611"/>
                <a:gd name="T95" fmla="*/ 61 h 98"/>
                <a:gd name="T96" fmla="*/ 525 w 611"/>
                <a:gd name="T97" fmla="*/ 52 h 98"/>
                <a:gd name="T98" fmla="*/ 525 w 611"/>
                <a:gd name="T99" fmla="*/ 44 h 98"/>
                <a:gd name="T100" fmla="*/ 523 w 611"/>
                <a:gd name="T101" fmla="*/ 37 h 98"/>
                <a:gd name="T102" fmla="*/ 523 w 611"/>
                <a:gd name="T103" fmla="*/ 29 h 98"/>
                <a:gd name="T104" fmla="*/ 521 w 611"/>
                <a:gd name="T105" fmla="*/ 21 h 98"/>
                <a:gd name="T106" fmla="*/ 519 w 611"/>
                <a:gd name="T107" fmla="*/ 14 h 98"/>
                <a:gd name="T108" fmla="*/ 515 w 611"/>
                <a:gd name="T109" fmla="*/ 8 h 98"/>
                <a:gd name="T110" fmla="*/ 513 w 611"/>
                <a:gd name="T111" fmla="*/ 0 h 98"/>
                <a:gd name="T112" fmla="*/ 611 w 611"/>
                <a:gd name="T113" fmla="*/ 48 h 9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611"/>
                <a:gd name="T172" fmla="*/ 0 h 98"/>
                <a:gd name="T173" fmla="*/ 611 w 611"/>
                <a:gd name="T174" fmla="*/ 98 h 9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611" h="98">
                  <a:moveTo>
                    <a:pt x="73" y="48"/>
                  </a:moveTo>
                  <a:lnTo>
                    <a:pt x="73" y="42"/>
                  </a:lnTo>
                  <a:lnTo>
                    <a:pt x="71" y="39"/>
                  </a:lnTo>
                  <a:lnTo>
                    <a:pt x="69" y="33"/>
                  </a:lnTo>
                  <a:lnTo>
                    <a:pt x="65" y="27"/>
                  </a:lnTo>
                  <a:lnTo>
                    <a:pt x="62" y="23"/>
                  </a:lnTo>
                  <a:lnTo>
                    <a:pt x="58" y="19"/>
                  </a:lnTo>
                  <a:lnTo>
                    <a:pt x="52" y="16"/>
                  </a:lnTo>
                  <a:lnTo>
                    <a:pt x="48" y="14"/>
                  </a:lnTo>
                  <a:lnTo>
                    <a:pt x="42" y="14"/>
                  </a:lnTo>
                  <a:lnTo>
                    <a:pt x="37" y="12"/>
                  </a:lnTo>
                  <a:lnTo>
                    <a:pt x="31" y="14"/>
                  </a:lnTo>
                  <a:lnTo>
                    <a:pt x="25" y="14"/>
                  </a:lnTo>
                  <a:lnTo>
                    <a:pt x="19" y="16"/>
                  </a:lnTo>
                  <a:lnTo>
                    <a:pt x="14" y="19"/>
                  </a:lnTo>
                  <a:lnTo>
                    <a:pt x="10" y="23"/>
                  </a:lnTo>
                  <a:lnTo>
                    <a:pt x="6" y="27"/>
                  </a:lnTo>
                  <a:lnTo>
                    <a:pt x="4" y="33"/>
                  </a:lnTo>
                  <a:lnTo>
                    <a:pt x="0" y="39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4" y="65"/>
                  </a:lnTo>
                  <a:lnTo>
                    <a:pt x="6" y="71"/>
                  </a:lnTo>
                  <a:lnTo>
                    <a:pt x="10" y="75"/>
                  </a:lnTo>
                  <a:lnTo>
                    <a:pt x="14" y="79"/>
                  </a:lnTo>
                  <a:lnTo>
                    <a:pt x="19" y="81"/>
                  </a:lnTo>
                  <a:lnTo>
                    <a:pt x="25" y="84"/>
                  </a:lnTo>
                  <a:lnTo>
                    <a:pt x="31" y="84"/>
                  </a:lnTo>
                  <a:lnTo>
                    <a:pt x="37" y="86"/>
                  </a:lnTo>
                  <a:lnTo>
                    <a:pt x="42" y="84"/>
                  </a:lnTo>
                  <a:lnTo>
                    <a:pt x="48" y="84"/>
                  </a:lnTo>
                  <a:lnTo>
                    <a:pt x="52" y="81"/>
                  </a:lnTo>
                  <a:lnTo>
                    <a:pt x="58" y="79"/>
                  </a:lnTo>
                  <a:lnTo>
                    <a:pt x="62" y="75"/>
                  </a:lnTo>
                  <a:lnTo>
                    <a:pt x="65" y="71"/>
                  </a:lnTo>
                  <a:lnTo>
                    <a:pt x="69" y="65"/>
                  </a:lnTo>
                  <a:lnTo>
                    <a:pt x="71" y="60"/>
                  </a:lnTo>
                  <a:lnTo>
                    <a:pt x="73" y="54"/>
                  </a:lnTo>
                  <a:lnTo>
                    <a:pt x="73" y="48"/>
                  </a:lnTo>
                  <a:close/>
                  <a:moveTo>
                    <a:pt x="611" y="48"/>
                  </a:moveTo>
                  <a:lnTo>
                    <a:pt x="513" y="98"/>
                  </a:lnTo>
                  <a:lnTo>
                    <a:pt x="515" y="90"/>
                  </a:lnTo>
                  <a:lnTo>
                    <a:pt x="519" y="82"/>
                  </a:lnTo>
                  <a:lnTo>
                    <a:pt x="521" y="77"/>
                  </a:lnTo>
                  <a:lnTo>
                    <a:pt x="523" y="69"/>
                  </a:lnTo>
                  <a:lnTo>
                    <a:pt x="523" y="61"/>
                  </a:lnTo>
                  <a:lnTo>
                    <a:pt x="525" y="52"/>
                  </a:lnTo>
                  <a:lnTo>
                    <a:pt x="525" y="44"/>
                  </a:lnTo>
                  <a:lnTo>
                    <a:pt x="523" y="37"/>
                  </a:lnTo>
                  <a:lnTo>
                    <a:pt x="523" y="29"/>
                  </a:lnTo>
                  <a:lnTo>
                    <a:pt x="521" y="21"/>
                  </a:lnTo>
                  <a:lnTo>
                    <a:pt x="519" y="14"/>
                  </a:lnTo>
                  <a:lnTo>
                    <a:pt x="515" y="8"/>
                  </a:lnTo>
                  <a:lnTo>
                    <a:pt x="513" y="0"/>
                  </a:lnTo>
                  <a:lnTo>
                    <a:pt x="611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CCCC"/>
                </a:buClr>
                <a:buSzPct val="75000"/>
                <a:buFont typeface="Monotype Sorts" pitchFamily="2" charset="2"/>
                <a:buChar char="l"/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87E4EB57-DB03-4F9C-847D-625D3249C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9525" y="4046905"/>
              <a:ext cx="682625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spcBef>
                  <a:spcPct val="20000"/>
                </a:spcBef>
                <a:buClr>
                  <a:srgbClr val="00CCCC"/>
                </a:buClr>
                <a:buSzPct val="75000"/>
                <a:buFont typeface="Monotype Sorts" pitchFamily="2" charset="2"/>
                <a:buChar char="l"/>
                <a:defRPr/>
              </a:pPr>
              <a:endParaRPr lang="en-US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1DC3CD-DC0C-4255-A916-1A9B3828B9F9}"/>
              </a:ext>
            </a:extLst>
          </p:cNvPr>
          <p:cNvGrpSpPr/>
          <p:nvPr/>
        </p:nvGrpSpPr>
        <p:grpSpPr>
          <a:xfrm>
            <a:off x="8162925" y="2903017"/>
            <a:ext cx="2537233" cy="746086"/>
            <a:chOff x="5724524" y="3273129"/>
            <a:chExt cx="2537233" cy="746086"/>
          </a:xfrm>
        </p:grpSpPr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69762812-D2F8-45E4-AD10-3FC2EE425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2152" y="3792202"/>
              <a:ext cx="1588" cy="109538"/>
            </a:xfrm>
            <a:prstGeom prst="line">
              <a:avLst/>
            </a:prstGeom>
            <a:noFill/>
            <a:ln w="26988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CCCC"/>
                </a:buClr>
                <a:buSzPct val="75000"/>
                <a:buFont typeface="Monotype Sorts" pitchFamily="2" charset="2"/>
                <a:buChar char="l"/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DA5A69D-0B36-4940-83C1-AEA9B3373D90}"/>
                </a:ext>
              </a:extLst>
            </p:cNvPr>
            <p:cNvGrpSpPr/>
            <p:nvPr/>
          </p:nvGrpSpPr>
          <p:grpSpPr>
            <a:xfrm>
              <a:off x="5724524" y="3273129"/>
              <a:ext cx="2537233" cy="746086"/>
              <a:chOff x="7022409" y="3189695"/>
              <a:chExt cx="2537233" cy="746086"/>
            </a:xfrm>
          </p:grpSpPr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BA3674AE-725A-4061-BC67-0792B387B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3837" y="3781793"/>
                <a:ext cx="155575" cy="153988"/>
              </a:xfrm>
              <a:custGeom>
                <a:avLst/>
                <a:gdLst>
                  <a:gd name="T0" fmla="*/ 48 w 98"/>
                  <a:gd name="T1" fmla="*/ 97 h 97"/>
                  <a:gd name="T2" fmla="*/ 0 w 98"/>
                  <a:gd name="T3" fmla="*/ 0 h 97"/>
                  <a:gd name="T4" fmla="*/ 6 w 98"/>
                  <a:gd name="T5" fmla="*/ 2 h 97"/>
                  <a:gd name="T6" fmla="*/ 14 w 98"/>
                  <a:gd name="T7" fmla="*/ 6 h 97"/>
                  <a:gd name="T8" fmla="*/ 21 w 98"/>
                  <a:gd name="T9" fmla="*/ 8 h 97"/>
                  <a:gd name="T10" fmla="*/ 29 w 98"/>
                  <a:gd name="T11" fmla="*/ 10 h 97"/>
                  <a:gd name="T12" fmla="*/ 37 w 98"/>
                  <a:gd name="T13" fmla="*/ 10 h 97"/>
                  <a:gd name="T14" fmla="*/ 44 w 98"/>
                  <a:gd name="T15" fmla="*/ 12 h 97"/>
                  <a:gd name="T16" fmla="*/ 52 w 98"/>
                  <a:gd name="T17" fmla="*/ 12 h 97"/>
                  <a:gd name="T18" fmla="*/ 60 w 98"/>
                  <a:gd name="T19" fmla="*/ 10 h 97"/>
                  <a:gd name="T20" fmla="*/ 67 w 98"/>
                  <a:gd name="T21" fmla="*/ 10 h 97"/>
                  <a:gd name="T22" fmla="*/ 75 w 98"/>
                  <a:gd name="T23" fmla="*/ 8 h 97"/>
                  <a:gd name="T24" fmla="*/ 83 w 98"/>
                  <a:gd name="T25" fmla="*/ 6 h 97"/>
                  <a:gd name="T26" fmla="*/ 90 w 98"/>
                  <a:gd name="T27" fmla="*/ 2 h 97"/>
                  <a:gd name="T28" fmla="*/ 98 w 98"/>
                  <a:gd name="T29" fmla="*/ 0 h 97"/>
                  <a:gd name="T30" fmla="*/ 48 w 98"/>
                  <a:gd name="T31" fmla="*/ 97 h 9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98"/>
                  <a:gd name="T49" fmla="*/ 0 h 97"/>
                  <a:gd name="T50" fmla="*/ 98 w 98"/>
                  <a:gd name="T51" fmla="*/ 97 h 9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98" h="97">
                    <a:moveTo>
                      <a:pt x="48" y="97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4" y="6"/>
                    </a:lnTo>
                    <a:lnTo>
                      <a:pt x="21" y="8"/>
                    </a:lnTo>
                    <a:lnTo>
                      <a:pt x="29" y="10"/>
                    </a:lnTo>
                    <a:lnTo>
                      <a:pt x="37" y="10"/>
                    </a:lnTo>
                    <a:lnTo>
                      <a:pt x="44" y="12"/>
                    </a:lnTo>
                    <a:lnTo>
                      <a:pt x="52" y="12"/>
                    </a:lnTo>
                    <a:lnTo>
                      <a:pt x="60" y="10"/>
                    </a:lnTo>
                    <a:lnTo>
                      <a:pt x="67" y="10"/>
                    </a:lnTo>
                    <a:lnTo>
                      <a:pt x="75" y="8"/>
                    </a:lnTo>
                    <a:lnTo>
                      <a:pt x="83" y="6"/>
                    </a:lnTo>
                    <a:lnTo>
                      <a:pt x="90" y="2"/>
                    </a:lnTo>
                    <a:lnTo>
                      <a:pt x="98" y="0"/>
                    </a:lnTo>
                    <a:lnTo>
                      <a:pt x="48" y="97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00CCCC"/>
                  </a:buClr>
                  <a:buSzPct val="75000"/>
                  <a:buFont typeface="Monotype Sorts" pitchFamily="2" charset="2"/>
                  <a:buChar char="l"/>
                  <a:defRPr/>
                </a:pPr>
                <a:endParaRPr lang="en-US" sz="240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Rectangle 13">
                <a:extLst>
                  <a:ext uri="{FF2B5EF4-FFF2-40B4-BE49-F238E27FC236}">
                    <a16:creationId xmlns:a16="http://schemas.microsoft.com/office/drawing/2014/main" id="{174616F8-75DF-4EBD-8341-BC0A82F5D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2409" y="3189695"/>
                <a:ext cx="253723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rgbClr val="00CCCC"/>
                  </a:buClr>
                  <a:buSzPct val="75000"/>
                  <a:defRPr/>
                </a:pPr>
                <a:r>
                  <a:rPr lang="en-US" altLang="zh-TW" sz="2400" dirty="0">
                    <a:solidFill>
                      <a:prstClr val="black"/>
                    </a:solidFill>
                    <a:latin typeface="Calibri" panose="020F0502020204030204"/>
                    <a:ea typeface="新細明體"/>
                  </a:rPr>
                  <a:t>Uninitialized pointer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660E386-B142-4C7E-9FFB-27B2F4A3D516}"/>
              </a:ext>
            </a:extLst>
          </p:cNvPr>
          <p:cNvGrpSpPr/>
          <p:nvPr/>
        </p:nvGrpSpPr>
        <p:grpSpPr>
          <a:xfrm>
            <a:off x="8163638" y="2937162"/>
            <a:ext cx="3018583" cy="701731"/>
            <a:chOff x="5724524" y="3275380"/>
            <a:chExt cx="3018583" cy="701731"/>
          </a:xfrm>
        </p:grpSpPr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0C3280F6-EB92-4064-A36C-996401559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4524" y="3275380"/>
              <a:ext cx="3018583" cy="7017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342900" indent="-342900">
                <a:spcBef>
                  <a:spcPct val="20000"/>
                </a:spcBef>
                <a:buClr>
                  <a:srgbClr val="00CCCC"/>
                </a:buClr>
                <a:buSzPct val="75000"/>
                <a:defRPr/>
              </a:pPr>
              <a:r>
                <a:rPr lang="en-US" altLang="zh-TW" sz="2400" dirty="0">
                  <a:solidFill>
                    <a:prstClr val="black"/>
                  </a:solidFill>
                  <a:latin typeface="Calibri" panose="020F0502020204030204"/>
                  <a:ea typeface="新細明體"/>
                </a:rPr>
                <a:t>Uninitialized int variable</a:t>
              </a:r>
            </a:p>
            <a:p>
              <a:pPr marL="342900" indent="-342900">
                <a:spcBef>
                  <a:spcPct val="20000"/>
                </a:spcBef>
                <a:buClr>
                  <a:srgbClr val="00CCCC"/>
                </a:buClr>
                <a:buSzPct val="75000"/>
                <a:defRPr/>
              </a:pPr>
              <a:endParaRPr lang="en-US" altLang="zh-TW" sz="1800" dirty="0">
                <a:solidFill>
                  <a:prstClr val="black"/>
                </a:solidFill>
                <a:latin typeface="Calibri" panose="020F0502020204030204"/>
                <a:ea typeface="新細明體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5A9979E8-15F8-4400-9345-0AC1F9F99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3837" y="3781793"/>
              <a:ext cx="155575" cy="153988"/>
            </a:xfrm>
            <a:custGeom>
              <a:avLst/>
              <a:gdLst>
                <a:gd name="T0" fmla="*/ 48 w 98"/>
                <a:gd name="T1" fmla="*/ 97 h 97"/>
                <a:gd name="T2" fmla="*/ 0 w 98"/>
                <a:gd name="T3" fmla="*/ 0 h 97"/>
                <a:gd name="T4" fmla="*/ 6 w 98"/>
                <a:gd name="T5" fmla="*/ 2 h 97"/>
                <a:gd name="T6" fmla="*/ 14 w 98"/>
                <a:gd name="T7" fmla="*/ 6 h 97"/>
                <a:gd name="T8" fmla="*/ 21 w 98"/>
                <a:gd name="T9" fmla="*/ 8 h 97"/>
                <a:gd name="T10" fmla="*/ 29 w 98"/>
                <a:gd name="T11" fmla="*/ 10 h 97"/>
                <a:gd name="T12" fmla="*/ 37 w 98"/>
                <a:gd name="T13" fmla="*/ 10 h 97"/>
                <a:gd name="T14" fmla="*/ 44 w 98"/>
                <a:gd name="T15" fmla="*/ 12 h 97"/>
                <a:gd name="T16" fmla="*/ 52 w 98"/>
                <a:gd name="T17" fmla="*/ 12 h 97"/>
                <a:gd name="T18" fmla="*/ 60 w 98"/>
                <a:gd name="T19" fmla="*/ 10 h 97"/>
                <a:gd name="T20" fmla="*/ 67 w 98"/>
                <a:gd name="T21" fmla="*/ 10 h 97"/>
                <a:gd name="T22" fmla="*/ 75 w 98"/>
                <a:gd name="T23" fmla="*/ 8 h 97"/>
                <a:gd name="T24" fmla="*/ 83 w 98"/>
                <a:gd name="T25" fmla="*/ 6 h 97"/>
                <a:gd name="T26" fmla="*/ 90 w 98"/>
                <a:gd name="T27" fmla="*/ 2 h 97"/>
                <a:gd name="T28" fmla="*/ 98 w 98"/>
                <a:gd name="T29" fmla="*/ 0 h 97"/>
                <a:gd name="T30" fmla="*/ 48 w 98"/>
                <a:gd name="T31" fmla="*/ 97 h 9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98"/>
                <a:gd name="T49" fmla="*/ 0 h 97"/>
                <a:gd name="T50" fmla="*/ 98 w 98"/>
                <a:gd name="T51" fmla="*/ 97 h 9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98" h="97">
                  <a:moveTo>
                    <a:pt x="48" y="97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14" y="6"/>
                  </a:lnTo>
                  <a:lnTo>
                    <a:pt x="21" y="8"/>
                  </a:lnTo>
                  <a:lnTo>
                    <a:pt x="29" y="10"/>
                  </a:lnTo>
                  <a:lnTo>
                    <a:pt x="37" y="10"/>
                  </a:lnTo>
                  <a:lnTo>
                    <a:pt x="44" y="12"/>
                  </a:lnTo>
                  <a:lnTo>
                    <a:pt x="52" y="12"/>
                  </a:lnTo>
                  <a:lnTo>
                    <a:pt x="60" y="10"/>
                  </a:lnTo>
                  <a:lnTo>
                    <a:pt x="67" y="10"/>
                  </a:lnTo>
                  <a:lnTo>
                    <a:pt x="75" y="8"/>
                  </a:lnTo>
                  <a:lnTo>
                    <a:pt x="83" y="6"/>
                  </a:lnTo>
                  <a:lnTo>
                    <a:pt x="90" y="2"/>
                  </a:lnTo>
                  <a:lnTo>
                    <a:pt x="98" y="0"/>
                  </a:lnTo>
                  <a:lnTo>
                    <a:pt x="48" y="97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CCCC"/>
                </a:buClr>
                <a:buSzPct val="75000"/>
                <a:buFont typeface="Monotype Sorts" pitchFamily="2" charset="2"/>
                <a:buChar char="l"/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4" name="Line 11">
            <a:extLst>
              <a:ext uri="{FF2B5EF4-FFF2-40B4-BE49-F238E27FC236}">
                <a16:creationId xmlns:a16="http://schemas.microsoft.com/office/drawing/2014/main" id="{D38DCCB3-9FAE-481D-8084-A06905566A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58437" y="3338656"/>
            <a:ext cx="1588" cy="109538"/>
          </a:xfrm>
          <a:prstGeom prst="line">
            <a:avLst/>
          </a:prstGeom>
          <a:noFill/>
          <a:ln w="26988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00CCCC"/>
              </a:buClr>
              <a:buSzPct val="75000"/>
              <a:buFont typeface="Monotype Sorts" pitchFamily="2" charset="2"/>
              <a:buChar char="l"/>
              <a:defRPr/>
            </a:pPr>
            <a:endParaRPr lang="en-US" sz="2400">
              <a:solidFill>
                <a:prstClr val="black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34A940E-010A-4D3D-88D7-E52141470D54}"/>
              </a:ext>
            </a:extLst>
          </p:cNvPr>
          <p:cNvGrpSpPr/>
          <p:nvPr/>
        </p:nvGrpSpPr>
        <p:grpSpPr>
          <a:xfrm>
            <a:off x="8047335" y="2716669"/>
            <a:ext cx="3302830" cy="1303025"/>
            <a:chOff x="5608935" y="3083355"/>
            <a:chExt cx="3302830" cy="1303025"/>
          </a:xfrm>
        </p:grpSpPr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E727D7B0-EECC-4261-8F17-B1DBBA44A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4400" y="4043480"/>
              <a:ext cx="682625" cy="3429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>
                <a:spcBef>
                  <a:spcPts val="0"/>
                </a:spcBef>
                <a:buClr>
                  <a:srgbClr val="00CCCC"/>
                </a:buClr>
                <a:buSzPct val="75000"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10</a:t>
              </a:r>
              <a:endParaRPr lang="en-US" sz="2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10F497-25E6-4DBC-BFEF-29056F1E14F6}"/>
                </a:ext>
              </a:extLst>
            </p:cNvPr>
            <p:cNvSpPr/>
            <p:nvPr/>
          </p:nvSpPr>
          <p:spPr>
            <a:xfrm>
              <a:off x="5608935" y="3083355"/>
              <a:ext cx="3302830" cy="9188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42F8CB3-B32B-4E19-944A-D228B3509435}"/>
              </a:ext>
            </a:extLst>
          </p:cNvPr>
          <p:cNvSpPr txBox="1"/>
          <p:nvPr/>
        </p:nvSpPr>
        <p:spPr>
          <a:xfrm>
            <a:off x="9788129" y="3338657"/>
            <a:ext cx="3421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6000" dirty="0">
                <a:ln>
                  <a:solidFill>
                    <a:srgbClr val="C00000"/>
                  </a:solidFill>
                </a:ln>
                <a:solidFill>
                  <a:srgbClr val="FF0000"/>
                </a:solidFill>
                <a:latin typeface="Calibri" panose="020F0502020204030204"/>
                <a:cs typeface="Times New Roman" panose="02020603050405020304" pitchFamily="18" charset="0"/>
              </a:rPr>
              <a:t>X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228CD1A-B25F-4F55-A88F-4E12042D47B0}"/>
              </a:ext>
            </a:extLst>
          </p:cNvPr>
          <p:cNvGrpSpPr/>
          <p:nvPr/>
        </p:nvGrpSpPr>
        <p:grpSpPr>
          <a:xfrm>
            <a:off x="8162925" y="2894511"/>
            <a:ext cx="2297809" cy="746086"/>
            <a:chOff x="5724524" y="3273129"/>
            <a:chExt cx="2297809" cy="746086"/>
          </a:xfrm>
        </p:grpSpPr>
        <p:sp>
          <p:nvSpPr>
            <p:cNvPr id="38" name="Line 11">
              <a:extLst>
                <a:ext uri="{FF2B5EF4-FFF2-40B4-BE49-F238E27FC236}">
                  <a16:creationId xmlns:a16="http://schemas.microsoft.com/office/drawing/2014/main" id="{B648AD46-2DCC-421C-8A4E-EF065882D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2152" y="3792202"/>
              <a:ext cx="1588" cy="109538"/>
            </a:xfrm>
            <a:prstGeom prst="line">
              <a:avLst/>
            </a:prstGeom>
            <a:noFill/>
            <a:ln w="26988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CCCC"/>
                </a:buClr>
                <a:buSzPct val="75000"/>
                <a:buFont typeface="Monotype Sorts" pitchFamily="2" charset="2"/>
                <a:buChar char="l"/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6DB4FE1-104D-4EC8-9C51-09EF276AFA76}"/>
                </a:ext>
              </a:extLst>
            </p:cNvPr>
            <p:cNvGrpSpPr/>
            <p:nvPr/>
          </p:nvGrpSpPr>
          <p:grpSpPr>
            <a:xfrm>
              <a:off x="5724524" y="3273129"/>
              <a:ext cx="2297809" cy="746086"/>
              <a:chOff x="7022409" y="3189695"/>
              <a:chExt cx="2297809" cy="746086"/>
            </a:xfrm>
          </p:grpSpPr>
          <p:sp>
            <p:nvSpPr>
              <p:cNvPr id="40" name="Freeform 12">
                <a:extLst>
                  <a:ext uri="{FF2B5EF4-FFF2-40B4-BE49-F238E27FC236}">
                    <a16:creationId xmlns:a16="http://schemas.microsoft.com/office/drawing/2014/main" id="{D8F2BEE3-A73A-4C08-8472-75CBF6751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3837" y="3781793"/>
                <a:ext cx="155575" cy="153988"/>
              </a:xfrm>
              <a:custGeom>
                <a:avLst/>
                <a:gdLst>
                  <a:gd name="T0" fmla="*/ 48 w 98"/>
                  <a:gd name="T1" fmla="*/ 97 h 97"/>
                  <a:gd name="T2" fmla="*/ 0 w 98"/>
                  <a:gd name="T3" fmla="*/ 0 h 97"/>
                  <a:gd name="T4" fmla="*/ 6 w 98"/>
                  <a:gd name="T5" fmla="*/ 2 h 97"/>
                  <a:gd name="T6" fmla="*/ 14 w 98"/>
                  <a:gd name="T7" fmla="*/ 6 h 97"/>
                  <a:gd name="T8" fmla="*/ 21 w 98"/>
                  <a:gd name="T9" fmla="*/ 8 h 97"/>
                  <a:gd name="T10" fmla="*/ 29 w 98"/>
                  <a:gd name="T11" fmla="*/ 10 h 97"/>
                  <a:gd name="T12" fmla="*/ 37 w 98"/>
                  <a:gd name="T13" fmla="*/ 10 h 97"/>
                  <a:gd name="T14" fmla="*/ 44 w 98"/>
                  <a:gd name="T15" fmla="*/ 12 h 97"/>
                  <a:gd name="T16" fmla="*/ 52 w 98"/>
                  <a:gd name="T17" fmla="*/ 12 h 97"/>
                  <a:gd name="T18" fmla="*/ 60 w 98"/>
                  <a:gd name="T19" fmla="*/ 10 h 97"/>
                  <a:gd name="T20" fmla="*/ 67 w 98"/>
                  <a:gd name="T21" fmla="*/ 10 h 97"/>
                  <a:gd name="T22" fmla="*/ 75 w 98"/>
                  <a:gd name="T23" fmla="*/ 8 h 97"/>
                  <a:gd name="T24" fmla="*/ 83 w 98"/>
                  <a:gd name="T25" fmla="*/ 6 h 97"/>
                  <a:gd name="T26" fmla="*/ 90 w 98"/>
                  <a:gd name="T27" fmla="*/ 2 h 97"/>
                  <a:gd name="T28" fmla="*/ 98 w 98"/>
                  <a:gd name="T29" fmla="*/ 0 h 97"/>
                  <a:gd name="T30" fmla="*/ 48 w 98"/>
                  <a:gd name="T31" fmla="*/ 97 h 9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98"/>
                  <a:gd name="T49" fmla="*/ 0 h 97"/>
                  <a:gd name="T50" fmla="*/ 98 w 98"/>
                  <a:gd name="T51" fmla="*/ 97 h 9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98" h="97">
                    <a:moveTo>
                      <a:pt x="48" y="97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4" y="6"/>
                    </a:lnTo>
                    <a:lnTo>
                      <a:pt x="21" y="8"/>
                    </a:lnTo>
                    <a:lnTo>
                      <a:pt x="29" y="10"/>
                    </a:lnTo>
                    <a:lnTo>
                      <a:pt x="37" y="10"/>
                    </a:lnTo>
                    <a:lnTo>
                      <a:pt x="44" y="12"/>
                    </a:lnTo>
                    <a:lnTo>
                      <a:pt x="52" y="12"/>
                    </a:lnTo>
                    <a:lnTo>
                      <a:pt x="60" y="10"/>
                    </a:lnTo>
                    <a:lnTo>
                      <a:pt x="67" y="10"/>
                    </a:lnTo>
                    <a:lnTo>
                      <a:pt x="75" y="8"/>
                    </a:lnTo>
                    <a:lnTo>
                      <a:pt x="83" y="6"/>
                    </a:lnTo>
                    <a:lnTo>
                      <a:pt x="90" y="2"/>
                    </a:lnTo>
                    <a:lnTo>
                      <a:pt x="98" y="0"/>
                    </a:lnTo>
                    <a:lnTo>
                      <a:pt x="48" y="97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00CCCC"/>
                  </a:buClr>
                  <a:buSzPct val="75000"/>
                  <a:buFont typeface="Monotype Sorts" pitchFamily="2" charset="2"/>
                  <a:buChar char="l"/>
                  <a:defRPr/>
                </a:pPr>
                <a:endParaRPr lang="en-US" sz="2400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Rectangle 13">
                <a:extLst>
                  <a:ext uri="{FF2B5EF4-FFF2-40B4-BE49-F238E27FC236}">
                    <a16:creationId xmlns:a16="http://schemas.microsoft.com/office/drawing/2014/main" id="{289E0F08-964B-4525-906E-9946AC307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2409" y="3189695"/>
                <a:ext cx="229780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rgbClr val="00CCCC"/>
                  </a:buClr>
                  <a:buSzPct val="75000"/>
                  <a:defRPr/>
                </a:pPr>
                <a:r>
                  <a:rPr lang="en-US" altLang="zh-TW" sz="2400" dirty="0">
                    <a:solidFill>
                      <a:prstClr val="black"/>
                    </a:solidFill>
                    <a:latin typeface="Calibri" panose="020F0502020204030204"/>
                    <a:ea typeface="新細明體"/>
                  </a:rPr>
                  <a:t>Undefined pointer</a:t>
                </a:r>
              </a:p>
            </p:txBody>
          </p:sp>
        </p:grpSp>
      </p:grpSp>
      <p:sp>
        <p:nvSpPr>
          <p:cNvPr id="44" name="Speech Bubble: Oval 43">
            <a:extLst>
              <a:ext uri="{FF2B5EF4-FFF2-40B4-BE49-F238E27FC236}">
                <a16:creationId xmlns:a16="http://schemas.microsoft.com/office/drawing/2014/main" id="{4FB8C3C7-74D8-45E3-A058-3D8975E67110}"/>
              </a:ext>
            </a:extLst>
          </p:cNvPr>
          <p:cNvSpPr/>
          <p:nvPr/>
        </p:nvSpPr>
        <p:spPr>
          <a:xfrm>
            <a:off x="8708347" y="5539325"/>
            <a:ext cx="1574604" cy="787990"/>
          </a:xfrm>
          <a:prstGeom prst="wedgeEllipseCallout">
            <a:avLst>
              <a:gd name="adj1" fmla="val -220232"/>
              <a:gd name="adj2" fmla="val -62723"/>
            </a:avLst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  <a:buClr>
                <a:srgbClr val="00CCCC"/>
              </a:buClr>
              <a:buSzPct val="75000"/>
              <a:defRPr/>
            </a:pPr>
            <a:r>
              <a:rPr 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Can be a </a:t>
            </a:r>
            <a:r>
              <a:rPr lang="en-US" sz="1800" b="1" dirty="0">
                <a:solidFill>
                  <a:srgbClr val="FF0000"/>
                </a:solidFill>
                <a:latin typeface="Arial" charset="0"/>
                <a:ea typeface="新細明體" pitchFamily="18" charset="-120"/>
              </a:rPr>
              <a:t>variable</a:t>
            </a:r>
            <a:r>
              <a:rPr lang="en-US" sz="1800" b="1" dirty="0">
                <a:solidFill>
                  <a:prstClr val="black"/>
                </a:solidFill>
                <a:latin typeface="Arial" charset="0"/>
                <a:ea typeface="新細明體" pitchFamily="18" charset="-120"/>
              </a:rPr>
              <a:t>!</a:t>
            </a:r>
          </a:p>
        </p:txBody>
      </p:sp>
      <p:sp>
        <p:nvSpPr>
          <p:cNvPr id="24" name="progressBarBackground">
            <a:extLst>
              <a:ext uri="{FF2B5EF4-FFF2-40B4-BE49-F238E27FC236}">
                <a16:creationId xmlns:a16="http://schemas.microsoft.com/office/drawing/2014/main" id="{EFBE35AB-2275-4201-928C-F5514B109F90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progressBar">
            <a:extLst>
              <a:ext uri="{FF2B5EF4-FFF2-40B4-BE49-F238E27FC236}">
                <a16:creationId xmlns:a16="http://schemas.microsoft.com/office/drawing/2014/main" id="{FE889586-E657-4CD2-85F3-D0351BFF3DB0}"/>
              </a:ext>
            </a:extLst>
          </p:cNvPr>
          <p:cNvSpPr/>
          <p:nvPr/>
        </p:nvSpPr>
        <p:spPr>
          <a:xfrm>
            <a:off x="1524001" y="6813550"/>
            <a:ext cx="4661647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pageNumber">
            <a:extLst>
              <a:ext uri="{FF2B5EF4-FFF2-40B4-BE49-F238E27FC236}">
                <a16:creationId xmlns:a16="http://schemas.microsoft.com/office/drawing/2014/main" id="{73B78CF6-3A66-48EE-B39A-51640D4D41EB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r>
              <a:rPr lang="en-US" sz="1300" b="1">
                <a:solidFill>
                  <a:srgbClr val="141414"/>
                </a:solidFill>
              </a:rPr>
              <a:t> 26</a:t>
            </a:r>
          </a:p>
        </p:txBody>
      </p:sp>
    </p:spTree>
    <p:extLst>
      <p:ext uri="{BB962C8B-B14F-4D97-AF65-F5344CB8AC3E}">
        <p14:creationId xmlns:p14="http://schemas.microsoft.com/office/powerpoint/2010/main" val="16503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21" grpId="0"/>
      <p:bldP spid="4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5955" y="1130046"/>
            <a:ext cx="7630478" cy="16920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467201" defTabSz="685800" eaLnBrk="1" fontAlgn="auto" hangingPunct="1">
              <a:lnSpc>
                <a:spcPts val="7133"/>
              </a:lnSpc>
              <a:spcBef>
                <a:spcPts val="409"/>
              </a:spcBef>
              <a:spcAft>
                <a:spcPts val="0"/>
              </a:spcAft>
            </a:pPr>
            <a:r>
              <a:rPr sz="2700" kern="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*</a:t>
            </a:r>
            <a:r>
              <a:rPr sz="2700" kern="0" spc="-30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p1</a:t>
            </a:r>
            <a:r>
              <a:rPr sz="2700" kern="0" spc="-15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=</a:t>
            </a:r>
            <a:r>
              <a:rPr sz="2700" kern="0" spc="-23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2700" kern="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;</a:t>
            </a:r>
            <a:r>
              <a:rPr sz="2700" kern="0" spc="-26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2700" kern="0" spc="-19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008000"/>
                </a:solidFill>
                <a:latin typeface="Consolas"/>
                <a:cs typeface="Consolas"/>
              </a:rPr>
              <a:t>Allocate</a:t>
            </a:r>
            <a:r>
              <a:rPr sz="2700" kern="0" spc="-23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sz="2700" kern="0" spc="-19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700" kern="0" spc="-15" dirty="0">
                <a:solidFill>
                  <a:srgbClr val="008000"/>
                </a:solidFill>
                <a:latin typeface="Consolas"/>
                <a:cs typeface="Consolas"/>
              </a:rPr>
              <a:t>heap </a:t>
            </a:r>
            <a:r>
              <a:rPr sz="2700" kern="0" dirty="0">
                <a:solidFill>
                  <a:srgbClr val="0000FF"/>
                </a:solidFill>
                <a:latin typeface="Consolas"/>
                <a:cs typeface="Consolas"/>
              </a:rPr>
              <a:t>delete</a:t>
            </a:r>
            <a:r>
              <a:rPr sz="2700" kern="0" spc="-41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p1;</a:t>
            </a:r>
            <a:r>
              <a:rPr sz="2700" kern="0" spc="-34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2700" kern="0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008000"/>
                </a:solidFill>
                <a:latin typeface="Consolas"/>
                <a:cs typeface="Consolas"/>
              </a:rPr>
              <a:t>Deallocate</a:t>
            </a:r>
            <a:r>
              <a:rPr sz="2700" kern="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008000"/>
                </a:solidFill>
                <a:latin typeface="Consolas"/>
                <a:cs typeface="Consolas"/>
              </a:rPr>
              <a:t>from</a:t>
            </a:r>
            <a:r>
              <a:rPr sz="2700" kern="0" spc="-38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700" kern="0" spc="-15" dirty="0">
                <a:solidFill>
                  <a:srgbClr val="008000"/>
                </a:solidFill>
                <a:latin typeface="Consolas"/>
                <a:cs typeface="Consolas"/>
              </a:rPr>
              <a:t>heap</a:t>
            </a:r>
            <a:endParaRPr sz="27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25956" y="3510422"/>
            <a:ext cx="8316743" cy="1763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sz="2700" kern="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*</a:t>
            </a:r>
            <a:r>
              <a:rPr lang="en-US" sz="2700" kern="0" spc="-30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2700" kern="0" spc="-15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[6]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700" dirty="0">
                <a:solidFill>
                  <a:srgbClr val="008000"/>
                </a:solidFill>
                <a:latin typeface="Consolas" panose="020B0609020204030204" pitchFamily="49" charset="0"/>
              </a:rPr>
              <a:t>// Allocate</a:t>
            </a:r>
          </a:p>
          <a:p>
            <a:pPr eaLnBrk="1" fontAlgn="auto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27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[]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700" dirty="0">
                <a:solidFill>
                  <a:srgbClr val="008000"/>
                </a:solidFill>
                <a:latin typeface="Consolas" panose="020B0609020204030204" pitchFamily="49" charset="0"/>
              </a:rPr>
              <a:t>// Deallocate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2463" y="441736"/>
            <a:ext cx="92691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8661" defTabSz="685800" eaLnBrk="1" fontAlgn="auto" hangingPunct="1">
              <a:spcBef>
                <a:spcPts val="75"/>
              </a:spcBef>
              <a:spcAft>
                <a:spcPts val="0"/>
              </a:spcAft>
            </a:pPr>
            <a:r>
              <a:rPr lang="en-US" sz="3200" b="1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Dynamic Memory Allocation / Deallocation</a:t>
            </a:r>
          </a:p>
        </p:txBody>
      </p:sp>
    </p:spTree>
    <p:extLst>
      <p:ext uri="{BB962C8B-B14F-4D97-AF65-F5344CB8AC3E}">
        <p14:creationId xmlns:p14="http://schemas.microsoft.com/office/powerpoint/2010/main" val="2633475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01675"/>
            <a:ext cx="11029950" cy="1014413"/>
          </a:xfrm>
        </p:spPr>
        <p:txBody>
          <a:bodyPr>
            <a:normAutofit/>
          </a:bodyPr>
          <a:lstStyle/>
          <a:p>
            <a:pPr marL="718661" defTabSz="685800">
              <a:spcBef>
                <a:spcPts val="75"/>
              </a:spcBef>
            </a:pPr>
            <a:r>
              <a:rPr lang="en-US" altLang="zh-TW" sz="3200" b="1" spc="-10" dirty="0">
                <a:solidFill>
                  <a:srgbClr val="0070C0"/>
                </a:solidFill>
                <a:latin typeface="Arial"/>
                <a:cs typeface="Arial"/>
              </a:rPr>
              <a:t>Static vs. Dynamic Memory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26160" y="1963738"/>
            <a:ext cx="11029950" cy="36782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C00000"/>
                </a:solidFill>
                <a:ea typeface="新細明體" pitchFamily="18" charset="-120"/>
              </a:rPr>
              <a:t>Static Memory Allocation</a:t>
            </a:r>
          </a:p>
          <a:p>
            <a:pPr lvl="1">
              <a:lnSpc>
                <a:spcPct val="150000"/>
              </a:lnSpc>
            </a:pPr>
            <a:r>
              <a:rPr lang="en-US" altLang="zh-TW" sz="3600" dirty="0">
                <a:ea typeface="新細明體" pitchFamily="18" charset="-120"/>
              </a:rPr>
              <a:t>Memory is allocated at compilation time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C00000"/>
                </a:solidFill>
                <a:ea typeface="新細明體" pitchFamily="18" charset="-120"/>
              </a:rPr>
              <a:t>Dynamic Memory</a:t>
            </a:r>
          </a:p>
          <a:p>
            <a:pPr lvl="1">
              <a:lnSpc>
                <a:spcPct val="150000"/>
              </a:lnSpc>
            </a:pPr>
            <a:r>
              <a:rPr lang="en-US" altLang="zh-TW" sz="3600" dirty="0">
                <a:ea typeface="新細明體" pitchFamily="18" charset="-120"/>
              </a:rPr>
              <a:t>Memory is allocated at running time</a:t>
            </a:r>
          </a:p>
        </p:txBody>
      </p:sp>
      <p:sp>
        <p:nvSpPr>
          <p:cNvPr id="11" name="progressBarBackground">
            <a:extLst>
              <a:ext uri="{FF2B5EF4-FFF2-40B4-BE49-F238E27FC236}">
                <a16:creationId xmlns:a16="http://schemas.microsoft.com/office/drawing/2014/main" id="{E57A4E39-D2DA-42EB-A0AE-AD31955720E8}"/>
              </a:ext>
            </a:extLst>
          </p:cNvPr>
          <p:cNvSpPr/>
          <p:nvPr/>
        </p:nvSpPr>
        <p:spPr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progressBar">
            <a:extLst>
              <a:ext uri="{FF2B5EF4-FFF2-40B4-BE49-F238E27FC236}">
                <a16:creationId xmlns:a16="http://schemas.microsoft.com/office/drawing/2014/main" id="{F0BB3928-FAE0-4F94-BACE-B909ED9743A9}"/>
              </a:ext>
            </a:extLst>
          </p:cNvPr>
          <p:cNvSpPr/>
          <p:nvPr/>
        </p:nvSpPr>
        <p:spPr>
          <a:xfrm>
            <a:off x="1524001" y="6813550"/>
            <a:ext cx="4482353" cy="4445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pageNumber">
            <a:extLst>
              <a:ext uri="{FF2B5EF4-FFF2-40B4-BE49-F238E27FC236}">
                <a16:creationId xmlns:a16="http://schemas.microsoft.com/office/drawing/2014/main" id="{DF569CEB-8CFC-484D-9DF5-D2B25A2AAA14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r>
              <a:rPr lang="en-US" sz="1300" b="1">
                <a:solidFill>
                  <a:srgbClr val="141414"/>
                </a:solidFill>
              </a:rPr>
              <a:t> 25</a:t>
            </a:r>
          </a:p>
        </p:txBody>
      </p:sp>
    </p:spTree>
    <p:extLst>
      <p:ext uri="{BB962C8B-B14F-4D97-AF65-F5344CB8AC3E}">
        <p14:creationId xmlns:p14="http://schemas.microsoft.com/office/powerpoint/2010/main" val="238158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79263" cy="5676901"/>
          </a:xfrm>
          <a:prstGeom prst="rect">
            <a:avLst/>
          </a:prstGeom>
        </p:spPr>
      </p:pic>
      <p:pic>
        <p:nvPicPr>
          <p:cNvPr id="6" name="Picture 5" descr="&lt;strong&gt;Thank you PNG&lt;/strong&gt;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73" y="3928010"/>
            <a:ext cx="3543824" cy="8859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B2DC1F-F7EA-6225-D949-BFC44BE51E8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290" y="1005839"/>
            <a:ext cx="2713990" cy="978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5C8BF1-B0E4-49A1-808F-40F2AD30E743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1148</TotalTime>
  <Words>3092</Words>
  <Application>Microsoft Office PowerPoint</Application>
  <PresentationFormat>Widescreen</PresentationFormat>
  <Paragraphs>748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新細明體</vt:lpstr>
      <vt:lpstr>Arial</vt:lpstr>
      <vt:lpstr>Arial Rounded MT Bold</vt:lpstr>
      <vt:lpstr>Calibri</vt:lpstr>
      <vt:lpstr>Cambria Math</vt:lpstr>
      <vt:lpstr>Cascadia Mono</vt:lpstr>
      <vt:lpstr>Consolas</vt:lpstr>
      <vt:lpstr>Courier New</vt:lpstr>
      <vt:lpstr>Gill Sans MT</vt:lpstr>
      <vt:lpstr>Monotype Sorts</vt:lpstr>
      <vt:lpstr>Times New Roman</vt:lpstr>
      <vt:lpstr>Wingdings</vt:lpstr>
      <vt:lpstr>Wingdings 2</vt:lpstr>
      <vt:lpstr>Dividend</vt:lpstr>
      <vt:lpstr>Lecture 3     pointer                          Dynamic memory</vt:lpstr>
      <vt:lpstr>Course Learning Objectives</vt:lpstr>
      <vt:lpstr>Abstract Data Types</vt:lpstr>
      <vt:lpstr>Abstract Data Types (ADT)</vt:lpstr>
      <vt:lpstr>Enumerated Data Type</vt:lpstr>
      <vt:lpstr>Computer Memory</vt:lpstr>
      <vt:lpstr>Pointers</vt:lpstr>
      <vt:lpstr>Using pointers</vt:lpstr>
      <vt:lpstr>Using pointers</vt:lpstr>
      <vt:lpstr>Don’t get confused</vt:lpstr>
      <vt:lpstr>Pointer to Pointer</vt:lpstr>
      <vt:lpstr>Using pointers</vt:lpstr>
      <vt:lpstr>Using pointers</vt:lpstr>
      <vt:lpstr>What is the difference?</vt:lpstr>
      <vt:lpstr>PowerPoint Presentation</vt:lpstr>
      <vt:lpstr>Example</vt:lpstr>
      <vt:lpstr>PowerPoint Presentation</vt:lpstr>
      <vt:lpstr>PowerPoint Presentation</vt:lpstr>
      <vt:lpstr>Arrays and Pointers</vt:lpstr>
      <vt:lpstr>Arrays and Pointers</vt:lpstr>
      <vt:lpstr>Array of Pointers &amp; Pointer to Array</vt:lpstr>
      <vt:lpstr>Using arrays with functions</vt:lpstr>
      <vt:lpstr>Using arrays with functions</vt:lpstr>
      <vt:lpstr>Using arrays with functions</vt:lpstr>
      <vt:lpstr>Using const with Pointers </vt:lpstr>
      <vt:lpstr>Using const with Pointers</vt:lpstr>
      <vt:lpstr>Using const with Pointers</vt:lpstr>
      <vt:lpstr>Using const with Pointers</vt:lpstr>
      <vt:lpstr>Dynamic memory </vt:lpstr>
      <vt:lpstr>Dynamic Memory</vt:lpstr>
      <vt:lpstr>Memory Segments</vt:lpstr>
      <vt:lpstr>Dynamic Memory Allocation / Deallocation</vt:lpstr>
      <vt:lpstr>Dynamic Memory Allocation/Deallocation</vt:lpstr>
      <vt:lpstr>PowerPoint Presentation</vt:lpstr>
      <vt:lpstr>Static vs. Dynamic Memory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DR-Yasser Elawady</dc:creator>
  <cp:lastModifiedBy>Yasser Hamed Ahmed El-Awady</cp:lastModifiedBy>
  <cp:revision>21</cp:revision>
  <dcterms:created xsi:type="dcterms:W3CDTF">2020-10-08T13:37:14Z</dcterms:created>
  <dcterms:modified xsi:type="dcterms:W3CDTF">2025-10-14T16:57:45Z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